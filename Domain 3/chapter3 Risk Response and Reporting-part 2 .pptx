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media/image19.jpg" ContentType="image/jpg"/>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48"/>
  </p:notesMasterIdLst>
  <p:sldIdLst>
    <p:sldId id="279" r:id="rId2"/>
    <p:sldId id="519" r:id="rId3"/>
    <p:sldId id="1161" r:id="rId4"/>
    <p:sldId id="1162" r:id="rId5"/>
    <p:sldId id="1163" r:id="rId6"/>
    <p:sldId id="1165" r:id="rId7"/>
    <p:sldId id="521" r:id="rId8"/>
    <p:sldId id="522" r:id="rId9"/>
    <p:sldId id="1166" r:id="rId10"/>
    <p:sldId id="1167" r:id="rId11"/>
    <p:sldId id="1168" r:id="rId12"/>
    <p:sldId id="1169" r:id="rId13"/>
    <p:sldId id="1170" r:id="rId14"/>
    <p:sldId id="1171" r:id="rId15"/>
    <p:sldId id="1172" r:id="rId16"/>
    <p:sldId id="1173" r:id="rId17"/>
    <p:sldId id="1174" r:id="rId18"/>
    <p:sldId id="1175" r:id="rId19"/>
    <p:sldId id="1176" r:id="rId20"/>
    <p:sldId id="523" r:id="rId21"/>
    <p:sldId id="1509" r:id="rId22"/>
    <p:sldId id="2003" r:id="rId23"/>
    <p:sldId id="1164" r:id="rId24"/>
    <p:sldId id="2004" r:id="rId25"/>
    <p:sldId id="2007" r:id="rId26"/>
    <p:sldId id="2005" r:id="rId27"/>
    <p:sldId id="525" r:id="rId28"/>
    <p:sldId id="526" r:id="rId29"/>
    <p:sldId id="1999" r:id="rId30"/>
    <p:sldId id="2002" r:id="rId31"/>
    <p:sldId id="527" r:id="rId32"/>
    <p:sldId id="528" r:id="rId33"/>
    <p:sldId id="261" r:id="rId34"/>
    <p:sldId id="262" r:id="rId35"/>
    <p:sldId id="263" r:id="rId36"/>
    <p:sldId id="264" r:id="rId37"/>
    <p:sldId id="265" r:id="rId38"/>
    <p:sldId id="272" r:id="rId39"/>
    <p:sldId id="273" r:id="rId40"/>
    <p:sldId id="274" r:id="rId41"/>
    <p:sldId id="275" r:id="rId42"/>
    <p:sldId id="2006" r:id="rId43"/>
    <p:sldId id="266" r:id="rId44"/>
    <p:sldId id="529" r:id="rId45"/>
    <p:sldId id="530" r:id="rId46"/>
    <p:sldId id="298" r:id="rId4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22" d="100"/>
          <a:sy n="122" d="100"/>
        </p:scale>
        <p:origin x="114" y="1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C75A2C6-172F-44E6-B36A-B82EC5C6B8A5}" type="datetimeFigureOut">
              <a:rPr lang="en-US" smtClean="0"/>
              <a:t>6/21/2023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D595AE3-8941-4304-96D7-225F5935C02C}" type="slidenum">
              <a:rPr lang="en-US" smtClean="0"/>
              <a:t>‹#›</a:t>
            </a:fld>
            <a:endParaRPr lang="en-US"/>
          </a:p>
        </p:txBody>
      </p:sp>
    </p:spTree>
    <p:extLst>
      <p:ext uri="{BB962C8B-B14F-4D97-AF65-F5344CB8AC3E}">
        <p14:creationId xmlns:p14="http://schemas.microsoft.com/office/powerpoint/2010/main" val="119304105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D595AE3-8941-4304-96D7-225F5935C02C}" type="slidenum">
              <a:rPr lang="en-US" smtClean="0"/>
              <a:t>43</a:t>
            </a:fld>
            <a:endParaRPr lang="en-US"/>
          </a:p>
        </p:txBody>
      </p:sp>
    </p:spTree>
    <p:extLst>
      <p:ext uri="{BB962C8B-B14F-4D97-AF65-F5344CB8AC3E}">
        <p14:creationId xmlns:p14="http://schemas.microsoft.com/office/powerpoint/2010/main" val="91232374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6FE2CFA0-53A8-433A-A47F-F7ECCA5249C8}" type="datetimeFigureOut">
              <a:rPr lang="en-US" smtClean="0"/>
              <a:t>6/21/2023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BA44C02-18DE-41FE-9E60-4563A10FB45B}"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8447362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FE2CFA0-53A8-433A-A47F-F7ECCA5249C8}" type="datetimeFigureOut">
              <a:rPr lang="en-US" smtClean="0"/>
              <a:t>6/21/2023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BA44C02-18DE-41FE-9E60-4563A10FB45B}" type="slidenum">
              <a:rPr lang="en-US" smtClean="0"/>
              <a:t>‹#›</a:t>
            </a:fld>
            <a:endParaRPr lang="en-US"/>
          </a:p>
        </p:txBody>
      </p:sp>
    </p:spTree>
    <p:extLst>
      <p:ext uri="{BB962C8B-B14F-4D97-AF65-F5344CB8AC3E}">
        <p14:creationId xmlns:p14="http://schemas.microsoft.com/office/powerpoint/2010/main" val="233753562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FE2CFA0-53A8-433A-A47F-F7ECCA5249C8}" type="datetimeFigureOut">
              <a:rPr lang="en-US" smtClean="0"/>
              <a:t>6/21/2023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BA44C02-18DE-41FE-9E60-4563A10FB45B}"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7946551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6FE2CFA0-53A8-433A-A47F-F7ECCA5249C8}" type="datetimeFigureOut">
              <a:rPr lang="en-US" smtClean="0"/>
              <a:t>6/21/2023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BA44C02-18DE-41FE-9E60-4563A10FB45B}" type="slidenum">
              <a:rPr lang="en-US" smtClean="0"/>
              <a:t>‹#›</a:t>
            </a:fld>
            <a:endParaRPr lang="en-US"/>
          </a:p>
        </p:txBody>
      </p:sp>
    </p:spTree>
    <p:extLst>
      <p:ext uri="{BB962C8B-B14F-4D97-AF65-F5344CB8AC3E}">
        <p14:creationId xmlns:p14="http://schemas.microsoft.com/office/powerpoint/2010/main" val="193044762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6FE2CFA0-53A8-433A-A47F-F7ECCA5249C8}" type="datetimeFigureOut">
              <a:rPr lang="en-US" smtClean="0"/>
              <a:t>6/21/2023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BA44C02-18DE-41FE-9E60-4563A10FB45B}" type="slidenum">
              <a:rPr lang="en-US" smtClean="0"/>
              <a:t>‹#›</a:t>
            </a:fld>
            <a:endParaRPr lang="en-US"/>
          </a:p>
        </p:txBody>
      </p:sp>
    </p:spTree>
    <p:extLst>
      <p:ext uri="{BB962C8B-B14F-4D97-AF65-F5344CB8AC3E}">
        <p14:creationId xmlns:p14="http://schemas.microsoft.com/office/powerpoint/2010/main" val="334762151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6FE2CFA0-53A8-433A-A47F-F7ECCA5249C8}" type="datetimeFigureOut">
              <a:rPr lang="en-US" smtClean="0"/>
              <a:t>6/21/2023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BA44C02-18DE-41FE-9E60-4563A10FB45B}" type="slidenum">
              <a:rPr lang="en-US" smtClean="0"/>
              <a:t>‹#›</a:t>
            </a:fld>
            <a:endParaRPr lang="en-US"/>
          </a:p>
        </p:txBody>
      </p:sp>
    </p:spTree>
    <p:extLst>
      <p:ext uri="{BB962C8B-B14F-4D97-AF65-F5344CB8AC3E}">
        <p14:creationId xmlns:p14="http://schemas.microsoft.com/office/powerpoint/2010/main" val="252356900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6FE2CFA0-53A8-433A-A47F-F7ECCA5249C8}" type="datetimeFigureOut">
              <a:rPr lang="en-US" smtClean="0"/>
              <a:t>6/21/2023</a:t>
            </a:fld>
            <a:endParaRPr lang="en-US"/>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a:p>
        </p:txBody>
      </p:sp>
      <p:sp>
        <p:nvSpPr>
          <p:cNvPr id="9" name="Slide Number Placeholder 8"/>
          <p:cNvSpPr>
            <a:spLocks noGrp="1"/>
          </p:cNvSpPr>
          <p:nvPr>
            <p:ph type="sldNum" sz="quarter" idx="12"/>
          </p:nvPr>
        </p:nvSpPr>
        <p:spPr/>
        <p:txBody>
          <a:bodyPr/>
          <a:lstStyle/>
          <a:p>
            <a:fld id="{BBA44C02-18DE-41FE-9E60-4563A10FB45B}" type="slidenum">
              <a:rPr lang="en-US" smtClean="0"/>
              <a:t>‹#›</a:t>
            </a:fld>
            <a:endParaRPr lang="en-US"/>
          </a:p>
        </p:txBody>
      </p:sp>
    </p:spTree>
    <p:extLst>
      <p:ext uri="{BB962C8B-B14F-4D97-AF65-F5344CB8AC3E}">
        <p14:creationId xmlns:p14="http://schemas.microsoft.com/office/powerpoint/2010/main" val="96213639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6FE2CFA0-53A8-433A-A47F-F7ECCA5249C8}" type="datetimeFigureOut">
              <a:rPr lang="en-US" smtClean="0"/>
              <a:t>6/21/2023</a:t>
            </a:fld>
            <a:endParaRPr lang="en-US"/>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BBA44C02-18DE-41FE-9E60-4563A10FB45B}" type="slidenum">
              <a:rPr lang="en-US" smtClean="0"/>
              <a:t>‹#›</a:t>
            </a:fld>
            <a:endParaRPr lang="en-US"/>
          </a:p>
        </p:txBody>
      </p:sp>
    </p:spTree>
    <p:extLst>
      <p:ext uri="{BB962C8B-B14F-4D97-AF65-F5344CB8AC3E}">
        <p14:creationId xmlns:p14="http://schemas.microsoft.com/office/powerpoint/2010/main" val="40028256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FE2CFA0-53A8-433A-A47F-F7ECCA5249C8}" type="datetimeFigureOut">
              <a:rPr lang="en-US" smtClean="0"/>
              <a:t>6/21/2023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BA44C02-18DE-41FE-9E60-4563A10FB45B}" type="slidenum">
              <a:rPr lang="en-US" smtClean="0"/>
              <a:t>‹#›</a:t>
            </a:fld>
            <a:endParaRPr lang="en-US"/>
          </a:p>
        </p:txBody>
      </p:sp>
    </p:spTree>
    <p:extLst>
      <p:ext uri="{BB962C8B-B14F-4D97-AF65-F5344CB8AC3E}">
        <p14:creationId xmlns:p14="http://schemas.microsoft.com/office/powerpoint/2010/main" val="201114924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FE2CFA0-53A8-433A-A47F-F7ECCA5249C8}" type="datetimeFigureOut">
              <a:rPr lang="en-US" smtClean="0"/>
              <a:t>6/21/2023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BA44C02-18DE-41FE-9E60-4563A10FB45B}" type="slidenum">
              <a:rPr lang="en-US" smtClean="0"/>
              <a:t>‹#›</a:t>
            </a:fld>
            <a:endParaRPr lang="en-US"/>
          </a:p>
        </p:txBody>
      </p:sp>
    </p:spTree>
    <p:extLst>
      <p:ext uri="{BB962C8B-B14F-4D97-AF65-F5344CB8AC3E}">
        <p14:creationId xmlns:p14="http://schemas.microsoft.com/office/powerpoint/2010/main" val="243494077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FE2CFA0-53A8-433A-A47F-F7ECCA5249C8}" type="datetimeFigureOut">
              <a:rPr lang="en-US" smtClean="0"/>
              <a:t>6/21/2023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BA44C02-18DE-41FE-9E60-4563A10FB45B}" type="slidenum">
              <a:rPr lang="en-US" smtClean="0"/>
              <a:t>‹#›</a:t>
            </a:fld>
            <a:endParaRPr lang="en-US"/>
          </a:p>
        </p:txBody>
      </p:sp>
    </p:spTree>
    <p:extLst>
      <p:ext uri="{BB962C8B-B14F-4D97-AF65-F5344CB8AC3E}">
        <p14:creationId xmlns:p14="http://schemas.microsoft.com/office/powerpoint/2010/main" val="27114687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cSld name="1_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6000" b="0" i="0">
                <a:solidFill>
                  <a:schemeClr val="tx1"/>
                </a:solidFill>
                <a:latin typeface="Calibri"/>
                <a:cs typeface="Calibri"/>
              </a:defRPr>
            </a:lvl1pPr>
          </a:lstStyle>
          <a:p>
            <a:endParaRPr/>
          </a:p>
        </p:txBody>
      </p:sp>
      <p:sp>
        <p:nvSpPr>
          <p:cNvPr id="3" name="Holder 3"/>
          <p:cNvSpPr>
            <a:spLocks noGrp="1"/>
          </p:cNvSpPr>
          <p:nvPr>
            <p:ph sz="half" idx="2"/>
          </p:nvPr>
        </p:nvSpPr>
        <p:spPr>
          <a:xfrm>
            <a:off x="439013" y="1726437"/>
            <a:ext cx="5100955" cy="4203700"/>
          </a:xfrm>
          <a:prstGeom prst="rect">
            <a:avLst/>
          </a:prstGeom>
        </p:spPr>
        <p:txBody>
          <a:bodyPr wrap="square" lIns="0" tIns="0" rIns="0" bIns="0">
            <a:spAutoFit/>
          </a:bodyPr>
          <a:lstStyle>
            <a:lvl1pPr>
              <a:defRPr sz="1800" b="1" i="0">
                <a:solidFill>
                  <a:schemeClr val="tx1"/>
                </a:solidFill>
                <a:latin typeface="Arial"/>
                <a:cs typeface="Arial"/>
              </a:defRPr>
            </a:lvl1pPr>
          </a:lstStyle>
          <a:p>
            <a:endParaRPr/>
          </a:p>
        </p:txBody>
      </p:sp>
      <p:sp>
        <p:nvSpPr>
          <p:cNvPr id="4" name="Holder 4"/>
          <p:cNvSpPr>
            <a:spLocks noGrp="1"/>
          </p:cNvSpPr>
          <p:nvPr>
            <p:ph sz="half" idx="3"/>
          </p:nvPr>
        </p:nvSpPr>
        <p:spPr>
          <a:xfrm>
            <a:off x="6270116" y="1851588"/>
            <a:ext cx="4989830" cy="3616325"/>
          </a:xfrm>
          <a:prstGeom prst="rect">
            <a:avLst/>
          </a:prstGeom>
        </p:spPr>
        <p:txBody>
          <a:bodyPr wrap="square" lIns="0" tIns="0" rIns="0" bIns="0">
            <a:spAutoFit/>
          </a:bodyPr>
          <a:lstStyle>
            <a:lvl1pPr>
              <a:defRPr sz="1800" b="1" i="0">
                <a:solidFill>
                  <a:schemeClr val="tx1"/>
                </a:solidFill>
                <a:latin typeface="Arial"/>
                <a:cs typeface="Arial"/>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6/21/2023</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148566207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6FE2CFA0-53A8-433A-A47F-F7ECCA5249C8}" type="datetimeFigureOut">
              <a:rPr lang="en-US" smtClean="0"/>
              <a:t>6/21/2023</a:t>
            </a:fld>
            <a:endParaRPr lang="en-US"/>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US"/>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BBA44C02-18DE-41FE-9E60-4563A10FB45B}" type="slidenum">
              <a:rPr lang="en-US" smtClean="0"/>
              <a:t>‹#›</a:t>
            </a:fld>
            <a:endParaRPr lang="en-US"/>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6038146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image" Target="../media/image6.jp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3.jp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15.jp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16.emf"/><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9.jp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024865" y="899315"/>
            <a:ext cx="8387715" cy="697230"/>
          </a:xfrm>
          <a:prstGeom prst="rect">
            <a:avLst/>
          </a:prstGeom>
        </p:spPr>
        <p:txBody>
          <a:bodyPr vert="horz" wrap="square" lIns="0" tIns="13335" rIns="0" bIns="0" rtlCol="0">
            <a:spAutoFit/>
          </a:bodyPr>
          <a:lstStyle/>
          <a:p>
            <a:pPr marL="12700">
              <a:lnSpc>
                <a:spcPct val="100000"/>
              </a:lnSpc>
              <a:spcBef>
                <a:spcPts val="105"/>
              </a:spcBef>
              <a:tabLst>
                <a:tab pos="8374380" algn="l"/>
              </a:tabLst>
            </a:pPr>
            <a:r>
              <a:rPr sz="4400" u="heavy" spc="-50" dirty="0">
                <a:solidFill>
                  <a:srgbClr val="074891"/>
                </a:solidFill>
                <a:uFill>
                  <a:solidFill>
                    <a:srgbClr val="000000"/>
                  </a:solidFill>
                </a:uFill>
                <a:latin typeface="Calibri Light"/>
                <a:cs typeface="Calibri Light"/>
              </a:rPr>
              <a:t>Control</a:t>
            </a:r>
            <a:r>
              <a:rPr sz="4400" u="heavy" spc="-90" dirty="0">
                <a:solidFill>
                  <a:srgbClr val="074891"/>
                </a:solidFill>
                <a:uFill>
                  <a:solidFill>
                    <a:srgbClr val="000000"/>
                  </a:solidFill>
                </a:uFill>
                <a:latin typeface="Calibri Light"/>
                <a:cs typeface="Calibri Light"/>
              </a:rPr>
              <a:t> </a:t>
            </a:r>
            <a:r>
              <a:rPr sz="4400" u="heavy" spc="-50" dirty="0">
                <a:solidFill>
                  <a:srgbClr val="074891"/>
                </a:solidFill>
                <a:uFill>
                  <a:solidFill>
                    <a:srgbClr val="000000"/>
                  </a:solidFill>
                </a:uFill>
                <a:latin typeface="Calibri Light"/>
                <a:cs typeface="Calibri Light"/>
              </a:rPr>
              <a:t>Development	</a:t>
            </a:r>
            <a:endParaRPr sz="4400" dirty="0">
              <a:latin typeface="Calibri Light"/>
              <a:cs typeface="Calibri Light"/>
            </a:endParaRPr>
          </a:p>
        </p:txBody>
      </p:sp>
      <p:sp>
        <p:nvSpPr>
          <p:cNvPr id="3" name="object 3"/>
          <p:cNvSpPr txBox="1"/>
          <p:nvPr/>
        </p:nvSpPr>
        <p:spPr>
          <a:xfrm>
            <a:off x="1989015" y="1764724"/>
            <a:ext cx="6459416" cy="3103029"/>
          </a:xfrm>
          <a:prstGeom prst="rect">
            <a:avLst/>
          </a:prstGeom>
        </p:spPr>
        <p:txBody>
          <a:bodyPr vert="horz" wrap="square" lIns="0" tIns="92075" rIns="0" bIns="0" rtlCol="0">
            <a:spAutoFit/>
          </a:bodyPr>
          <a:lstStyle/>
          <a:p>
            <a:pPr marL="469265" marR="5080" indent="-457200" algn="just">
              <a:lnSpc>
                <a:spcPct val="80000"/>
              </a:lnSpc>
              <a:spcBef>
                <a:spcPts val="600"/>
              </a:spcBef>
              <a:spcAft>
                <a:spcPts val="600"/>
              </a:spcAft>
              <a:buFont typeface="+mj-lt"/>
              <a:buAutoNum type="arabicPeriod"/>
              <a:tabLst>
                <a:tab pos="241935" algn="l"/>
              </a:tabLst>
            </a:pPr>
            <a:r>
              <a:rPr dirty="0">
                <a:solidFill>
                  <a:srgbClr val="002060"/>
                </a:solidFill>
                <a:latin typeface="Berlin Sans FB" panose="020E0602020502020306" pitchFamily="34" charset="0"/>
                <a:cs typeface="Calibri"/>
              </a:rPr>
              <a:t>A </a:t>
            </a:r>
            <a:r>
              <a:rPr b="1" spc="-10" dirty="0">
                <a:solidFill>
                  <a:srgbClr val="C00000"/>
                </a:solidFill>
                <a:latin typeface="Berlin Sans FB Demi" panose="020E0802020502020306" pitchFamily="34" charset="0"/>
                <a:cs typeface="Calibri"/>
              </a:rPr>
              <a:t>control</a:t>
            </a:r>
            <a:r>
              <a:rPr b="1" spc="-10" dirty="0">
                <a:solidFill>
                  <a:srgbClr val="002060"/>
                </a:solidFill>
                <a:latin typeface="Berlin Sans FB" panose="020E0602020502020306" pitchFamily="34" charset="0"/>
                <a:cs typeface="Calibri"/>
              </a:rPr>
              <a:t> </a:t>
            </a:r>
            <a:r>
              <a:rPr dirty="0">
                <a:solidFill>
                  <a:srgbClr val="002060"/>
                </a:solidFill>
                <a:latin typeface="Berlin Sans FB" panose="020E0602020502020306" pitchFamily="34" charset="0"/>
                <a:cs typeface="Calibri"/>
              </a:rPr>
              <a:t>is </a:t>
            </a:r>
            <a:r>
              <a:rPr lang="en-US" spc="-5" dirty="0">
                <a:solidFill>
                  <a:srgbClr val="002060"/>
                </a:solidFill>
                <a:latin typeface="Berlin Sans FB" panose="020E0602020502020306" pitchFamily="34" charset="0"/>
                <a:cs typeface="Calibri"/>
              </a:rPr>
              <a:t>any process, policy, device, practice, or other actions that modify risk.” In reviewing many risk registers, “controls” are identified as many things, including: Policies e.g. HR Policy.</a:t>
            </a:r>
          </a:p>
          <a:p>
            <a:pPr marL="469265" marR="5080" indent="-457200" algn="just">
              <a:lnSpc>
                <a:spcPct val="80000"/>
              </a:lnSpc>
              <a:spcBef>
                <a:spcPts val="600"/>
              </a:spcBef>
              <a:spcAft>
                <a:spcPts val="600"/>
              </a:spcAft>
              <a:buFont typeface="+mj-lt"/>
              <a:buAutoNum type="arabicPeriod"/>
              <a:tabLst>
                <a:tab pos="241935" algn="l"/>
              </a:tabLst>
            </a:pPr>
            <a:r>
              <a:rPr spc="-10" dirty="0">
                <a:solidFill>
                  <a:srgbClr val="002060"/>
                </a:solidFill>
                <a:latin typeface="Berlin Sans FB" panose="020E0602020502020306" pitchFamily="34" charset="0"/>
                <a:cs typeface="Calibri"/>
              </a:rPr>
              <a:t>Controls can </a:t>
            </a:r>
            <a:r>
              <a:rPr spc="-5" dirty="0">
                <a:solidFill>
                  <a:srgbClr val="002060"/>
                </a:solidFill>
                <a:latin typeface="Berlin Sans FB" panose="020E0602020502020306" pitchFamily="34" charset="0"/>
                <a:cs typeface="Calibri"/>
              </a:rPr>
              <a:t>be technical solutions, such </a:t>
            </a:r>
            <a:r>
              <a:rPr dirty="0">
                <a:solidFill>
                  <a:srgbClr val="002060"/>
                </a:solidFill>
                <a:latin typeface="Berlin Sans FB" panose="020E0602020502020306" pitchFamily="34" charset="0"/>
                <a:cs typeface="Calibri"/>
              </a:rPr>
              <a:t>as </a:t>
            </a:r>
            <a:r>
              <a:rPr spc="-10" dirty="0">
                <a:solidFill>
                  <a:srgbClr val="002060"/>
                </a:solidFill>
                <a:latin typeface="Berlin Sans FB" panose="020E0602020502020306" pitchFamily="34" charset="0"/>
                <a:cs typeface="Calibri"/>
              </a:rPr>
              <a:t>firewalls </a:t>
            </a:r>
            <a:r>
              <a:rPr spc="-5" dirty="0">
                <a:solidFill>
                  <a:srgbClr val="002060"/>
                </a:solidFill>
                <a:latin typeface="Berlin Sans FB" panose="020E0602020502020306" pitchFamily="34" charset="0"/>
                <a:cs typeface="Calibri"/>
              </a:rPr>
              <a:t>or </a:t>
            </a:r>
            <a:r>
              <a:rPr dirty="0">
                <a:solidFill>
                  <a:srgbClr val="002060"/>
                </a:solidFill>
                <a:latin typeface="Berlin Sans FB" panose="020E0602020502020306" pitchFamily="34" charset="0"/>
                <a:cs typeface="Calibri"/>
              </a:rPr>
              <a:t>intrusion </a:t>
            </a:r>
            <a:r>
              <a:rPr spc="-5" dirty="0">
                <a:solidFill>
                  <a:srgbClr val="002060"/>
                </a:solidFill>
                <a:latin typeface="Berlin Sans FB" panose="020E0602020502020306" pitchFamily="34" charset="0"/>
                <a:cs typeface="Calibri"/>
              </a:rPr>
              <a:t>detection </a:t>
            </a:r>
            <a:r>
              <a:rPr spc="-575" dirty="0">
                <a:solidFill>
                  <a:srgbClr val="002060"/>
                </a:solidFill>
                <a:latin typeface="Berlin Sans FB" panose="020E0602020502020306" pitchFamily="34" charset="0"/>
                <a:cs typeface="Calibri"/>
              </a:rPr>
              <a:t> </a:t>
            </a:r>
            <a:r>
              <a:rPr spc="-20" dirty="0">
                <a:solidFill>
                  <a:srgbClr val="002060"/>
                </a:solidFill>
                <a:latin typeface="Berlin Sans FB" panose="020E0602020502020306" pitchFamily="34" charset="0"/>
                <a:cs typeface="Calibri"/>
              </a:rPr>
              <a:t>systems, </a:t>
            </a:r>
            <a:r>
              <a:rPr spc="-5" dirty="0">
                <a:solidFill>
                  <a:srgbClr val="002060"/>
                </a:solidFill>
                <a:latin typeface="Berlin Sans FB" panose="020E0602020502020306" pitchFamily="34" charset="0"/>
                <a:cs typeface="Calibri"/>
              </a:rPr>
              <a:t>but they </a:t>
            </a:r>
            <a:r>
              <a:rPr spc="-10" dirty="0">
                <a:solidFill>
                  <a:srgbClr val="002060"/>
                </a:solidFill>
                <a:latin typeface="Berlin Sans FB" panose="020E0602020502020306" pitchFamily="34" charset="0"/>
                <a:cs typeface="Calibri"/>
              </a:rPr>
              <a:t>can </a:t>
            </a:r>
            <a:r>
              <a:rPr dirty="0">
                <a:solidFill>
                  <a:srgbClr val="002060"/>
                </a:solidFill>
                <a:latin typeface="Berlin Sans FB" panose="020E0602020502020306" pitchFamily="34" charset="0"/>
                <a:cs typeface="Calibri"/>
              </a:rPr>
              <a:t>also </a:t>
            </a:r>
            <a:r>
              <a:rPr spc="-5" dirty="0">
                <a:solidFill>
                  <a:srgbClr val="002060"/>
                </a:solidFill>
                <a:latin typeface="Berlin Sans FB" panose="020E0602020502020306" pitchFamily="34" charset="0"/>
                <a:cs typeface="Calibri"/>
              </a:rPr>
              <a:t>be </a:t>
            </a:r>
            <a:r>
              <a:rPr spc="-10" dirty="0">
                <a:solidFill>
                  <a:srgbClr val="002060"/>
                </a:solidFill>
                <a:latin typeface="Berlin Sans FB" panose="020E0602020502020306" pitchFamily="34" charset="0"/>
                <a:cs typeface="Calibri"/>
              </a:rPr>
              <a:t>processes, procedures, </a:t>
            </a:r>
            <a:r>
              <a:rPr spc="-5" dirty="0">
                <a:solidFill>
                  <a:srgbClr val="002060"/>
                </a:solidFill>
                <a:latin typeface="Berlin Sans FB" panose="020E0602020502020306" pitchFamily="34" charset="0"/>
                <a:cs typeface="Calibri"/>
              </a:rPr>
              <a:t>policies, or </a:t>
            </a:r>
            <a:r>
              <a:rPr spc="-15" dirty="0">
                <a:solidFill>
                  <a:srgbClr val="002060"/>
                </a:solidFill>
                <a:latin typeface="Berlin Sans FB" panose="020E0602020502020306" pitchFamily="34" charset="0"/>
                <a:cs typeface="Calibri"/>
              </a:rPr>
              <a:t>physical </a:t>
            </a:r>
            <a:r>
              <a:rPr spc="-10" dirty="0">
                <a:solidFill>
                  <a:srgbClr val="002060"/>
                </a:solidFill>
                <a:latin typeface="Berlin Sans FB" panose="020E0602020502020306" pitchFamily="34" charset="0"/>
                <a:cs typeface="Calibri"/>
              </a:rPr>
              <a:t> </a:t>
            </a:r>
            <a:r>
              <a:rPr spc="-15" dirty="0">
                <a:solidFill>
                  <a:srgbClr val="002060"/>
                </a:solidFill>
                <a:latin typeface="Berlin Sans FB" panose="020E0602020502020306" pitchFamily="34" charset="0"/>
                <a:cs typeface="Calibri"/>
              </a:rPr>
              <a:t>controls.</a:t>
            </a:r>
            <a:endParaRPr dirty="0">
              <a:solidFill>
                <a:srgbClr val="002060"/>
              </a:solidFill>
              <a:latin typeface="Berlin Sans FB" panose="020E0602020502020306" pitchFamily="34" charset="0"/>
              <a:cs typeface="Calibri"/>
            </a:endParaRPr>
          </a:p>
          <a:p>
            <a:pPr marL="469265" indent="-457200">
              <a:lnSpc>
                <a:spcPct val="100000"/>
              </a:lnSpc>
              <a:spcBef>
                <a:spcPts val="600"/>
              </a:spcBef>
              <a:spcAft>
                <a:spcPts val="600"/>
              </a:spcAft>
              <a:buFont typeface="+mj-lt"/>
              <a:buAutoNum type="arabicPeriod"/>
              <a:tabLst>
                <a:tab pos="241935" algn="l"/>
              </a:tabLst>
            </a:pPr>
            <a:r>
              <a:rPr spc="-25" dirty="0">
                <a:solidFill>
                  <a:srgbClr val="002060"/>
                </a:solidFill>
                <a:latin typeface="Berlin Sans FB" panose="020E0602020502020306" pitchFamily="34" charset="0"/>
                <a:cs typeface="Calibri"/>
              </a:rPr>
              <a:t>Types</a:t>
            </a:r>
            <a:r>
              <a:rPr spc="-30" dirty="0">
                <a:solidFill>
                  <a:srgbClr val="002060"/>
                </a:solidFill>
                <a:latin typeface="Berlin Sans FB" panose="020E0602020502020306" pitchFamily="34" charset="0"/>
                <a:cs typeface="Calibri"/>
              </a:rPr>
              <a:t> </a:t>
            </a:r>
            <a:r>
              <a:rPr dirty="0">
                <a:solidFill>
                  <a:srgbClr val="002060"/>
                </a:solidFill>
                <a:latin typeface="Berlin Sans FB" panose="020E0602020502020306" pitchFamily="34" charset="0"/>
                <a:cs typeface="Calibri"/>
              </a:rPr>
              <a:t>of</a:t>
            </a:r>
            <a:r>
              <a:rPr spc="20" dirty="0">
                <a:solidFill>
                  <a:srgbClr val="002060"/>
                </a:solidFill>
                <a:latin typeface="Berlin Sans FB" panose="020E0602020502020306" pitchFamily="34" charset="0"/>
                <a:cs typeface="Calibri"/>
              </a:rPr>
              <a:t> </a:t>
            </a:r>
            <a:r>
              <a:rPr spc="-15" dirty="0">
                <a:solidFill>
                  <a:srgbClr val="002060"/>
                </a:solidFill>
                <a:latin typeface="Berlin Sans FB" panose="020E0602020502020306" pitchFamily="34" charset="0"/>
                <a:cs typeface="Calibri"/>
              </a:rPr>
              <a:t>controls</a:t>
            </a:r>
            <a:r>
              <a:rPr dirty="0">
                <a:solidFill>
                  <a:srgbClr val="002060"/>
                </a:solidFill>
                <a:latin typeface="Berlin Sans FB" panose="020E0602020502020306" pitchFamily="34" charset="0"/>
                <a:cs typeface="Calibri"/>
              </a:rPr>
              <a:t> </a:t>
            </a:r>
            <a:r>
              <a:rPr spc="-10" dirty="0">
                <a:solidFill>
                  <a:srgbClr val="002060"/>
                </a:solidFill>
                <a:latin typeface="Berlin Sans FB" panose="020E0602020502020306" pitchFamily="34" charset="0"/>
                <a:cs typeface="Calibri"/>
              </a:rPr>
              <a:t>(administrative/managerial,</a:t>
            </a:r>
            <a:r>
              <a:rPr lang="en-US" spc="-10" dirty="0">
                <a:solidFill>
                  <a:srgbClr val="002060"/>
                </a:solidFill>
                <a:latin typeface="Berlin Sans FB" panose="020E0602020502020306" pitchFamily="34" charset="0"/>
                <a:cs typeface="Calibri"/>
              </a:rPr>
              <a:t> </a:t>
            </a:r>
            <a:r>
              <a:rPr spc="-5" dirty="0">
                <a:solidFill>
                  <a:srgbClr val="002060"/>
                </a:solidFill>
                <a:latin typeface="Berlin Sans FB" panose="020E0602020502020306" pitchFamily="34" charset="0"/>
                <a:cs typeface="Calibri"/>
              </a:rPr>
              <a:t>technical/logical,</a:t>
            </a:r>
            <a:r>
              <a:rPr spc="-15" dirty="0">
                <a:solidFill>
                  <a:srgbClr val="002060"/>
                </a:solidFill>
                <a:latin typeface="Berlin Sans FB" panose="020E0602020502020306" pitchFamily="34" charset="0"/>
                <a:cs typeface="Calibri"/>
              </a:rPr>
              <a:t> </a:t>
            </a:r>
            <a:r>
              <a:rPr dirty="0">
                <a:solidFill>
                  <a:srgbClr val="002060"/>
                </a:solidFill>
                <a:latin typeface="Berlin Sans FB" panose="020E0602020502020306" pitchFamily="34" charset="0"/>
                <a:cs typeface="Calibri"/>
              </a:rPr>
              <a:t>and</a:t>
            </a:r>
            <a:r>
              <a:rPr lang="en-US" dirty="0">
                <a:solidFill>
                  <a:srgbClr val="002060"/>
                </a:solidFill>
                <a:latin typeface="Berlin Sans FB" panose="020E0602020502020306" pitchFamily="34" charset="0"/>
                <a:cs typeface="Calibri"/>
              </a:rPr>
              <a:t> </a:t>
            </a:r>
            <a:r>
              <a:rPr spc="-10" dirty="0">
                <a:solidFill>
                  <a:srgbClr val="002060"/>
                </a:solidFill>
                <a:latin typeface="Berlin Sans FB" panose="020E0602020502020306" pitchFamily="34" charset="0"/>
                <a:cs typeface="Calibri"/>
              </a:rPr>
              <a:t>physical/operational),</a:t>
            </a:r>
            <a:endParaRPr dirty="0">
              <a:solidFill>
                <a:srgbClr val="002060"/>
              </a:solidFill>
              <a:latin typeface="Berlin Sans FB" panose="020E0602020502020306" pitchFamily="34" charset="0"/>
              <a:cs typeface="Calibri"/>
            </a:endParaRPr>
          </a:p>
          <a:p>
            <a:pPr marL="469265" marR="110489" indent="-457200" algn="just">
              <a:lnSpc>
                <a:spcPct val="80000"/>
              </a:lnSpc>
              <a:spcBef>
                <a:spcPts val="600"/>
              </a:spcBef>
              <a:spcAft>
                <a:spcPts val="600"/>
              </a:spcAft>
              <a:buFont typeface="+mj-lt"/>
              <a:buAutoNum type="arabicPeriod"/>
              <a:tabLst>
                <a:tab pos="241935" algn="l"/>
              </a:tabLst>
            </a:pPr>
            <a:r>
              <a:rPr spc="-10" dirty="0">
                <a:solidFill>
                  <a:srgbClr val="002060"/>
                </a:solidFill>
                <a:latin typeface="Berlin Sans FB" panose="020E0602020502020306" pitchFamily="34" charset="0"/>
                <a:cs typeface="Calibri"/>
              </a:rPr>
              <a:t>Controls </a:t>
            </a:r>
            <a:r>
              <a:rPr dirty="0">
                <a:solidFill>
                  <a:srgbClr val="002060"/>
                </a:solidFill>
                <a:latin typeface="Berlin Sans FB" panose="020E0602020502020306" pitchFamily="34" charset="0"/>
                <a:cs typeface="Calibri"/>
              </a:rPr>
              <a:t>also </a:t>
            </a:r>
            <a:r>
              <a:rPr spc="-10" dirty="0">
                <a:solidFill>
                  <a:srgbClr val="002060"/>
                </a:solidFill>
                <a:latin typeface="Berlin Sans FB" panose="020E0602020502020306" pitchFamily="34" charset="0"/>
                <a:cs typeface="Calibri"/>
              </a:rPr>
              <a:t>can </a:t>
            </a:r>
            <a:r>
              <a:rPr spc="-5" dirty="0">
                <a:solidFill>
                  <a:srgbClr val="002060"/>
                </a:solidFill>
                <a:latin typeface="Berlin Sans FB" panose="020E0602020502020306" pitchFamily="34" charset="0"/>
                <a:cs typeface="Calibri"/>
              </a:rPr>
              <a:t>be </a:t>
            </a:r>
            <a:r>
              <a:rPr spc="-10" dirty="0">
                <a:solidFill>
                  <a:srgbClr val="002060"/>
                </a:solidFill>
                <a:latin typeface="Berlin Sans FB" panose="020E0602020502020306" pitchFamily="34" charset="0"/>
                <a:cs typeface="Calibri"/>
              </a:rPr>
              <a:t>grouped </a:t>
            </a:r>
            <a:r>
              <a:rPr dirty="0">
                <a:solidFill>
                  <a:srgbClr val="002060"/>
                </a:solidFill>
                <a:latin typeface="Berlin Sans FB" panose="020E0602020502020306" pitchFamily="34" charset="0"/>
                <a:cs typeface="Calibri"/>
              </a:rPr>
              <a:t>in </a:t>
            </a:r>
            <a:r>
              <a:rPr spc="-20" dirty="0">
                <a:solidFill>
                  <a:srgbClr val="002060"/>
                </a:solidFill>
                <a:latin typeface="Berlin Sans FB" panose="020E0602020502020306" pitchFamily="34" charset="0"/>
                <a:cs typeface="Calibri"/>
              </a:rPr>
              <a:t>different </a:t>
            </a:r>
            <a:r>
              <a:rPr spc="-5" dirty="0">
                <a:solidFill>
                  <a:srgbClr val="002060"/>
                </a:solidFill>
                <a:latin typeface="Berlin Sans FB" panose="020E0602020502020306" pitchFamily="34" charset="0"/>
                <a:cs typeface="Calibri"/>
              </a:rPr>
              <a:t>families: </a:t>
            </a:r>
            <a:r>
              <a:rPr dirty="0">
                <a:solidFill>
                  <a:srgbClr val="002060"/>
                </a:solidFill>
                <a:latin typeface="Berlin Sans FB" panose="020E0602020502020306" pitchFamily="34" charset="0"/>
                <a:cs typeface="Calibri"/>
              </a:rPr>
              <a:t>access </a:t>
            </a:r>
            <a:r>
              <a:rPr spc="-15" dirty="0">
                <a:solidFill>
                  <a:srgbClr val="002060"/>
                </a:solidFill>
                <a:latin typeface="Berlin Sans FB" panose="020E0602020502020306" pitchFamily="34" charset="0"/>
                <a:cs typeface="Calibri"/>
              </a:rPr>
              <a:t>control, </a:t>
            </a:r>
            <a:r>
              <a:rPr dirty="0">
                <a:solidFill>
                  <a:srgbClr val="002060"/>
                </a:solidFill>
                <a:latin typeface="Berlin Sans FB" panose="020E0602020502020306" pitchFamily="34" charset="0"/>
                <a:cs typeface="Calibri"/>
              </a:rPr>
              <a:t>auditing, </a:t>
            </a:r>
            <a:r>
              <a:rPr spc="-575" dirty="0">
                <a:solidFill>
                  <a:srgbClr val="002060"/>
                </a:solidFill>
                <a:latin typeface="Berlin Sans FB" panose="020E0602020502020306" pitchFamily="34" charset="0"/>
                <a:cs typeface="Calibri"/>
              </a:rPr>
              <a:t> </a:t>
            </a:r>
            <a:r>
              <a:rPr spc="-10" dirty="0">
                <a:solidFill>
                  <a:srgbClr val="002060"/>
                </a:solidFill>
                <a:latin typeface="Berlin Sans FB" panose="020E0602020502020306" pitchFamily="34" charset="0"/>
                <a:cs typeface="Calibri"/>
              </a:rPr>
              <a:t>configuration </a:t>
            </a:r>
            <a:r>
              <a:rPr spc="-5" dirty="0">
                <a:solidFill>
                  <a:srgbClr val="002060"/>
                </a:solidFill>
                <a:latin typeface="Berlin Sans FB" panose="020E0602020502020306" pitchFamily="34" charset="0"/>
                <a:cs typeface="Calibri"/>
              </a:rPr>
              <a:t>management, </a:t>
            </a:r>
            <a:r>
              <a:rPr spc="-10" dirty="0">
                <a:solidFill>
                  <a:srgbClr val="002060"/>
                </a:solidFill>
                <a:latin typeface="Berlin Sans FB" panose="020E0602020502020306" pitchFamily="34" charset="0"/>
                <a:cs typeface="Calibri"/>
              </a:rPr>
              <a:t>contingency </a:t>
            </a:r>
            <a:r>
              <a:rPr dirty="0">
                <a:solidFill>
                  <a:srgbClr val="002060"/>
                </a:solidFill>
                <a:latin typeface="Berlin Sans FB" panose="020E0602020502020306" pitchFamily="34" charset="0"/>
                <a:cs typeface="Calibri"/>
              </a:rPr>
              <a:t>planning, </a:t>
            </a:r>
            <a:r>
              <a:rPr spc="-10" dirty="0">
                <a:solidFill>
                  <a:srgbClr val="002060"/>
                </a:solidFill>
                <a:latin typeface="Berlin Sans FB" panose="020E0602020502020306" pitchFamily="34" charset="0"/>
                <a:cs typeface="Calibri"/>
              </a:rPr>
              <a:t>personnel </a:t>
            </a:r>
            <a:r>
              <a:rPr spc="-25" dirty="0">
                <a:solidFill>
                  <a:srgbClr val="002060"/>
                </a:solidFill>
                <a:latin typeface="Berlin Sans FB" panose="020E0602020502020306" pitchFamily="34" charset="0"/>
                <a:cs typeface="Calibri"/>
              </a:rPr>
              <a:t>security, </a:t>
            </a:r>
            <a:r>
              <a:rPr dirty="0">
                <a:solidFill>
                  <a:srgbClr val="002060"/>
                </a:solidFill>
                <a:latin typeface="Berlin Sans FB" panose="020E0602020502020306" pitchFamily="34" charset="0"/>
                <a:cs typeface="Calibri"/>
              </a:rPr>
              <a:t>and </a:t>
            </a:r>
            <a:r>
              <a:rPr spc="-575" dirty="0">
                <a:solidFill>
                  <a:srgbClr val="002060"/>
                </a:solidFill>
                <a:latin typeface="Berlin Sans FB" panose="020E0602020502020306" pitchFamily="34" charset="0"/>
                <a:cs typeface="Calibri"/>
              </a:rPr>
              <a:t> </a:t>
            </a:r>
            <a:r>
              <a:rPr spc="-5" dirty="0">
                <a:solidFill>
                  <a:srgbClr val="002060"/>
                </a:solidFill>
                <a:latin typeface="Berlin Sans FB" panose="020E0602020502020306" pitchFamily="34" charset="0"/>
                <a:cs typeface="Calibri"/>
              </a:rPr>
              <a:t>so on.</a:t>
            </a:r>
            <a:endParaRPr dirty="0">
              <a:solidFill>
                <a:srgbClr val="002060"/>
              </a:solidFill>
              <a:latin typeface="Berlin Sans FB" panose="020E0602020502020306" pitchFamily="34" charset="0"/>
              <a:cs typeface="Calibri"/>
            </a:endParaRPr>
          </a:p>
        </p:txBody>
      </p:sp>
      <p:sp>
        <p:nvSpPr>
          <p:cNvPr id="5" name="TextBox 4">
            <a:extLst>
              <a:ext uri="{FF2B5EF4-FFF2-40B4-BE49-F238E27FC236}">
                <a16:creationId xmlns:a16="http://schemas.microsoft.com/office/drawing/2014/main" id="{19CB38B3-3FA9-C5EF-585F-11945520BA15}"/>
              </a:ext>
            </a:extLst>
          </p:cNvPr>
          <p:cNvSpPr txBox="1"/>
          <p:nvPr/>
        </p:nvSpPr>
        <p:spPr>
          <a:xfrm>
            <a:off x="838200" y="207916"/>
            <a:ext cx="9501554" cy="523220"/>
          </a:xfrm>
          <a:prstGeom prst="rect">
            <a:avLst/>
          </a:prstGeom>
          <a:noFill/>
        </p:spPr>
        <p:txBody>
          <a:bodyPr wrap="square">
            <a:spAutoFit/>
          </a:bodyPr>
          <a:lstStyle/>
          <a:p>
            <a:r>
              <a:rPr lang="en-US" sz="2800" dirty="0">
                <a:solidFill>
                  <a:srgbClr val="C00000"/>
                </a:solidFill>
                <a:latin typeface="Berlin Sans FB Demi" panose="020E0802020502020306" pitchFamily="34" charset="0"/>
              </a:rPr>
              <a:t>Part B: Control Design and Implementation</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DCC17AD-377B-8016-D66C-708992600A38}"/>
              </a:ext>
            </a:extLst>
          </p:cNvPr>
          <p:cNvSpPr txBox="1"/>
          <p:nvPr/>
        </p:nvSpPr>
        <p:spPr>
          <a:xfrm>
            <a:off x="1799595" y="1024907"/>
            <a:ext cx="7297513" cy="4739759"/>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endParaRPr>
          </a:p>
          <a:p>
            <a:pPr marL="800100" marR="0" lvl="1" indent="-342900" algn="l" defTabSz="914400" rtl="0" eaLnBrk="1" fontAlgn="auto" latinLnBrk="0" hangingPunct="1">
              <a:lnSpc>
                <a:spcPct val="100000"/>
              </a:lnSpc>
              <a:spcBef>
                <a:spcPts val="0"/>
              </a:spcBef>
              <a:spcAft>
                <a:spcPts val="600"/>
              </a:spcAft>
              <a:buClrTx/>
              <a:buSzTx/>
              <a:buFont typeface="+mj-lt"/>
              <a:buAutoNum type="arabicPeriod"/>
              <a:tabLst/>
              <a:defRPr/>
            </a:pPr>
            <a:r>
              <a:rPr kumimoji="0" lang="en-US" b="0" i="0" u="none" strike="noStrike" kern="1200" cap="none" spc="0" normalizeH="0" baseline="0" noProof="0" dirty="0">
                <a:ln>
                  <a:noFill/>
                </a:ln>
                <a:solidFill>
                  <a:srgbClr val="7030A0"/>
                </a:solidFill>
                <a:effectLst>
                  <a:outerShdw blurRad="38100" dist="38100" dir="2700000" algn="tl">
                    <a:srgbClr val="000000">
                      <a:alpha val="43137"/>
                    </a:srgbClr>
                  </a:outerShdw>
                </a:effectLst>
                <a:uLnTx/>
                <a:uFillTx/>
                <a:latin typeface="Berlin Sans FB" panose="020E0602020502020306" pitchFamily="34" charset="0"/>
                <a:ea typeface="+mn-ea"/>
                <a:cs typeface="+mn-cs"/>
              </a:rPr>
              <a:t>Mitigation is by far the most common response to risk. </a:t>
            </a:r>
          </a:p>
          <a:p>
            <a:pPr marL="800100" marR="0" lvl="1" indent="-342900" algn="l" defTabSz="914400" rtl="0" eaLnBrk="1" fontAlgn="auto" latinLnBrk="0" hangingPunct="1">
              <a:lnSpc>
                <a:spcPct val="100000"/>
              </a:lnSpc>
              <a:spcBef>
                <a:spcPts val="0"/>
              </a:spcBef>
              <a:spcAft>
                <a:spcPts val="600"/>
              </a:spcAft>
              <a:buClrTx/>
              <a:buSzTx/>
              <a:buFont typeface="+mj-lt"/>
              <a:buAutoNum type="arabicPeriod"/>
              <a:tabLst/>
              <a:defRPr/>
            </a:pPr>
            <a:r>
              <a:rPr kumimoji="0" lang="en-US" b="0" i="0" u="none" strike="noStrike" kern="1200" cap="none" spc="0" normalizeH="0" baseline="0" noProof="0" dirty="0">
                <a:ln>
                  <a:noFill/>
                </a:ln>
                <a:solidFill>
                  <a:srgbClr val="7030A0"/>
                </a:solidFill>
                <a:effectLst>
                  <a:outerShdw blurRad="38100" dist="38100" dir="2700000" algn="tl">
                    <a:srgbClr val="000000">
                      <a:alpha val="43137"/>
                    </a:srgbClr>
                  </a:outerShdw>
                </a:effectLst>
                <a:uLnTx/>
                <a:uFillTx/>
                <a:latin typeface="Berlin Sans FB" panose="020E0602020502020306" pitchFamily="34" charset="0"/>
                <a:ea typeface="+mn-ea"/>
                <a:cs typeface="+mn-cs"/>
              </a:rPr>
              <a:t> Controls are implemented to reduce or maintain risk at acceptable levels; however, controls may be poorly maintained, unsuitable for the risk that they are meant to control or incorrectly configured. </a:t>
            </a:r>
          </a:p>
          <a:p>
            <a:pPr marL="800100" marR="0" lvl="1" indent="-342900" algn="l" defTabSz="914400" rtl="0" eaLnBrk="1" fontAlgn="auto" latinLnBrk="0" hangingPunct="1">
              <a:lnSpc>
                <a:spcPct val="100000"/>
              </a:lnSpc>
              <a:spcBef>
                <a:spcPts val="0"/>
              </a:spcBef>
              <a:spcAft>
                <a:spcPts val="600"/>
              </a:spcAft>
              <a:buClrTx/>
              <a:buSzTx/>
              <a:buFont typeface="+mj-lt"/>
              <a:buAutoNum type="arabicPeriod"/>
              <a:tabLst/>
              <a:defRPr/>
            </a:pPr>
            <a:r>
              <a:rPr kumimoji="0" lang="en-US" b="0" i="0" u="none" strike="noStrike" kern="1200" cap="none" spc="0" normalizeH="0" baseline="0" noProof="0" dirty="0">
                <a:ln>
                  <a:noFill/>
                </a:ln>
                <a:solidFill>
                  <a:srgbClr val="7030A0"/>
                </a:solidFill>
                <a:effectLst>
                  <a:outerShdw blurRad="38100" dist="38100" dir="2700000" algn="tl">
                    <a:srgbClr val="000000">
                      <a:alpha val="43137"/>
                    </a:srgbClr>
                  </a:outerShdw>
                </a:effectLst>
                <a:uLnTx/>
                <a:uFillTx/>
                <a:latin typeface="Berlin Sans FB" panose="020E0602020502020306" pitchFamily="34" charset="0"/>
                <a:ea typeface="+mn-ea"/>
                <a:cs typeface="+mn-cs"/>
              </a:rPr>
              <a:t>Controls should be regularly reviewed to determine and ensure their effectiveness.</a:t>
            </a:r>
          </a:p>
          <a:p>
            <a:pPr marL="800100" marR="0" lvl="1" indent="-342900" algn="l" defTabSz="914400" rtl="0" eaLnBrk="1" fontAlgn="auto" latinLnBrk="0" hangingPunct="1">
              <a:lnSpc>
                <a:spcPct val="100000"/>
              </a:lnSpc>
              <a:spcBef>
                <a:spcPts val="0"/>
              </a:spcBef>
              <a:spcAft>
                <a:spcPts val="600"/>
              </a:spcAft>
              <a:buClrTx/>
              <a:buSzTx/>
              <a:buFont typeface="+mj-lt"/>
              <a:buAutoNum type="arabicPeriod"/>
              <a:tabLst/>
              <a:defRPr/>
            </a:pPr>
            <a:r>
              <a:rPr kumimoji="0" lang="en-US" b="0" i="0" u="none" strike="noStrike" kern="1200" cap="none" spc="0" normalizeH="0" baseline="0" noProof="0" dirty="0">
                <a:ln>
                  <a:noFill/>
                </a:ln>
                <a:solidFill>
                  <a:srgbClr val="0070C0"/>
                </a:solidFill>
                <a:effectLst/>
                <a:uLnTx/>
                <a:uFillTx/>
                <a:latin typeface="Berlin Sans FB" panose="020E0602020502020306" pitchFamily="34" charset="0"/>
                <a:ea typeface="+mn-ea"/>
                <a:cs typeface="+mn-cs"/>
              </a:rPr>
              <a:t>In addition to evaluating the effectiveness of each control for its intended purpose, the risk practitioner should verify the correct balance between technical, administrative (managerial) and physical controls. </a:t>
            </a:r>
          </a:p>
          <a:p>
            <a:pPr marL="800100" marR="0" lvl="1" indent="-342900" algn="l" defTabSz="914400" rtl="0" eaLnBrk="1" fontAlgn="auto" latinLnBrk="0" hangingPunct="1">
              <a:lnSpc>
                <a:spcPct val="100000"/>
              </a:lnSpc>
              <a:spcBef>
                <a:spcPts val="0"/>
              </a:spcBef>
              <a:spcAft>
                <a:spcPts val="600"/>
              </a:spcAft>
              <a:buClrTx/>
              <a:buSzTx/>
              <a:buFont typeface="+mj-lt"/>
              <a:buAutoNum type="arabicPeriod"/>
              <a:tabLst/>
              <a:defRPr/>
            </a:pPr>
            <a:r>
              <a:rPr kumimoji="0" lang="en-US" b="0" i="0" u="none" strike="noStrike" kern="1200" cap="none" spc="0" normalizeH="0" baseline="0" noProof="0" dirty="0">
                <a:ln>
                  <a:noFill/>
                </a:ln>
                <a:solidFill>
                  <a:srgbClr val="7030A0"/>
                </a:solidFill>
                <a:effectLst/>
                <a:uLnTx/>
                <a:uFillTx/>
                <a:latin typeface="Berlin Sans FB" panose="020E0602020502020306" pitchFamily="34" charset="0"/>
                <a:ea typeface="+mn-ea"/>
                <a:cs typeface="+mn-cs"/>
              </a:rPr>
              <a:t>For example Implementation of a technical control, such as a firewall, requires training for the staff member who manages or operates it, correct procedures for its configuration, assignment of responsibilities for its monitoring and schedules for regular testing. </a:t>
            </a:r>
          </a:p>
        </p:txBody>
      </p:sp>
    </p:spTree>
    <p:extLst>
      <p:ext uri="{BB962C8B-B14F-4D97-AF65-F5344CB8AC3E}">
        <p14:creationId xmlns:p14="http://schemas.microsoft.com/office/powerpoint/2010/main" val="402761542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1E9C49E-B87D-4305-9EEA-B957F71968FB}"/>
              </a:ext>
            </a:extLst>
          </p:cNvPr>
          <p:cNvSpPr/>
          <p:nvPr/>
        </p:nvSpPr>
        <p:spPr>
          <a:xfrm>
            <a:off x="1512279" y="584775"/>
            <a:ext cx="7577015" cy="5447645"/>
          </a:xfrm>
          <a:prstGeom prst="rect">
            <a:avLst/>
          </a:prstGeom>
        </p:spPr>
        <p:txBody>
          <a:bodyPr wrap="square">
            <a:spAutoFit/>
          </a:bodyPr>
          <a:lstStyle/>
          <a:p>
            <a:pPr>
              <a:defRPr/>
            </a:pPr>
            <a:r>
              <a:rPr lang="en-US" sz="2800" dirty="0">
                <a:solidFill>
                  <a:srgbClr val="C00000"/>
                </a:solidFill>
                <a:latin typeface="Berlin Sans FB Demi" panose="020E0802020502020306" pitchFamily="34" charset="0"/>
              </a:rPr>
              <a:t>PREVENTIVE</a:t>
            </a:r>
          </a:p>
          <a:p>
            <a:pPr marL="742950" lvl="1" indent="-285750">
              <a:buFont typeface="Wingdings" panose="05000000000000000000" pitchFamily="2" charset="2"/>
              <a:buChar char="q"/>
              <a:defRPr/>
            </a:pPr>
            <a:r>
              <a:rPr lang="en-US" sz="1600" dirty="0">
                <a:solidFill>
                  <a:srgbClr val="002060"/>
                </a:solidFill>
                <a:effectLst>
                  <a:outerShdw blurRad="38100" dist="38100" dir="2700000" algn="tl">
                    <a:srgbClr val="000000">
                      <a:alpha val="43137"/>
                    </a:srgbClr>
                  </a:outerShdw>
                </a:effectLst>
                <a:latin typeface="Berlin Sans FB" panose="020E0602020502020306" pitchFamily="34" charset="0"/>
              </a:rPr>
              <a:t>Preventive controls prevent actions from occurring. It applies restrictions to what a potential user, either authorized or unauthorized, can do.</a:t>
            </a:r>
          </a:p>
          <a:p>
            <a:pPr marL="742950" lvl="1" indent="-285750">
              <a:buFont typeface="Wingdings" panose="05000000000000000000" pitchFamily="2" charset="2"/>
              <a:buChar char="q"/>
              <a:defRPr/>
            </a:pPr>
            <a:endParaRPr lang="en-US" sz="1600" dirty="0">
              <a:solidFill>
                <a:srgbClr val="002060"/>
              </a:solidFill>
              <a:effectLst>
                <a:outerShdw blurRad="38100" dist="38100" dir="2700000" algn="tl">
                  <a:srgbClr val="000000">
                    <a:alpha val="43137"/>
                  </a:srgbClr>
                </a:outerShdw>
              </a:effectLst>
              <a:latin typeface="Berlin Sans FB" panose="020E0602020502020306" pitchFamily="34" charset="0"/>
            </a:endParaRPr>
          </a:p>
          <a:p>
            <a:pPr marL="742950" lvl="1" indent="-285750">
              <a:buFont typeface="Wingdings" panose="05000000000000000000" pitchFamily="2" charset="2"/>
              <a:buChar char="q"/>
              <a:defRPr/>
            </a:pPr>
            <a:r>
              <a:rPr lang="en-US" sz="1600" dirty="0">
                <a:solidFill>
                  <a:srgbClr val="002060"/>
                </a:solidFill>
                <a:effectLst>
                  <a:outerShdw blurRad="38100" dist="38100" dir="2700000" algn="tl">
                    <a:srgbClr val="000000">
                      <a:alpha val="43137"/>
                    </a:srgbClr>
                  </a:outerShdw>
                </a:effectLst>
                <a:latin typeface="Berlin Sans FB" panose="020E0602020502020306" pitchFamily="34" charset="0"/>
              </a:rPr>
              <a:t> The assigning of privileges on a system is a good example of a preventive control because having limited privileges prevents the user from accessing and performing unauthorized actions on the system. </a:t>
            </a:r>
          </a:p>
          <a:p>
            <a:pPr marL="742950" lvl="1" indent="-285750">
              <a:buFont typeface="Wingdings" panose="05000000000000000000" pitchFamily="2" charset="2"/>
              <a:buChar char="q"/>
              <a:defRPr/>
            </a:pPr>
            <a:endParaRPr lang="en-US" sz="1600" dirty="0">
              <a:solidFill>
                <a:srgbClr val="002060"/>
              </a:solidFill>
              <a:effectLst>
                <a:outerShdw blurRad="38100" dist="38100" dir="2700000" algn="tl">
                  <a:srgbClr val="000000">
                    <a:alpha val="43137"/>
                  </a:srgbClr>
                </a:outerShdw>
              </a:effectLst>
              <a:latin typeface="Berlin Sans FB" panose="020E0602020502020306" pitchFamily="34" charset="0"/>
            </a:endParaRPr>
          </a:p>
          <a:p>
            <a:pPr marL="742950" lvl="1" indent="-285750">
              <a:buFont typeface="Wingdings" panose="05000000000000000000" pitchFamily="2" charset="2"/>
              <a:buChar char="q"/>
              <a:defRPr/>
            </a:pPr>
            <a:r>
              <a:rPr lang="en-US" sz="1600" dirty="0">
                <a:solidFill>
                  <a:srgbClr val="002060"/>
                </a:solidFill>
                <a:effectLst>
                  <a:outerShdw blurRad="38100" dist="38100" dir="2700000" algn="tl">
                    <a:srgbClr val="000000">
                      <a:alpha val="43137"/>
                    </a:srgbClr>
                  </a:outerShdw>
                </a:effectLst>
                <a:latin typeface="Berlin Sans FB" panose="020E0602020502020306" pitchFamily="34" charset="0"/>
              </a:rPr>
              <a:t>An example of an administrative preventive control is a </a:t>
            </a:r>
            <a:r>
              <a:rPr lang="en-US" sz="1600" dirty="0">
                <a:solidFill>
                  <a:srgbClr val="0070C0"/>
                </a:solidFill>
                <a:effectLst>
                  <a:outerShdw blurRad="38100" dist="38100" dir="2700000" algn="tl">
                    <a:srgbClr val="000000">
                      <a:alpha val="43137"/>
                    </a:srgbClr>
                  </a:outerShdw>
                </a:effectLst>
                <a:latin typeface="Berlin Sans FB" panose="020E0602020502020306" pitchFamily="34" charset="0"/>
              </a:rPr>
              <a:t>pre-employment drug screening</a:t>
            </a:r>
            <a:r>
              <a:rPr lang="en-US" sz="1600" dirty="0">
                <a:solidFill>
                  <a:srgbClr val="002060"/>
                </a:solidFill>
                <a:effectLst>
                  <a:outerShdw blurRad="38100" dist="38100" dir="2700000" algn="tl">
                    <a:srgbClr val="000000">
                      <a:alpha val="43137"/>
                    </a:srgbClr>
                  </a:outerShdw>
                </a:effectLst>
                <a:latin typeface="Berlin Sans FB" panose="020E0602020502020306" pitchFamily="34" charset="0"/>
              </a:rPr>
              <a:t>. It is designed to prevent an organization from hiring an employee who is using illegal drugs</a:t>
            </a:r>
            <a:r>
              <a:rPr kumimoji="0" lang="en-US" sz="2000" b="0" i="0" u="none" strike="noStrike" kern="1200" cap="none" spc="0" normalizeH="0" baseline="0" noProof="0" dirty="0">
                <a:ln>
                  <a:noFill/>
                </a:ln>
                <a:solidFill>
                  <a:srgbClr val="002060"/>
                </a:solidFill>
                <a:effectLst/>
                <a:uLnTx/>
                <a:uFillTx/>
                <a:latin typeface="Calibri Light"/>
                <a:ea typeface="+mn-ea"/>
                <a:cs typeface="+mn-cs"/>
              </a:rPr>
              <a:t>.</a:t>
            </a:r>
          </a:p>
          <a:p>
            <a:pPr marL="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endParaRPr kumimoji="0" lang="en-US" sz="3200" b="1" i="0" u="none" strike="noStrike" kern="1200" cap="none" spc="0" normalizeH="0" baseline="0" noProof="0" dirty="0">
              <a:ln>
                <a:noFill/>
              </a:ln>
              <a:solidFill>
                <a:srgbClr val="002060"/>
              </a:solidFill>
              <a:effectLst/>
              <a:uLnTx/>
              <a:uFillTx/>
              <a:latin typeface="Calibri Ligh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2800" dirty="0">
                <a:solidFill>
                  <a:srgbClr val="C00000"/>
                </a:solidFill>
                <a:latin typeface="Berlin Sans FB Demi" panose="020E0802020502020306" pitchFamily="34" charset="0"/>
              </a:rPr>
              <a:t>DETECTIVE</a:t>
            </a:r>
          </a:p>
          <a:p>
            <a:pPr marL="742950" lvl="1" indent="-285750">
              <a:buFont typeface="Wingdings" panose="05000000000000000000" pitchFamily="2" charset="2"/>
              <a:buChar char="q"/>
              <a:defRPr/>
            </a:pPr>
            <a:r>
              <a:rPr lang="en-US" sz="1600" dirty="0">
                <a:solidFill>
                  <a:srgbClr val="002060"/>
                </a:solidFill>
                <a:effectLst>
                  <a:outerShdw blurRad="38100" dist="38100" dir="2700000" algn="tl">
                    <a:srgbClr val="000000">
                      <a:alpha val="43137"/>
                    </a:srgbClr>
                  </a:outerShdw>
                </a:effectLst>
                <a:latin typeface="Berlin Sans FB" panose="020E0602020502020306" pitchFamily="34" charset="0"/>
              </a:rPr>
              <a:t>Detective controls are controls that alert during or after a successful attack. </a:t>
            </a:r>
          </a:p>
          <a:p>
            <a:pPr marL="742950" lvl="1" indent="-285750">
              <a:buFont typeface="Wingdings" panose="05000000000000000000" pitchFamily="2" charset="2"/>
              <a:buChar char="q"/>
              <a:defRPr/>
            </a:pPr>
            <a:endParaRPr lang="en-US" sz="1600" dirty="0">
              <a:solidFill>
                <a:srgbClr val="002060"/>
              </a:solidFill>
              <a:effectLst>
                <a:outerShdw blurRad="38100" dist="38100" dir="2700000" algn="tl">
                  <a:srgbClr val="000000">
                    <a:alpha val="43137"/>
                  </a:srgbClr>
                </a:outerShdw>
              </a:effectLst>
              <a:latin typeface="Berlin Sans FB" panose="020E0602020502020306" pitchFamily="34" charset="0"/>
            </a:endParaRPr>
          </a:p>
          <a:p>
            <a:pPr marL="742950" lvl="1" indent="-285750">
              <a:buFont typeface="Wingdings" panose="05000000000000000000" pitchFamily="2" charset="2"/>
              <a:buChar char="q"/>
              <a:defRPr/>
            </a:pPr>
            <a:r>
              <a:rPr lang="en-US" sz="1600" dirty="0">
                <a:solidFill>
                  <a:srgbClr val="002060"/>
                </a:solidFill>
                <a:effectLst>
                  <a:outerShdw blurRad="38100" dist="38100" dir="2700000" algn="tl">
                    <a:srgbClr val="000000">
                      <a:alpha val="43137"/>
                    </a:srgbClr>
                  </a:outerShdw>
                </a:effectLst>
                <a:latin typeface="Berlin Sans FB" panose="020E0602020502020306" pitchFamily="34" charset="0"/>
              </a:rPr>
              <a:t>Intrusion detection systems alerting after a successful attack, closed-circuit television cameras (CCTV) that alert guards to an intruder, and a building alarm system that is triggered by an intruder are all examples of detective controls.</a:t>
            </a:r>
          </a:p>
        </p:txBody>
      </p:sp>
      <p:sp>
        <p:nvSpPr>
          <p:cNvPr id="4" name="TextBox 3">
            <a:extLst>
              <a:ext uri="{FF2B5EF4-FFF2-40B4-BE49-F238E27FC236}">
                <a16:creationId xmlns:a16="http://schemas.microsoft.com/office/drawing/2014/main" id="{5FD3EC49-387D-3B61-B21B-21D150329027}"/>
              </a:ext>
            </a:extLst>
          </p:cNvPr>
          <p:cNvSpPr txBox="1"/>
          <p:nvPr/>
        </p:nvSpPr>
        <p:spPr>
          <a:xfrm>
            <a:off x="797169" y="0"/>
            <a:ext cx="2305539" cy="584775"/>
          </a:xfrm>
          <a:prstGeom prst="rect">
            <a:avLst/>
          </a:prstGeom>
          <a:noFill/>
        </p:spPr>
        <p:txBody>
          <a:bodyPr wrap="square">
            <a:spAutoFit/>
          </a:bodyPr>
          <a:lstStyle/>
          <a:p>
            <a:r>
              <a:rPr lang="en-US" sz="3200" b="1" u="heavy" spc="-50" dirty="0">
                <a:solidFill>
                  <a:srgbClr val="074891"/>
                </a:solidFill>
                <a:uFill>
                  <a:solidFill>
                    <a:srgbClr val="000000"/>
                  </a:solidFill>
                </a:uFill>
                <a:latin typeface="Calibri Light"/>
                <a:cs typeface="Calibri Light"/>
              </a:rPr>
              <a:t>Control</a:t>
            </a:r>
            <a:r>
              <a:rPr lang="en-US" sz="3200" b="1" u="heavy" spc="-105" dirty="0">
                <a:solidFill>
                  <a:srgbClr val="074891"/>
                </a:solidFill>
                <a:uFill>
                  <a:solidFill>
                    <a:srgbClr val="000000"/>
                  </a:solidFill>
                </a:uFill>
                <a:latin typeface="Calibri Light"/>
                <a:cs typeface="Calibri Light"/>
              </a:rPr>
              <a:t> </a:t>
            </a:r>
            <a:r>
              <a:rPr lang="en-US" sz="3200" b="1" u="heavy" spc="-75" dirty="0">
                <a:solidFill>
                  <a:srgbClr val="074891"/>
                </a:solidFill>
                <a:uFill>
                  <a:solidFill>
                    <a:srgbClr val="000000"/>
                  </a:solidFill>
                </a:uFill>
                <a:latin typeface="Calibri Light"/>
                <a:cs typeface="Calibri Light"/>
              </a:rPr>
              <a:t>Types</a:t>
            </a:r>
            <a:endParaRPr lang="en-US" sz="3200" b="1" dirty="0"/>
          </a:p>
        </p:txBody>
      </p:sp>
    </p:spTree>
    <p:extLst>
      <p:ext uri="{BB962C8B-B14F-4D97-AF65-F5344CB8AC3E}">
        <p14:creationId xmlns:p14="http://schemas.microsoft.com/office/powerpoint/2010/main" val="276333948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0874C04-8055-44B4-ABF1-BCA63D7FBFCE}"/>
              </a:ext>
            </a:extLst>
          </p:cNvPr>
          <p:cNvSpPr/>
          <p:nvPr/>
        </p:nvSpPr>
        <p:spPr>
          <a:xfrm>
            <a:off x="887046" y="168031"/>
            <a:ext cx="8952523" cy="5570756"/>
          </a:xfrm>
          <a:prstGeom prst="rect">
            <a:avLst/>
          </a:prstGeom>
        </p:spPr>
        <p:txBody>
          <a:bodyPr wrap="square">
            <a:spAutoFit/>
          </a:bodyPr>
          <a:lstStyle/>
          <a:p>
            <a:pPr>
              <a:defRPr/>
            </a:pPr>
            <a:r>
              <a:rPr lang="en-US" sz="2800" dirty="0">
                <a:solidFill>
                  <a:srgbClr val="C00000"/>
                </a:solidFill>
                <a:latin typeface="Berlin Sans FB Demi" panose="020E0802020502020306" pitchFamily="34" charset="0"/>
              </a:rPr>
              <a:t>CORRECTIVE</a:t>
            </a:r>
          </a:p>
          <a:p>
            <a:pPr marL="742950" lvl="1" indent="-285750">
              <a:buFont typeface="Wingdings" panose="05000000000000000000" pitchFamily="2" charset="2"/>
              <a:buChar char="q"/>
              <a:defRPr/>
            </a:pPr>
            <a:r>
              <a:rPr lang="en-US" sz="1600" dirty="0">
                <a:solidFill>
                  <a:srgbClr val="002060"/>
                </a:solidFill>
                <a:latin typeface="Berlin Sans FB" panose="020E0602020502020306" pitchFamily="34" charset="0"/>
              </a:rPr>
              <a:t>Corrective controls work by “correcting” a damaged system or process. </a:t>
            </a:r>
          </a:p>
          <a:p>
            <a:pPr marL="742950" lvl="1" indent="-285750">
              <a:buFont typeface="Wingdings" panose="05000000000000000000" pitchFamily="2" charset="2"/>
              <a:buChar char="q"/>
              <a:defRPr/>
            </a:pPr>
            <a:r>
              <a:rPr lang="en-US" sz="1600" dirty="0">
                <a:solidFill>
                  <a:srgbClr val="002060"/>
                </a:solidFill>
                <a:latin typeface="Berlin Sans FB" panose="020E0602020502020306" pitchFamily="34" charset="0"/>
              </a:rPr>
              <a:t>The corrective access control typically works hand in hand with detective access controls.</a:t>
            </a:r>
          </a:p>
          <a:p>
            <a:pPr marL="742950" lvl="1" indent="-285750">
              <a:buFont typeface="Wingdings" panose="05000000000000000000" pitchFamily="2" charset="2"/>
              <a:buChar char="q"/>
              <a:defRPr/>
            </a:pPr>
            <a:endParaRPr lang="en-US" sz="1600" dirty="0">
              <a:solidFill>
                <a:srgbClr val="002060"/>
              </a:solidFill>
              <a:latin typeface="Berlin Sans FB" panose="020E0602020502020306" pitchFamily="34" charset="0"/>
            </a:endParaRPr>
          </a:p>
          <a:p>
            <a:pPr marL="742950" lvl="1" indent="-285750">
              <a:buFont typeface="Wingdings" panose="05000000000000000000" pitchFamily="2" charset="2"/>
              <a:buChar char="q"/>
              <a:defRPr/>
            </a:pPr>
            <a:r>
              <a:rPr lang="en-US" sz="1600" dirty="0">
                <a:solidFill>
                  <a:srgbClr val="0070C0"/>
                </a:solidFill>
                <a:effectLst>
                  <a:outerShdw blurRad="38100" dist="38100" dir="2700000" algn="tl">
                    <a:srgbClr val="000000">
                      <a:alpha val="43137"/>
                    </a:srgbClr>
                  </a:outerShdw>
                </a:effectLst>
                <a:latin typeface="Berlin Sans FB" panose="020E0602020502020306" pitchFamily="34" charset="0"/>
              </a:rPr>
              <a:t>Antivirus software </a:t>
            </a:r>
            <a:r>
              <a:rPr lang="en-US" sz="1600" dirty="0">
                <a:solidFill>
                  <a:srgbClr val="002060"/>
                </a:solidFill>
                <a:latin typeface="Berlin Sans FB" panose="020E0602020502020306" pitchFamily="34" charset="0"/>
              </a:rPr>
              <a:t>has both components. First, the antivirus software runs a scan and uses its definition file to detect whether there is any software that matches its virus list. If it detects a virus, the corrective controls take over, places the suspicious software in quarantine, or deletes it from the system.</a:t>
            </a:r>
          </a:p>
          <a:p>
            <a:pPr>
              <a:defRPr/>
            </a:pPr>
            <a:endParaRPr lang="en-US" sz="2800" dirty="0">
              <a:solidFill>
                <a:srgbClr val="C00000"/>
              </a:solidFill>
              <a:latin typeface="Berlin Sans FB Demi" panose="020E0802020502020306" pitchFamily="34" charset="0"/>
            </a:endParaRPr>
          </a:p>
          <a:p>
            <a:pPr>
              <a:defRPr/>
            </a:pPr>
            <a:r>
              <a:rPr lang="en-US" sz="2800" dirty="0">
                <a:solidFill>
                  <a:srgbClr val="C00000"/>
                </a:solidFill>
                <a:latin typeface="Berlin Sans FB Demi" panose="020E0802020502020306" pitchFamily="34" charset="0"/>
              </a:rPr>
              <a:t>RECOVERY</a:t>
            </a:r>
            <a:endParaRPr kumimoji="0" lang="en-US" sz="2800" b="1" i="0" u="none" strike="noStrike" kern="1200" cap="none" spc="0" normalizeH="0" baseline="0" noProof="0" dirty="0">
              <a:ln>
                <a:noFill/>
              </a:ln>
              <a:solidFill>
                <a:srgbClr val="002060"/>
              </a:solidFill>
              <a:uLnTx/>
              <a:uFillTx/>
              <a:latin typeface="Calibri Light"/>
            </a:endParaRPr>
          </a:p>
          <a:p>
            <a:pPr marL="742950" lvl="1" indent="-285750">
              <a:buFont typeface="Wingdings" panose="05000000000000000000" pitchFamily="2" charset="2"/>
              <a:buChar char="q"/>
              <a:defRPr/>
            </a:pPr>
            <a:r>
              <a:rPr lang="en-US" sz="1600" dirty="0">
                <a:solidFill>
                  <a:srgbClr val="002060"/>
                </a:solidFill>
                <a:latin typeface="Berlin Sans FB" panose="020E0602020502020306" pitchFamily="34" charset="0"/>
              </a:rPr>
              <a:t>After a security incident has occurred, recovery controls may need to be taken in order to restore functionality of the system and organization. </a:t>
            </a:r>
          </a:p>
          <a:p>
            <a:pPr marL="742950" lvl="1" indent="-285750">
              <a:buFont typeface="Wingdings" panose="05000000000000000000" pitchFamily="2" charset="2"/>
              <a:buChar char="q"/>
              <a:defRPr/>
            </a:pPr>
            <a:endParaRPr lang="en-US" sz="1600" dirty="0">
              <a:solidFill>
                <a:srgbClr val="002060"/>
              </a:solidFill>
              <a:latin typeface="Berlin Sans FB" panose="020E0602020502020306" pitchFamily="34" charset="0"/>
            </a:endParaRPr>
          </a:p>
          <a:p>
            <a:pPr marL="742950" lvl="1" indent="-285750">
              <a:buFont typeface="Wingdings" panose="05000000000000000000" pitchFamily="2" charset="2"/>
              <a:buChar char="q"/>
              <a:defRPr/>
            </a:pPr>
            <a:r>
              <a:rPr lang="en-US" sz="1600" dirty="0">
                <a:solidFill>
                  <a:srgbClr val="002060"/>
                </a:solidFill>
                <a:latin typeface="Berlin Sans FB" panose="020E0602020502020306" pitchFamily="34" charset="0"/>
              </a:rPr>
              <a:t>Recovery means that the system must be recovered: </a:t>
            </a:r>
            <a:r>
              <a:rPr lang="en-US" sz="1600" dirty="0">
                <a:solidFill>
                  <a:srgbClr val="0070C0"/>
                </a:solidFill>
                <a:effectLst>
                  <a:outerShdw blurRad="38100" dist="38100" dir="2700000" algn="tl">
                    <a:srgbClr val="000000">
                      <a:alpha val="43137"/>
                    </a:srgbClr>
                  </a:outerShdw>
                </a:effectLst>
                <a:latin typeface="Berlin Sans FB" panose="020E0602020502020306" pitchFamily="34" charset="0"/>
              </a:rPr>
              <a:t>reinstalled from OS media or image, data restored from backups, etc.</a:t>
            </a:r>
          </a:p>
          <a:p>
            <a:pPr marL="742950" lvl="1" indent="-285750">
              <a:buFont typeface="Wingdings" panose="05000000000000000000" pitchFamily="2" charset="2"/>
              <a:buChar char="q"/>
              <a:defRPr/>
            </a:pPr>
            <a:endParaRPr lang="en-US" sz="1600" dirty="0">
              <a:solidFill>
                <a:srgbClr val="002060"/>
              </a:solidFill>
              <a:latin typeface="Berlin Sans FB" panose="020E0602020502020306" pitchFamily="34" charset="0"/>
            </a:endParaRPr>
          </a:p>
          <a:p>
            <a:pPr marL="742950" lvl="1" indent="-285750">
              <a:buFont typeface="Wingdings" panose="05000000000000000000" pitchFamily="2" charset="2"/>
              <a:buChar char="q"/>
              <a:defRPr/>
            </a:pPr>
            <a:r>
              <a:rPr lang="en-US" sz="1600" dirty="0">
                <a:solidFill>
                  <a:srgbClr val="002060"/>
                </a:solidFill>
                <a:latin typeface="Berlin Sans FB" panose="020E0602020502020306" pitchFamily="34" charset="0"/>
              </a:rPr>
              <a:t>The connection between corrective and recovery controls is important to understand. For example, let us say a user downloads a Trojan horse. </a:t>
            </a:r>
            <a:r>
              <a:rPr lang="en-US" sz="1600" dirty="0">
                <a:solidFill>
                  <a:srgbClr val="0070C0"/>
                </a:solidFill>
                <a:effectLst>
                  <a:outerShdw blurRad="38100" dist="38100" dir="2700000" algn="tl">
                    <a:srgbClr val="000000">
                      <a:alpha val="43137"/>
                    </a:srgbClr>
                  </a:outerShdw>
                </a:effectLst>
                <a:latin typeface="Berlin Sans FB" panose="020E0602020502020306" pitchFamily="34" charset="0"/>
              </a:rPr>
              <a:t>A corrective control may be the antivirus software “quarantine.” If the quarantine does not correct the problem, then a recovery control may be implemented to reload software and rebuild the compromised system.</a:t>
            </a:r>
          </a:p>
        </p:txBody>
      </p:sp>
    </p:spTree>
    <p:extLst>
      <p:ext uri="{BB962C8B-B14F-4D97-AF65-F5344CB8AC3E}">
        <p14:creationId xmlns:p14="http://schemas.microsoft.com/office/powerpoint/2010/main" val="256880573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B5F09FA-AA9A-4E27-BEEE-8962524BFD95}"/>
              </a:ext>
            </a:extLst>
          </p:cNvPr>
          <p:cNvSpPr/>
          <p:nvPr/>
        </p:nvSpPr>
        <p:spPr>
          <a:xfrm>
            <a:off x="1287584" y="588107"/>
            <a:ext cx="8262816" cy="5201424"/>
          </a:xfrm>
          <a:prstGeom prst="rect">
            <a:avLst/>
          </a:prstGeom>
        </p:spPr>
        <p:txBody>
          <a:bodyPr wrap="square">
            <a:spAutoFit/>
          </a:bodyPr>
          <a:lstStyle/>
          <a:p>
            <a:pPr>
              <a:defRPr/>
            </a:pPr>
            <a:r>
              <a:rPr lang="en-US" sz="2800" dirty="0">
                <a:solidFill>
                  <a:srgbClr val="C00000"/>
                </a:solidFill>
                <a:latin typeface="Berlin Sans FB Demi" panose="020E0802020502020306" pitchFamily="34" charset="0"/>
              </a:rPr>
              <a:t>DETERRENT</a:t>
            </a:r>
          </a:p>
          <a:p>
            <a:pPr marL="742950" marR="0" lvl="1"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r>
              <a:rPr lang="en-US" sz="1600" dirty="0">
                <a:solidFill>
                  <a:srgbClr val="002060"/>
                </a:solidFill>
                <a:effectLst>
                  <a:outerShdw blurRad="38100" dist="38100" dir="2700000" algn="tl">
                    <a:srgbClr val="000000">
                      <a:alpha val="43137"/>
                    </a:srgbClr>
                  </a:outerShdw>
                </a:effectLst>
                <a:latin typeface="Berlin Sans FB" panose="020E0602020502020306" pitchFamily="34" charset="0"/>
              </a:rPr>
              <a:t>Deterrent controls deter users from performing actions on a system.</a:t>
            </a:r>
          </a:p>
          <a:p>
            <a:pPr marL="742950" marR="0" lvl="1"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endParaRPr lang="en-US" sz="1600" dirty="0">
              <a:solidFill>
                <a:srgbClr val="002060"/>
              </a:solidFill>
              <a:effectLst>
                <a:outerShdw blurRad="38100" dist="38100" dir="2700000" algn="tl">
                  <a:srgbClr val="000000">
                    <a:alpha val="43137"/>
                  </a:srgbClr>
                </a:outerShdw>
              </a:effectLst>
              <a:latin typeface="Berlin Sans FB" panose="020E0602020502020306" pitchFamily="34" charset="0"/>
            </a:endParaRPr>
          </a:p>
          <a:p>
            <a:pPr marL="742950" marR="0" lvl="1"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r>
              <a:rPr lang="en-US" sz="1600" dirty="0">
                <a:solidFill>
                  <a:srgbClr val="002060"/>
                </a:solidFill>
                <a:effectLst>
                  <a:outerShdw blurRad="38100" dist="38100" dir="2700000" algn="tl">
                    <a:srgbClr val="000000">
                      <a:alpha val="43137"/>
                    </a:srgbClr>
                  </a:outerShdw>
                </a:effectLst>
                <a:latin typeface="Berlin Sans FB" panose="020E0602020502020306" pitchFamily="34" charset="0"/>
              </a:rPr>
              <a:t> Examples include a “beware of dog” sign: a thief facing two buildings, one with guard dogs and one without, is more likely to attack the building without guard dogs. </a:t>
            </a:r>
          </a:p>
          <a:p>
            <a:pPr marL="742950" marR="0" lvl="1"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endParaRPr lang="en-US" sz="1600" dirty="0">
              <a:solidFill>
                <a:srgbClr val="002060"/>
              </a:solidFill>
              <a:effectLst>
                <a:outerShdw blurRad="38100" dist="38100" dir="2700000" algn="tl">
                  <a:srgbClr val="000000">
                    <a:alpha val="43137"/>
                  </a:srgbClr>
                </a:outerShdw>
              </a:effectLst>
              <a:latin typeface="Berlin Sans FB" panose="020E0602020502020306" pitchFamily="34" charset="0"/>
            </a:endParaRPr>
          </a:p>
          <a:p>
            <a:pPr marL="742950" marR="0" lvl="1"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r>
              <a:rPr lang="en-US" sz="1600" dirty="0">
                <a:solidFill>
                  <a:srgbClr val="0070C0"/>
                </a:solidFill>
                <a:effectLst>
                  <a:outerShdw blurRad="38100" dist="38100" dir="2700000" algn="tl">
                    <a:srgbClr val="000000">
                      <a:alpha val="43137"/>
                    </a:srgbClr>
                  </a:outerShdw>
                </a:effectLst>
                <a:latin typeface="Berlin Sans FB" panose="020E0602020502020306" pitchFamily="34" charset="0"/>
              </a:rPr>
              <a:t>A large fine for speeding is a deterrent for drivers to not </a:t>
            </a:r>
            <a:r>
              <a:rPr lang="en-US" sz="1600" dirty="0">
                <a:solidFill>
                  <a:srgbClr val="002060"/>
                </a:solidFill>
                <a:effectLst>
                  <a:outerShdw blurRad="38100" dist="38100" dir="2700000" algn="tl">
                    <a:srgbClr val="000000">
                      <a:alpha val="43137"/>
                    </a:srgbClr>
                  </a:outerShdw>
                </a:effectLst>
                <a:latin typeface="Berlin Sans FB" panose="020E0602020502020306" pitchFamily="34" charset="0"/>
              </a:rPr>
              <a:t>speed. </a:t>
            </a:r>
            <a:r>
              <a:rPr lang="en-US" sz="1600" dirty="0">
                <a:solidFill>
                  <a:srgbClr val="0070C0"/>
                </a:solidFill>
                <a:effectLst>
                  <a:outerShdw blurRad="38100" dist="38100" dir="2700000" algn="tl">
                    <a:srgbClr val="000000">
                      <a:alpha val="43137"/>
                    </a:srgbClr>
                  </a:outerShdw>
                </a:effectLst>
                <a:latin typeface="Berlin Sans FB" panose="020E0602020502020306" pitchFamily="34" charset="0"/>
              </a:rPr>
              <a:t>A sanction policy that makes users understand that they will be fired if they are caught surfing illicit or illegal Web sites is a deterrent.</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1" i="0" u="none" strike="noStrike" kern="1200" cap="none" spc="0" normalizeH="0" baseline="0" noProof="0" dirty="0">
              <a:ln>
                <a:noFill/>
              </a:ln>
              <a:solidFill>
                <a:srgbClr val="002060"/>
              </a:solidFill>
              <a:effectLst/>
              <a:uLnTx/>
              <a:uFillTx/>
              <a:latin typeface="Calibri Light"/>
              <a:ea typeface="+mn-ea"/>
              <a:cs typeface="+mn-cs"/>
            </a:endParaRPr>
          </a:p>
          <a:p>
            <a:pPr>
              <a:defRPr/>
            </a:pPr>
            <a:r>
              <a:rPr lang="en-US" sz="2800" dirty="0">
                <a:solidFill>
                  <a:srgbClr val="C00000"/>
                </a:solidFill>
                <a:latin typeface="Berlin Sans FB Demi" panose="020E0802020502020306" pitchFamily="34" charset="0"/>
              </a:rPr>
              <a:t>COMPENSATING</a:t>
            </a:r>
          </a:p>
          <a:p>
            <a:pPr marL="742950" marR="0" lvl="1"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r>
              <a:rPr lang="en-US" sz="1600" dirty="0">
                <a:solidFill>
                  <a:srgbClr val="002060"/>
                </a:solidFill>
                <a:effectLst>
                  <a:outerShdw blurRad="38100" dist="38100" dir="2700000" algn="tl">
                    <a:srgbClr val="000000">
                      <a:alpha val="43137"/>
                    </a:srgbClr>
                  </a:outerShdw>
                </a:effectLst>
                <a:latin typeface="Berlin Sans FB" panose="020E0602020502020306" pitchFamily="34" charset="0"/>
              </a:rPr>
              <a:t>A compensating control is an additional security control put in place to compensate for weaknesses in other controls. </a:t>
            </a:r>
          </a:p>
          <a:p>
            <a:pPr marL="742950" marR="0" lvl="1"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endParaRPr lang="en-US" sz="1600" dirty="0">
              <a:solidFill>
                <a:srgbClr val="002060"/>
              </a:solidFill>
              <a:effectLst>
                <a:outerShdw blurRad="38100" dist="38100" dir="2700000" algn="tl">
                  <a:srgbClr val="000000">
                    <a:alpha val="43137"/>
                  </a:srgbClr>
                </a:outerShdw>
              </a:effectLst>
              <a:latin typeface="Berlin Sans FB" panose="020E0602020502020306" pitchFamily="34" charset="0"/>
            </a:endParaRPr>
          </a:p>
          <a:p>
            <a:pPr marL="742950" marR="0" lvl="1"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r>
              <a:rPr lang="en-US" sz="1600" dirty="0">
                <a:solidFill>
                  <a:srgbClr val="002060"/>
                </a:solidFill>
                <a:effectLst>
                  <a:outerShdw blurRad="38100" dist="38100" dir="2700000" algn="tl">
                    <a:srgbClr val="000000">
                      <a:alpha val="43137"/>
                    </a:srgbClr>
                  </a:outerShdw>
                </a:effectLst>
                <a:latin typeface="Berlin Sans FB" panose="020E0602020502020306" pitchFamily="34" charset="0"/>
              </a:rPr>
              <a:t>For example, surfing explicit Web sites would be a cause for an employee to lose his/her job. This would be an administrative deterrent control. However, by also adding a review of each employee’s Web logs each day, we are adding a detective compensating control to augment the administrative control of firing an employee who surfs inappropriate Web sites.</a:t>
            </a:r>
          </a:p>
        </p:txBody>
      </p:sp>
    </p:spTree>
    <p:extLst>
      <p:ext uri="{BB962C8B-B14F-4D97-AF65-F5344CB8AC3E}">
        <p14:creationId xmlns:p14="http://schemas.microsoft.com/office/powerpoint/2010/main" val="227121606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968CFE2-02B2-4883-A3E9-39B7B0B06EBF}"/>
              </a:ext>
            </a:extLst>
          </p:cNvPr>
          <p:cNvSpPr/>
          <p:nvPr/>
        </p:nvSpPr>
        <p:spPr>
          <a:xfrm>
            <a:off x="1494693" y="386863"/>
            <a:ext cx="7133492" cy="5078313"/>
          </a:xfrm>
          <a:prstGeom prst="rect">
            <a:avLst/>
          </a:prstGeom>
        </p:spPr>
        <p:txBody>
          <a:bodyPr wrap="square">
            <a:spAutoFit/>
          </a:bodyPr>
          <a:lstStyle/>
          <a:p>
            <a:pPr>
              <a:defRPr/>
            </a:pPr>
            <a:r>
              <a:rPr lang="en-US" sz="2800" dirty="0">
                <a:solidFill>
                  <a:srgbClr val="C00000"/>
                </a:solidFill>
                <a:latin typeface="Berlin Sans FB Demi" panose="020E0802020502020306" pitchFamily="34" charset="0"/>
              </a:rPr>
              <a:t>more clear-cut examples: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800" b="0" i="0" u="none" strike="noStrike" kern="1200" cap="none" spc="0" normalizeH="0" baseline="0" noProof="0" dirty="0">
              <a:ln>
                <a:noFill/>
              </a:ln>
              <a:solidFill>
                <a:srgbClr val="002060"/>
              </a:solidFill>
              <a:effectLst/>
              <a:uLnTx/>
              <a:uFillTx/>
              <a:latin typeface="Calibri Light"/>
              <a:ea typeface="+mn-ea"/>
              <a:cs typeface="+mn-cs"/>
            </a:endParaRPr>
          </a:p>
          <a:p>
            <a:pPr marL="342900" indent="-342900">
              <a:buFont typeface="Wingdings" panose="05000000000000000000" pitchFamily="2" charset="2"/>
              <a:buChar char="q"/>
              <a:defRPr/>
            </a:pPr>
            <a:r>
              <a:rPr lang="en-US" sz="2400" dirty="0">
                <a:solidFill>
                  <a:srgbClr val="C00000"/>
                </a:solidFill>
                <a:latin typeface="Berlin Sans FB Demi" panose="020E0802020502020306" pitchFamily="34" charset="0"/>
              </a:rPr>
              <a:t>Preventive</a:t>
            </a:r>
          </a:p>
          <a:p>
            <a:pPr marL="914400" marR="0" lvl="2"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002060"/>
                </a:solidFill>
                <a:effectLst/>
                <a:uLnTx/>
                <a:uFillTx/>
                <a:latin typeface="Calibri Light"/>
                <a:ea typeface="+mn-ea"/>
                <a:cs typeface="+mn-cs"/>
              </a:rPr>
              <a:t>• </a:t>
            </a:r>
            <a:r>
              <a:rPr lang="en-US" sz="1600" dirty="0">
                <a:solidFill>
                  <a:srgbClr val="002060"/>
                </a:solidFill>
                <a:effectLst>
                  <a:outerShdw blurRad="38100" dist="38100" dir="2700000" algn="tl">
                    <a:srgbClr val="000000">
                      <a:alpha val="43137"/>
                    </a:srgbClr>
                  </a:outerShdw>
                </a:effectLst>
                <a:latin typeface="Berlin Sans FB" panose="020E0602020502020306" pitchFamily="34" charset="0"/>
              </a:rPr>
              <a:t>Physical: Lock, mantrap</a:t>
            </a:r>
          </a:p>
          <a:p>
            <a:pPr marL="914400" marR="0" lvl="2" indent="0" algn="l" defTabSz="914400" rtl="0" eaLnBrk="1" fontAlgn="auto" latinLnBrk="0" hangingPunct="1">
              <a:lnSpc>
                <a:spcPct val="100000"/>
              </a:lnSpc>
              <a:spcBef>
                <a:spcPts val="0"/>
              </a:spcBef>
              <a:spcAft>
                <a:spcPts val="0"/>
              </a:spcAft>
              <a:buClrTx/>
              <a:buSzTx/>
              <a:buFontTx/>
              <a:buNone/>
              <a:tabLst/>
              <a:defRPr/>
            </a:pPr>
            <a:r>
              <a:rPr lang="en-US" sz="1600" dirty="0">
                <a:solidFill>
                  <a:srgbClr val="002060"/>
                </a:solidFill>
                <a:effectLst>
                  <a:outerShdw blurRad="38100" dist="38100" dir="2700000" algn="tl">
                    <a:srgbClr val="000000">
                      <a:alpha val="43137"/>
                    </a:srgbClr>
                  </a:outerShdw>
                </a:effectLst>
                <a:latin typeface="Berlin Sans FB" panose="020E0602020502020306" pitchFamily="34" charset="0"/>
              </a:rPr>
              <a:t>• Technical: Firewall</a:t>
            </a:r>
          </a:p>
          <a:p>
            <a:pPr marL="914400" marR="0" lvl="2" indent="0" algn="l" defTabSz="914400" rtl="0" eaLnBrk="1" fontAlgn="auto" latinLnBrk="0" hangingPunct="1">
              <a:lnSpc>
                <a:spcPct val="100000"/>
              </a:lnSpc>
              <a:spcBef>
                <a:spcPts val="0"/>
              </a:spcBef>
              <a:spcAft>
                <a:spcPts val="0"/>
              </a:spcAft>
              <a:buClrTx/>
              <a:buSzTx/>
              <a:buFontTx/>
              <a:buNone/>
              <a:tabLst/>
              <a:defRPr/>
            </a:pPr>
            <a:r>
              <a:rPr lang="en-US" sz="1600" dirty="0">
                <a:solidFill>
                  <a:srgbClr val="002060"/>
                </a:solidFill>
                <a:effectLst>
                  <a:outerShdw blurRad="38100" dist="38100" dir="2700000" algn="tl">
                    <a:srgbClr val="000000">
                      <a:alpha val="43137"/>
                    </a:srgbClr>
                  </a:outerShdw>
                </a:effectLst>
                <a:latin typeface="Berlin Sans FB" panose="020E0602020502020306" pitchFamily="34" charset="0"/>
              </a:rPr>
              <a:t>• Administrative: Pre-employment drug screening</a:t>
            </a:r>
          </a:p>
          <a:p>
            <a:pPr marL="914400" marR="0" lvl="2"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srgbClr val="002060"/>
              </a:solidFill>
              <a:effectLst/>
              <a:uLnTx/>
              <a:uFillTx/>
              <a:latin typeface="Calibri Light"/>
              <a:ea typeface="+mn-ea"/>
              <a:cs typeface="+mn-cs"/>
            </a:endParaRPr>
          </a:p>
          <a:p>
            <a:pPr marL="0" marR="0" lvl="1" indent="-285750" fontAlgn="auto">
              <a:lnSpc>
                <a:spcPct val="100000"/>
              </a:lnSpc>
              <a:spcBef>
                <a:spcPts val="0"/>
              </a:spcBef>
              <a:spcAft>
                <a:spcPts val="0"/>
              </a:spcAft>
              <a:buClrTx/>
              <a:buSzTx/>
              <a:buFont typeface="Wingdings" panose="05000000000000000000" pitchFamily="2" charset="2"/>
              <a:buChar char="q"/>
              <a:tabLst/>
              <a:defRPr/>
            </a:pPr>
            <a:r>
              <a:rPr lang="en-US" sz="2400" dirty="0">
                <a:solidFill>
                  <a:srgbClr val="C00000"/>
                </a:solidFill>
                <a:latin typeface="Berlin Sans FB Demi" panose="020E0802020502020306" pitchFamily="34" charset="0"/>
              </a:rPr>
              <a:t>Detective</a:t>
            </a:r>
          </a:p>
          <a:p>
            <a:pPr marL="914400" marR="0" lvl="2"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002060"/>
                </a:solidFill>
                <a:effectLst/>
                <a:uLnTx/>
                <a:uFillTx/>
                <a:latin typeface="Calibri Light"/>
                <a:ea typeface="+mn-ea"/>
                <a:cs typeface="+mn-cs"/>
              </a:rPr>
              <a:t>• </a:t>
            </a:r>
            <a:r>
              <a:rPr lang="en-US" sz="1600" dirty="0">
                <a:solidFill>
                  <a:srgbClr val="002060"/>
                </a:solidFill>
                <a:effectLst>
                  <a:outerShdw blurRad="38100" dist="38100" dir="2700000" algn="tl">
                    <a:srgbClr val="000000">
                      <a:alpha val="43137"/>
                    </a:srgbClr>
                  </a:outerShdw>
                </a:effectLst>
                <a:latin typeface="Berlin Sans FB" panose="020E0602020502020306" pitchFamily="34" charset="0"/>
              </a:rPr>
              <a:t>Physical: CCTV, light (used to see an intruder)</a:t>
            </a:r>
          </a:p>
          <a:p>
            <a:pPr marL="914400" marR="0" lvl="2" indent="0" algn="l" defTabSz="914400" rtl="0" eaLnBrk="1" fontAlgn="auto" latinLnBrk="0" hangingPunct="1">
              <a:lnSpc>
                <a:spcPct val="100000"/>
              </a:lnSpc>
              <a:spcBef>
                <a:spcPts val="0"/>
              </a:spcBef>
              <a:spcAft>
                <a:spcPts val="0"/>
              </a:spcAft>
              <a:buClrTx/>
              <a:buSzTx/>
              <a:buFontTx/>
              <a:buNone/>
              <a:tabLst/>
              <a:defRPr/>
            </a:pPr>
            <a:r>
              <a:rPr lang="en-US" sz="1600" dirty="0">
                <a:solidFill>
                  <a:srgbClr val="002060"/>
                </a:solidFill>
                <a:effectLst>
                  <a:outerShdw blurRad="38100" dist="38100" dir="2700000" algn="tl">
                    <a:srgbClr val="000000">
                      <a:alpha val="43137"/>
                    </a:srgbClr>
                  </a:outerShdw>
                </a:effectLst>
                <a:latin typeface="Berlin Sans FB" panose="020E0602020502020306" pitchFamily="34" charset="0"/>
              </a:rPr>
              <a:t>• Technical: IDS</a:t>
            </a:r>
          </a:p>
          <a:p>
            <a:pPr marL="914400" marR="0" lvl="2" indent="0" algn="l" defTabSz="914400" rtl="0" eaLnBrk="1" fontAlgn="auto" latinLnBrk="0" hangingPunct="1">
              <a:lnSpc>
                <a:spcPct val="100000"/>
              </a:lnSpc>
              <a:spcBef>
                <a:spcPts val="0"/>
              </a:spcBef>
              <a:spcAft>
                <a:spcPts val="0"/>
              </a:spcAft>
              <a:buClrTx/>
              <a:buSzTx/>
              <a:buFontTx/>
              <a:buNone/>
              <a:tabLst/>
              <a:defRPr/>
            </a:pPr>
            <a:r>
              <a:rPr lang="en-US" sz="1600" dirty="0">
                <a:solidFill>
                  <a:srgbClr val="002060"/>
                </a:solidFill>
                <a:effectLst>
                  <a:outerShdw blurRad="38100" dist="38100" dir="2700000" algn="tl">
                    <a:srgbClr val="000000">
                      <a:alpha val="43137"/>
                    </a:srgbClr>
                  </a:outerShdw>
                </a:effectLst>
                <a:latin typeface="Berlin Sans FB" panose="020E0602020502020306" pitchFamily="34" charset="0"/>
              </a:rPr>
              <a:t>• Administrative: Post-employment random drug tests</a:t>
            </a:r>
          </a:p>
          <a:p>
            <a:pPr marR="0" lvl="0" indent="0" fontAlgn="auto">
              <a:lnSpc>
                <a:spcPct val="100000"/>
              </a:lnSpc>
              <a:spcBef>
                <a:spcPts val="0"/>
              </a:spcBef>
              <a:spcAft>
                <a:spcPts val="0"/>
              </a:spcAft>
              <a:buClrTx/>
              <a:buSzTx/>
              <a:buFontTx/>
              <a:buNone/>
              <a:tabLst/>
              <a:defRPr/>
            </a:pPr>
            <a:endParaRPr lang="en-US" sz="2400" dirty="0">
              <a:solidFill>
                <a:srgbClr val="C00000"/>
              </a:solidFill>
              <a:latin typeface="Berlin Sans FB Demi" panose="020E0802020502020306" pitchFamily="34" charset="0"/>
            </a:endParaRPr>
          </a:p>
          <a:p>
            <a:pPr marL="0" marR="0" lvl="1" indent="-285750" fontAlgn="auto">
              <a:lnSpc>
                <a:spcPct val="100000"/>
              </a:lnSpc>
              <a:spcBef>
                <a:spcPts val="0"/>
              </a:spcBef>
              <a:spcAft>
                <a:spcPts val="0"/>
              </a:spcAft>
              <a:buClrTx/>
              <a:buSzTx/>
              <a:buFont typeface="Wingdings" panose="05000000000000000000" pitchFamily="2" charset="2"/>
              <a:buChar char="q"/>
              <a:tabLst/>
              <a:defRPr/>
            </a:pPr>
            <a:r>
              <a:rPr lang="en-US" sz="2400" dirty="0">
                <a:solidFill>
                  <a:srgbClr val="C00000"/>
                </a:solidFill>
                <a:latin typeface="Berlin Sans FB Demi" panose="020E0802020502020306" pitchFamily="34" charset="0"/>
              </a:rPr>
              <a:t>Deterrent</a:t>
            </a:r>
          </a:p>
          <a:p>
            <a:pPr marL="914400" marR="0" lvl="2" indent="0" algn="l" defTabSz="914400" rtl="0" eaLnBrk="1" fontAlgn="auto" latinLnBrk="0" hangingPunct="1">
              <a:lnSpc>
                <a:spcPct val="100000"/>
              </a:lnSpc>
              <a:spcBef>
                <a:spcPts val="0"/>
              </a:spcBef>
              <a:spcAft>
                <a:spcPts val="0"/>
              </a:spcAft>
              <a:buClrTx/>
              <a:buSzTx/>
              <a:buFontTx/>
              <a:buNone/>
              <a:tabLst/>
              <a:defRPr/>
            </a:pPr>
            <a:r>
              <a:rPr lang="en-US" sz="1600" dirty="0">
                <a:solidFill>
                  <a:srgbClr val="002060"/>
                </a:solidFill>
                <a:effectLst>
                  <a:outerShdw blurRad="38100" dist="38100" dir="2700000" algn="tl">
                    <a:srgbClr val="000000">
                      <a:alpha val="43137"/>
                    </a:srgbClr>
                  </a:outerShdw>
                </a:effectLst>
                <a:latin typeface="Berlin Sans FB" panose="020E0602020502020306" pitchFamily="34" charset="0"/>
              </a:rPr>
              <a:t>• Physical: “Beware of dog” sign, light (deterring a physical attack)</a:t>
            </a:r>
          </a:p>
          <a:p>
            <a:pPr marL="914400" marR="0" lvl="2" indent="0" algn="l" defTabSz="914400" rtl="0" eaLnBrk="1" fontAlgn="auto" latinLnBrk="0" hangingPunct="1">
              <a:lnSpc>
                <a:spcPct val="100000"/>
              </a:lnSpc>
              <a:spcBef>
                <a:spcPts val="0"/>
              </a:spcBef>
              <a:spcAft>
                <a:spcPts val="0"/>
              </a:spcAft>
              <a:buClrTx/>
              <a:buSzTx/>
              <a:buFontTx/>
              <a:buNone/>
              <a:tabLst/>
              <a:defRPr/>
            </a:pPr>
            <a:r>
              <a:rPr lang="en-US" sz="1600" dirty="0">
                <a:solidFill>
                  <a:srgbClr val="002060"/>
                </a:solidFill>
                <a:effectLst>
                  <a:outerShdw blurRad="38100" dist="38100" dir="2700000" algn="tl">
                    <a:srgbClr val="000000">
                      <a:alpha val="43137"/>
                    </a:srgbClr>
                  </a:outerShdw>
                </a:effectLst>
                <a:latin typeface="Berlin Sans FB" panose="020E0602020502020306" pitchFamily="34" charset="0"/>
              </a:rPr>
              <a:t>• Technical: Warning Banner presented before a login prompt</a:t>
            </a:r>
          </a:p>
          <a:p>
            <a:pPr marL="914400" marR="0" lvl="2" indent="0" algn="l" defTabSz="914400" rtl="0" eaLnBrk="1" fontAlgn="auto" latinLnBrk="0" hangingPunct="1">
              <a:lnSpc>
                <a:spcPct val="100000"/>
              </a:lnSpc>
              <a:spcBef>
                <a:spcPts val="0"/>
              </a:spcBef>
              <a:spcAft>
                <a:spcPts val="0"/>
              </a:spcAft>
              <a:buClrTx/>
              <a:buSzTx/>
              <a:buFontTx/>
              <a:buNone/>
              <a:tabLst/>
              <a:defRPr/>
            </a:pPr>
            <a:r>
              <a:rPr lang="en-US" sz="1600" dirty="0">
                <a:solidFill>
                  <a:srgbClr val="002060"/>
                </a:solidFill>
                <a:effectLst>
                  <a:outerShdw blurRad="38100" dist="38100" dir="2700000" algn="tl">
                    <a:srgbClr val="000000">
                      <a:alpha val="43137"/>
                    </a:srgbClr>
                  </a:outerShdw>
                </a:effectLst>
                <a:latin typeface="Berlin Sans FB" panose="020E0602020502020306" pitchFamily="34" charset="0"/>
              </a:rPr>
              <a:t>• Administrative: Sanction policy</a:t>
            </a:r>
          </a:p>
        </p:txBody>
      </p:sp>
    </p:spTree>
    <p:extLst>
      <p:ext uri="{BB962C8B-B14F-4D97-AF65-F5344CB8AC3E}">
        <p14:creationId xmlns:p14="http://schemas.microsoft.com/office/powerpoint/2010/main" val="365727505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F25E4F40-ED71-200D-87CA-1FFB43BC0DDE}"/>
              </a:ext>
            </a:extLst>
          </p:cNvPr>
          <p:cNvPicPr>
            <a:picLocks noChangeAspect="1"/>
          </p:cNvPicPr>
          <p:nvPr/>
        </p:nvPicPr>
        <p:blipFill rotWithShape="1">
          <a:blip r:embed="rId2"/>
          <a:srcRect b="15708"/>
          <a:stretch/>
        </p:blipFill>
        <p:spPr>
          <a:xfrm>
            <a:off x="906378" y="441159"/>
            <a:ext cx="10178717" cy="5334000"/>
          </a:xfrm>
          <a:prstGeom prst="rect">
            <a:avLst/>
          </a:prstGeom>
        </p:spPr>
      </p:pic>
    </p:spTree>
    <p:extLst>
      <p:ext uri="{BB962C8B-B14F-4D97-AF65-F5344CB8AC3E}">
        <p14:creationId xmlns:p14="http://schemas.microsoft.com/office/powerpoint/2010/main" val="11638663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D9A97CD9-8D79-E840-3967-825D19781C2D}"/>
              </a:ext>
            </a:extLst>
          </p:cNvPr>
          <p:cNvPicPr>
            <a:picLocks noChangeAspect="1"/>
          </p:cNvPicPr>
          <p:nvPr/>
        </p:nvPicPr>
        <p:blipFill>
          <a:blip r:embed="rId2"/>
          <a:stretch>
            <a:fillRect/>
          </a:stretch>
        </p:blipFill>
        <p:spPr>
          <a:xfrm>
            <a:off x="708974" y="0"/>
            <a:ext cx="10148409" cy="6168189"/>
          </a:xfrm>
          <a:prstGeom prst="rect">
            <a:avLst/>
          </a:prstGeom>
        </p:spPr>
      </p:pic>
      <p:cxnSp>
        <p:nvCxnSpPr>
          <p:cNvPr id="4" name="Straight Connector 3">
            <a:extLst>
              <a:ext uri="{FF2B5EF4-FFF2-40B4-BE49-F238E27FC236}">
                <a16:creationId xmlns:a16="http://schemas.microsoft.com/office/drawing/2014/main" id="{1E5A77F3-F86B-ED11-9C0A-A98EA13022E5}"/>
              </a:ext>
            </a:extLst>
          </p:cNvPr>
          <p:cNvCxnSpPr/>
          <p:nvPr/>
        </p:nvCxnSpPr>
        <p:spPr>
          <a:xfrm>
            <a:off x="3328737" y="3737811"/>
            <a:ext cx="3761874"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1306598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410322A9-5FB0-4F2B-9475-566EE260C72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296025"/>
          </a:xfrm>
          <a:prstGeom prst="rect">
            <a:avLst/>
          </a:prstGeom>
        </p:spPr>
      </p:pic>
    </p:spTree>
    <p:extLst>
      <p:ext uri="{BB962C8B-B14F-4D97-AF65-F5344CB8AC3E}">
        <p14:creationId xmlns:p14="http://schemas.microsoft.com/office/powerpoint/2010/main" val="247274243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3F4CD82F-9495-4200-A324-ABDDBA1C3C0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305550"/>
          </a:xfrm>
          <a:prstGeom prst="rect">
            <a:avLst/>
          </a:prstGeom>
        </p:spPr>
      </p:pic>
    </p:spTree>
    <p:extLst>
      <p:ext uri="{BB962C8B-B14F-4D97-AF65-F5344CB8AC3E}">
        <p14:creationId xmlns:p14="http://schemas.microsoft.com/office/powerpoint/2010/main" val="256951100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F0221BFA-E2B4-4ECA-BE37-3D35F73665B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337" y="1638300"/>
            <a:ext cx="12158663" cy="4676774"/>
          </a:xfrm>
          <a:prstGeom prst="rect">
            <a:avLst/>
          </a:prstGeom>
        </p:spPr>
      </p:pic>
      <p:pic>
        <p:nvPicPr>
          <p:cNvPr id="6" name="Picture 5">
            <a:extLst>
              <a:ext uri="{FF2B5EF4-FFF2-40B4-BE49-F238E27FC236}">
                <a16:creationId xmlns:a16="http://schemas.microsoft.com/office/drawing/2014/main" id="{EF925FB7-8B2F-447A-AD96-CBF6CF4C02F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3337" y="19051"/>
            <a:ext cx="12158663" cy="1047750"/>
          </a:xfrm>
          <a:prstGeom prst="rect">
            <a:avLst/>
          </a:prstGeom>
        </p:spPr>
      </p:pic>
    </p:spTree>
    <p:extLst>
      <p:ext uri="{BB962C8B-B14F-4D97-AF65-F5344CB8AC3E}">
        <p14:creationId xmlns:p14="http://schemas.microsoft.com/office/powerpoint/2010/main" val="205267128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1A1A7D32-73D4-43E1-8187-1E1A2296961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400800"/>
          </a:xfrm>
          <a:prstGeom prst="rect">
            <a:avLst/>
          </a:prstGeom>
        </p:spPr>
      </p:pic>
    </p:spTree>
    <p:extLst>
      <p:ext uri="{BB962C8B-B14F-4D97-AF65-F5344CB8AC3E}">
        <p14:creationId xmlns:p14="http://schemas.microsoft.com/office/powerpoint/2010/main" val="290523398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198EA82C-BDD5-4996-82AE-193C8CF7D54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267450"/>
          </a:xfrm>
          <a:prstGeom prst="rect">
            <a:avLst/>
          </a:prstGeom>
        </p:spPr>
      </p:pic>
    </p:spTree>
    <p:extLst>
      <p:ext uri="{BB962C8B-B14F-4D97-AF65-F5344CB8AC3E}">
        <p14:creationId xmlns:p14="http://schemas.microsoft.com/office/powerpoint/2010/main" val="280315795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39B88F4-3320-4BFF-89F6-A32700614CC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305550"/>
          </a:xfrm>
          <a:prstGeom prst="rect">
            <a:avLst/>
          </a:prstGeom>
        </p:spPr>
      </p:pic>
    </p:spTree>
    <p:extLst>
      <p:ext uri="{BB962C8B-B14F-4D97-AF65-F5344CB8AC3E}">
        <p14:creationId xmlns:p14="http://schemas.microsoft.com/office/powerpoint/2010/main" val="297754480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D04D7C2-C656-4F61-9B1B-1BAE06AE806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324600"/>
          </a:xfrm>
          <a:prstGeom prst="rect">
            <a:avLst/>
          </a:prstGeom>
        </p:spPr>
      </p:pic>
    </p:spTree>
    <p:extLst>
      <p:ext uri="{BB962C8B-B14F-4D97-AF65-F5344CB8AC3E}">
        <p14:creationId xmlns:p14="http://schemas.microsoft.com/office/powerpoint/2010/main" val="78295625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A234974B-E98F-4874-891A-F9335424572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324600"/>
          </a:xfrm>
          <a:prstGeom prst="rect">
            <a:avLst/>
          </a:prstGeom>
        </p:spPr>
      </p:pic>
    </p:spTree>
    <p:extLst>
      <p:ext uri="{BB962C8B-B14F-4D97-AF65-F5344CB8AC3E}">
        <p14:creationId xmlns:p14="http://schemas.microsoft.com/office/powerpoint/2010/main" val="24070278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B2CD4666-E913-43C5-BE5E-C9D65CB195C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53900" cy="6315075"/>
          </a:xfrm>
          <a:prstGeom prst="rect">
            <a:avLst/>
          </a:prstGeom>
        </p:spPr>
      </p:pic>
    </p:spTree>
    <p:extLst>
      <p:ext uri="{BB962C8B-B14F-4D97-AF65-F5344CB8AC3E}">
        <p14:creationId xmlns:p14="http://schemas.microsoft.com/office/powerpoint/2010/main" val="150016836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F758606B-288C-4F66-94AC-039E1CA893A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305550"/>
          </a:xfrm>
          <a:prstGeom prst="rect">
            <a:avLst/>
          </a:prstGeom>
        </p:spPr>
      </p:pic>
    </p:spTree>
    <p:extLst>
      <p:ext uri="{BB962C8B-B14F-4D97-AF65-F5344CB8AC3E}">
        <p14:creationId xmlns:p14="http://schemas.microsoft.com/office/powerpoint/2010/main" val="206138304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7A823FD-E2F7-4495-A41A-01DCAB79C9B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276975"/>
          </a:xfrm>
          <a:prstGeom prst="rect">
            <a:avLst/>
          </a:prstGeom>
        </p:spPr>
      </p:pic>
    </p:spTree>
    <p:extLst>
      <p:ext uri="{BB962C8B-B14F-4D97-AF65-F5344CB8AC3E}">
        <p14:creationId xmlns:p14="http://schemas.microsoft.com/office/powerpoint/2010/main" val="184764555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D392BE6-0241-6048-F67E-B1BA60537C84}"/>
              </a:ext>
            </a:extLst>
          </p:cNvPr>
          <p:cNvSpPr txBox="1"/>
          <p:nvPr/>
        </p:nvSpPr>
        <p:spPr>
          <a:xfrm>
            <a:off x="1375507" y="233255"/>
            <a:ext cx="6580554" cy="5339923"/>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srgbClr val="C00000"/>
                </a:solidFill>
                <a:effectLst/>
                <a:uLnTx/>
                <a:uFillTx/>
                <a:latin typeface="Berlin Sans FB Demi" panose="020E0802020502020306" pitchFamily="34" charset="0"/>
                <a:ea typeface="+mn-ea"/>
                <a:cs typeface="+mn-cs"/>
              </a:rPr>
              <a:t>Control Standards and Frameworks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endParaRPr>
          </a:p>
          <a:p>
            <a:pPr marL="800100" marR="0" lvl="1" indent="-342900" algn="l" defTabSz="914400" rtl="0" eaLnBrk="1" fontAlgn="auto" latinLnBrk="0" hangingPunct="1">
              <a:lnSpc>
                <a:spcPct val="100000"/>
              </a:lnSpc>
              <a:spcBef>
                <a:spcPts val="0"/>
              </a:spcBef>
              <a:spcAft>
                <a:spcPts val="600"/>
              </a:spcAft>
              <a:buClrTx/>
              <a:buSzTx/>
              <a:buFont typeface="+mj-lt"/>
              <a:buAutoNum type="arabicPeriod"/>
              <a:tabLst/>
              <a:defRPr/>
            </a:pPr>
            <a:r>
              <a:rPr kumimoji="0" lang="en-US" sz="1600" b="0" i="0" u="none" strike="noStrike" kern="1200" cap="none" spc="0" normalizeH="0" baseline="0" noProof="0" dirty="0">
                <a:ln>
                  <a:noFill/>
                </a:ln>
                <a:solidFill>
                  <a:srgbClr val="7030A0"/>
                </a:solidFill>
                <a:effectLst>
                  <a:outerShdw blurRad="38100" dist="38100" dir="2700000" algn="tl">
                    <a:srgbClr val="000000">
                      <a:alpha val="43137"/>
                    </a:srgbClr>
                  </a:outerShdw>
                </a:effectLst>
                <a:uLnTx/>
                <a:uFillTx/>
                <a:latin typeface="Berlin Sans FB" panose="020E0602020502020306" pitchFamily="34" charset="0"/>
                <a:ea typeface="+mn-ea"/>
                <a:cs typeface="+mn-cs"/>
              </a:rPr>
              <a:t>Selection of controls requires evaluation and implementation. </a:t>
            </a:r>
          </a:p>
          <a:p>
            <a:pPr marL="800100" marR="0" lvl="1" indent="-342900" algn="l" defTabSz="914400" rtl="0" eaLnBrk="1" fontAlgn="auto" latinLnBrk="0" hangingPunct="1">
              <a:lnSpc>
                <a:spcPct val="100000"/>
              </a:lnSpc>
              <a:spcBef>
                <a:spcPts val="0"/>
              </a:spcBef>
              <a:spcAft>
                <a:spcPts val="600"/>
              </a:spcAft>
              <a:buClrTx/>
              <a:buSzTx/>
              <a:buFont typeface="+mj-lt"/>
              <a:buAutoNum type="arabicPeriod"/>
              <a:tabLst/>
              <a:defRPr/>
            </a:pPr>
            <a:r>
              <a:rPr kumimoji="0" lang="en-US" sz="1600" b="0" i="0" u="none" strike="noStrike" kern="1200" cap="none" spc="0" normalizeH="0" baseline="0" noProof="0" dirty="0">
                <a:ln>
                  <a:noFill/>
                </a:ln>
                <a:solidFill>
                  <a:srgbClr val="7030A0"/>
                </a:solidFill>
                <a:effectLst>
                  <a:outerShdw blurRad="38100" dist="38100" dir="2700000" algn="tl">
                    <a:srgbClr val="000000">
                      <a:alpha val="43137"/>
                    </a:srgbClr>
                  </a:outerShdw>
                </a:effectLst>
                <a:uLnTx/>
                <a:uFillTx/>
                <a:latin typeface="Berlin Sans FB" panose="020E0602020502020306" pitchFamily="34" charset="0"/>
                <a:ea typeface="+mn-ea"/>
                <a:cs typeface="+mn-cs"/>
              </a:rPr>
              <a:t>Adoption of standards and frameworks facilitates the process of selecting controls by specifying what should be done .</a:t>
            </a:r>
          </a:p>
          <a:p>
            <a:pPr marL="800100" marR="0" lvl="1" indent="-342900" algn="l" defTabSz="914400" rtl="0" eaLnBrk="1" fontAlgn="auto" latinLnBrk="0" hangingPunct="1">
              <a:lnSpc>
                <a:spcPct val="100000"/>
              </a:lnSpc>
              <a:spcBef>
                <a:spcPts val="0"/>
              </a:spcBef>
              <a:spcAft>
                <a:spcPts val="600"/>
              </a:spcAft>
              <a:buClrTx/>
              <a:buSzTx/>
              <a:buFont typeface="+mj-lt"/>
              <a:buAutoNum type="arabicPeriod"/>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The 27000-series of standards from the International Standards Organization (ISO) focuses on information security, with ISO/IEC 27002:18 dealing specifically with security controls. </a:t>
            </a:r>
          </a:p>
          <a:p>
            <a:pPr marL="800100" marR="0" lvl="1" indent="-342900" algn="l" defTabSz="914400" rtl="0" eaLnBrk="1" fontAlgn="auto" latinLnBrk="0" hangingPunct="1">
              <a:lnSpc>
                <a:spcPct val="100000"/>
              </a:lnSpc>
              <a:spcBef>
                <a:spcPts val="0"/>
              </a:spcBef>
              <a:spcAft>
                <a:spcPts val="600"/>
              </a:spcAft>
              <a:buClrTx/>
              <a:buSzTx/>
              <a:buFont typeface="+mj-lt"/>
              <a:buAutoNum type="arabicPeriod"/>
              <a:tabLst/>
              <a:defRPr/>
            </a:pPr>
            <a:r>
              <a:rPr kumimoji="0" lang="en-US" sz="1600" b="0" i="0" u="none" strike="noStrike" kern="1200" cap="none" spc="0" normalizeH="0" baseline="0" noProof="0" dirty="0">
                <a:ln>
                  <a:noFill/>
                </a:ln>
                <a:solidFill>
                  <a:srgbClr val="7030A0"/>
                </a:solidFill>
                <a:effectLst>
                  <a:outerShdw blurRad="38100" dist="38100" dir="2700000" algn="tl">
                    <a:srgbClr val="000000">
                      <a:alpha val="43137"/>
                    </a:srgbClr>
                  </a:outerShdw>
                </a:effectLst>
                <a:uLnTx/>
                <a:uFillTx/>
                <a:latin typeface="Berlin Sans FB" panose="020E0602020502020306" pitchFamily="34" charset="0"/>
                <a:ea typeface="+mn-ea"/>
                <a:cs typeface="+mn-cs"/>
              </a:rPr>
              <a:t>Many industries also have standards for security within their respective sectors. For instance, the Payment Card Industry Data Security Standard (PCI DSS) is used by all organizations that process debit or credit cards. </a:t>
            </a:r>
          </a:p>
          <a:p>
            <a:pPr marL="800100" marR="0" lvl="1" indent="-342900" algn="l" defTabSz="914400" rtl="0" eaLnBrk="1" fontAlgn="auto" latinLnBrk="0" hangingPunct="1">
              <a:lnSpc>
                <a:spcPct val="100000"/>
              </a:lnSpc>
              <a:spcBef>
                <a:spcPts val="0"/>
              </a:spcBef>
              <a:spcAft>
                <a:spcPts val="600"/>
              </a:spcAft>
              <a:buClrTx/>
              <a:buSzTx/>
              <a:buFont typeface="+mj-lt"/>
              <a:buAutoNum type="arabicPeriod"/>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Similar standards are found in the healthcare, accounting, audit and telecommunications industries. </a:t>
            </a:r>
          </a:p>
          <a:p>
            <a:pPr marL="800100" marR="0" lvl="1" indent="-342900" algn="l" defTabSz="914400" rtl="0" eaLnBrk="1" fontAlgn="auto" latinLnBrk="0" hangingPunct="1">
              <a:lnSpc>
                <a:spcPct val="100000"/>
              </a:lnSpc>
              <a:spcBef>
                <a:spcPts val="0"/>
              </a:spcBef>
              <a:spcAft>
                <a:spcPts val="600"/>
              </a:spcAft>
              <a:buClrTx/>
              <a:buSzTx/>
              <a:buFont typeface="+mj-lt"/>
              <a:buAutoNum type="arabicPeriod"/>
              <a:tabLst/>
              <a:defRPr/>
            </a:pPr>
            <a:r>
              <a:rPr kumimoji="0" lang="en-US" sz="1600" b="0" i="0" u="none" strike="noStrike" kern="1200" cap="none" spc="0" normalizeH="0" baseline="0" noProof="0" dirty="0">
                <a:ln>
                  <a:noFill/>
                </a:ln>
                <a:solidFill>
                  <a:srgbClr val="7030A0"/>
                </a:solidFill>
                <a:effectLst>
                  <a:outerShdw blurRad="38100" dist="38100" dir="2700000" algn="tl">
                    <a:srgbClr val="000000">
                      <a:alpha val="43137"/>
                    </a:srgbClr>
                  </a:outerShdw>
                </a:effectLst>
                <a:uLnTx/>
                <a:uFillTx/>
                <a:latin typeface="Berlin Sans FB" panose="020E0602020502020306" pitchFamily="34" charset="0"/>
                <a:ea typeface="+mn-ea"/>
                <a:cs typeface="+mn-cs"/>
              </a:rPr>
              <a:t>The U.S. National Institute of Standards and Technology (NIST) maintains a published Cybersecurity Framework (CSF) .</a:t>
            </a:r>
            <a:endParaRPr kumimoji="0" lang="en-US" sz="1600" b="0" i="0" u="none" strike="noStrike" kern="1200" cap="none" spc="0" normalizeH="0" baseline="0" noProof="0" dirty="0">
              <a:ln>
                <a:noFill/>
              </a:ln>
              <a:solidFill>
                <a:srgbClr val="002060"/>
              </a:solidFill>
              <a:effectLst>
                <a:outerShdw blurRad="38100" dist="38100" dir="2700000" algn="tl">
                  <a:srgbClr val="000000">
                    <a:alpha val="43137"/>
                  </a:srgbClr>
                </a:outerShdw>
              </a:effectLst>
              <a:uLnTx/>
              <a:uFillTx/>
              <a:latin typeface="Berlin Sans FB" panose="020E0602020502020306" pitchFamily="34" charset="0"/>
              <a:ea typeface="+mn-ea"/>
              <a:cs typeface="+mn-cs"/>
            </a:endParaRPr>
          </a:p>
          <a:p>
            <a:pPr marL="800100" marR="0" lvl="1" indent="-342900" algn="l" defTabSz="914400" rtl="0" eaLnBrk="1" fontAlgn="auto" latinLnBrk="0" hangingPunct="1">
              <a:lnSpc>
                <a:spcPct val="100000"/>
              </a:lnSpc>
              <a:spcBef>
                <a:spcPts val="0"/>
              </a:spcBef>
              <a:spcAft>
                <a:spcPts val="600"/>
              </a:spcAft>
              <a:buClrTx/>
              <a:buSzTx/>
              <a:buFont typeface="+mj-lt"/>
              <a:buAutoNum type="arabicPeriod"/>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Similarly, the Cloud Security Alliance (CSA) has built a control framework tailored to the operational and security requirements of cloud computing.</a:t>
            </a:r>
          </a:p>
        </p:txBody>
      </p:sp>
    </p:spTree>
    <p:extLst>
      <p:ext uri="{BB962C8B-B14F-4D97-AF65-F5344CB8AC3E}">
        <p14:creationId xmlns:p14="http://schemas.microsoft.com/office/powerpoint/2010/main" val="308232036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8DCCEDBE-5E6A-4D26-98C0-647A626BDC0F}"/>
              </a:ext>
            </a:extLst>
          </p:cNvPr>
          <p:cNvPicPr>
            <a:picLocks noChangeAspect="1"/>
          </p:cNvPicPr>
          <p:nvPr/>
        </p:nvPicPr>
        <p:blipFill>
          <a:blip r:embed="rId2"/>
          <a:stretch>
            <a:fillRect/>
          </a:stretch>
        </p:blipFill>
        <p:spPr>
          <a:xfrm>
            <a:off x="3778371" y="94890"/>
            <a:ext cx="7505685" cy="6185139"/>
          </a:xfrm>
          <a:prstGeom prst="rect">
            <a:avLst/>
          </a:prstGeom>
        </p:spPr>
      </p:pic>
      <p:sp>
        <p:nvSpPr>
          <p:cNvPr id="8" name="TextBox 7">
            <a:extLst>
              <a:ext uri="{FF2B5EF4-FFF2-40B4-BE49-F238E27FC236}">
                <a16:creationId xmlns:a16="http://schemas.microsoft.com/office/drawing/2014/main" id="{ED049855-1C30-4C74-8239-EA92541AA28D}"/>
              </a:ext>
            </a:extLst>
          </p:cNvPr>
          <p:cNvSpPr txBox="1"/>
          <p:nvPr/>
        </p:nvSpPr>
        <p:spPr>
          <a:xfrm>
            <a:off x="215660" y="690113"/>
            <a:ext cx="3313984" cy="233910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1" i="0" u="sng" strike="noStrike" kern="1200" cap="none" spc="0" normalizeH="0" baseline="0" noProof="0" dirty="0">
                <a:ln>
                  <a:noFill/>
                </a:ln>
                <a:solidFill>
                  <a:srgbClr val="002060"/>
                </a:solidFill>
                <a:effectLst/>
                <a:uLnTx/>
                <a:uFillTx/>
                <a:latin typeface="Bell MT" panose="02020503060305020303" pitchFamily="18" charset="0"/>
                <a:ea typeface="+mn-ea"/>
                <a:cs typeface="+mn-cs"/>
              </a:rPr>
              <a:t>Selecting control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1" i="0" u="sng" strike="noStrike" kern="1200" cap="none" spc="0" normalizeH="0" baseline="0" noProof="0" dirty="0">
                <a:ln>
                  <a:noFill/>
                </a:ln>
                <a:solidFill>
                  <a:srgbClr val="002060"/>
                </a:solidFill>
                <a:effectLst/>
                <a:uLnTx/>
                <a:uFillTx/>
                <a:latin typeface="Bell MT" panose="02020503060305020303" pitchFamily="18" charset="0"/>
                <a:ea typeface="+mn-ea"/>
                <a:cs typeface="+mn-cs"/>
              </a:rPr>
              <a:t>Framework</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2060"/>
              </a:solidFill>
              <a:effectLst/>
              <a:uLnTx/>
              <a:uFillTx/>
              <a:latin typeface="Bell MT" panose="02020503060305020303" pitchFamily="18" charset="0"/>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r>
              <a:rPr kumimoji="0" lang="en-US" sz="1800" b="0" i="0" u="none" strike="noStrike" kern="1200" cap="none" spc="0" normalizeH="0" baseline="0" noProof="0" dirty="0">
                <a:ln>
                  <a:noFill/>
                </a:ln>
                <a:solidFill>
                  <a:srgbClr val="002060"/>
                </a:solidFill>
                <a:effectLst/>
                <a:uLnTx/>
                <a:uFillTx/>
                <a:latin typeface="Berlin Sans FB" panose="020E0602020502020306" pitchFamily="34" charset="0"/>
              </a:rPr>
              <a:t>Several  high quality control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2060"/>
                </a:solidFill>
                <a:effectLst/>
                <a:uLnTx/>
                <a:uFillTx/>
                <a:latin typeface="Berlin Sans FB" panose="020E0602020502020306" pitchFamily="34" charset="0"/>
              </a:rPr>
              <a:t>Framework are available for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2060"/>
                </a:solidFill>
                <a:effectLst/>
                <a:uLnTx/>
                <a:uFillTx/>
                <a:latin typeface="Berlin Sans FB" panose="020E0602020502020306" pitchFamily="34" charset="0"/>
              </a:rPr>
              <a:t>Organization to start with as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2060"/>
                </a:solidFill>
                <a:effectLst/>
                <a:uLnTx/>
                <a:uFillTx/>
                <a:latin typeface="Berlin Sans FB" panose="020E0602020502020306" pitchFamily="34" charset="0"/>
              </a:rPr>
              <a:t>Opposed to start from scratch</a:t>
            </a:r>
          </a:p>
        </p:txBody>
      </p:sp>
    </p:spTree>
    <p:extLst>
      <p:ext uri="{BB962C8B-B14F-4D97-AF65-F5344CB8AC3E}">
        <p14:creationId xmlns:p14="http://schemas.microsoft.com/office/powerpoint/2010/main" val="143865925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A319C367-1A51-4ADC-9BB8-E445002372FC}"/>
              </a:ext>
            </a:extLst>
          </p:cNvPr>
          <p:cNvSpPr/>
          <p:nvPr/>
        </p:nvSpPr>
        <p:spPr>
          <a:xfrm>
            <a:off x="425513" y="-10403"/>
            <a:ext cx="8718487" cy="6417141"/>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100" b="1" i="0" u="none" strike="noStrike" kern="1200" cap="none" spc="0" normalizeH="0" baseline="0" noProof="0" dirty="0">
                <a:ln>
                  <a:noFill/>
                </a:ln>
                <a:solidFill>
                  <a:srgbClr val="002060"/>
                </a:solidFill>
                <a:effectLst/>
                <a:uLnTx/>
                <a:uFillTx/>
                <a:latin typeface="Berlin Sans FB" panose="020E0602020502020306" pitchFamily="34" charset="0"/>
              </a:rPr>
              <a:t>NIST SP 800-53</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r>
              <a:rPr kumimoji="0" lang="en-US" sz="1500" b="0" i="0" u="none" strike="noStrike" kern="1200" cap="none" spc="0" normalizeH="0" baseline="0" noProof="0" dirty="0">
                <a:ln>
                  <a:noFill/>
                </a:ln>
                <a:solidFill>
                  <a:srgbClr val="002060"/>
                </a:solidFill>
                <a:effectLst/>
                <a:uLnTx/>
                <a:uFillTx/>
                <a:latin typeface="Berlin Sans FB" panose="020E0602020502020306" pitchFamily="34" charset="0"/>
              </a:rPr>
              <a:t>Developed by the U.S. National Institute for Standards and Technology, NIST Special Publication (SP) 800-53, “Security and Privacy Controls for Federal Information Systems and Organizations,” is one of the most well-known and adopted security control frameworks. </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endParaRPr kumimoji="0" lang="en-US" sz="1500" b="0" i="0" u="none" strike="noStrike" kern="1200" cap="none" spc="0" normalizeH="0" baseline="0" noProof="0" dirty="0">
              <a:ln>
                <a:noFill/>
              </a:ln>
              <a:solidFill>
                <a:srgbClr val="002060"/>
              </a:solidFill>
              <a:effectLst/>
              <a:uLnTx/>
              <a:uFillTx/>
              <a:latin typeface="Berlin Sans FB" panose="020E0602020502020306" pitchFamily="34" charset="0"/>
            </a:endParaRP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r>
              <a:rPr kumimoji="0" lang="en-US" sz="1500" b="0" i="0" u="none" strike="noStrike" kern="1200" cap="none" spc="0" normalizeH="0" baseline="0" noProof="0" dirty="0">
                <a:ln>
                  <a:noFill/>
                </a:ln>
                <a:solidFill>
                  <a:srgbClr val="002060"/>
                </a:solidFill>
                <a:effectLst/>
                <a:uLnTx/>
                <a:uFillTx/>
                <a:latin typeface="Berlin Sans FB" panose="020E0602020502020306" pitchFamily="34" charset="0"/>
              </a:rPr>
              <a:t>NIST SP 800-53 is required for all U.S. government information systems, as well as all information systems in private industry that store or process information on behalf of the U.S. federal government.</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endParaRPr kumimoji="0" lang="en-US" sz="1600" b="0" i="0" u="none" strike="noStrike" kern="1200" cap="none" spc="0" normalizeH="0" baseline="0" noProof="0" dirty="0">
              <a:ln>
                <a:noFill/>
              </a:ln>
              <a:solidFill>
                <a:srgbClr val="0070C0"/>
              </a:solidFill>
              <a:effectLst/>
              <a:uLnTx/>
              <a:uFillTx/>
              <a:latin typeface="Berlin Sans FB" panose="020E0602020502020306" pitchFamily="34" charset="0"/>
            </a:endParaRP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r>
              <a:rPr kumimoji="0" lang="en-US" sz="1600" b="0" i="0" u="none" strike="noStrike" kern="1200" cap="none" spc="0" normalizeH="0" baseline="0" noProof="0" dirty="0">
                <a:ln>
                  <a:noFill/>
                </a:ln>
                <a:solidFill>
                  <a:srgbClr val="0070C0"/>
                </a:solidFill>
                <a:effectLst/>
                <a:uLnTx/>
                <a:uFillTx/>
                <a:latin typeface="Berlin Sans FB" panose="020E0602020502020306" pitchFamily="34" charset="0"/>
              </a:rPr>
              <a:t>NIST controls are organized into 18 categories:</a:t>
            </a:r>
          </a:p>
          <a:p>
            <a:pPr marL="457200" marR="0" lvl="1" indent="0" algn="l" defTabSz="914400" rtl="0" eaLnBrk="1" fontAlgn="auto"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a:ln>
                  <a:noFill/>
                </a:ln>
                <a:solidFill>
                  <a:srgbClr val="002060"/>
                </a:solidFill>
                <a:effectLst/>
                <a:uLnTx/>
                <a:uFillTx/>
                <a:latin typeface="Berlin Sans FB" panose="020E0602020502020306" pitchFamily="34" charset="0"/>
              </a:rPr>
              <a:t>• Access control</a:t>
            </a:r>
          </a:p>
          <a:p>
            <a:pPr marL="457200" marR="0" lvl="1" indent="0" algn="l" defTabSz="914400" rtl="0" eaLnBrk="1" fontAlgn="auto"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a:ln>
                  <a:noFill/>
                </a:ln>
                <a:solidFill>
                  <a:srgbClr val="002060"/>
                </a:solidFill>
                <a:effectLst/>
                <a:uLnTx/>
                <a:uFillTx/>
                <a:latin typeface="Berlin Sans FB" panose="020E0602020502020306" pitchFamily="34" charset="0"/>
              </a:rPr>
              <a:t>• Awareness and training</a:t>
            </a:r>
          </a:p>
          <a:p>
            <a:pPr marL="457200" marR="0" lvl="1" indent="0" algn="l" defTabSz="914400" rtl="0" eaLnBrk="1" fontAlgn="auto"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a:ln>
                  <a:noFill/>
                </a:ln>
                <a:solidFill>
                  <a:srgbClr val="002060"/>
                </a:solidFill>
                <a:effectLst/>
                <a:uLnTx/>
                <a:uFillTx/>
                <a:latin typeface="Berlin Sans FB" panose="020E0602020502020306" pitchFamily="34" charset="0"/>
              </a:rPr>
              <a:t>• Audit and accountability</a:t>
            </a:r>
          </a:p>
          <a:p>
            <a:pPr marL="457200" marR="0" lvl="1" indent="0" algn="l" defTabSz="914400" rtl="0" eaLnBrk="1" fontAlgn="auto"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a:ln>
                  <a:noFill/>
                </a:ln>
                <a:solidFill>
                  <a:srgbClr val="002060"/>
                </a:solidFill>
                <a:effectLst/>
                <a:uLnTx/>
                <a:uFillTx/>
                <a:latin typeface="Berlin Sans FB" panose="020E0602020502020306" pitchFamily="34" charset="0"/>
              </a:rPr>
              <a:t>• Security assessment and authorization</a:t>
            </a:r>
          </a:p>
          <a:p>
            <a:pPr marL="457200" marR="0" lvl="1" indent="0" algn="l" defTabSz="914400" rtl="0" eaLnBrk="1" fontAlgn="auto"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a:ln>
                  <a:noFill/>
                </a:ln>
                <a:solidFill>
                  <a:srgbClr val="002060"/>
                </a:solidFill>
                <a:effectLst/>
                <a:uLnTx/>
                <a:uFillTx/>
                <a:latin typeface="Berlin Sans FB" panose="020E0602020502020306" pitchFamily="34" charset="0"/>
              </a:rPr>
              <a:t>• Configuration management</a:t>
            </a:r>
          </a:p>
          <a:p>
            <a:pPr marL="457200" marR="0" lvl="1" indent="0" algn="l" defTabSz="914400" rtl="0" eaLnBrk="1" fontAlgn="auto"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a:ln>
                  <a:noFill/>
                </a:ln>
                <a:solidFill>
                  <a:srgbClr val="002060"/>
                </a:solidFill>
                <a:effectLst/>
                <a:uLnTx/>
                <a:uFillTx/>
                <a:latin typeface="Berlin Sans FB" panose="020E0602020502020306" pitchFamily="34" charset="0"/>
              </a:rPr>
              <a:t>• Contingency planning</a:t>
            </a:r>
          </a:p>
          <a:p>
            <a:pPr marL="457200" marR="0" lvl="1" indent="0" algn="l" defTabSz="914400" rtl="0" eaLnBrk="1" fontAlgn="auto"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a:ln>
                  <a:noFill/>
                </a:ln>
                <a:solidFill>
                  <a:srgbClr val="002060"/>
                </a:solidFill>
                <a:effectLst/>
                <a:uLnTx/>
                <a:uFillTx/>
                <a:latin typeface="Berlin Sans FB" panose="020E0602020502020306" pitchFamily="34" charset="0"/>
              </a:rPr>
              <a:t>• Identification and authentication</a:t>
            </a:r>
          </a:p>
          <a:p>
            <a:pPr marL="457200" marR="0" lvl="1" indent="0" algn="l" defTabSz="914400" rtl="0" eaLnBrk="1" fontAlgn="auto"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a:ln>
                  <a:noFill/>
                </a:ln>
                <a:solidFill>
                  <a:srgbClr val="002060"/>
                </a:solidFill>
                <a:effectLst/>
                <a:uLnTx/>
                <a:uFillTx/>
                <a:latin typeface="Berlin Sans FB" panose="020E0602020502020306" pitchFamily="34" charset="0"/>
              </a:rPr>
              <a:t>• Incident response</a:t>
            </a:r>
          </a:p>
          <a:p>
            <a:pPr marL="457200" marR="0" lvl="1" indent="0" algn="l" defTabSz="914400" rtl="0" eaLnBrk="1" fontAlgn="auto"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a:ln>
                  <a:noFill/>
                </a:ln>
                <a:solidFill>
                  <a:srgbClr val="002060"/>
                </a:solidFill>
                <a:effectLst/>
                <a:uLnTx/>
                <a:uFillTx/>
                <a:latin typeface="Berlin Sans FB" panose="020E0602020502020306" pitchFamily="34" charset="0"/>
              </a:rPr>
              <a:t>• Maintenance</a:t>
            </a:r>
          </a:p>
          <a:p>
            <a:pPr marL="457200" marR="0" lvl="1" indent="0" algn="l" defTabSz="914400" rtl="0" eaLnBrk="1" fontAlgn="auto"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a:ln>
                  <a:noFill/>
                </a:ln>
                <a:solidFill>
                  <a:srgbClr val="002060"/>
                </a:solidFill>
                <a:effectLst/>
                <a:uLnTx/>
                <a:uFillTx/>
                <a:latin typeface="Berlin Sans FB" panose="020E0602020502020306" pitchFamily="34" charset="0"/>
              </a:rPr>
              <a:t>• Media protection</a:t>
            </a:r>
          </a:p>
          <a:p>
            <a:pPr marL="457200" marR="0" lvl="1" indent="0" algn="l" defTabSz="914400" rtl="0" eaLnBrk="1" fontAlgn="auto"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a:ln>
                  <a:noFill/>
                </a:ln>
                <a:solidFill>
                  <a:srgbClr val="002060"/>
                </a:solidFill>
                <a:effectLst/>
                <a:uLnTx/>
                <a:uFillTx/>
                <a:latin typeface="Berlin Sans FB" panose="020E0602020502020306" pitchFamily="34" charset="0"/>
              </a:rPr>
              <a:t>• Physical and environmental protection</a:t>
            </a:r>
          </a:p>
          <a:p>
            <a:pPr marL="457200" marR="0" lvl="1" indent="0" algn="l" defTabSz="914400" rtl="0" eaLnBrk="1" fontAlgn="auto"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a:ln>
                  <a:noFill/>
                </a:ln>
                <a:solidFill>
                  <a:srgbClr val="002060"/>
                </a:solidFill>
                <a:effectLst/>
                <a:uLnTx/>
                <a:uFillTx/>
                <a:latin typeface="Berlin Sans FB" panose="020E0602020502020306" pitchFamily="34" charset="0"/>
              </a:rPr>
              <a:t>• Planning</a:t>
            </a:r>
          </a:p>
          <a:p>
            <a:pPr marL="457200" marR="0" lvl="1" indent="0" algn="l" defTabSz="914400" rtl="0" eaLnBrk="1" fontAlgn="auto"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a:ln>
                  <a:noFill/>
                </a:ln>
                <a:solidFill>
                  <a:srgbClr val="002060"/>
                </a:solidFill>
                <a:effectLst/>
                <a:uLnTx/>
                <a:uFillTx/>
                <a:latin typeface="Berlin Sans FB" panose="020E0602020502020306" pitchFamily="34" charset="0"/>
              </a:rPr>
              <a:t>• Personnel security</a:t>
            </a:r>
          </a:p>
          <a:p>
            <a:pPr marL="457200" marR="0" lvl="1" indent="0" algn="l" defTabSz="914400" rtl="0" eaLnBrk="1" fontAlgn="auto"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a:ln>
                  <a:noFill/>
                </a:ln>
                <a:solidFill>
                  <a:srgbClr val="002060"/>
                </a:solidFill>
                <a:effectLst/>
                <a:uLnTx/>
                <a:uFillTx/>
                <a:latin typeface="Berlin Sans FB" panose="020E0602020502020306" pitchFamily="34" charset="0"/>
              </a:rPr>
              <a:t>• Risk assessment</a:t>
            </a:r>
          </a:p>
          <a:p>
            <a:pPr marL="457200" marR="0" lvl="1" indent="0" algn="l" defTabSz="914400" rtl="0" eaLnBrk="1" fontAlgn="auto"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a:ln>
                  <a:noFill/>
                </a:ln>
                <a:solidFill>
                  <a:srgbClr val="002060"/>
                </a:solidFill>
                <a:effectLst/>
                <a:uLnTx/>
                <a:uFillTx/>
                <a:latin typeface="Berlin Sans FB" panose="020E0602020502020306" pitchFamily="34" charset="0"/>
              </a:rPr>
              <a:t>• System and services acquisition</a:t>
            </a:r>
          </a:p>
          <a:p>
            <a:pPr marL="457200" marR="0" lvl="1" indent="0" algn="l" defTabSz="914400" rtl="0" eaLnBrk="1" fontAlgn="auto"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a:ln>
                  <a:noFill/>
                </a:ln>
                <a:solidFill>
                  <a:srgbClr val="002060"/>
                </a:solidFill>
                <a:effectLst/>
                <a:uLnTx/>
                <a:uFillTx/>
                <a:latin typeface="Berlin Sans FB" panose="020E0602020502020306" pitchFamily="34" charset="0"/>
              </a:rPr>
              <a:t>• System and communications protection</a:t>
            </a:r>
          </a:p>
          <a:p>
            <a:pPr marL="457200" marR="0" lvl="1" indent="0" algn="l" defTabSz="914400" rtl="0" eaLnBrk="1" fontAlgn="auto"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a:ln>
                  <a:noFill/>
                </a:ln>
                <a:solidFill>
                  <a:srgbClr val="002060"/>
                </a:solidFill>
                <a:effectLst/>
                <a:uLnTx/>
                <a:uFillTx/>
                <a:latin typeface="Berlin Sans FB" panose="020E0602020502020306" pitchFamily="34" charset="0"/>
              </a:rPr>
              <a:t>• System and information integrity</a:t>
            </a:r>
          </a:p>
          <a:p>
            <a:pPr marL="457200" marR="0" lvl="1" indent="0" algn="l" defTabSz="914400" rtl="0" eaLnBrk="1" fontAlgn="auto"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a:ln>
                  <a:noFill/>
                </a:ln>
                <a:solidFill>
                  <a:srgbClr val="002060"/>
                </a:solidFill>
                <a:effectLst/>
                <a:uLnTx/>
                <a:uFillTx/>
                <a:latin typeface="Berlin Sans FB" panose="020E0602020502020306" pitchFamily="34" charset="0"/>
              </a:rPr>
              <a:t>• Program management</a:t>
            </a:r>
            <a:endParaRPr kumimoji="0" lang="en-US" sz="1800" b="0" i="0" u="none" strike="noStrike" kern="1200" cap="none" spc="0" normalizeH="0" baseline="0" noProof="0" dirty="0">
              <a:ln>
                <a:noFill/>
              </a:ln>
              <a:solidFill>
                <a:srgbClr val="002060"/>
              </a:solidFill>
              <a:effectLst/>
              <a:uLnTx/>
              <a:uFillTx/>
              <a:latin typeface="Berlin Sans FB" panose="020E0602020502020306" pitchFamily="34" charset="0"/>
            </a:endParaRPr>
          </a:p>
        </p:txBody>
      </p:sp>
    </p:spTree>
    <p:extLst>
      <p:ext uri="{BB962C8B-B14F-4D97-AF65-F5344CB8AC3E}">
        <p14:creationId xmlns:p14="http://schemas.microsoft.com/office/powerpoint/2010/main" val="185765374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5E0F4E1-1FE4-46FE-B537-D3031FF2B308}"/>
              </a:ext>
            </a:extLst>
          </p:cNvPr>
          <p:cNvSpPr/>
          <p:nvPr/>
        </p:nvSpPr>
        <p:spPr>
          <a:xfrm>
            <a:off x="1182986" y="374153"/>
            <a:ext cx="8766772" cy="5293757"/>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srgbClr val="002060"/>
                </a:solidFill>
                <a:effectLst/>
                <a:uLnTx/>
                <a:uFillTx/>
                <a:latin typeface="Berlin Sans FB" panose="020E0602020502020306" pitchFamily="34" charset="0"/>
              </a:rPr>
              <a:t>HIPAA</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endParaRPr kumimoji="0" lang="en-US" sz="1800" b="0" i="0" u="none" strike="noStrike" kern="1200" cap="none" spc="0" normalizeH="0" baseline="0" noProof="0" dirty="0">
              <a:ln>
                <a:noFill/>
              </a:ln>
              <a:solidFill>
                <a:srgbClr val="002060"/>
              </a:solidFill>
              <a:effectLst/>
              <a:uLnTx/>
              <a:uFillTx/>
              <a:latin typeface="Berlin Sans FB" panose="020E0602020502020306" pitchFamily="34" charset="0"/>
            </a:endParaRP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r>
              <a:rPr kumimoji="0" lang="en-US" sz="1800" b="0" i="0" u="none" strike="noStrike" kern="1200" cap="none" spc="0" normalizeH="0" baseline="0" noProof="0" dirty="0">
                <a:ln>
                  <a:noFill/>
                </a:ln>
                <a:solidFill>
                  <a:srgbClr val="002060"/>
                </a:solidFill>
                <a:effectLst/>
                <a:uLnTx/>
                <a:uFillTx/>
                <a:latin typeface="Berlin Sans FB" panose="020E0602020502020306" pitchFamily="34" charset="0"/>
              </a:rPr>
              <a:t>The U.S. Health Insurance Portability and Accountability Act established requirements for the protection of electronic protected health information (EPHI).</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endParaRPr kumimoji="0" lang="en-US" sz="1800" b="0" i="0" u="none" strike="noStrike" kern="1200" cap="none" spc="0" normalizeH="0" baseline="0" noProof="0" dirty="0">
              <a:ln>
                <a:noFill/>
              </a:ln>
              <a:solidFill>
                <a:srgbClr val="002060"/>
              </a:solidFill>
              <a:effectLst/>
              <a:uLnTx/>
              <a:uFillTx/>
              <a:latin typeface="Berlin Sans FB" panose="020E0602020502020306" pitchFamily="34" charset="0"/>
            </a:endParaRP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r>
              <a:rPr kumimoji="0" lang="en-US" sz="1800" b="0" i="0" u="none" strike="noStrike" kern="1200" cap="none" spc="0" normalizeH="0" baseline="0" noProof="0" dirty="0">
                <a:ln>
                  <a:noFill/>
                </a:ln>
                <a:solidFill>
                  <a:srgbClr val="002060"/>
                </a:solidFill>
                <a:effectLst/>
                <a:uLnTx/>
                <a:uFillTx/>
                <a:latin typeface="Berlin Sans FB" panose="020E0602020502020306" pitchFamily="34" charset="0"/>
              </a:rPr>
              <a:t> These requirements apply to virtually every corporate or government entity (known as a </a:t>
            </a:r>
            <a:r>
              <a:rPr kumimoji="0" lang="en-US" sz="1800" b="0" i="1" u="none" strike="noStrike" kern="1200" cap="none" spc="0" normalizeH="0" baseline="0" noProof="0" dirty="0">
                <a:ln>
                  <a:noFill/>
                </a:ln>
                <a:solidFill>
                  <a:srgbClr val="002060"/>
                </a:solidFill>
                <a:effectLst/>
                <a:uLnTx/>
                <a:uFillTx/>
                <a:latin typeface="Berlin Sans FB" panose="020E0602020502020306" pitchFamily="34" charset="0"/>
              </a:rPr>
              <a:t>covered entity</a:t>
            </a:r>
            <a:r>
              <a:rPr kumimoji="0" lang="en-US" sz="1800" b="0" i="0" u="none" strike="noStrike" kern="1200" cap="none" spc="0" normalizeH="0" baseline="0" noProof="0" dirty="0">
                <a:ln>
                  <a:noFill/>
                </a:ln>
                <a:solidFill>
                  <a:srgbClr val="002060"/>
                </a:solidFill>
                <a:effectLst/>
                <a:uLnTx/>
                <a:uFillTx/>
                <a:latin typeface="Berlin Sans FB" panose="020E0602020502020306" pitchFamily="34" charset="0"/>
              </a:rPr>
              <a:t>) that stores or processes EPHI.</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endParaRPr kumimoji="0" lang="en-US" sz="1800" b="0" i="0" u="none" strike="noStrike" kern="1200" cap="none" spc="0" normalizeH="0" baseline="0" noProof="0" dirty="0">
              <a:ln>
                <a:noFill/>
              </a:ln>
              <a:solidFill>
                <a:srgbClr val="002060"/>
              </a:solidFill>
              <a:effectLst/>
              <a:uLnTx/>
              <a:uFillTx/>
              <a:latin typeface="Berlin Sans FB" panose="020E0602020502020306" pitchFamily="34" charset="0"/>
            </a:endParaRP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r>
              <a:rPr kumimoji="0" lang="en-US" sz="1800" b="0" i="0" u="none" strike="noStrike" kern="1200" cap="none" spc="0" normalizeH="0" baseline="0" noProof="0" dirty="0">
                <a:ln>
                  <a:noFill/>
                </a:ln>
                <a:solidFill>
                  <a:srgbClr val="002060"/>
                </a:solidFill>
                <a:effectLst/>
                <a:uLnTx/>
                <a:uFillTx/>
                <a:latin typeface="Berlin Sans FB" panose="020E0602020502020306" pitchFamily="34" charset="0"/>
              </a:rPr>
              <a:t> HIPAA requirements fall into three main categories.</a:t>
            </a:r>
          </a:p>
          <a:p>
            <a:pPr marL="457200" marR="0" lvl="1"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2060"/>
                </a:solidFill>
                <a:effectLst/>
                <a:uLnTx/>
                <a:uFillTx/>
                <a:latin typeface="Berlin Sans FB" panose="020E0602020502020306" pitchFamily="34" charset="0"/>
              </a:rPr>
              <a:t>• Administrative safeguards</a:t>
            </a:r>
          </a:p>
          <a:p>
            <a:pPr marL="457200" marR="0" lvl="1"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2060"/>
                </a:solidFill>
                <a:effectLst/>
                <a:uLnTx/>
                <a:uFillTx/>
                <a:latin typeface="Berlin Sans FB" panose="020E0602020502020306" pitchFamily="34" charset="0"/>
              </a:rPr>
              <a:t>• Physical safeguards</a:t>
            </a:r>
          </a:p>
          <a:p>
            <a:pPr marL="457200" marR="0" lvl="1"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2060"/>
                </a:solidFill>
                <a:effectLst/>
                <a:uLnTx/>
                <a:uFillTx/>
                <a:latin typeface="Berlin Sans FB" panose="020E0602020502020306" pitchFamily="34" charset="0"/>
              </a:rPr>
              <a:t>• Technical safeguards</a:t>
            </a:r>
          </a:p>
          <a:p>
            <a:pPr marL="457200" marR="0" lvl="1"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2060"/>
              </a:solidFill>
              <a:effectLst/>
              <a:uLnTx/>
              <a:uFillTx/>
              <a:latin typeface="Berlin Sans FB" panose="020E0602020502020306" pitchFamily="34" charset="0"/>
            </a:endParaRP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r>
              <a:rPr kumimoji="0" lang="en-US" sz="1800" b="0" i="0" u="none" strike="noStrike" kern="1200" cap="none" spc="0" normalizeH="0" baseline="0" noProof="0" dirty="0">
                <a:ln>
                  <a:noFill/>
                </a:ln>
                <a:solidFill>
                  <a:srgbClr val="002060"/>
                </a:solidFill>
                <a:effectLst/>
                <a:uLnTx/>
                <a:uFillTx/>
                <a:latin typeface="Berlin Sans FB" panose="020E0602020502020306" pitchFamily="34" charset="0"/>
              </a:rPr>
              <a:t>Several controls reside within each of these three categories. Each control is labeled as Required or Addressable. Controls that are labeled as Required must be implemented by every covered entity. Controls that are labeled as Addressable are considered optional in each covered entity, meaning the organization does not have to implement an Addressable control if it does not</a:t>
            </a:r>
            <a:endParaRPr kumimoji="0" lang="en-US" sz="2400" b="0" i="0" u="none" strike="noStrike" kern="1200" cap="none" spc="0" normalizeH="0" baseline="0" noProof="0" dirty="0">
              <a:ln>
                <a:noFill/>
              </a:ln>
              <a:solidFill>
                <a:srgbClr val="002060"/>
              </a:solidFill>
              <a:effectLst/>
              <a:uLnTx/>
              <a:uFillTx/>
              <a:latin typeface="Berlin Sans FB" panose="020E0602020502020306" pitchFamily="34" charset="0"/>
            </a:endParaRPr>
          </a:p>
        </p:txBody>
      </p:sp>
    </p:spTree>
    <p:extLst>
      <p:ext uri="{BB962C8B-B14F-4D97-AF65-F5344CB8AC3E}">
        <p14:creationId xmlns:p14="http://schemas.microsoft.com/office/powerpoint/2010/main" val="268169511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9E2F945-8C27-47C8-B279-F5B9C6777ECB}"/>
              </a:ext>
            </a:extLst>
          </p:cNvPr>
          <p:cNvSpPr/>
          <p:nvPr/>
        </p:nvSpPr>
        <p:spPr>
          <a:xfrm>
            <a:off x="1128509" y="502594"/>
            <a:ext cx="10086567" cy="5232202"/>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C00000"/>
                </a:solidFill>
                <a:effectLst/>
                <a:uLnTx/>
                <a:uFillTx/>
                <a:latin typeface="Berlin Sans FB Demi" panose="020E0802020502020306" pitchFamily="34" charset="0"/>
              </a:rPr>
              <a:t>Center for Internet Security Critical Security Controls</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rPr>
              <a:t>The Critical Security Controls (CSC) framework from the Center for Internet Security (CIS), known as CIS CSC 20, is a well-known control framework that traces back to the SANS organization.</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endPar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ndParaRP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r>
              <a:rPr kumimoji="0" lang="en-US" b="0" i="0" u="none" strike="noStrike" kern="1200" cap="none" spc="0" normalizeH="0" baseline="0" noProof="0" dirty="0">
                <a:ln>
                  <a:noFill/>
                </a:ln>
                <a:solidFill>
                  <a:srgbClr val="0070C0"/>
                </a:solidFill>
                <a:effectLst/>
                <a:uLnTx/>
                <a:uFillTx/>
                <a:latin typeface="Berlin Sans FB" panose="020E0602020502020306" pitchFamily="34" charset="0"/>
              </a:rPr>
              <a:t> The framework is still commonly referred to as the “SANS 20” or “SANS 20 Critical Security Controls.”</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endPar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ndParaRP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rPr>
              <a:t>The CIS CSC control categories are as follows:</a:t>
            </a:r>
          </a:p>
          <a:p>
            <a:pPr marL="457200" marR="0" lvl="1"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rPr>
              <a:t>• </a:t>
            </a:r>
            <a:r>
              <a:rPr kumimoji="0" lang="en-US" sz="1400" b="0" i="0" u="none" strike="noStrike" kern="1200" cap="none" spc="0" normalizeH="0" baseline="0" noProof="0" dirty="0">
                <a:ln>
                  <a:noFill/>
                </a:ln>
                <a:solidFill>
                  <a:srgbClr val="002060"/>
                </a:solidFill>
                <a:effectLst/>
                <a:uLnTx/>
                <a:uFillTx/>
                <a:latin typeface="Berlin Sans FB" panose="020E0602020502020306" pitchFamily="34" charset="0"/>
              </a:rPr>
              <a:t>Inventory of Authorized and Unauthorized Devices</a:t>
            </a:r>
          </a:p>
          <a:p>
            <a:pPr marL="457200" marR="0" lvl="1"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2060"/>
                </a:solidFill>
                <a:effectLst/>
                <a:uLnTx/>
                <a:uFillTx/>
                <a:latin typeface="Berlin Sans FB" panose="020E0602020502020306" pitchFamily="34" charset="0"/>
              </a:rPr>
              <a:t>• Inventory of Authorized and Unauthorized Software</a:t>
            </a:r>
          </a:p>
          <a:p>
            <a:pPr marL="457200" marR="0" lvl="1"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2060"/>
                </a:solidFill>
                <a:effectLst/>
                <a:uLnTx/>
                <a:uFillTx/>
                <a:latin typeface="Berlin Sans FB" panose="020E0602020502020306" pitchFamily="34" charset="0"/>
              </a:rPr>
              <a:t>• Secure Configurations for Hardware and Software on Mobile Devices, Laptops, Workstations, and Servers</a:t>
            </a:r>
          </a:p>
          <a:p>
            <a:pPr marL="457200" marR="0" lvl="1"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2060"/>
                </a:solidFill>
                <a:effectLst/>
                <a:uLnTx/>
                <a:uFillTx/>
                <a:latin typeface="Berlin Sans FB" panose="020E0602020502020306" pitchFamily="34" charset="0"/>
              </a:rPr>
              <a:t>• Continuous Vulnerability Assessment and Remediation</a:t>
            </a:r>
          </a:p>
          <a:p>
            <a:pPr marL="457200" marR="0" lvl="1"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2060"/>
                </a:solidFill>
                <a:effectLst/>
                <a:uLnTx/>
                <a:uFillTx/>
                <a:latin typeface="Berlin Sans FB" panose="020E0602020502020306" pitchFamily="34" charset="0"/>
              </a:rPr>
              <a:t>• Controlled Use of Administrative Privileges</a:t>
            </a:r>
          </a:p>
          <a:p>
            <a:pPr marL="457200" marR="0" lvl="1"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2060"/>
                </a:solidFill>
                <a:effectLst/>
                <a:uLnTx/>
                <a:uFillTx/>
                <a:latin typeface="Berlin Sans FB" panose="020E0602020502020306" pitchFamily="34" charset="0"/>
              </a:rPr>
              <a:t>• Maintenance, Monitoring, and Analysis of Audit Logs</a:t>
            </a:r>
          </a:p>
          <a:p>
            <a:pPr marL="457200" marR="0" lvl="1"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2060"/>
                </a:solidFill>
                <a:effectLst/>
                <a:uLnTx/>
                <a:uFillTx/>
                <a:latin typeface="Berlin Sans FB" panose="020E0602020502020306" pitchFamily="34" charset="0"/>
              </a:rPr>
              <a:t>• E-mail and Web Browser Protections</a:t>
            </a:r>
          </a:p>
          <a:p>
            <a:pPr marL="457200" marR="0" lvl="1"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2060"/>
                </a:solidFill>
                <a:effectLst/>
                <a:uLnTx/>
                <a:uFillTx/>
                <a:latin typeface="Berlin Sans FB" panose="020E0602020502020306" pitchFamily="34" charset="0"/>
              </a:rPr>
              <a:t>• Malware Defenses</a:t>
            </a:r>
          </a:p>
          <a:p>
            <a:pPr marL="457200" marR="0" lvl="1"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2060"/>
                </a:solidFill>
                <a:effectLst/>
                <a:uLnTx/>
                <a:uFillTx/>
                <a:latin typeface="Berlin Sans FB" panose="020E0602020502020306" pitchFamily="34" charset="0"/>
              </a:rPr>
              <a:t>• Limitation and Control of Network Ports, Protocols, and Services</a:t>
            </a:r>
          </a:p>
          <a:p>
            <a:pPr marL="457200" marR="0" lvl="1"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2060"/>
                </a:solidFill>
                <a:effectLst/>
                <a:uLnTx/>
                <a:uFillTx/>
                <a:latin typeface="Berlin Sans FB" panose="020E0602020502020306" pitchFamily="34" charset="0"/>
              </a:rPr>
              <a:t>• Data Recovery Capability</a:t>
            </a:r>
          </a:p>
          <a:p>
            <a:pPr marL="457200" marR="0" lvl="1"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2060"/>
                </a:solidFill>
                <a:effectLst/>
                <a:uLnTx/>
                <a:uFillTx/>
                <a:latin typeface="Berlin Sans FB" panose="020E0602020502020306" pitchFamily="34" charset="0"/>
              </a:rPr>
              <a:t>• Secure Configurations for Network Devices such as Firewalls, Routers, and Switches</a:t>
            </a:r>
          </a:p>
          <a:p>
            <a:pPr marL="457200" marR="0" lvl="1"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2060"/>
                </a:solidFill>
                <a:effectLst/>
                <a:uLnTx/>
                <a:uFillTx/>
                <a:latin typeface="Berlin Sans FB" panose="020E0602020502020306" pitchFamily="34" charset="0"/>
              </a:rPr>
              <a:t>• Boundary Defense</a:t>
            </a:r>
          </a:p>
          <a:p>
            <a:pPr marL="457200" marR="0" lvl="1"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2060"/>
                </a:solidFill>
                <a:effectLst/>
                <a:uLnTx/>
                <a:uFillTx/>
                <a:latin typeface="Berlin Sans FB" panose="020E0602020502020306" pitchFamily="34" charset="0"/>
              </a:rPr>
              <a:t>• Data Protection</a:t>
            </a:r>
          </a:p>
          <a:p>
            <a:pPr marL="457200" marR="0" lvl="1"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2060"/>
                </a:solidFill>
                <a:effectLst/>
                <a:uLnTx/>
                <a:uFillTx/>
                <a:latin typeface="Berlin Sans FB" panose="020E0602020502020306" pitchFamily="34" charset="0"/>
              </a:rPr>
              <a:t>• Controlled Access Based on the Need to Know</a:t>
            </a:r>
          </a:p>
          <a:p>
            <a:pPr marL="457200" marR="0" lvl="1"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2060"/>
                </a:solidFill>
                <a:effectLst/>
                <a:uLnTx/>
                <a:uFillTx/>
                <a:latin typeface="Berlin Sans FB" panose="020E0602020502020306" pitchFamily="34" charset="0"/>
              </a:rPr>
              <a:t>• Wireless Access Control</a:t>
            </a:r>
            <a:endParaRPr kumimoji="0" lang="en-US" sz="1800" b="0" i="0" u="none" strike="noStrike" kern="1200" cap="none" spc="0" normalizeH="0" baseline="0" noProof="0" dirty="0">
              <a:ln>
                <a:noFill/>
              </a:ln>
              <a:solidFill>
                <a:srgbClr val="002060"/>
              </a:solidFill>
              <a:effectLst/>
              <a:uLnTx/>
              <a:uFillTx/>
              <a:latin typeface="Berlin Sans FB" panose="020E0602020502020306" pitchFamily="34" charset="0"/>
            </a:endParaRPr>
          </a:p>
        </p:txBody>
      </p:sp>
    </p:spTree>
    <p:extLst>
      <p:ext uri="{BB962C8B-B14F-4D97-AF65-F5344CB8AC3E}">
        <p14:creationId xmlns:p14="http://schemas.microsoft.com/office/powerpoint/2010/main" val="266824288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AB5707C-8AF8-4EDD-A590-EA9DE4535FB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02636"/>
            <a:ext cx="12192000" cy="6186195"/>
          </a:xfrm>
          <a:prstGeom prst="rect">
            <a:avLst/>
          </a:prstGeom>
        </p:spPr>
      </p:pic>
    </p:spTree>
    <p:extLst>
      <p:ext uri="{BB962C8B-B14F-4D97-AF65-F5344CB8AC3E}">
        <p14:creationId xmlns:p14="http://schemas.microsoft.com/office/powerpoint/2010/main" val="297237999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EAF3895-0F89-4735-B1E1-0A535E134286}"/>
              </a:ext>
            </a:extLst>
          </p:cNvPr>
          <p:cNvSpPr/>
          <p:nvPr/>
        </p:nvSpPr>
        <p:spPr>
          <a:xfrm>
            <a:off x="633743" y="68737"/>
            <a:ext cx="10357164" cy="5201424"/>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srgbClr val="C00000"/>
                </a:solidFill>
                <a:effectLst/>
                <a:uLnTx/>
                <a:uFillTx/>
                <a:latin typeface="Berlin Sans FB Demi" panose="020E0802020502020306" pitchFamily="34" charset="0"/>
              </a:rPr>
              <a:t>PCI-DSS</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rPr>
              <a:t>The Payment Card Industry Data Security Standard is a control framework specifically for the protection of credit card numbers and related information when stored, processed, and transmitted on an organization’s networks. </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endPar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ndParaRP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rPr>
              <a:t>The PCI-DSS was developed by the PCI Standards Council, a consortium of the world’s dominant credit card brands, namely, Visa, MasterCard, American Express, Discover, and JCB.</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endPar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ndParaRP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r>
              <a:rPr kumimoji="0" lang="en-US" b="0" i="0" u="none" strike="noStrike" kern="1200" cap="none" spc="0" normalizeH="0" baseline="0" noProof="0" dirty="0">
                <a:ln>
                  <a:noFill/>
                </a:ln>
                <a:solidFill>
                  <a:srgbClr val="0070C0"/>
                </a:solidFill>
                <a:effectLst>
                  <a:outerShdw blurRad="38100" dist="38100" dir="2700000" algn="tl">
                    <a:srgbClr val="000000">
                      <a:alpha val="43137"/>
                    </a:srgbClr>
                  </a:outerShdw>
                </a:effectLst>
                <a:uLnTx/>
                <a:uFillTx/>
                <a:latin typeface="Berlin Sans FB" panose="020E0602020502020306" pitchFamily="34" charset="0"/>
              </a:rPr>
              <a:t>The PCI-DSS has 12 control objectives:</a:t>
            </a:r>
          </a:p>
          <a:p>
            <a:pPr marL="457200" marR="0" lvl="1"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rPr>
              <a:t>• Install and maintain a firewall configuration to protect cardholder data.</a:t>
            </a:r>
          </a:p>
          <a:p>
            <a:pPr marL="457200" marR="0" lvl="1"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rPr>
              <a:t>• Do not use vendor-supplied defaults for system passwords and other security parameters.</a:t>
            </a:r>
          </a:p>
          <a:p>
            <a:pPr marL="457200" marR="0" lvl="1"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rPr>
              <a:t>• Protect stored cardholder data.</a:t>
            </a:r>
          </a:p>
          <a:p>
            <a:pPr marL="457200" marR="0" lvl="1"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rPr>
              <a:t>• Encrypt transmission of cardholder data across open, public networks.</a:t>
            </a:r>
          </a:p>
          <a:p>
            <a:pPr marL="457200" marR="0" lvl="1"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rPr>
              <a:t>• Protect all systems against malware and regularly update antivirus software or programs.</a:t>
            </a:r>
          </a:p>
          <a:p>
            <a:pPr marL="457200" marR="0" lvl="1"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rPr>
              <a:t>• Develop and maintain secure systems and applications.</a:t>
            </a:r>
          </a:p>
          <a:p>
            <a:pPr marL="457200" marR="0" lvl="1"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rPr>
              <a:t>• Restrict access to cardholder data by business need to know.</a:t>
            </a:r>
          </a:p>
          <a:p>
            <a:pPr marL="457200" marR="0" lvl="1"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rPr>
              <a:t>• Identify and authenticate access to system components.</a:t>
            </a:r>
          </a:p>
          <a:p>
            <a:pPr marL="457200" marR="0" lvl="1"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rPr>
              <a:t>• Restrict physical access to cardholder data.</a:t>
            </a:r>
          </a:p>
          <a:p>
            <a:pPr marL="457200" marR="0" lvl="1"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rPr>
              <a:t>• Track and monitor all access to network resources and cardholder data.</a:t>
            </a:r>
          </a:p>
          <a:p>
            <a:pPr marL="457200" marR="0" lvl="1"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rPr>
              <a:t>• Regularly test security systems and processes.</a:t>
            </a:r>
          </a:p>
          <a:p>
            <a:pPr marL="457200" marR="0" lvl="1"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rPr>
              <a:t>• Maintain a policy that addresses information security for all personnel.</a:t>
            </a:r>
            <a:endParaRPr kumimoji="0" lang="en-US" sz="2000" b="0" i="0" u="none" strike="noStrike" kern="1200" cap="none" spc="0" normalizeH="0" baseline="0" noProof="0" dirty="0">
              <a:ln>
                <a:noFill/>
              </a:ln>
              <a:solidFill>
                <a:srgbClr val="002060"/>
              </a:solidFill>
              <a:effectLst/>
              <a:uLnTx/>
              <a:uFillTx/>
              <a:latin typeface="Berlin Sans FB" panose="020E0602020502020306" pitchFamily="34" charset="0"/>
            </a:endParaRPr>
          </a:p>
        </p:txBody>
      </p:sp>
      <p:sp>
        <p:nvSpPr>
          <p:cNvPr id="3" name="Rectangle 2">
            <a:extLst>
              <a:ext uri="{FF2B5EF4-FFF2-40B4-BE49-F238E27FC236}">
                <a16:creationId xmlns:a16="http://schemas.microsoft.com/office/drawing/2014/main" id="{9AA550D9-F7A4-4EAF-9CEF-69FB19FBC137}"/>
              </a:ext>
            </a:extLst>
          </p:cNvPr>
          <p:cNvSpPr/>
          <p:nvPr/>
        </p:nvSpPr>
        <p:spPr>
          <a:xfrm>
            <a:off x="333469" y="5471967"/>
            <a:ext cx="10957711" cy="584775"/>
          </a:xfrm>
          <a:prstGeom prst="rect">
            <a:avLst/>
          </a:prstGeom>
        </p:spPr>
        <p:txBody>
          <a:bodyPr wrap="square">
            <a:spAutoFit/>
          </a:bodyPr>
          <a:lstStyle/>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v"/>
              <a:tabLst/>
              <a:defRPr/>
            </a:pPr>
            <a:r>
              <a:rPr kumimoji="0" lang="en-US" sz="1600" b="0" i="0" u="none" strike="noStrike" kern="1200" cap="none" spc="0" normalizeH="0" baseline="0" noProof="0" dirty="0">
                <a:ln>
                  <a:noFill/>
                </a:ln>
                <a:solidFill>
                  <a:srgbClr val="7030A0"/>
                </a:solidFill>
                <a:effectLst/>
                <a:uLnTx/>
                <a:uFillTx/>
                <a:latin typeface="Berlin Sans FB" panose="020E0602020502020306" pitchFamily="34" charset="0"/>
              </a:rPr>
              <a:t>PCI-DSS is mandatory for all organizations that store, process, or transmit credit card data. Organizations with larger volumes of card data are required to undergo annual on-site audits.</a:t>
            </a:r>
            <a:endParaRPr kumimoji="0" lang="en-US" sz="2000" b="0" i="0" u="none" strike="noStrike" kern="1200" cap="none" spc="0" normalizeH="0" baseline="0" noProof="0" dirty="0">
              <a:ln>
                <a:noFill/>
              </a:ln>
              <a:solidFill>
                <a:srgbClr val="7030A0"/>
              </a:solidFill>
              <a:effectLst/>
              <a:uLnTx/>
              <a:uFillTx/>
              <a:latin typeface="Berlin Sans FB" panose="020E0602020502020306" pitchFamily="34" charset="0"/>
            </a:endParaRPr>
          </a:p>
        </p:txBody>
      </p:sp>
    </p:spTree>
    <p:extLst>
      <p:ext uri="{BB962C8B-B14F-4D97-AF65-F5344CB8AC3E}">
        <p14:creationId xmlns:p14="http://schemas.microsoft.com/office/powerpoint/2010/main" val="240856648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C6A3784-9CD9-A06A-FAAC-DCA8C1BBF005}"/>
              </a:ext>
            </a:extLst>
          </p:cNvPr>
          <p:cNvSpPr txBox="1"/>
          <p:nvPr/>
        </p:nvSpPr>
        <p:spPr>
          <a:xfrm>
            <a:off x="1033893" y="61052"/>
            <a:ext cx="7716253" cy="6201698"/>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srgbClr val="C00000"/>
                </a:solidFill>
                <a:effectLst/>
                <a:uLnTx/>
                <a:uFillTx/>
                <a:latin typeface="Berlin Sans FB Demi" panose="020E0802020502020306" pitchFamily="34" charset="0"/>
                <a:ea typeface="+mn-ea"/>
                <a:cs typeface="+mn-cs"/>
              </a:rPr>
              <a:t>Capability Maturity Models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endParaRPr>
          </a:p>
          <a:p>
            <a:pPr marL="342900" marR="0" lvl="0" indent="-342900" algn="l" defTabSz="914400" rtl="0" eaLnBrk="1" fontAlgn="auto" latinLnBrk="0" hangingPunct="1">
              <a:lnSpc>
                <a:spcPct val="100000"/>
              </a:lnSpc>
              <a:spcBef>
                <a:spcPts val="0"/>
              </a:spcBef>
              <a:spcAft>
                <a:spcPts val="1200"/>
              </a:spcAft>
              <a:buClrTx/>
              <a:buSzTx/>
              <a:buFont typeface="+mj-lt"/>
              <a:buAutoNum type="arabicPeriod"/>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The risk practitioner may find it useful to </a:t>
            </a:r>
            <a:r>
              <a:rPr kumimoji="0" lang="en-US" sz="1600" b="0" i="0" u="none" strike="noStrike" kern="1200" cap="none" spc="0" normalizeH="0" baseline="0" noProof="0" dirty="0">
                <a:ln>
                  <a:noFill/>
                </a:ln>
                <a:solidFill>
                  <a:srgbClr val="7030A0"/>
                </a:solidFill>
                <a:effectLst>
                  <a:outerShdw blurRad="38100" dist="38100" dir="2700000" algn="tl">
                    <a:srgbClr val="000000">
                      <a:alpha val="43137"/>
                    </a:srgbClr>
                  </a:outerShdw>
                </a:effectLst>
                <a:uLnTx/>
                <a:uFillTx/>
                <a:latin typeface="Berlin Sans FB" panose="020E0602020502020306" pitchFamily="34" charset="0"/>
                <a:ea typeface="+mn-ea"/>
                <a:cs typeface="+mn-cs"/>
              </a:rPr>
              <a:t>compare the state of the </a:t>
            </a:r>
            <a:r>
              <a:rPr kumimoji="0" lang="en-US" b="0" i="0" u="none" strike="noStrike" kern="1200" cap="none" spc="0" normalizeH="0" baseline="0" noProof="0" dirty="0">
                <a:ln>
                  <a:noFill/>
                </a:ln>
                <a:solidFill>
                  <a:srgbClr val="0070C0"/>
                </a:solidFill>
                <a:effectLst>
                  <a:outerShdw blurRad="38100" dist="38100" dir="2700000" algn="tl">
                    <a:srgbClr val="000000">
                      <a:alpha val="43137"/>
                    </a:srgbClr>
                  </a:outerShdw>
                </a:effectLst>
                <a:uLnTx/>
                <a:uFillTx/>
                <a:latin typeface="Berlin Sans FB" panose="020E0602020502020306" pitchFamily="34" charset="0"/>
                <a:ea typeface="+mn-ea"/>
                <a:cs typeface="+mn-cs"/>
              </a:rPr>
              <a:t>enterprise risk management program </a:t>
            </a:r>
            <a:r>
              <a:rPr kumimoji="0" lang="en-US" sz="1600" b="0" i="0" u="none" strike="noStrike" kern="1200" cap="none" spc="0" normalizeH="0" baseline="0" noProof="0" dirty="0">
                <a:ln>
                  <a:noFill/>
                </a:ln>
                <a:solidFill>
                  <a:srgbClr val="7030A0"/>
                </a:solidFill>
                <a:effectLst>
                  <a:outerShdw blurRad="38100" dist="38100" dir="2700000" algn="tl">
                    <a:srgbClr val="000000">
                      <a:alpha val="43137"/>
                    </a:srgbClr>
                  </a:outerShdw>
                </a:effectLst>
                <a:uLnTx/>
                <a:uFillTx/>
                <a:latin typeface="Berlin Sans FB" panose="020E0602020502020306" pitchFamily="34" charset="0"/>
                <a:ea typeface="+mn-ea"/>
                <a:cs typeface="+mn-cs"/>
              </a:rPr>
              <a:t>to an established model of capability maturity that contains the essential elements of effective processes for one or more disciplines. </a:t>
            </a:r>
          </a:p>
          <a:p>
            <a:pPr marL="342900" marR="0" lvl="0" indent="-342900" algn="l" defTabSz="914400" rtl="0" eaLnBrk="1" fontAlgn="auto" latinLnBrk="0" hangingPunct="1">
              <a:lnSpc>
                <a:spcPct val="100000"/>
              </a:lnSpc>
              <a:spcBef>
                <a:spcPts val="0"/>
              </a:spcBef>
              <a:spcAft>
                <a:spcPts val="1200"/>
              </a:spcAft>
              <a:buClrTx/>
              <a:buSzTx/>
              <a:buFont typeface="+mj-lt"/>
              <a:buAutoNum type="arabicPeriod"/>
              <a:tabLst/>
              <a:defRPr/>
            </a:pPr>
            <a:r>
              <a:rPr kumimoji="0" lang="en-US" sz="1600" b="0" i="0" u="none" strike="noStrike" kern="1200" cap="none" spc="0" normalizeH="0" baseline="0" noProof="0" dirty="0">
                <a:ln>
                  <a:noFill/>
                </a:ln>
                <a:solidFill>
                  <a:srgbClr val="7030A0"/>
                </a:solidFill>
                <a:effectLst>
                  <a:outerShdw blurRad="38100" dist="38100" dir="2700000" algn="tl">
                    <a:srgbClr val="000000">
                      <a:alpha val="43137"/>
                    </a:srgbClr>
                  </a:outerShdw>
                </a:effectLst>
                <a:uLnTx/>
                <a:uFillTx/>
                <a:latin typeface="Berlin Sans FB" panose="020E0602020502020306" pitchFamily="34" charset="0"/>
                <a:ea typeface="+mn-ea"/>
                <a:cs typeface="+mn-cs"/>
              </a:rPr>
              <a:t>A capability maturity model (CMM) describes The improvement path from ad hoc, immature processes to disciplined, mature processes with improved quality and effectiveness.</a:t>
            </a:r>
          </a:p>
          <a:p>
            <a:pPr marL="342900" marR="0" lvl="0" indent="-342900" algn="l" defTabSz="914400" rtl="0" eaLnBrk="1" fontAlgn="auto" latinLnBrk="0" hangingPunct="1">
              <a:lnSpc>
                <a:spcPct val="100000"/>
              </a:lnSpc>
              <a:spcBef>
                <a:spcPts val="0"/>
              </a:spcBef>
              <a:spcAft>
                <a:spcPts val="1200"/>
              </a:spcAft>
              <a:buClrTx/>
              <a:buSzTx/>
              <a:buFont typeface="+mj-lt"/>
              <a:buAutoNum type="arabicPeriod"/>
              <a:tabLst/>
              <a:defRPr/>
            </a:pPr>
            <a:r>
              <a:rPr kumimoji="0" lang="en-US" sz="1600" b="0" i="0" u="none" strike="noStrike" kern="1200" cap="none" spc="0" normalizeH="0" baseline="0" noProof="0" dirty="0">
                <a:ln>
                  <a:noFill/>
                </a:ln>
                <a:solidFill>
                  <a:srgbClr val="C00000"/>
                </a:solidFill>
                <a:effectLst>
                  <a:outerShdw blurRad="38100" dist="38100" dir="2700000" algn="tl">
                    <a:srgbClr val="000000">
                      <a:alpha val="43137"/>
                    </a:srgbClr>
                  </a:outerShdw>
                </a:effectLst>
                <a:uLnTx/>
                <a:uFillTx/>
                <a:latin typeface="Berlin Sans FB" panose="020E0602020502020306" pitchFamily="34" charset="0"/>
                <a:ea typeface="+mn-ea"/>
                <a:cs typeface="+mn-cs"/>
              </a:rPr>
              <a:t>With the aid of a maturity model, enterprises can set realistic long-term goals for risk management by having a clear understanding of their current maturity (in terms of current working practices) and the areas that require improvement.</a:t>
            </a:r>
          </a:p>
          <a:p>
            <a:pPr marL="342900" marR="0" lvl="0" indent="-342900" algn="l" defTabSz="914400" rtl="0" eaLnBrk="1" fontAlgn="auto" latinLnBrk="0" hangingPunct="1">
              <a:lnSpc>
                <a:spcPct val="100000"/>
              </a:lnSpc>
              <a:spcBef>
                <a:spcPts val="0"/>
              </a:spcBef>
              <a:spcAft>
                <a:spcPts val="1200"/>
              </a:spcAft>
              <a:buClrTx/>
              <a:buSzTx/>
              <a:buFont typeface="+mj-lt"/>
              <a:buAutoNum type="arabicPeriod"/>
              <a:tabLst/>
              <a:defRPr/>
            </a:pPr>
            <a:r>
              <a:rPr kumimoji="0" lang="en-US" sz="1600" b="0" i="0" u="none" strike="noStrike" kern="1200" cap="none" spc="0" normalizeH="0" baseline="0" noProof="0" dirty="0">
                <a:ln>
                  <a:noFill/>
                </a:ln>
                <a:solidFill>
                  <a:srgbClr val="0070C0"/>
                </a:solidFill>
                <a:effectLst>
                  <a:outerShdw blurRad="38100" dist="38100" dir="2700000" algn="tl">
                    <a:srgbClr val="000000">
                      <a:alpha val="43137"/>
                    </a:srgbClr>
                  </a:outerShdw>
                </a:effectLst>
                <a:uLnTx/>
                <a:uFillTx/>
                <a:latin typeface="Berlin Sans FB" panose="020E0602020502020306" pitchFamily="34" charset="0"/>
                <a:ea typeface="+mn-ea"/>
                <a:cs typeface="+mn-cs"/>
              </a:rPr>
              <a:t>A mature enterprise is more likely to prevent incidents, detect incidents sooner and recover rapidly from incidents. </a:t>
            </a:r>
          </a:p>
          <a:p>
            <a:pPr marL="342900" marR="0" lvl="0" indent="-342900" algn="l" defTabSz="914400" rtl="0" eaLnBrk="1" fontAlgn="auto" latinLnBrk="0" hangingPunct="1">
              <a:lnSpc>
                <a:spcPct val="100000"/>
              </a:lnSpc>
              <a:spcBef>
                <a:spcPts val="0"/>
              </a:spcBef>
              <a:spcAft>
                <a:spcPts val="1200"/>
              </a:spcAft>
              <a:buClrTx/>
              <a:buSzTx/>
              <a:buFont typeface="+mj-lt"/>
              <a:buAutoNum type="arabicPeriod"/>
              <a:tabLst/>
              <a:defRPr/>
            </a:pPr>
            <a:r>
              <a:rPr kumimoji="0" lang="en-US" sz="1600" b="0" i="0" u="none" strike="noStrike" kern="1200" cap="none" spc="0" normalizeH="0" baseline="0" noProof="0" dirty="0">
                <a:ln>
                  <a:noFill/>
                </a:ln>
                <a:solidFill>
                  <a:srgbClr val="7030A0"/>
                </a:solidFill>
                <a:effectLst>
                  <a:outerShdw blurRad="38100" dist="38100" dir="2700000" algn="tl">
                    <a:srgbClr val="000000">
                      <a:alpha val="43137"/>
                    </a:srgbClr>
                  </a:outerShdw>
                </a:effectLst>
                <a:uLnTx/>
                <a:uFillTx/>
                <a:latin typeface="Berlin Sans FB" panose="020E0602020502020306" pitchFamily="34" charset="0"/>
                <a:ea typeface="+mn-ea"/>
                <a:cs typeface="+mn-cs"/>
              </a:rPr>
              <a:t>As a general rule, enterprises should seek to implement well- structured risk management procedures across all departments and regions and ensure that every business process, system and software development project follows core risk management principles, policies, procedures and standards.</a:t>
            </a:r>
          </a:p>
          <a:p>
            <a:pPr marL="342900" marR="0" lvl="0" indent="-342900" algn="l" defTabSz="914400" rtl="0" eaLnBrk="1" fontAlgn="auto" latinLnBrk="0" hangingPunct="1">
              <a:lnSpc>
                <a:spcPct val="100000"/>
              </a:lnSpc>
              <a:spcBef>
                <a:spcPts val="0"/>
              </a:spcBef>
              <a:spcAft>
                <a:spcPts val="1200"/>
              </a:spcAft>
              <a:buClrTx/>
              <a:buSzTx/>
              <a:buFont typeface="+mj-lt"/>
              <a:buAutoNum type="arabicPeriod"/>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Improvements in both the efficiencies and effectiveness of the risk management capability are based on the consistent application of policies and procedures. If these procedures are followed on a consistent basis, then the efficiency and effectiveness of the risk management practices will improve.</a:t>
            </a:r>
          </a:p>
        </p:txBody>
      </p:sp>
    </p:spTree>
    <p:extLst>
      <p:ext uri="{BB962C8B-B14F-4D97-AF65-F5344CB8AC3E}">
        <p14:creationId xmlns:p14="http://schemas.microsoft.com/office/powerpoint/2010/main" val="84864536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FCD7F27-1325-706A-1E7A-C0B9C288BFD0}"/>
              </a:ext>
            </a:extLst>
          </p:cNvPr>
          <p:cNvSpPr txBox="1"/>
          <p:nvPr/>
        </p:nvSpPr>
        <p:spPr>
          <a:xfrm>
            <a:off x="1090863" y="231572"/>
            <a:ext cx="6641431" cy="6063198"/>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7030A0"/>
                </a:solidFill>
                <a:effectLst>
                  <a:outerShdw blurRad="38100" dist="38100" dir="2700000" algn="tl">
                    <a:srgbClr val="000000">
                      <a:alpha val="43137"/>
                    </a:srgbClr>
                  </a:outerShdw>
                </a:effectLst>
                <a:uLnTx/>
                <a:uFillTx/>
                <a:latin typeface="Berlin Sans FB" panose="020E0602020502020306" pitchFamily="34" charset="0"/>
                <a:ea typeface="+mn-ea"/>
                <a:cs typeface="+mn-cs"/>
              </a:rPr>
              <a:t>Key elements that may be used to measure the maturity of IT risk management </a:t>
            </a:r>
            <a:r>
              <a:rPr kumimoji="0" lang="en-US" sz="1800" b="0" i="0" u="none" strike="noStrike" kern="1200" cap="none" spc="0" normalizeH="0" baseline="0" noProof="0" dirty="0">
                <a:ln>
                  <a:noFill/>
                </a:ln>
                <a:solidFill>
                  <a:srgbClr val="00B0F0"/>
                </a:solidFill>
                <a:effectLst>
                  <a:outerShdw blurRad="38100" dist="38100" dir="2700000" algn="tl">
                    <a:srgbClr val="000000">
                      <a:alpha val="43137"/>
                    </a:srgbClr>
                  </a:outerShdw>
                </a:effectLst>
                <a:uLnTx/>
                <a:uFillTx/>
                <a:latin typeface="Berlin Sans FB" panose="020E0602020502020306" pitchFamily="34" charset="0"/>
                <a:ea typeface="+mn-ea"/>
                <a:cs typeface="+mn-cs"/>
              </a:rPr>
              <a:t>capability</a:t>
            </a:r>
            <a:r>
              <a:rPr kumimoji="0" lang="en-US" sz="1800" b="0" i="0" u="none" strike="noStrike" kern="1200" cap="none" spc="0" normalizeH="0" baseline="0" noProof="0" dirty="0">
                <a:ln>
                  <a:noFill/>
                </a:ln>
                <a:solidFill>
                  <a:srgbClr val="7030A0"/>
                </a:solidFill>
                <a:effectLst>
                  <a:outerShdw blurRad="38100" dist="38100" dir="2700000" algn="tl">
                    <a:srgbClr val="000000">
                      <a:alpha val="43137"/>
                    </a:srgbClr>
                  </a:outerShdw>
                </a:effectLst>
                <a:uLnTx/>
                <a:uFillTx/>
                <a:latin typeface="Berlin Sans FB" panose="020E0602020502020306" pitchFamily="34" charset="0"/>
                <a:ea typeface="+mn-ea"/>
                <a:cs typeface="+mn-cs"/>
              </a:rPr>
              <a:t> include:</a:t>
            </a:r>
            <a:endPar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endParaRPr>
          </a:p>
          <a:p>
            <a:pPr marL="800100" marR="0" lvl="1" indent="-342900" algn="l" defTabSz="914400" rtl="0" eaLnBrk="1" fontAlgn="auto" latinLnBrk="0" hangingPunct="1">
              <a:lnSpc>
                <a:spcPct val="100000"/>
              </a:lnSpc>
              <a:spcBef>
                <a:spcPts val="0"/>
              </a:spcBef>
              <a:spcAft>
                <a:spcPts val="0"/>
              </a:spcAft>
              <a:buClrTx/>
              <a:buSzTx/>
              <a:buFont typeface="+mj-lt"/>
              <a:buAutoNum type="arabicPeriod"/>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Support of senior management</a:t>
            </a:r>
          </a:p>
          <a:p>
            <a:pPr marL="800100" marR="0" lvl="1" indent="-342900" algn="l" defTabSz="914400" rtl="0" eaLnBrk="1" fontAlgn="auto" latinLnBrk="0" hangingPunct="1">
              <a:lnSpc>
                <a:spcPct val="100000"/>
              </a:lnSpc>
              <a:spcBef>
                <a:spcPts val="0"/>
              </a:spcBef>
              <a:spcAft>
                <a:spcPts val="0"/>
              </a:spcAft>
              <a:buClrTx/>
              <a:buSzTx/>
              <a:buFont typeface="+mj-lt"/>
              <a:buAutoNum type="arabicPeriod"/>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Regular communication between stakeholders</a:t>
            </a:r>
          </a:p>
          <a:p>
            <a:pPr marL="800100" marR="0" lvl="1" indent="-342900" algn="l" defTabSz="914400" rtl="0" eaLnBrk="1" fontAlgn="auto" latinLnBrk="0" hangingPunct="1">
              <a:lnSpc>
                <a:spcPct val="100000"/>
              </a:lnSpc>
              <a:spcBef>
                <a:spcPts val="0"/>
              </a:spcBef>
              <a:spcAft>
                <a:spcPts val="0"/>
              </a:spcAft>
              <a:buClrTx/>
              <a:buSzTx/>
              <a:buFont typeface="+mj-lt"/>
              <a:buAutoNum type="arabicPeriod"/>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Existence of policies, procedures and standards</a:t>
            </a:r>
          </a:p>
          <a:p>
            <a:pPr marL="800100" marR="0" lvl="1" indent="-342900" algn="l" defTabSz="914400" rtl="0" eaLnBrk="1" fontAlgn="auto" latinLnBrk="0" hangingPunct="1">
              <a:lnSpc>
                <a:spcPct val="100000"/>
              </a:lnSpc>
              <a:spcBef>
                <a:spcPts val="0"/>
              </a:spcBef>
              <a:spcAft>
                <a:spcPts val="0"/>
              </a:spcAft>
              <a:buClrTx/>
              <a:buSzTx/>
              <a:buFont typeface="+mj-lt"/>
              <a:buAutoNum type="arabicPeriod"/>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Availability of a current business impact analysis</a:t>
            </a:r>
          </a:p>
          <a:p>
            <a:pPr marL="800100" marR="0" lvl="1" indent="-342900" algn="l" defTabSz="914400" rtl="0" eaLnBrk="1" fontAlgn="auto" latinLnBrk="0" hangingPunct="1">
              <a:lnSpc>
                <a:spcPct val="100000"/>
              </a:lnSpc>
              <a:spcBef>
                <a:spcPts val="0"/>
              </a:spcBef>
              <a:spcAft>
                <a:spcPts val="0"/>
              </a:spcAft>
              <a:buClrTx/>
              <a:buSzTx/>
              <a:buFont typeface="+mj-lt"/>
              <a:buAutoNum type="arabicPeriod"/>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Logging and monitoring of system activity</a:t>
            </a:r>
          </a:p>
          <a:p>
            <a:pPr marL="800100" marR="0" lvl="1" indent="-342900" algn="l" defTabSz="914400" rtl="0" eaLnBrk="1" fontAlgn="auto" latinLnBrk="0" hangingPunct="1">
              <a:lnSpc>
                <a:spcPct val="100000"/>
              </a:lnSpc>
              <a:spcBef>
                <a:spcPts val="0"/>
              </a:spcBef>
              <a:spcAft>
                <a:spcPts val="0"/>
              </a:spcAft>
              <a:buClrTx/>
              <a:buSzTx/>
              <a:buFont typeface="+mj-lt"/>
              <a:buAutoNum type="arabicPeriod"/>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Regular review of logs</a:t>
            </a:r>
          </a:p>
          <a:p>
            <a:pPr marL="800100" marR="0" lvl="1" indent="-342900" algn="l" defTabSz="914400" rtl="0" eaLnBrk="1" fontAlgn="auto" latinLnBrk="0" hangingPunct="1">
              <a:lnSpc>
                <a:spcPct val="100000"/>
              </a:lnSpc>
              <a:spcBef>
                <a:spcPts val="0"/>
              </a:spcBef>
              <a:spcAft>
                <a:spcPts val="0"/>
              </a:spcAft>
              <a:buClrTx/>
              <a:buSzTx/>
              <a:buFont typeface="+mj-lt"/>
              <a:buAutoNum type="arabicPeriod"/>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Scheduled risk assessments and review</a:t>
            </a:r>
          </a:p>
          <a:p>
            <a:pPr marL="800100" marR="0" lvl="1" indent="-342900" algn="l" defTabSz="914400" rtl="0" eaLnBrk="1" fontAlgn="auto" latinLnBrk="0" hangingPunct="1">
              <a:lnSpc>
                <a:spcPct val="100000"/>
              </a:lnSpc>
              <a:spcBef>
                <a:spcPts val="0"/>
              </a:spcBef>
              <a:spcAft>
                <a:spcPts val="0"/>
              </a:spcAft>
              <a:buClrTx/>
              <a:buSzTx/>
              <a:buFont typeface="+mj-lt"/>
              <a:buAutoNum type="arabicPeriod"/>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Testing of business continuity and disaster recovery plans</a:t>
            </a:r>
          </a:p>
          <a:p>
            <a:pPr marL="800100" marR="0" lvl="1" indent="-342900" algn="l" defTabSz="914400" rtl="0" eaLnBrk="1" fontAlgn="auto" latinLnBrk="0" hangingPunct="1">
              <a:lnSpc>
                <a:spcPct val="100000"/>
              </a:lnSpc>
              <a:spcBef>
                <a:spcPts val="0"/>
              </a:spcBef>
              <a:spcAft>
                <a:spcPts val="0"/>
              </a:spcAft>
              <a:buClrTx/>
              <a:buSzTx/>
              <a:buFont typeface="+mj-lt"/>
              <a:buAutoNum type="arabicPeriod"/>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Training of staff</a:t>
            </a:r>
          </a:p>
          <a:p>
            <a:pPr marL="800100" marR="0" lvl="1" indent="-342900" algn="l" defTabSz="914400" rtl="0" eaLnBrk="1" fontAlgn="auto" latinLnBrk="0" hangingPunct="1">
              <a:lnSpc>
                <a:spcPct val="100000"/>
              </a:lnSpc>
              <a:spcBef>
                <a:spcPts val="0"/>
              </a:spcBef>
              <a:spcAft>
                <a:spcPts val="0"/>
              </a:spcAft>
              <a:buClrTx/>
              <a:buSzTx/>
              <a:buFont typeface="+mj-lt"/>
              <a:buAutoNum type="arabicPeriod"/>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Involvement of risk principles and personnel in IT projects</a:t>
            </a:r>
          </a:p>
          <a:p>
            <a:pPr marL="800100" marR="0" lvl="1" indent="-342900" algn="l" defTabSz="914400" rtl="0" eaLnBrk="1" fontAlgn="auto" latinLnBrk="0" hangingPunct="1">
              <a:lnSpc>
                <a:spcPct val="100000"/>
              </a:lnSpc>
              <a:spcBef>
                <a:spcPts val="0"/>
              </a:spcBef>
              <a:spcAft>
                <a:spcPts val="0"/>
              </a:spcAft>
              <a:buClrTx/>
              <a:buSzTx/>
              <a:buFont typeface="+mj-lt"/>
              <a:buAutoNum type="arabicPeriod"/>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Gathering feedback from users and stakeholders</a:t>
            </a:r>
          </a:p>
          <a:p>
            <a:pPr marL="800100" marR="0" lvl="1" indent="-342900" algn="l" defTabSz="914400" rtl="0" eaLnBrk="1" fontAlgn="auto" latinLnBrk="0" hangingPunct="1">
              <a:lnSpc>
                <a:spcPct val="100000"/>
              </a:lnSpc>
              <a:spcBef>
                <a:spcPts val="0"/>
              </a:spcBef>
              <a:spcAft>
                <a:spcPts val="0"/>
              </a:spcAft>
              <a:buClrTx/>
              <a:buSzTx/>
              <a:buFont typeface="+mj-lt"/>
              <a:buAutoNum type="arabicPeriod"/>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Validating the risk appetite and risk acceptance levels</a:t>
            </a:r>
          </a:p>
          <a:p>
            <a:pPr marL="800100" marR="0" lvl="1" indent="-342900" algn="l" defTabSz="914400" rtl="0" eaLnBrk="1" fontAlgn="auto" latinLnBrk="0" hangingPunct="1">
              <a:lnSpc>
                <a:spcPct val="100000"/>
              </a:lnSpc>
              <a:spcBef>
                <a:spcPts val="0"/>
              </a:spcBef>
              <a:spcAft>
                <a:spcPts val="0"/>
              </a:spcAft>
              <a:buClrTx/>
              <a:buSzTx/>
              <a:buFont typeface="+mj-lt"/>
              <a:buAutoNum type="arabicPeriod"/>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Time to detect/resolve a security incident</a:t>
            </a:r>
          </a:p>
          <a:p>
            <a:pPr marL="800100" marR="0" lvl="1" indent="-342900" algn="l" defTabSz="914400" rtl="0" eaLnBrk="1" fontAlgn="auto" latinLnBrk="0" hangingPunct="1">
              <a:lnSpc>
                <a:spcPct val="100000"/>
              </a:lnSpc>
              <a:spcBef>
                <a:spcPts val="0"/>
              </a:spcBef>
              <a:spcAft>
                <a:spcPts val="0"/>
              </a:spcAft>
              <a:buClrTx/>
              <a:buSzTx/>
              <a:buFont typeface="+mj-lt"/>
              <a:buAutoNum type="arabicPeriod"/>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Risk mitigation strategies</a:t>
            </a:r>
          </a:p>
          <a:p>
            <a:pPr marL="800100" marR="0" lvl="1" indent="-342900" algn="l" defTabSz="914400" rtl="0" eaLnBrk="1" fontAlgn="auto" latinLnBrk="0" hangingPunct="1">
              <a:lnSpc>
                <a:spcPct val="100000"/>
              </a:lnSpc>
              <a:spcBef>
                <a:spcPts val="0"/>
              </a:spcBef>
              <a:spcAft>
                <a:spcPts val="0"/>
              </a:spcAft>
              <a:buClrTx/>
              <a:buSzTx/>
              <a:buFont typeface="+mj-lt"/>
              <a:buAutoNum type="arabicPeriod"/>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Standardized measures for assessing risk and defining risk ratios</a:t>
            </a:r>
          </a:p>
          <a:p>
            <a:pPr marL="800100" marR="0" lvl="1" indent="-342900" algn="l" defTabSz="914400" rtl="0" eaLnBrk="1" fontAlgn="auto" latinLnBrk="0" hangingPunct="1">
              <a:lnSpc>
                <a:spcPct val="100000"/>
              </a:lnSpc>
              <a:spcBef>
                <a:spcPts val="0"/>
              </a:spcBef>
              <a:spcAft>
                <a:spcPts val="0"/>
              </a:spcAft>
              <a:buClrTx/>
              <a:buSzTx/>
              <a:buFont typeface="+mj-lt"/>
              <a:buAutoNum type="arabicPeriod"/>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Exception management</a:t>
            </a:r>
          </a:p>
          <a:p>
            <a:pPr marL="800100" marR="0" lvl="1" indent="-342900" algn="l" defTabSz="914400" rtl="0" eaLnBrk="1" fontAlgn="auto" latinLnBrk="0" hangingPunct="1">
              <a:lnSpc>
                <a:spcPct val="100000"/>
              </a:lnSpc>
              <a:spcBef>
                <a:spcPts val="0"/>
              </a:spcBef>
              <a:spcAft>
                <a:spcPts val="0"/>
              </a:spcAft>
              <a:buClrTx/>
              <a:buSzTx/>
              <a:buFont typeface="+mj-lt"/>
              <a:buAutoNum type="arabicPeriod"/>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Risk and control ownership</a:t>
            </a:r>
          </a:p>
          <a:p>
            <a:pPr marL="800100" marR="0" lvl="1" indent="-342900" algn="l" defTabSz="914400" rtl="0" eaLnBrk="1" fontAlgn="auto" latinLnBrk="0" hangingPunct="1">
              <a:lnSpc>
                <a:spcPct val="100000"/>
              </a:lnSpc>
              <a:spcBef>
                <a:spcPts val="0"/>
              </a:spcBef>
              <a:spcAft>
                <a:spcPts val="0"/>
              </a:spcAft>
              <a:buClrTx/>
              <a:buSzTx/>
              <a:buFont typeface="+mj-lt"/>
              <a:buAutoNum type="arabicPeriod"/>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Risk mitigation strategies</a:t>
            </a:r>
          </a:p>
          <a:p>
            <a:pPr marL="800100" marR="0" lvl="1" indent="-342900" algn="l" defTabSz="914400" rtl="0" eaLnBrk="1" fontAlgn="auto" latinLnBrk="0" hangingPunct="1">
              <a:lnSpc>
                <a:spcPct val="100000"/>
              </a:lnSpc>
              <a:spcBef>
                <a:spcPts val="0"/>
              </a:spcBef>
              <a:spcAft>
                <a:spcPts val="0"/>
              </a:spcAft>
              <a:buClrTx/>
              <a:buSzTx/>
              <a:buFont typeface="+mj-lt"/>
              <a:buAutoNum type="arabicPeriod"/>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Standardized measures for assessing risk and defining risk ratios</a:t>
            </a:r>
          </a:p>
          <a:p>
            <a:pPr marL="800100" marR="0" lvl="1" indent="-342900" algn="l" defTabSz="914400" rtl="0" eaLnBrk="1" fontAlgn="auto" latinLnBrk="0" hangingPunct="1">
              <a:lnSpc>
                <a:spcPct val="100000"/>
              </a:lnSpc>
              <a:spcBef>
                <a:spcPts val="0"/>
              </a:spcBef>
              <a:spcAft>
                <a:spcPts val="0"/>
              </a:spcAft>
              <a:buClrTx/>
              <a:buSzTx/>
              <a:buFont typeface="+mj-lt"/>
              <a:buAutoNum type="arabicPeriod"/>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Exception management</a:t>
            </a:r>
          </a:p>
          <a:p>
            <a:pPr marL="800100" marR="0" lvl="1" indent="-342900" algn="l" defTabSz="914400" rtl="0" eaLnBrk="1" fontAlgn="auto" latinLnBrk="0" hangingPunct="1">
              <a:lnSpc>
                <a:spcPct val="100000"/>
              </a:lnSpc>
              <a:spcBef>
                <a:spcPts val="0"/>
              </a:spcBef>
              <a:spcAft>
                <a:spcPts val="0"/>
              </a:spcAft>
              <a:buClrTx/>
              <a:buSzTx/>
              <a:buFont typeface="+mj-lt"/>
              <a:buAutoNum type="arabicPeriod"/>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Risk and control ownership</a:t>
            </a:r>
          </a:p>
          <a:p>
            <a:pPr marL="457200" marR="0" lvl="1"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endParaRPr>
          </a:p>
        </p:txBody>
      </p:sp>
    </p:spTree>
    <p:extLst>
      <p:ext uri="{BB962C8B-B14F-4D97-AF65-F5344CB8AC3E}">
        <p14:creationId xmlns:p14="http://schemas.microsoft.com/office/powerpoint/2010/main" val="398000574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9A3A35A-AA9F-D7A3-D8BE-247975CAE491}"/>
              </a:ext>
            </a:extLst>
          </p:cNvPr>
          <p:cNvSpPr txBox="1"/>
          <p:nvPr/>
        </p:nvSpPr>
        <p:spPr>
          <a:xfrm>
            <a:off x="453291" y="66967"/>
            <a:ext cx="10074031" cy="1831399"/>
          </a:xfrm>
          <a:prstGeom prst="rect">
            <a:avLst/>
          </a:prstGeom>
          <a:noFill/>
        </p:spPr>
        <p:txBody>
          <a:bodyPr wrap="square">
            <a:spAutoFit/>
          </a:bodyPr>
          <a:lstStyle/>
          <a:p>
            <a:pPr marL="0" marR="0">
              <a:lnSpc>
                <a:spcPct val="107000"/>
              </a:lnSpc>
              <a:spcBef>
                <a:spcPts val="0"/>
              </a:spcBef>
              <a:spcAft>
                <a:spcPts val="800"/>
              </a:spcAft>
            </a:pPr>
            <a:r>
              <a:rPr lang="en-US" b="1" kern="0" dirty="0">
                <a:solidFill>
                  <a:srgbClr val="C00000"/>
                </a:solidFill>
                <a:effectLst/>
                <a:latin typeface="Berlin Sans FB Demi" panose="020E0802020502020306" pitchFamily="34" charset="0"/>
                <a:ea typeface="Times New Roman" panose="02020603050405020304" pitchFamily="18" charset="0"/>
                <a:cs typeface="Arial" panose="020B0604020202020204" pitchFamily="34" charset="0"/>
              </a:rPr>
              <a:t>Utilizing a Risk and Control Matrix (RACM) for Effective Risk Management </a:t>
            </a:r>
            <a:endParaRPr lang="en-US" sz="1100" kern="100" dirty="0">
              <a:solidFill>
                <a:srgbClr val="C00000"/>
              </a:solidFill>
              <a:effectLst/>
              <a:latin typeface="Berlin Sans FB Demi" panose="020E0802020502020306" pitchFamily="34" charset="0"/>
              <a:ea typeface="Calibri" panose="020F0502020204030204" pitchFamily="34" charset="0"/>
              <a:cs typeface="Arial" panose="020B0604020202020204" pitchFamily="34" charset="0"/>
            </a:endParaRPr>
          </a:p>
          <a:p>
            <a:pPr marL="285750" indent="-285750">
              <a:lnSpc>
                <a:spcPct val="107000"/>
              </a:lnSpc>
              <a:spcAft>
                <a:spcPts val="800"/>
              </a:spcAft>
              <a:buFont typeface="Wingdings" panose="05000000000000000000" pitchFamily="2" charset="2"/>
              <a:buChar char="q"/>
            </a:pPr>
            <a:r>
              <a:rPr lang="en-US" sz="1400" kern="0" dirty="0">
                <a:solidFill>
                  <a:srgbClr val="002060"/>
                </a:solidFill>
                <a:effectLst/>
                <a:latin typeface="Berlin Sans FB" panose="020E0602020502020306" pitchFamily="34" charset="0"/>
                <a:ea typeface="Times New Roman" panose="02020603050405020304" pitchFamily="18" charset="0"/>
                <a:cs typeface="Arial" panose="020B0604020202020204" pitchFamily="34" charset="0"/>
              </a:rPr>
              <a:t>A Risk and Control Matrix (RACM) is a valuable tool used by organizations to better understand and optimize their risk profiles. </a:t>
            </a:r>
          </a:p>
          <a:p>
            <a:pPr marL="285750" indent="-285750">
              <a:lnSpc>
                <a:spcPct val="107000"/>
              </a:lnSpc>
              <a:spcAft>
                <a:spcPts val="800"/>
              </a:spcAft>
              <a:buFont typeface="Wingdings" panose="05000000000000000000" pitchFamily="2" charset="2"/>
              <a:buChar char="q"/>
            </a:pPr>
            <a:r>
              <a:rPr lang="en-US" sz="1400" kern="0" dirty="0">
                <a:solidFill>
                  <a:srgbClr val="002060"/>
                </a:solidFill>
                <a:effectLst/>
                <a:latin typeface="Berlin Sans FB" panose="020E0602020502020306" pitchFamily="34" charset="0"/>
                <a:ea typeface="Times New Roman" panose="02020603050405020304" pitchFamily="18" charset="0"/>
                <a:cs typeface="Arial" panose="020B0604020202020204" pitchFamily="34" charset="0"/>
              </a:rPr>
              <a:t>It is a structured approach that helps companies identify, assess, and manage risks by mapping the relationships between potential risks and the corresponding control measures implemented to mitigate them. </a:t>
            </a:r>
          </a:p>
          <a:p>
            <a:pPr marL="285750" indent="-285750">
              <a:lnSpc>
                <a:spcPct val="107000"/>
              </a:lnSpc>
              <a:spcAft>
                <a:spcPts val="800"/>
              </a:spcAft>
              <a:buFont typeface="Wingdings" panose="05000000000000000000" pitchFamily="2" charset="2"/>
              <a:buChar char="q"/>
            </a:pPr>
            <a:r>
              <a:rPr lang="en-US" sz="1400" kern="0" dirty="0">
                <a:solidFill>
                  <a:srgbClr val="0070C0"/>
                </a:solidFill>
                <a:latin typeface="Berlin Sans FB" panose="020E0602020502020306" pitchFamily="34" charset="0"/>
                <a:ea typeface="Times New Roman" panose="02020603050405020304" pitchFamily="18" charset="0"/>
                <a:cs typeface="Arial" panose="020B0604020202020204" pitchFamily="34" charset="0"/>
              </a:rPr>
              <a:t>The RACM allows organizations to visualize and evaluate the effectiveness of their risk control strategies and make data-driven decisions to enhance their risk management practices. </a:t>
            </a:r>
            <a:endParaRPr lang="en-US" sz="1200" kern="100" dirty="0">
              <a:solidFill>
                <a:srgbClr val="0070C0"/>
              </a:solidFill>
              <a:latin typeface="Berlin Sans FB" panose="020E0602020502020306" pitchFamily="34" charset="0"/>
              <a:ea typeface="Calibri" panose="020F0502020204030204" pitchFamily="34" charset="0"/>
              <a:cs typeface="Arial" panose="020B0604020202020204" pitchFamily="34" charset="0"/>
            </a:endParaRPr>
          </a:p>
        </p:txBody>
      </p:sp>
      <p:pic>
        <p:nvPicPr>
          <p:cNvPr id="2" name="Picture 1">
            <a:extLst>
              <a:ext uri="{FF2B5EF4-FFF2-40B4-BE49-F238E27FC236}">
                <a16:creationId xmlns:a16="http://schemas.microsoft.com/office/drawing/2014/main" id="{538E54A0-15C4-89D5-E8BC-588837C67440}"/>
              </a:ext>
            </a:extLst>
          </p:cNvPr>
          <p:cNvPicPr>
            <a:picLocks noChangeAspect="1"/>
          </p:cNvPicPr>
          <p:nvPr/>
        </p:nvPicPr>
        <p:blipFill>
          <a:blip r:embed="rId2"/>
          <a:stretch>
            <a:fillRect/>
          </a:stretch>
        </p:blipFill>
        <p:spPr>
          <a:xfrm>
            <a:off x="2127980" y="1898366"/>
            <a:ext cx="8094543" cy="4429530"/>
          </a:xfrm>
          <a:prstGeom prst="rect">
            <a:avLst/>
          </a:prstGeom>
        </p:spPr>
      </p:pic>
    </p:spTree>
    <p:extLst>
      <p:ext uri="{BB962C8B-B14F-4D97-AF65-F5344CB8AC3E}">
        <p14:creationId xmlns:p14="http://schemas.microsoft.com/office/powerpoint/2010/main" val="166063033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A4881BF-781F-DFCE-EAE7-C38842814C66}"/>
              </a:ext>
            </a:extLst>
          </p:cNvPr>
          <p:cNvSpPr txBox="1"/>
          <p:nvPr/>
        </p:nvSpPr>
        <p:spPr>
          <a:xfrm>
            <a:off x="593969" y="181062"/>
            <a:ext cx="8972062" cy="3979616"/>
          </a:xfrm>
          <a:prstGeom prst="rect">
            <a:avLst/>
          </a:prstGeom>
          <a:noFill/>
        </p:spPr>
        <p:txBody>
          <a:bodyPr wrap="square">
            <a:spAutoFit/>
          </a:bodyPr>
          <a:lstStyle/>
          <a:p>
            <a:pPr>
              <a:lnSpc>
                <a:spcPct val="107000"/>
              </a:lnSpc>
              <a:spcAft>
                <a:spcPts val="800"/>
              </a:spcAft>
            </a:pPr>
            <a:r>
              <a:rPr lang="en-US" sz="1400" kern="0" dirty="0">
                <a:solidFill>
                  <a:srgbClr val="7030A0"/>
                </a:solidFill>
                <a:effectLst>
                  <a:outerShdw blurRad="38100" dist="38100" dir="2700000" algn="tl">
                    <a:srgbClr val="000000">
                      <a:alpha val="43137"/>
                    </a:srgbClr>
                  </a:outerShdw>
                </a:effectLst>
                <a:latin typeface="Berlin Sans FB" panose="020E0602020502020306" pitchFamily="34" charset="0"/>
                <a:ea typeface="Times New Roman" panose="02020603050405020304" pitchFamily="18" charset="0"/>
                <a:cs typeface="Arial" panose="020B0604020202020204" pitchFamily="34" charset="0"/>
              </a:rPr>
              <a:t>The RACM typically includes the following components: </a:t>
            </a:r>
            <a:endParaRPr lang="en-US" sz="1200" kern="100" dirty="0">
              <a:solidFill>
                <a:srgbClr val="7030A0"/>
              </a:solidFill>
              <a:effectLst>
                <a:outerShdw blurRad="38100" dist="38100" dir="2700000" algn="tl">
                  <a:srgbClr val="000000">
                    <a:alpha val="43137"/>
                  </a:srgbClr>
                </a:outerShdw>
              </a:effectLst>
              <a:latin typeface="Berlin Sans FB" panose="020E0602020502020306" pitchFamily="34" charset="0"/>
              <a:ea typeface="Calibri" panose="020F0502020204030204" pitchFamily="34" charset="0"/>
              <a:cs typeface="Arial" panose="020B0604020202020204" pitchFamily="34" charset="0"/>
            </a:endParaRPr>
          </a:p>
          <a:p>
            <a:pPr marL="800100" lvl="1" indent="-342900">
              <a:lnSpc>
                <a:spcPct val="107000"/>
              </a:lnSpc>
              <a:spcAft>
                <a:spcPts val="800"/>
              </a:spcAft>
              <a:buSzPts val="1000"/>
              <a:buFont typeface="Wingdings" panose="05000000000000000000" pitchFamily="2" charset="2"/>
              <a:buChar char="§"/>
              <a:tabLst>
                <a:tab pos="457200" algn="l"/>
              </a:tabLst>
            </a:pPr>
            <a:r>
              <a:rPr lang="en-US" sz="1600" b="1" kern="0" dirty="0">
                <a:solidFill>
                  <a:srgbClr val="C00000"/>
                </a:solidFill>
                <a:effectLst/>
                <a:latin typeface="Berlin Sans FB Demi" panose="020E0802020502020306" pitchFamily="34" charset="0"/>
                <a:ea typeface="Times New Roman" panose="02020603050405020304" pitchFamily="18" charset="0"/>
                <a:cs typeface="Arial" panose="020B0604020202020204" pitchFamily="34" charset="0"/>
              </a:rPr>
              <a:t>Risk identification</a:t>
            </a:r>
            <a:r>
              <a:rPr lang="en-US" sz="1400" kern="0" dirty="0">
                <a:effectLst/>
                <a:latin typeface="Berlin Sans FB" panose="020E0602020502020306" pitchFamily="34" charset="0"/>
                <a:ea typeface="Times New Roman" panose="02020603050405020304" pitchFamily="18" charset="0"/>
                <a:cs typeface="Arial" panose="020B0604020202020204" pitchFamily="34" charset="0"/>
              </a:rPr>
              <a:t>: </a:t>
            </a:r>
            <a:r>
              <a:rPr lang="en-US" sz="1400" kern="0" dirty="0">
                <a:solidFill>
                  <a:srgbClr val="002060"/>
                </a:solidFill>
                <a:effectLst/>
                <a:latin typeface="Berlin Sans FB" panose="020E0602020502020306" pitchFamily="34" charset="0"/>
                <a:ea typeface="Times New Roman" panose="02020603050405020304" pitchFamily="18" charset="0"/>
                <a:cs typeface="Arial" panose="020B0604020202020204" pitchFamily="34" charset="0"/>
              </a:rPr>
              <a:t>The matrix lists all the potential risks an organization may face, often categorized by business areas, processes, or functions.</a:t>
            </a:r>
            <a:endParaRPr lang="en-US" sz="1200" kern="100" dirty="0">
              <a:solidFill>
                <a:srgbClr val="002060"/>
              </a:solidFill>
              <a:effectLst/>
              <a:latin typeface="Berlin Sans FB" panose="020E0602020502020306" pitchFamily="34" charset="0"/>
              <a:ea typeface="Calibri" panose="020F0502020204030204" pitchFamily="34" charset="0"/>
              <a:cs typeface="Arial" panose="020B0604020202020204" pitchFamily="34" charset="0"/>
            </a:endParaRPr>
          </a:p>
          <a:p>
            <a:pPr marL="800100" lvl="1" indent="-342900">
              <a:lnSpc>
                <a:spcPct val="107000"/>
              </a:lnSpc>
              <a:spcAft>
                <a:spcPts val="800"/>
              </a:spcAft>
              <a:buSzPts val="1000"/>
              <a:buFont typeface="Wingdings" panose="05000000000000000000" pitchFamily="2" charset="2"/>
              <a:buChar char="§"/>
              <a:tabLst>
                <a:tab pos="457200" algn="l"/>
              </a:tabLst>
            </a:pPr>
            <a:r>
              <a:rPr lang="en-US" sz="1600" b="1" kern="0" dirty="0">
                <a:solidFill>
                  <a:srgbClr val="C00000"/>
                </a:solidFill>
                <a:latin typeface="Berlin Sans FB Demi" panose="020E0802020502020306" pitchFamily="34" charset="0"/>
                <a:cs typeface="Arial" panose="020B0604020202020204" pitchFamily="34" charset="0"/>
              </a:rPr>
              <a:t>Risk assessment: </a:t>
            </a:r>
            <a:r>
              <a:rPr lang="en-US" sz="1400" kern="0" dirty="0">
                <a:solidFill>
                  <a:srgbClr val="002060"/>
                </a:solidFill>
                <a:latin typeface="Berlin Sans FB" panose="020E0602020502020306" pitchFamily="34" charset="0"/>
                <a:cs typeface="Arial" panose="020B0604020202020204" pitchFamily="34" charset="0"/>
              </a:rPr>
              <a:t>Each identified risk is assessed based on its likelihood of occurrence and potential impact on the organization. This assessment helps prioritize risks and focus resources on the most critical areas.</a:t>
            </a:r>
          </a:p>
          <a:p>
            <a:pPr marL="800100" lvl="1" indent="-342900">
              <a:lnSpc>
                <a:spcPct val="107000"/>
              </a:lnSpc>
              <a:spcAft>
                <a:spcPts val="800"/>
              </a:spcAft>
              <a:buSzPts val="1000"/>
              <a:buFont typeface="Wingdings" panose="05000000000000000000" pitchFamily="2" charset="2"/>
              <a:buChar char="§"/>
              <a:tabLst>
                <a:tab pos="457200" algn="l"/>
              </a:tabLst>
            </a:pPr>
            <a:r>
              <a:rPr lang="en-US" sz="1600" b="1" kern="0" dirty="0">
                <a:solidFill>
                  <a:srgbClr val="C00000"/>
                </a:solidFill>
                <a:latin typeface="Berlin Sans FB Demi" panose="020E0802020502020306" pitchFamily="34" charset="0"/>
                <a:cs typeface="Arial" panose="020B0604020202020204" pitchFamily="34" charset="0"/>
              </a:rPr>
              <a:t>Control measures: </a:t>
            </a:r>
            <a:r>
              <a:rPr lang="en-US" sz="1400" kern="0" dirty="0">
                <a:solidFill>
                  <a:srgbClr val="002060"/>
                </a:solidFill>
                <a:latin typeface="Berlin Sans FB" panose="020E0602020502020306" pitchFamily="34" charset="0"/>
                <a:cs typeface="Arial" panose="020B0604020202020204" pitchFamily="34" charset="0"/>
              </a:rPr>
              <a:t>For each risk, the matrix outlines the specific control measures implemented to mitigate or reduce the likelihood and impact of the risk. These measures can include policies, procedures, systems, or other mechanisms designed to manage the risk.</a:t>
            </a:r>
          </a:p>
          <a:p>
            <a:pPr marL="800100" lvl="1" indent="-342900">
              <a:lnSpc>
                <a:spcPct val="107000"/>
              </a:lnSpc>
              <a:spcAft>
                <a:spcPts val="800"/>
              </a:spcAft>
              <a:buSzPts val="1000"/>
              <a:buFont typeface="Wingdings" panose="05000000000000000000" pitchFamily="2" charset="2"/>
              <a:buChar char="§"/>
              <a:tabLst>
                <a:tab pos="457200" algn="l"/>
              </a:tabLst>
            </a:pPr>
            <a:r>
              <a:rPr lang="en-US" sz="1600" b="1" kern="0" dirty="0">
                <a:solidFill>
                  <a:srgbClr val="C00000"/>
                </a:solidFill>
                <a:latin typeface="Berlin Sans FB Demi" panose="020E0802020502020306" pitchFamily="34" charset="0"/>
                <a:cs typeface="Arial" panose="020B0604020202020204" pitchFamily="34" charset="0"/>
              </a:rPr>
              <a:t>Control effectiveness</a:t>
            </a:r>
            <a:r>
              <a:rPr lang="en-US" sz="1400" kern="0" dirty="0">
                <a:effectLst/>
                <a:latin typeface="Berlin Sans FB" panose="020E0602020502020306" pitchFamily="34" charset="0"/>
                <a:ea typeface="Times New Roman" panose="02020603050405020304" pitchFamily="18" charset="0"/>
                <a:cs typeface="Arial" panose="020B0604020202020204" pitchFamily="34" charset="0"/>
              </a:rPr>
              <a:t>: </a:t>
            </a:r>
            <a:r>
              <a:rPr lang="en-US" sz="1400" kern="0" dirty="0">
                <a:solidFill>
                  <a:srgbClr val="002060"/>
                </a:solidFill>
                <a:latin typeface="Berlin Sans FB" panose="020E0602020502020306" pitchFamily="34" charset="0"/>
                <a:cs typeface="Arial" panose="020B0604020202020204" pitchFamily="34" charset="0"/>
              </a:rPr>
              <a:t>The RACM evaluates the effectiveness of each control measure, taking into account factors such as the level of compliance, the adequacy of the control design, and the control's ability to detect or prevent the risk from materializing.</a:t>
            </a:r>
          </a:p>
          <a:p>
            <a:pPr marL="800100" lvl="1" indent="-342900">
              <a:lnSpc>
                <a:spcPct val="107000"/>
              </a:lnSpc>
              <a:spcAft>
                <a:spcPts val="800"/>
              </a:spcAft>
              <a:buSzPts val="1000"/>
              <a:buFont typeface="Wingdings" panose="05000000000000000000" pitchFamily="2" charset="2"/>
              <a:buChar char="§"/>
              <a:tabLst>
                <a:tab pos="457200" algn="l"/>
              </a:tabLst>
            </a:pPr>
            <a:r>
              <a:rPr lang="en-US" sz="1600" b="1" kern="0" dirty="0">
                <a:solidFill>
                  <a:srgbClr val="C00000"/>
                </a:solidFill>
                <a:latin typeface="Berlin Sans FB Demi" panose="020E0802020502020306" pitchFamily="34" charset="0"/>
                <a:cs typeface="Arial" panose="020B0604020202020204" pitchFamily="34" charset="0"/>
              </a:rPr>
              <a:t>Action plans: </a:t>
            </a:r>
            <a:r>
              <a:rPr lang="en-US" sz="1400" kern="0" dirty="0">
                <a:solidFill>
                  <a:srgbClr val="002060"/>
                </a:solidFill>
                <a:latin typeface="Berlin Sans FB" panose="020E0602020502020306" pitchFamily="34" charset="0"/>
                <a:cs typeface="Arial" panose="020B0604020202020204" pitchFamily="34" charset="0"/>
              </a:rPr>
              <a:t>Based on the assessment of control effectiveness, the matrix may include action plans for improving risk control measures or addressing identified gaps in the organization's risk management practices.</a:t>
            </a:r>
          </a:p>
        </p:txBody>
      </p:sp>
      <p:sp>
        <p:nvSpPr>
          <p:cNvPr id="5" name="TextBox 4">
            <a:extLst>
              <a:ext uri="{FF2B5EF4-FFF2-40B4-BE49-F238E27FC236}">
                <a16:creationId xmlns:a16="http://schemas.microsoft.com/office/drawing/2014/main" id="{849E90B4-3B8E-FC7E-7F1C-250C6A4961C9}"/>
              </a:ext>
            </a:extLst>
          </p:cNvPr>
          <p:cNvSpPr txBox="1"/>
          <p:nvPr/>
        </p:nvSpPr>
        <p:spPr>
          <a:xfrm>
            <a:off x="2672862" y="4652186"/>
            <a:ext cx="9034584" cy="1228606"/>
          </a:xfrm>
          <a:prstGeom prst="rect">
            <a:avLst/>
          </a:prstGeom>
          <a:noFill/>
        </p:spPr>
        <p:txBody>
          <a:bodyPr wrap="square">
            <a:spAutoFit/>
          </a:bodyPr>
          <a:lstStyle/>
          <a:p>
            <a:pPr marL="285750" indent="-285750">
              <a:lnSpc>
                <a:spcPct val="107000"/>
              </a:lnSpc>
              <a:spcAft>
                <a:spcPts val="800"/>
              </a:spcAft>
              <a:buFont typeface="Wingdings" panose="05000000000000000000" pitchFamily="2" charset="2"/>
              <a:buChar char="§"/>
            </a:pPr>
            <a:r>
              <a:rPr lang="en-US" sz="1600" kern="0" dirty="0">
                <a:solidFill>
                  <a:srgbClr val="0070C0"/>
                </a:solidFill>
                <a:latin typeface="Berlin Sans FB" panose="020E0602020502020306" pitchFamily="34" charset="0"/>
                <a:ea typeface="Times New Roman" panose="02020603050405020304" pitchFamily="18" charset="0"/>
                <a:cs typeface="Arial" panose="020B0604020202020204" pitchFamily="34" charset="0"/>
              </a:rPr>
              <a:t>By creating and maintaining an up-to-date RACM, organizations can gain a comprehensive understanding of their risk landscape and the effectiveness of their risk control measures. </a:t>
            </a:r>
          </a:p>
          <a:p>
            <a:pPr marL="285750" indent="-285750">
              <a:lnSpc>
                <a:spcPct val="107000"/>
              </a:lnSpc>
              <a:spcAft>
                <a:spcPts val="800"/>
              </a:spcAft>
              <a:buFont typeface="Wingdings" panose="05000000000000000000" pitchFamily="2" charset="2"/>
              <a:buChar char="§"/>
            </a:pPr>
            <a:r>
              <a:rPr lang="en-US" sz="1600" kern="0" dirty="0">
                <a:solidFill>
                  <a:srgbClr val="0070C0"/>
                </a:solidFill>
                <a:latin typeface="Berlin Sans FB" panose="020E0602020502020306" pitchFamily="34" charset="0"/>
                <a:ea typeface="Times New Roman" panose="02020603050405020304" pitchFamily="18" charset="0"/>
                <a:cs typeface="Arial" panose="020B0604020202020204" pitchFamily="34" charset="0"/>
              </a:rPr>
              <a:t>This information can inform strategic decision-making, guide resource allocation, and support continuous improvement in risk management practices. </a:t>
            </a:r>
            <a:endParaRPr lang="en-US" sz="1400" kern="100" dirty="0">
              <a:solidFill>
                <a:srgbClr val="0070C0"/>
              </a:solidFill>
              <a:latin typeface="Berlin Sans FB" panose="020E0602020502020306" pitchFamily="34" charset="0"/>
              <a:ea typeface="Calibri" panose="020F0502020204030204" pitchFamily="34" charset="0"/>
              <a:cs typeface="Arial" panose="020B0604020202020204" pitchFamily="34" charset="0"/>
            </a:endParaRPr>
          </a:p>
        </p:txBody>
      </p:sp>
    </p:spTree>
    <p:extLst>
      <p:ext uri="{BB962C8B-B14F-4D97-AF65-F5344CB8AC3E}">
        <p14:creationId xmlns:p14="http://schemas.microsoft.com/office/powerpoint/2010/main" val="101893024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484055C-951C-3516-DC56-45E8DE2D2096}"/>
              </a:ext>
            </a:extLst>
          </p:cNvPr>
          <p:cNvSpPr txBox="1"/>
          <p:nvPr/>
        </p:nvSpPr>
        <p:spPr>
          <a:xfrm>
            <a:off x="1475874" y="716757"/>
            <a:ext cx="6713621" cy="4739759"/>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1200"/>
              </a:spcAft>
              <a:buClrTx/>
              <a:buSzTx/>
              <a:buFontTx/>
              <a:buNone/>
              <a:tabLst/>
              <a:defRPr/>
            </a:pPr>
            <a:r>
              <a:rPr kumimoji="0" lang="en-US" sz="2800" b="0" i="0" u="none" strike="noStrike" kern="1200" cap="none" spc="0" normalizeH="0" baseline="0" noProof="0" dirty="0">
                <a:ln>
                  <a:noFill/>
                </a:ln>
                <a:solidFill>
                  <a:srgbClr val="C00000"/>
                </a:solidFill>
                <a:effectLst/>
                <a:uLnTx/>
                <a:uFillTx/>
                <a:latin typeface="Berlin Sans FB Demi" panose="020E0802020502020306" pitchFamily="34" charset="0"/>
                <a:ea typeface="+mn-ea"/>
                <a:cs typeface="+mn-cs"/>
              </a:rPr>
              <a:t>Control Design, Selection and Analysis</a:t>
            </a:r>
            <a:endParaRPr kumimoji="0" lang="en-US" sz="11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endParaRPr>
          </a:p>
          <a:p>
            <a:pPr marL="800100" marR="0" lvl="1" indent="-342900" algn="l" defTabSz="914400" rtl="0" eaLnBrk="1" fontAlgn="auto" latinLnBrk="0" hangingPunct="1">
              <a:lnSpc>
                <a:spcPct val="100000"/>
              </a:lnSpc>
              <a:spcBef>
                <a:spcPts val="0"/>
              </a:spcBef>
              <a:spcAft>
                <a:spcPts val="1200"/>
              </a:spcAft>
              <a:buClrTx/>
              <a:buSzTx/>
              <a:buFont typeface="+mj-lt"/>
              <a:buAutoNum type="arabicPeriod"/>
              <a:tabLst/>
              <a:defRPr/>
            </a:pPr>
            <a:r>
              <a:rPr kumimoji="0" lang="en-US" sz="1600" b="0" i="0" u="none" strike="noStrike" kern="1200" cap="none" spc="0" normalizeH="0" baseline="0" noProof="0" dirty="0">
                <a:ln>
                  <a:noFill/>
                </a:ln>
                <a:solidFill>
                  <a:srgbClr val="C00000"/>
                </a:solidFill>
                <a:effectLst>
                  <a:outerShdw blurRad="38100" dist="38100" dir="2700000" algn="tl">
                    <a:srgbClr val="000000">
                      <a:alpha val="43137"/>
                    </a:srgbClr>
                  </a:outerShdw>
                </a:effectLst>
                <a:uLnTx/>
                <a:uFillTx/>
                <a:latin typeface="Berlin Sans FB" panose="020E0602020502020306" pitchFamily="34" charset="0"/>
                <a:ea typeface="+mn-ea"/>
                <a:cs typeface="+mn-cs"/>
              </a:rPr>
              <a:t>When designing controls, the first step is to be aware of the current state of the control environment. </a:t>
            </a:r>
          </a:p>
          <a:p>
            <a:pPr marL="800100" marR="0" lvl="1" indent="-342900" algn="l" defTabSz="914400" rtl="0" eaLnBrk="1" fontAlgn="auto" latinLnBrk="0" hangingPunct="1">
              <a:lnSpc>
                <a:spcPct val="100000"/>
              </a:lnSpc>
              <a:spcBef>
                <a:spcPts val="0"/>
              </a:spcBef>
              <a:spcAft>
                <a:spcPts val="1200"/>
              </a:spcAft>
              <a:buClrTx/>
              <a:buSzTx/>
              <a:buFont typeface="+mj-lt"/>
              <a:buAutoNum type="arabicPeriod"/>
              <a:tabLst/>
              <a:defRPr/>
            </a:pPr>
            <a:r>
              <a:rPr kumimoji="0" lang="en-US" sz="1600" b="0" i="0" u="none" strike="noStrike" kern="1200" cap="none" spc="0" normalizeH="0" baseline="0" noProof="0" dirty="0">
                <a:ln>
                  <a:noFill/>
                </a:ln>
                <a:solidFill>
                  <a:srgbClr val="7030A0"/>
                </a:solidFill>
                <a:effectLst>
                  <a:outerShdw blurRad="38100" dist="38100" dir="2700000" algn="tl">
                    <a:srgbClr val="000000">
                      <a:alpha val="43137"/>
                    </a:srgbClr>
                  </a:outerShdw>
                </a:effectLst>
                <a:uLnTx/>
                <a:uFillTx/>
                <a:latin typeface="Berlin Sans FB" panose="020E0602020502020306" pitchFamily="34" charset="0"/>
                <a:ea typeface="+mn-ea"/>
                <a:cs typeface="+mn-cs"/>
              </a:rPr>
              <a:t>The risk practitioner determines the current state of IT risk using the results of control testing activities and incident management programs.</a:t>
            </a:r>
          </a:p>
          <a:p>
            <a:pPr marL="800100" marR="0" lvl="1" indent="-342900" algn="l" defTabSz="914400" rtl="0" eaLnBrk="1" fontAlgn="auto" latinLnBrk="0" hangingPunct="1">
              <a:lnSpc>
                <a:spcPct val="100000"/>
              </a:lnSpc>
              <a:spcBef>
                <a:spcPts val="0"/>
              </a:spcBef>
              <a:spcAft>
                <a:spcPts val="1200"/>
              </a:spcAft>
              <a:buClrTx/>
              <a:buSzTx/>
              <a:buFont typeface="+mj-lt"/>
              <a:buAutoNum type="arabicPeriod"/>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 A current-state assessment therefore refers to the condition of the program at a point in time and should be regarded as accurate only at the time the risk state is measured, However, it does accurately reflect the current state, and regular reviews may be used to determine the state over a defined time frame.</a:t>
            </a:r>
          </a:p>
          <a:p>
            <a:pPr marL="800100" marR="0" lvl="1" indent="-342900" algn="l" defTabSz="914400" rtl="0" eaLnBrk="1" fontAlgn="auto" latinLnBrk="0" hangingPunct="1">
              <a:lnSpc>
                <a:spcPct val="100000"/>
              </a:lnSpc>
              <a:spcBef>
                <a:spcPts val="0"/>
              </a:spcBef>
              <a:spcAft>
                <a:spcPts val="1200"/>
              </a:spcAft>
              <a:buClrTx/>
              <a:buSzTx/>
              <a:buFont typeface="+mj-lt"/>
              <a:buAutoNum type="arabicPeriod"/>
              <a:tabLst/>
              <a:defRPr/>
            </a:pPr>
            <a:r>
              <a:rPr kumimoji="0" lang="en-US" sz="1600" b="0" i="0" u="none" strike="noStrike" kern="1200" cap="none" spc="0" normalizeH="0" baseline="0" noProof="0" dirty="0">
                <a:ln>
                  <a:noFill/>
                </a:ln>
                <a:solidFill>
                  <a:srgbClr val="0070C0"/>
                </a:solidFill>
                <a:effectLst>
                  <a:outerShdw blurRad="38100" dist="38100" dir="2700000" algn="tl">
                    <a:srgbClr val="000000">
                      <a:alpha val="43137"/>
                    </a:srgbClr>
                  </a:outerShdw>
                </a:effectLst>
                <a:uLnTx/>
                <a:uFillTx/>
                <a:latin typeface="Berlin Sans FB" panose="020E0602020502020306" pitchFamily="34" charset="0"/>
                <a:ea typeface="+mn-ea"/>
                <a:cs typeface="+mn-cs"/>
              </a:rPr>
              <a:t>Current risk levels are essential because they provide the reference point to understand the gap between the current and desired state.</a:t>
            </a:r>
          </a:p>
          <a:p>
            <a:pPr marL="800100" marR="0" lvl="1" indent="-342900" algn="l" defTabSz="914400" rtl="0" eaLnBrk="1" fontAlgn="auto" latinLnBrk="0" hangingPunct="1">
              <a:lnSpc>
                <a:spcPct val="100000"/>
              </a:lnSpc>
              <a:spcBef>
                <a:spcPts val="0"/>
              </a:spcBef>
              <a:spcAft>
                <a:spcPts val="1200"/>
              </a:spcAft>
              <a:buClrTx/>
              <a:buSzTx/>
              <a:buFont typeface="+mj-lt"/>
              <a:buAutoNum type="arabicPeriod"/>
              <a:tabLst/>
              <a:defRPr/>
            </a:pPr>
            <a:r>
              <a:rPr kumimoji="0" lang="en-US" sz="1600" b="0" i="0" u="none" strike="noStrike" kern="1200" cap="none" spc="0" normalizeH="0" baseline="0" noProof="0" dirty="0">
                <a:ln>
                  <a:noFill/>
                </a:ln>
                <a:solidFill>
                  <a:srgbClr val="0070C0"/>
                </a:solidFill>
                <a:effectLst/>
                <a:uLnTx/>
                <a:uFillTx/>
                <a:latin typeface="Berlin Sans FB" panose="020E0602020502020306" pitchFamily="34" charset="0"/>
                <a:ea typeface="+mn-ea"/>
                <a:cs typeface="+mn-cs"/>
              </a:rPr>
              <a:t> </a:t>
            </a:r>
            <a:r>
              <a:rPr kumimoji="0" lang="en-US" sz="1600" b="0" i="0" u="none" strike="noStrike" kern="1200" cap="none" spc="0" normalizeH="0" baseline="0" noProof="0" dirty="0">
                <a:ln>
                  <a:noFill/>
                </a:ln>
                <a:solidFill>
                  <a:srgbClr val="0070C0"/>
                </a:solidFill>
                <a:effectLst>
                  <a:outerShdw blurRad="38100" dist="38100" dir="2700000" algn="tl">
                    <a:srgbClr val="000000">
                      <a:alpha val="43137"/>
                    </a:srgbClr>
                  </a:outerShdw>
                </a:effectLst>
                <a:uLnTx/>
                <a:uFillTx/>
                <a:latin typeface="Berlin Sans FB" panose="020E0602020502020306" pitchFamily="34" charset="0"/>
                <a:ea typeface="+mn-ea"/>
                <a:cs typeface="+mn-cs"/>
              </a:rPr>
              <a:t>This gap should be investigated to determine its reason and to identify workable solutions that may address the disparity. </a:t>
            </a:r>
          </a:p>
        </p:txBody>
      </p:sp>
    </p:spTree>
    <p:extLst>
      <p:ext uri="{BB962C8B-B14F-4D97-AF65-F5344CB8AC3E}">
        <p14:creationId xmlns:p14="http://schemas.microsoft.com/office/powerpoint/2010/main" val="106770149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4FCDCF8-B8DB-9F2E-88D4-282EDEA88833}"/>
              </a:ext>
            </a:extLst>
          </p:cNvPr>
          <p:cNvSpPr txBox="1"/>
          <p:nvPr/>
        </p:nvSpPr>
        <p:spPr>
          <a:xfrm>
            <a:off x="1010653" y="868575"/>
            <a:ext cx="6994358" cy="4093428"/>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r>
              <a:rPr kumimoji="0" lang="en-US" sz="1800" b="0" i="0" u="none" strike="noStrike" kern="1200" cap="none" spc="0" normalizeH="0" baseline="0" noProof="0" dirty="0">
                <a:ln>
                  <a:noFill/>
                </a:ln>
                <a:solidFill>
                  <a:srgbClr val="7030A0"/>
                </a:solidFill>
                <a:effectLst>
                  <a:outerShdw blurRad="38100" dist="38100" dir="2700000" algn="tl">
                    <a:srgbClr val="000000">
                      <a:alpha val="43137"/>
                    </a:srgbClr>
                  </a:outerShdw>
                </a:effectLst>
                <a:uLnTx/>
                <a:uFillTx/>
                <a:latin typeface="Berlin Sans FB" panose="020E0602020502020306" pitchFamily="34" charset="0"/>
                <a:ea typeface="+mn-ea"/>
                <a:cs typeface="+mn-cs"/>
              </a:rPr>
              <a:t>Some tools that can be used by the risk practitioner to determine the current state of IT risk include: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endParaRPr>
          </a:p>
          <a:p>
            <a:pPr marL="1257300" marR="0" lvl="2" indent="-342900" algn="l" defTabSz="914400" rtl="0" eaLnBrk="1" fontAlgn="auto" latinLnBrk="0" hangingPunct="1">
              <a:lnSpc>
                <a:spcPct val="100000"/>
              </a:lnSpc>
              <a:spcBef>
                <a:spcPts val="0"/>
              </a:spcBef>
              <a:spcAft>
                <a:spcPts val="0"/>
              </a:spcAft>
              <a:buClrTx/>
              <a:buSzTx/>
              <a:buFont typeface="+mj-lt"/>
              <a:buAutoNum type="arabicPeriod"/>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Audits</a:t>
            </a:r>
          </a:p>
          <a:p>
            <a:pPr marL="1257300" marR="0" lvl="2" indent="-342900" algn="l" defTabSz="914400" rtl="0" eaLnBrk="1" fontAlgn="auto" latinLnBrk="0" hangingPunct="1">
              <a:lnSpc>
                <a:spcPct val="100000"/>
              </a:lnSpc>
              <a:spcBef>
                <a:spcPts val="0"/>
              </a:spcBef>
              <a:spcAft>
                <a:spcPts val="0"/>
              </a:spcAft>
              <a:buClrTx/>
              <a:buSzTx/>
              <a:buFont typeface="+mj-lt"/>
              <a:buAutoNum type="arabicPeriod"/>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CMMs</a:t>
            </a:r>
          </a:p>
          <a:p>
            <a:pPr marL="1257300" marR="0" lvl="2" indent="-342900" algn="l" defTabSz="914400" rtl="0" eaLnBrk="1" fontAlgn="auto" latinLnBrk="0" hangingPunct="1">
              <a:lnSpc>
                <a:spcPct val="100000"/>
              </a:lnSpc>
              <a:spcBef>
                <a:spcPts val="0"/>
              </a:spcBef>
              <a:spcAft>
                <a:spcPts val="0"/>
              </a:spcAft>
              <a:buClrTx/>
              <a:buSzTx/>
              <a:buFont typeface="+mj-lt"/>
              <a:buAutoNum type="arabicPeriod"/>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Control tests conducted by the control owner or custodian</a:t>
            </a:r>
          </a:p>
          <a:p>
            <a:pPr marL="1257300" marR="0" lvl="2" indent="-342900" algn="l" defTabSz="914400" rtl="0" eaLnBrk="1" fontAlgn="auto" latinLnBrk="0" hangingPunct="1">
              <a:lnSpc>
                <a:spcPct val="100000"/>
              </a:lnSpc>
              <a:spcBef>
                <a:spcPts val="0"/>
              </a:spcBef>
              <a:spcAft>
                <a:spcPts val="0"/>
              </a:spcAft>
              <a:buClrTx/>
              <a:buSzTx/>
              <a:buFont typeface="+mj-lt"/>
              <a:buAutoNum type="arabicPeriod"/>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 Incident reports</a:t>
            </a:r>
          </a:p>
          <a:p>
            <a:pPr marL="1257300" marR="0" lvl="2" indent="-342900" algn="l" defTabSz="914400" rtl="0" eaLnBrk="1" fontAlgn="auto" latinLnBrk="0" hangingPunct="1">
              <a:lnSpc>
                <a:spcPct val="100000"/>
              </a:lnSpc>
              <a:spcBef>
                <a:spcPts val="0"/>
              </a:spcBef>
              <a:spcAft>
                <a:spcPts val="0"/>
              </a:spcAft>
              <a:buClrTx/>
              <a:buSzTx/>
              <a:buFont typeface="+mj-lt"/>
              <a:buAutoNum type="arabicPeriod"/>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IT operations and management evaluation</a:t>
            </a:r>
          </a:p>
          <a:p>
            <a:pPr marL="1257300" marR="0" lvl="2" indent="-342900" algn="l" defTabSz="914400" rtl="0" eaLnBrk="1" fontAlgn="auto" latinLnBrk="0" hangingPunct="1">
              <a:lnSpc>
                <a:spcPct val="100000"/>
              </a:lnSpc>
              <a:spcBef>
                <a:spcPts val="0"/>
              </a:spcBef>
              <a:spcAft>
                <a:spcPts val="0"/>
              </a:spcAft>
              <a:buClrTx/>
              <a:buSzTx/>
              <a:buFont typeface="+mj-lt"/>
              <a:buAutoNum type="arabicPeriod"/>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Enterprise architecture assessment</a:t>
            </a:r>
          </a:p>
          <a:p>
            <a:pPr marL="1257300" marR="0" lvl="2" indent="-342900" algn="l" defTabSz="914400" rtl="0" eaLnBrk="1" fontAlgn="auto" latinLnBrk="0" hangingPunct="1">
              <a:lnSpc>
                <a:spcPct val="100000"/>
              </a:lnSpc>
              <a:spcBef>
                <a:spcPts val="0"/>
              </a:spcBef>
              <a:spcAft>
                <a:spcPts val="0"/>
              </a:spcAft>
              <a:buClrTx/>
              <a:buSzTx/>
              <a:buFont typeface="+mj-lt"/>
              <a:buAutoNum type="arabicPeriod"/>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Logs and automated monitoring</a:t>
            </a:r>
          </a:p>
          <a:p>
            <a:pPr marL="1257300" marR="0" lvl="2" indent="-342900" algn="l" defTabSz="914400" rtl="0" eaLnBrk="1" fontAlgn="auto" latinLnBrk="0" hangingPunct="1">
              <a:lnSpc>
                <a:spcPct val="100000"/>
              </a:lnSpc>
              <a:spcBef>
                <a:spcPts val="0"/>
              </a:spcBef>
              <a:spcAft>
                <a:spcPts val="0"/>
              </a:spcAft>
              <a:buClrTx/>
              <a:buSzTx/>
              <a:buFont typeface="+mj-lt"/>
              <a:buAutoNum type="arabicPeriod"/>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Media reports of new and emerging vulnerabilities and threats</a:t>
            </a:r>
          </a:p>
          <a:p>
            <a:pPr marL="1257300" marR="0" lvl="2" indent="-342900" algn="l" defTabSz="914400" rtl="0" eaLnBrk="1" fontAlgn="auto" latinLnBrk="0" hangingPunct="1">
              <a:lnSpc>
                <a:spcPct val="100000"/>
              </a:lnSpc>
              <a:spcBef>
                <a:spcPts val="0"/>
              </a:spcBef>
              <a:spcAft>
                <a:spcPts val="0"/>
              </a:spcAft>
              <a:buClrTx/>
              <a:buSzTx/>
              <a:buFont typeface="+mj-lt"/>
              <a:buAutoNum type="arabicPeriod"/>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Direct observation and self-assessments</a:t>
            </a:r>
          </a:p>
          <a:p>
            <a:pPr marL="1257300" marR="0" lvl="2" indent="-342900" algn="l" defTabSz="914400" rtl="0" eaLnBrk="1" fontAlgn="auto" latinLnBrk="0" hangingPunct="1">
              <a:lnSpc>
                <a:spcPct val="100000"/>
              </a:lnSpc>
              <a:spcBef>
                <a:spcPts val="0"/>
              </a:spcBef>
              <a:spcAft>
                <a:spcPts val="0"/>
              </a:spcAft>
              <a:buClrTx/>
              <a:buSzTx/>
              <a:buFont typeface="+mj-lt"/>
              <a:buAutoNum type="arabicPeriod"/>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Third-party assurance</a:t>
            </a:r>
          </a:p>
          <a:p>
            <a:pPr marL="1257300" marR="0" lvl="2" indent="-342900" algn="l" defTabSz="914400" rtl="0" eaLnBrk="1" fontAlgn="auto" latinLnBrk="0" hangingPunct="1">
              <a:lnSpc>
                <a:spcPct val="100000"/>
              </a:lnSpc>
              <a:spcBef>
                <a:spcPts val="0"/>
              </a:spcBef>
              <a:spcAft>
                <a:spcPts val="0"/>
              </a:spcAft>
              <a:buClrTx/>
              <a:buSzTx/>
              <a:buFont typeface="+mj-lt"/>
              <a:buAutoNum type="arabicPeriod"/>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User feedback</a:t>
            </a:r>
          </a:p>
          <a:p>
            <a:pPr marL="1257300" marR="0" lvl="2" indent="-342900" algn="l" defTabSz="914400" rtl="0" eaLnBrk="1" fontAlgn="auto" latinLnBrk="0" hangingPunct="1">
              <a:lnSpc>
                <a:spcPct val="100000"/>
              </a:lnSpc>
              <a:spcBef>
                <a:spcPts val="0"/>
              </a:spcBef>
              <a:spcAft>
                <a:spcPts val="0"/>
              </a:spcAft>
              <a:buClrTx/>
              <a:buSzTx/>
              <a:buFont typeface="+mj-lt"/>
              <a:buAutoNum type="arabicPeriod"/>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Vendor reports</a:t>
            </a:r>
          </a:p>
          <a:p>
            <a:pPr marL="1257300" marR="0" lvl="2" indent="-342900" algn="l" defTabSz="914400" rtl="0" eaLnBrk="1" fontAlgn="auto" latinLnBrk="0" hangingPunct="1">
              <a:lnSpc>
                <a:spcPct val="100000"/>
              </a:lnSpc>
              <a:spcBef>
                <a:spcPts val="0"/>
              </a:spcBef>
              <a:spcAft>
                <a:spcPts val="0"/>
              </a:spcAft>
              <a:buClrTx/>
              <a:buSzTx/>
              <a:buFont typeface="+mj-lt"/>
              <a:buAutoNum type="arabicPeriod"/>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 Vulnerability assessments and penetration tests</a:t>
            </a:r>
          </a:p>
        </p:txBody>
      </p:sp>
    </p:spTree>
    <p:extLst>
      <p:ext uri="{BB962C8B-B14F-4D97-AF65-F5344CB8AC3E}">
        <p14:creationId xmlns:p14="http://schemas.microsoft.com/office/powerpoint/2010/main" val="333604639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16939" y="609676"/>
            <a:ext cx="8387715" cy="697230"/>
          </a:xfrm>
          <a:prstGeom prst="rect">
            <a:avLst/>
          </a:prstGeom>
        </p:spPr>
        <p:txBody>
          <a:bodyPr vert="horz" wrap="square" lIns="0" tIns="13335" rIns="0" bIns="0" rtlCol="0">
            <a:spAutoFit/>
          </a:bodyPr>
          <a:lstStyle/>
          <a:p>
            <a:pPr marL="12700">
              <a:lnSpc>
                <a:spcPct val="100000"/>
              </a:lnSpc>
              <a:spcBef>
                <a:spcPts val="105"/>
              </a:spcBef>
              <a:tabLst>
                <a:tab pos="8374380" algn="l"/>
              </a:tabLst>
            </a:pPr>
            <a:r>
              <a:rPr sz="4400" u="heavy" spc="-30" dirty="0">
                <a:solidFill>
                  <a:srgbClr val="074891"/>
                </a:solidFill>
                <a:uFill>
                  <a:solidFill>
                    <a:srgbClr val="000000"/>
                  </a:solidFill>
                </a:uFill>
                <a:latin typeface="Calibri Light"/>
                <a:cs typeface="Calibri Light"/>
              </a:rPr>
              <a:t>Business</a:t>
            </a:r>
            <a:r>
              <a:rPr sz="4400" u="heavy" spc="-95" dirty="0">
                <a:solidFill>
                  <a:srgbClr val="074891"/>
                </a:solidFill>
                <a:uFill>
                  <a:solidFill>
                    <a:srgbClr val="000000"/>
                  </a:solidFill>
                </a:uFill>
                <a:latin typeface="Calibri Light"/>
                <a:cs typeface="Calibri Light"/>
              </a:rPr>
              <a:t> </a:t>
            </a:r>
            <a:r>
              <a:rPr sz="4400" u="heavy" spc="-25" dirty="0">
                <a:solidFill>
                  <a:srgbClr val="074891"/>
                </a:solidFill>
                <a:uFill>
                  <a:solidFill>
                    <a:srgbClr val="000000"/>
                  </a:solidFill>
                </a:uFill>
                <a:latin typeface="Calibri Light"/>
                <a:cs typeface="Calibri Light"/>
              </a:rPr>
              <a:t>Cases</a:t>
            </a:r>
            <a:r>
              <a:rPr sz="4400" u="heavy" spc="-95" dirty="0">
                <a:solidFill>
                  <a:srgbClr val="074891"/>
                </a:solidFill>
                <a:uFill>
                  <a:solidFill>
                    <a:srgbClr val="000000"/>
                  </a:solidFill>
                </a:uFill>
                <a:latin typeface="Calibri Light"/>
                <a:cs typeface="Calibri Light"/>
              </a:rPr>
              <a:t> </a:t>
            </a:r>
            <a:r>
              <a:rPr sz="4400" u="heavy" spc="-50" dirty="0">
                <a:solidFill>
                  <a:srgbClr val="074891"/>
                </a:solidFill>
                <a:uFill>
                  <a:solidFill>
                    <a:srgbClr val="000000"/>
                  </a:solidFill>
                </a:uFill>
                <a:latin typeface="Calibri Light"/>
                <a:cs typeface="Calibri Light"/>
              </a:rPr>
              <a:t>for</a:t>
            </a:r>
            <a:r>
              <a:rPr sz="4400" u="heavy" spc="-105" dirty="0">
                <a:solidFill>
                  <a:srgbClr val="074891"/>
                </a:solidFill>
                <a:uFill>
                  <a:solidFill>
                    <a:srgbClr val="000000"/>
                  </a:solidFill>
                </a:uFill>
                <a:latin typeface="Calibri Light"/>
                <a:cs typeface="Calibri Light"/>
              </a:rPr>
              <a:t> </a:t>
            </a:r>
            <a:r>
              <a:rPr sz="4400" u="heavy" spc="-45" dirty="0">
                <a:solidFill>
                  <a:srgbClr val="074891"/>
                </a:solidFill>
                <a:uFill>
                  <a:solidFill>
                    <a:srgbClr val="000000"/>
                  </a:solidFill>
                </a:uFill>
                <a:latin typeface="Calibri Light"/>
                <a:cs typeface="Calibri Light"/>
              </a:rPr>
              <a:t>Controls	</a:t>
            </a:r>
            <a:endParaRPr sz="4400">
              <a:latin typeface="Calibri Light"/>
              <a:cs typeface="Calibri Light"/>
            </a:endParaRPr>
          </a:p>
        </p:txBody>
      </p:sp>
      <p:sp>
        <p:nvSpPr>
          <p:cNvPr id="3" name="object 3"/>
          <p:cNvSpPr txBox="1"/>
          <p:nvPr/>
        </p:nvSpPr>
        <p:spPr>
          <a:xfrm>
            <a:off x="2331524" y="1863832"/>
            <a:ext cx="7109460" cy="4096058"/>
          </a:xfrm>
          <a:prstGeom prst="rect">
            <a:avLst/>
          </a:prstGeom>
        </p:spPr>
        <p:txBody>
          <a:bodyPr vert="horz" wrap="square" lIns="0" tIns="54610" rIns="0" bIns="0" rtlCol="0">
            <a:spAutoFit/>
          </a:bodyPr>
          <a:lstStyle/>
          <a:p>
            <a:pPr marL="297815" marR="238125" indent="-285750">
              <a:lnSpc>
                <a:spcPct val="90000"/>
              </a:lnSpc>
              <a:spcBef>
                <a:spcPts val="600"/>
              </a:spcBef>
              <a:spcAft>
                <a:spcPts val="600"/>
              </a:spcAft>
              <a:buFont typeface="Wingdings" panose="05000000000000000000" pitchFamily="2" charset="2"/>
              <a:buChar char="§"/>
              <a:tabLst>
                <a:tab pos="241935" algn="l"/>
              </a:tabLst>
            </a:pPr>
            <a:r>
              <a:rPr spc="-10" dirty="0">
                <a:solidFill>
                  <a:srgbClr val="002060"/>
                </a:solidFill>
                <a:latin typeface="Berlin Sans FB" panose="020E0602020502020306" pitchFamily="34" charset="0"/>
                <a:cs typeface="Calibri"/>
              </a:rPr>
              <a:t>Making business cases for IT controls may be necessary from time to  time to </a:t>
            </a:r>
            <a:r>
              <a:rPr spc="-10" dirty="0">
                <a:solidFill>
                  <a:srgbClr val="0070C0"/>
                </a:solidFill>
                <a:latin typeface="Berlin Sans FB" panose="020E0602020502020306" pitchFamily="34" charset="0"/>
                <a:cs typeface="Calibri"/>
              </a:rPr>
              <a:t>highlight these requirements or justify the expense and  effectiveness of the control.</a:t>
            </a:r>
          </a:p>
          <a:p>
            <a:pPr marL="354965" marR="548640" lvl="0" indent="-342900" algn="l" defTabSz="914400" rtl="0" eaLnBrk="1" fontAlgn="auto" latinLnBrk="0" hangingPunct="1">
              <a:lnSpc>
                <a:spcPct val="70000"/>
              </a:lnSpc>
              <a:spcBef>
                <a:spcPts val="600"/>
              </a:spcBef>
              <a:spcAft>
                <a:spcPts val="600"/>
              </a:spcAft>
              <a:buClrTx/>
              <a:buSzTx/>
              <a:buFont typeface="Wingdings" panose="05000000000000000000" pitchFamily="2" charset="2"/>
              <a:buChar char="§"/>
              <a:tabLst>
                <a:tab pos="241935" algn="l"/>
              </a:tabLst>
              <a:defRPr/>
            </a:pPr>
            <a:r>
              <a:rPr kumimoji="0" lang="en-US"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Calibri"/>
              </a:rPr>
              <a:t>Including the </a:t>
            </a:r>
            <a:r>
              <a:rPr kumimoji="0" lang="en-US" b="0" i="0" u="none" strike="noStrike" kern="1200" cap="none" spc="-5" normalizeH="0" baseline="0" noProof="0" dirty="0">
                <a:ln>
                  <a:noFill/>
                </a:ln>
                <a:solidFill>
                  <a:srgbClr val="002060"/>
                </a:solidFill>
                <a:effectLst/>
                <a:uLnTx/>
                <a:uFillTx/>
                <a:latin typeface="Berlin Sans FB" panose="020E0602020502020306" pitchFamily="34" charset="0"/>
                <a:ea typeface="+mn-ea"/>
                <a:cs typeface="Calibri"/>
              </a:rPr>
              <a:t>security </a:t>
            </a:r>
            <a:r>
              <a:rPr kumimoji="0" lang="en-US" b="0" i="0" u="none" strike="noStrike" kern="1200" cap="none" spc="-10" normalizeH="0" baseline="0" noProof="0" dirty="0">
                <a:ln>
                  <a:noFill/>
                </a:ln>
                <a:solidFill>
                  <a:srgbClr val="002060"/>
                </a:solidFill>
                <a:effectLst/>
                <a:uLnTx/>
                <a:uFillTx/>
                <a:latin typeface="Berlin Sans FB" panose="020E0602020502020306" pitchFamily="34" charset="0"/>
                <a:ea typeface="+mn-ea"/>
                <a:cs typeface="Calibri"/>
              </a:rPr>
              <a:t>goals that </a:t>
            </a:r>
            <a:r>
              <a:rPr kumimoji="0" lang="en-US"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Calibri"/>
              </a:rPr>
              <a:t>a </a:t>
            </a:r>
            <a:r>
              <a:rPr kumimoji="0" lang="en-US" b="0" i="0" u="none" strike="noStrike" kern="1200" cap="none" spc="-15" normalizeH="0" baseline="0" noProof="0" dirty="0">
                <a:ln>
                  <a:noFill/>
                </a:ln>
                <a:solidFill>
                  <a:srgbClr val="002060"/>
                </a:solidFill>
                <a:effectLst/>
                <a:uLnTx/>
                <a:uFillTx/>
                <a:latin typeface="Berlin Sans FB" panose="020E0602020502020306" pitchFamily="34" charset="0"/>
                <a:ea typeface="+mn-ea"/>
                <a:cs typeface="Calibri"/>
              </a:rPr>
              <a:t>control </a:t>
            </a:r>
            <a:r>
              <a:rPr kumimoji="0" lang="en-US" b="0" i="0" u="none" strike="noStrike" kern="1200" cap="none" spc="-5" normalizeH="0" baseline="0" noProof="0" dirty="0">
                <a:ln>
                  <a:noFill/>
                </a:ln>
                <a:solidFill>
                  <a:srgbClr val="002060"/>
                </a:solidFill>
                <a:effectLst/>
                <a:uLnTx/>
                <a:uFillTx/>
                <a:latin typeface="Berlin Sans FB" panose="020E0602020502020306" pitchFamily="34" charset="0"/>
                <a:ea typeface="+mn-ea"/>
                <a:cs typeface="Calibri"/>
              </a:rPr>
              <a:t>supports, </a:t>
            </a:r>
            <a:r>
              <a:rPr kumimoji="0" lang="en-US"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Calibri"/>
              </a:rPr>
              <a:t>as </a:t>
            </a:r>
            <a:r>
              <a:rPr kumimoji="0" lang="en-US" b="0" i="0" u="none" strike="noStrike" kern="1200" cap="none" spc="-10" normalizeH="0" baseline="0" noProof="0" dirty="0">
                <a:ln>
                  <a:noFill/>
                </a:ln>
                <a:solidFill>
                  <a:srgbClr val="002060"/>
                </a:solidFill>
                <a:effectLst/>
                <a:uLnTx/>
                <a:uFillTx/>
                <a:latin typeface="Berlin Sans FB" panose="020E0602020502020306" pitchFamily="34" charset="0"/>
                <a:ea typeface="+mn-ea"/>
                <a:cs typeface="Calibri"/>
              </a:rPr>
              <a:t>well </a:t>
            </a:r>
            <a:r>
              <a:rPr kumimoji="0" lang="en-US"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Calibri"/>
              </a:rPr>
              <a:t>as the </a:t>
            </a:r>
            <a:r>
              <a:rPr kumimoji="0" lang="en-US" b="0" i="0" u="none" strike="noStrike" kern="1200" cap="none" spc="-5" normalizeH="0" baseline="0" noProof="0" dirty="0">
                <a:ln>
                  <a:noFill/>
                </a:ln>
                <a:solidFill>
                  <a:srgbClr val="002060"/>
                </a:solidFill>
                <a:effectLst/>
                <a:uLnTx/>
                <a:uFillTx/>
                <a:latin typeface="Berlin Sans FB" panose="020E0602020502020306" pitchFamily="34" charset="0"/>
                <a:ea typeface="+mn-ea"/>
                <a:cs typeface="Calibri"/>
              </a:rPr>
              <a:t>risks </a:t>
            </a:r>
            <a:r>
              <a:rPr kumimoji="0" lang="en-US" b="0" i="0" u="none" strike="noStrike" kern="1200" cap="none" spc="-10" normalizeH="0" baseline="0" noProof="0" dirty="0">
                <a:ln>
                  <a:noFill/>
                </a:ln>
                <a:solidFill>
                  <a:srgbClr val="002060"/>
                </a:solidFill>
                <a:effectLst/>
                <a:uLnTx/>
                <a:uFillTx/>
                <a:latin typeface="Berlin Sans FB" panose="020E0602020502020306" pitchFamily="34" charset="0"/>
                <a:ea typeface="+mn-ea"/>
                <a:cs typeface="Calibri"/>
              </a:rPr>
              <a:t>that </a:t>
            </a:r>
            <a:r>
              <a:rPr kumimoji="0" lang="en-US"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Calibri"/>
              </a:rPr>
              <a:t>it </a:t>
            </a:r>
            <a:r>
              <a:rPr kumimoji="0" lang="en-US" b="0" i="0" u="none" strike="noStrike" kern="1200" cap="none" spc="-530" normalizeH="0" baseline="0" noProof="0" dirty="0">
                <a:ln>
                  <a:noFill/>
                </a:ln>
                <a:solidFill>
                  <a:srgbClr val="002060"/>
                </a:solidFill>
                <a:effectLst/>
                <a:uLnTx/>
                <a:uFillTx/>
                <a:latin typeface="Berlin Sans FB" panose="020E0602020502020306" pitchFamily="34" charset="0"/>
                <a:ea typeface="+mn-ea"/>
                <a:cs typeface="Calibri"/>
              </a:rPr>
              <a:t> </a:t>
            </a:r>
            <a:r>
              <a:rPr kumimoji="0" lang="en-US" b="0" i="0" u="none" strike="noStrike" kern="1200" cap="none" spc="-10" normalizeH="0" baseline="0" noProof="0" dirty="0">
                <a:ln>
                  <a:noFill/>
                </a:ln>
                <a:solidFill>
                  <a:srgbClr val="002060"/>
                </a:solidFill>
                <a:effectLst/>
                <a:uLnTx/>
                <a:uFillTx/>
                <a:latin typeface="Berlin Sans FB" panose="020E0602020502020306" pitchFamily="34" charset="0"/>
                <a:ea typeface="+mn-ea"/>
                <a:cs typeface="Calibri"/>
              </a:rPr>
              <a:t>mitigates, </a:t>
            </a:r>
            <a:r>
              <a:rPr kumimoji="0" lang="en-US"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Calibri"/>
              </a:rPr>
              <a:t>in a </a:t>
            </a:r>
            <a:r>
              <a:rPr kumimoji="0" lang="en-US" b="0" i="0" u="none" strike="noStrike" kern="1200" cap="none" spc="-5" normalizeH="0" baseline="0" noProof="0" dirty="0">
                <a:ln>
                  <a:noFill/>
                </a:ln>
                <a:solidFill>
                  <a:srgbClr val="002060"/>
                </a:solidFill>
                <a:effectLst/>
                <a:uLnTx/>
                <a:uFillTx/>
                <a:latin typeface="Berlin Sans FB" panose="020E0602020502020306" pitchFamily="34" charset="0"/>
                <a:ea typeface="+mn-ea"/>
                <a:cs typeface="Calibri"/>
              </a:rPr>
              <a:t>business </a:t>
            </a:r>
            <a:r>
              <a:rPr kumimoji="0" lang="en-US" b="0" i="0" u="none" strike="noStrike" kern="1200" cap="none" spc="-10" normalizeH="0" baseline="0" noProof="0" dirty="0">
                <a:ln>
                  <a:noFill/>
                </a:ln>
                <a:solidFill>
                  <a:srgbClr val="002060"/>
                </a:solidFill>
                <a:effectLst/>
                <a:uLnTx/>
                <a:uFillTx/>
                <a:latin typeface="Berlin Sans FB" panose="020E0602020502020306" pitchFamily="34" charset="0"/>
                <a:ea typeface="+mn-ea"/>
                <a:cs typeface="Calibri"/>
              </a:rPr>
              <a:t>case </a:t>
            </a:r>
            <a:r>
              <a:rPr kumimoji="0" lang="en-US"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Calibri"/>
              </a:rPr>
              <a:t>is </a:t>
            </a:r>
            <a:r>
              <a:rPr kumimoji="0" lang="en-US" b="0" i="0" u="none" strike="noStrike" kern="1200" cap="none" spc="-5" normalizeH="0" baseline="0" noProof="0" dirty="0">
                <a:ln>
                  <a:noFill/>
                </a:ln>
                <a:solidFill>
                  <a:srgbClr val="002060"/>
                </a:solidFill>
                <a:effectLst/>
                <a:uLnTx/>
                <a:uFillTx/>
                <a:latin typeface="Berlin Sans FB" panose="020E0602020502020306" pitchFamily="34" charset="0"/>
                <a:ea typeface="+mn-ea"/>
                <a:cs typeface="Calibri"/>
              </a:rPr>
              <a:t>essential </a:t>
            </a:r>
            <a:r>
              <a:rPr kumimoji="0" lang="en-US" b="0" i="0" u="none" strike="noStrike" kern="1200" cap="none" spc="-15" normalizeH="0" baseline="0" noProof="0" dirty="0">
                <a:ln>
                  <a:noFill/>
                </a:ln>
                <a:solidFill>
                  <a:srgbClr val="002060"/>
                </a:solidFill>
                <a:effectLst/>
                <a:uLnTx/>
                <a:uFillTx/>
                <a:latin typeface="Berlin Sans FB" panose="020E0602020502020306" pitchFamily="34" charset="0"/>
                <a:ea typeface="+mn-ea"/>
                <a:cs typeface="Calibri"/>
              </a:rPr>
              <a:t>to getting approval to </a:t>
            </a:r>
            <a:r>
              <a:rPr kumimoji="0" lang="en-US" b="0" i="0" u="none" strike="noStrike" kern="1200" cap="none" spc="-5" normalizeH="0" baseline="0" noProof="0" dirty="0">
                <a:ln>
                  <a:noFill/>
                </a:ln>
                <a:solidFill>
                  <a:srgbClr val="002060"/>
                </a:solidFill>
                <a:effectLst/>
                <a:uLnTx/>
                <a:uFillTx/>
                <a:latin typeface="Berlin Sans FB" panose="020E0602020502020306" pitchFamily="34" charset="0"/>
                <a:ea typeface="+mn-ea"/>
                <a:cs typeface="Calibri"/>
              </a:rPr>
              <a:t>implement </a:t>
            </a:r>
            <a:r>
              <a:rPr kumimoji="0" lang="en-US"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Calibri"/>
              </a:rPr>
              <a:t>a </a:t>
            </a:r>
            <a:r>
              <a:rPr kumimoji="0" lang="en-US" b="0" i="0" u="none" strike="noStrike" kern="1200" cap="none" spc="5" normalizeH="0" baseline="0" noProof="0" dirty="0">
                <a:ln>
                  <a:noFill/>
                </a:ln>
                <a:solidFill>
                  <a:srgbClr val="002060"/>
                </a:solidFill>
                <a:effectLst/>
                <a:uLnTx/>
                <a:uFillTx/>
                <a:latin typeface="Berlin Sans FB" panose="020E0602020502020306" pitchFamily="34" charset="0"/>
                <a:ea typeface="+mn-ea"/>
                <a:cs typeface="Calibri"/>
              </a:rPr>
              <a:t> </a:t>
            </a:r>
            <a:r>
              <a:rPr kumimoji="0" lang="en-US" b="0" i="0" u="none" strike="noStrike" kern="1200" cap="none" spc="-15" normalizeH="0" baseline="0" noProof="0" dirty="0">
                <a:ln>
                  <a:noFill/>
                </a:ln>
                <a:solidFill>
                  <a:srgbClr val="002060"/>
                </a:solidFill>
                <a:effectLst/>
                <a:uLnTx/>
                <a:uFillTx/>
                <a:latin typeface="Berlin Sans FB" panose="020E0602020502020306" pitchFamily="34" charset="0"/>
                <a:ea typeface="+mn-ea"/>
                <a:cs typeface="Calibri"/>
              </a:rPr>
              <a:t>control.</a:t>
            </a:r>
          </a:p>
          <a:p>
            <a:pPr marL="354965" marR="548640" indent="-342900">
              <a:lnSpc>
                <a:spcPct val="70000"/>
              </a:lnSpc>
              <a:spcBef>
                <a:spcPts val="600"/>
              </a:spcBef>
              <a:spcAft>
                <a:spcPts val="600"/>
              </a:spcAft>
              <a:buFont typeface="Wingdings" panose="05000000000000000000" pitchFamily="2" charset="2"/>
              <a:buChar char="§"/>
              <a:tabLst>
                <a:tab pos="241935" algn="l"/>
              </a:tabLst>
              <a:defRPr/>
            </a:pPr>
            <a:r>
              <a:rPr lang="en-US" spc="-20" dirty="0">
                <a:solidFill>
                  <a:srgbClr val="002060"/>
                </a:solidFill>
                <a:latin typeface="Berlin Sans FB" panose="020E0602020502020306" pitchFamily="34" charset="0"/>
                <a:cs typeface="Calibri"/>
              </a:rPr>
              <a:t>It’s </a:t>
            </a:r>
            <a:r>
              <a:rPr lang="en-US" dirty="0">
                <a:solidFill>
                  <a:srgbClr val="002060"/>
                </a:solidFill>
                <a:latin typeface="Berlin Sans FB" panose="020E0602020502020306" pitchFamily="34" charset="0"/>
                <a:cs typeface="Calibri"/>
              </a:rPr>
              <a:t>also </a:t>
            </a:r>
            <a:r>
              <a:rPr lang="en-US" spc="-5" dirty="0">
                <a:solidFill>
                  <a:srgbClr val="002060"/>
                </a:solidFill>
                <a:latin typeface="Berlin Sans FB" panose="020E0602020502020306" pitchFamily="34" charset="0"/>
                <a:cs typeface="Calibri"/>
              </a:rPr>
              <a:t>critical </a:t>
            </a:r>
            <a:r>
              <a:rPr lang="en-US" spc="-15" dirty="0">
                <a:solidFill>
                  <a:srgbClr val="002060"/>
                </a:solidFill>
                <a:latin typeface="Berlin Sans FB" panose="020E0602020502020306" pitchFamily="34" charset="0"/>
                <a:cs typeface="Calibri"/>
              </a:rPr>
              <a:t>to </a:t>
            </a:r>
            <a:r>
              <a:rPr lang="en-US" spc="-5" dirty="0">
                <a:solidFill>
                  <a:srgbClr val="002060"/>
                </a:solidFill>
                <a:latin typeface="Berlin Sans FB" panose="020E0602020502020306" pitchFamily="34" charset="0"/>
                <a:cs typeface="Calibri"/>
              </a:rPr>
              <a:t>identify </a:t>
            </a:r>
            <a:r>
              <a:rPr lang="en-US" spc="-15" dirty="0">
                <a:solidFill>
                  <a:srgbClr val="002060"/>
                </a:solidFill>
                <a:latin typeface="Berlin Sans FB" panose="020E0602020502020306" pitchFamily="34" charset="0"/>
                <a:cs typeface="Calibri"/>
              </a:rPr>
              <a:t>any </a:t>
            </a:r>
            <a:r>
              <a:rPr lang="en-US" dirty="0">
                <a:solidFill>
                  <a:srgbClr val="002060"/>
                </a:solidFill>
                <a:latin typeface="Berlin Sans FB" panose="020E0602020502020306" pitchFamily="34" charset="0"/>
                <a:cs typeface="Calibri"/>
              </a:rPr>
              <a:t>impacts </a:t>
            </a:r>
            <a:r>
              <a:rPr lang="en-US" spc="-15" dirty="0">
                <a:solidFill>
                  <a:srgbClr val="002060"/>
                </a:solidFill>
                <a:latin typeface="Berlin Sans FB" panose="020E0602020502020306" pitchFamily="34" charset="0"/>
                <a:cs typeface="Calibri"/>
              </a:rPr>
              <a:t>to </a:t>
            </a:r>
            <a:r>
              <a:rPr lang="en-US" dirty="0">
                <a:solidFill>
                  <a:srgbClr val="002060"/>
                </a:solidFill>
                <a:latin typeface="Berlin Sans FB" panose="020E0602020502020306" pitchFamily="34" charset="0"/>
                <a:cs typeface="Calibri"/>
              </a:rPr>
              <a:t>the</a:t>
            </a:r>
            <a:r>
              <a:rPr lang="en-US" spc="-15" dirty="0">
                <a:solidFill>
                  <a:srgbClr val="002060"/>
                </a:solidFill>
                <a:latin typeface="Berlin Sans FB" panose="020E0602020502020306" pitchFamily="34" charset="0"/>
                <a:cs typeface="Calibri"/>
              </a:rPr>
              <a:t> organization</a:t>
            </a:r>
            <a:r>
              <a:rPr lang="en-US" dirty="0">
                <a:solidFill>
                  <a:srgbClr val="002060"/>
                </a:solidFill>
                <a:latin typeface="Berlin Sans FB" panose="020E0602020502020306" pitchFamily="34" charset="0"/>
                <a:cs typeface="Calibri"/>
              </a:rPr>
              <a:t>  </a:t>
            </a:r>
            <a:r>
              <a:rPr lang="en-US" spc="-15" dirty="0">
                <a:solidFill>
                  <a:srgbClr val="002060"/>
                </a:solidFill>
                <a:latin typeface="Berlin Sans FB" panose="020E0602020502020306" pitchFamily="34" charset="0"/>
                <a:cs typeface="Calibri"/>
              </a:rPr>
              <a:t>asset’s </a:t>
            </a:r>
            <a:r>
              <a:rPr lang="en-US" dirty="0">
                <a:solidFill>
                  <a:srgbClr val="002060"/>
                </a:solidFill>
                <a:latin typeface="Berlin Sans FB" panose="020E0602020502020306" pitchFamily="34" charset="0"/>
                <a:cs typeface="Calibri"/>
              </a:rPr>
              <a:t>if the </a:t>
            </a:r>
            <a:r>
              <a:rPr lang="en-US" spc="-15" dirty="0">
                <a:solidFill>
                  <a:srgbClr val="002060"/>
                </a:solidFill>
                <a:latin typeface="Berlin Sans FB" panose="020E0602020502020306" pitchFamily="34" charset="0"/>
                <a:cs typeface="Calibri"/>
              </a:rPr>
              <a:t>control </a:t>
            </a:r>
            <a:r>
              <a:rPr lang="en-US" dirty="0">
                <a:solidFill>
                  <a:srgbClr val="002060"/>
                </a:solidFill>
                <a:latin typeface="Berlin Sans FB" panose="020E0602020502020306" pitchFamily="34" charset="0"/>
                <a:cs typeface="Calibri"/>
              </a:rPr>
              <a:t>is </a:t>
            </a:r>
            <a:r>
              <a:rPr lang="en-US" spc="5" dirty="0">
                <a:solidFill>
                  <a:srgbClr val="002060"/>
                </a:solidFill>
                <a:latin typeface="Berlin Sans FB" panose="020E0602020502020306" pitchFamily="34" charset="0"/>
                <a:cs typeface="Calibri"/>
              </a:rPr>
              <a:t> </a:t>
            </a:r>
            <a:r>
              <a:rPr lang="en-US" spc="-5" dirty="0">
                <a:solidFill>
                  <a:srgbClr val="002060"/>
                </a:solidFill>
                <a:latin typeface="Berlin Sans FB" panose="020E0602020502020306" pitchFamily="34" charset="0"/>
                <a:cs typeface="Calibri"/>
              </a:rPr>
              <a:t>not</a:t>
            </a:r>
            <a:r>
              <a:rPr lang="en-US" dirty="0">
                <a:solidFill>
                  <a:srgbClr val="002060"/>
                </a:solidFill>
                <a:latin typeface="Berlin Sans FB" panose="020E0602020502020306" pitchFamily="34" charset="0"/>
                <a:cs typeface="Calibri"/>
              </a:rPr>
              <a:t> </a:t>
            </a:r>
            <a:r>
              <a:rPr lang="en-US" spc="-5" dirty="0">
                <a:solidFill>
                  <a:srgbClr val="002060"/>
                </a:solidFill>
                <a:latin typeface="Berlin Sans FB" panose="020E0602020502020306" pitchFamily="34" charset="0"/>
                <a:cs typeface="Calibri"/>
              </a:rPr>
              <a:t>implemented.</a:t>
            </a:r>
            <a:r>
              <a:rPr lang="en-US" spc="-25" dirty="0">
                <a:solidFill>
                  <a:srgbClr val="002060"/>
                </a:solidFill>
                <a:latin typeface="Berlin Sans FB" panose="020E0602020502020306" pitchFamily="34" charset="0"/>
                <a:cs typeface="Calibri"/>
              </a:rPr>
              <a:t> </a:t>
            </a:r>
            <a:r>
              <a:rPr lang="en-US" spc="-5" dirty="0">
                <a:solidFill>
                  <a:srgbClr val="002060"/>
                </a:solidFill>
                <a:latin typeface="Berlin Sans FB" panose="020E0602020502020306" pitchFamily="34" charset="0"/>
                <a:cs typeface="Calibri"/>
              </a:rPr>
              <a:t>This</a:t>
            </a:r>
            <a:r>
              <a:rPr lang="en-US" spc="5" dirty="0">
                <a:solidFill>
                  <a:srgbClr val="002060"/>
                </a:solidFill>
                <a:latin typeface="Berlin Sans FB" panose="020E0602020502020306" pitchFamily="34" charset="0"/>
                <a:cs typeface="Calibri"/>
              </a:rPr>
              <a:t> </a:t>
            </a:r>
            <a:r>
              <a:rPr lang="en-US" spc="-10" dirty="0">
                <a:solidFill>
                  <a:srgbClr val="002060"/>
                </a:solidFill>
                <a:latin typeface="Berlin Sans FB" panose="020E0602020502020306" pitchFamily="34" charset="0"/>
                <a:cs typeface="Calibri"/>
              </a:rPr>
              <a:t>ensures</a:t>
            </a:r>
            <a:r>
              <a:rPr lang="en-US" spc="10" dirty="0">
                <a:solidFill>
                  <a:srgbClr val="002060"/>
                </a:solidFill>
                <a:latin typeface="Berlin Sans FB" panose="020E0602020502020306" pitchFamily="34" charset="0"/>
                <a:cs typeface="Calibri"/>
              </a:rPr>
              <a:t> </a:t>
            </a:r>
            <a:r>
              <a:rPr lang="en-US" spc="-10" dirty="0">
                <a:solidFill>
                  <a:srgbClr val="002060"/>
                </a:solidFill>
                <a:latin typeface="Berlin Sans FB" panose="020E0602020502020306" pitchFamily="34" charset="0"/>
                <a:cs typeface="Calibri"/>
              </a:rPr>
              <a:t>that</a:t>
            </a:r>
            <a:r>
              <a:rPr lang="en-US" spc="-15" dirty="0">
                <a:solidFill>
                  <a:srgbClr val="002060"/>
                </a:solidFill>
                <a:latin typeface="Berlin Sans FB" panose="020E0602020502020306" pitchFamily="34" charset="0"/>
                <a:cs typeface="Calibri"/>
              </a:rPr>
              <a:t> </a:t>
            </a:r>
            <a:r>
              <a:rPr lang="en-US" spc="-5" dirty="0">
                <a:solidFill>
                  <a:srgbClr val="002060"/>
                </a:solidFill>
                <a:latin typeface="Berlin Sans FB" panose="020E0602020502020306" pitchFamily="34" charset="0"/>
                <a:cs typeface="Calibri"/>
              </a:rPr>
              <a:t>senior</a:t>
            </a:r>
            <a:r>
              <a:rPr lang="en-US" spc="5" dirty="0">
                <a:solidFill>
                  <a:srgbClr val="002060"/>
                </a:solidFill>
                <a:latin typeface="Berlin Sans FB" panose="020E0602020502020306" pitchFamily="34" charset="0"/>
                <a:cs typeface="Calibri"/>
              </a:rPr>
              <a:t> </a:t>
            </a:r>
            <a:r>
              <a:rPr lang="en-US" spc="-10" dirty="0">
                <a:solidFill>
                  <a:srgbClr val="002060"/>
                </a:solidFill>
                <a:latin typeface="Berlin Sans FB" panose="020E0602020502020306" pitchFamily="34" charset="0"/>
                <a:cs typeface="Calibri"/>
              </a:rPr>
              <a:t>managers</a:t>
            </a:r>
            <a:r>
              <a:rPr lang="en-US" spc="-15" dirty="0">
                <a:solidFill>
                  <a:srgbClr val="002060"/>
                </a:solidFill>
                <a:latin typeface="Berlin Sans FB" panose="020E0602020502020306" pitchFamily="34" charset="0"/>
                <a:cs typeface="Calibri"/>
              </a:rPr>
              <a:t> </a:t>
            </a:r>
            <a:r>
              <a:rPr lang="en-US" dirty="0">
                <a:solidFill>
                  <a:srgbClr val="002060"/>
                </a:solidFill>
                <a:latin typeface="Berlin Sans FB" panose="020E0602020502020306" pitchFamily="34" charset="0"/>
                <a:cs typeface="Calibri"/>
              </a:rPr>
              <a:t>and</a:t>
            </a:r>
            <a:r>
              <a:rPr lang="en-US" spc="5" dirty="0">
                <a:solidFill>
                  <a:srgbClr val="002060"/>
                </a:solidFill>
                <a:latin typeface="Berlin Sans FB" panose="020E0602020502020306" pitchFamily="34" charset="0"/>
                <a:cs typeface="Calibri"/>
              </a:rPr>
              <a:t> </a:t>
            </a:r>
            <a:r>
              <a:rPr lang="en-US" spc="-15" dirty="0">
                <a:solidFill>
                  <a:srgbClr val="002060"/>
                </a:solidFill>
                <a:latin typeface="Berlin Sans FB" panose="020E0602020502020306" pitchFamily="34" charset="0"/>
                <a:cs typeface="Calibri"/>
              </a:rPr>
              <a:t>executives</a:t>
            </a:r>
            <a:r>
              <a:rPr lang="en-US" spc="-10" dirty="0">
                <a:solidFill>
                  <a:srgbClr val="002060"/>
                </a:solidFill>
                <a:latin typeface="Berlin Sans FB" panose="020E0602020502020306" pitchFamily="34" charset="0"/>
                <a:cs typeface="Calibri"/>
              </a:rPr>
              <a:t> </a:t>
            </a:r>
            <a:r>
              <a:rPr lang="en-US" spc="-15" dirty="0">
                <a:solidFill>
                  <a:srgbClr val="002060"/>
                </a:solidFill>
                <a:latin typeface="Berlin Sans FB" panose="020E0602020502020306" pitchFamily="34" charset="0"/>
                <a:cs typeface="Calibri"/>
              </a:rPr>
              <a:t>are</a:t>
            </a:r>
            <a:r>
              <a:rPr lang="en-US" spc="-5" dirty="0">
                <a:solidFill>
                  <a:srgbClr val="002060"/>
                </a:solidFill>
                <a:latin typeface="Berlin Sans FB" panose="020E0602020502020306" pitchFamily="34" charset="0"/>
                <a:cs typeface="Calibri"/>
              </a:rPr>
              <a:t> </a:t>
            </a:r>
            <a:r>
              <a:rPr lang="en-US" spc="-15" dirty="0">
                <a:solidFill>
                  <a:srgbClr val="002060"/>
                </a:solidFill>
                <a:latin typeface="Berlin Sans FB" panose="020E0602020502020306" pitchFamily="34" charset="0"/>
                <a:cs typeface="Calibri"/>
              </a:rPr>
              <a:t>aware</a:t>
            </a:r>
            <a:r>
              <a:rPr lang="en-US" spc="-5" dirty="0">
                <a:solidFill>
                  <a:srgbClr val="002060"/>
                </a:solidFill>
                <a:latin typeface="Berlin Sans FB" panose="020E0602020502020306" pitchFamily="34" charset="0"/>
                <a:cs typeface="Calibri"/>
              </a:rPr>
              <a:t> of </a:t>
            </a:r>
            <a:r>
              <a:rPr lang="en-US" spc="-530" dirty="0">
                <a:solidFill>
                  <a:srgbClr val="002060"/>
                </a:solidFill>
                <a:latin typeface="Berlin Sans FB" panose="020E0602020502020306" pitchFamily="34" charset="0"/>
                <a:cs typeface="Calibri"/>
              </a:rPr>
              <a:t> </a:t>
            </a:r>
            <a:r>
              <a:rPr lang="en-US" dirty="0">
                <a:solidFill>
                  <a:srgbClr val="002060"/>
                </a:solidFill>
                <a:latin typeface="Berlin Sans FB" panose="020E0602020502020306" pitchFamily="34" charset="0"/>
                <a:cs typeface="Calibri"/>
              </a:rPr>
              <a:t>the </a:t>
            </a:r>
            <a:r>
              <a:rPr lang="en-US" spc="-10" dirty="0">
                <a:solidFill>
                  <a:srgbClr val="002060"/>
                </a:solidFill>
                <a:latin typeface="Berlin Sans FB" panose="020E0602020502020306" pitchFamily="34" charset="0"/>
                <a:cs typeface="Calibri"/>
              </a:rPr>
              <a:t>consequences</a:t>
            </a:r>
            <a:r>
              <a:rPr lang="en-US" spc="-5" dirty="0">
                <a:solidFill>
                  <a:srgbClr val="002060"/>
                </a:solidFill>
                <a:latin typeface="Berlin Sans FB" panose="020E0602020502020306" pitchFamily="34" charset="0"/>
                <a:cs typeface="Calibri"/>
              </a:rPr>
              <a:t> </a:t>
            </a:r>
            <a:r>
              <a:rPr lang="en-US" spc="-10" dirty="0">
                <a:solidFill>
                  <a:srgbClr val="002060"/>
                </a:solidFill>
                <a:latin typeface="Berlin Sans FB" panose="020E0602020502020306" pitchFamily="34" charset="0"/>
                <a:cs typeface="Calibri"/>
              </a:rPr>
              <a:t>of</a:t>
            </a:r>
            <a:r>
              <a:rPr lang="en-US" spc="-5" dirty="0">
                <a:solidFill>
                  <a:srgbClr val="002060"/>
                </a:solidFill>
                <a:latin typeface="Berlin Sans FB" panose="020E0602020502020306" pitchFamily="34" charset="0"/>
                <a:cs typeface="Calibri"/>
              </a:rPr>
              <a:t> </a:t>
            </a:r>
            <a:r>
              <a:rPr lang="en-US" spc="-10" dirty="0">
                <a:solidFill>
                  <a:srgbClr val="002060"/>
                </a:solidFill>
                <a:latin typeface="Berlin Sans FB" panose="020E0602020502020306" pitchFamily="34" charset="0"/>
                <a:cs typeface="Calibri"/>
              </a:rPr>
              <a:t>not</a:t>
            </a:r>
            <a:r>
              <a:rPr lang="en-US" dirty="0">
                <a:solidFill>
                  <a:srgbClr val="002060"/>
                </a:solidFill>
                <a:latin typeface="Berlin Sans FB" panose="020E0602020502020306" pitchFamily="34" charset="0"/>
                <a:cs typeface="Calibri"/>
              </a:rPr>
              <a:t> </a:t>
            </a:r>
            <a:r>
              <a:rPr lang="en-US" spc="-5" dirty="0">
                <a:solidFill>
                  <a:srgbClr val="002060"/>
                </a:solidFill>
                <a:latin typeface="Berlin Sans FB" panose="020E0602020502020306" pitchFamily="34" charset="0"/>
                <a:cs typeface="Calibri"/>
              </a:rPr>
              <a:t>implementing</a:t>
            </a:r>
            <a:r>
              <a:rPr lang="en-US" spc="-35" dirty="0">
                <a:solidFill>
                  <a:srgbClr val="002060"/>
                </a:solidFill>
                <a:latin typeface="Berlin Sans FB" panose="020E0602020502020306" pitchFamily="34" charset="0"/>
                <a:cs typeface="Calibri"/>
              </a:rPr>
              <a:t> </a:t>
            </a:r>
            <a:r>
              <a:rPr lang="en-US" dirty="0">
                <a:solidFill>
                  <a:srgbClr val="002060"/>
                </a:solidFill>
                <a:latin typeface="Berlin Sans FB" panose="020E0602020502020306" pitchFamily="34" charset="0"/>
                <a:cs typeface="Calibri"/>
              </a:rPr>
              <a:t>the </a:t>
            </a:r>
            <a:r>
              <a:rPr lang="en-US" spc="-15" dirty="0">
                <a:solidFill>
                  <a:srgbClr val="002060"/>
                </a:solidFill>
                <a:latin typeface="Berlin Sans FB" panose="020E0602020502020306" pitchFamily="34" charset="0"/>
                <a:cs typeface="Calibri"/>
              </a:rPr>
              <a:t>control.</a:t>
            </a:r>
          </a:p>
          <a:p>
            <a:pPr marL="354965" marR="548640" indent="-342900">
              <a:lnSpc>
                <a:spcPct val="70000"/>
              </a:lnSpc>
              <a:spcBef>
                <a:spcPts val="600"/>
              </a:spcBef>
              <a:spcAft>
                <a:spcPts val="600"/>
              </a:spcAft>
              <a:buFont typeface="Wingdings" panose="05000000000000000000" pitchFamily="2" charset="2"/>
              <a:buChar char="§"/>
              <a:tabLst>
                <a:tab pos="241935" algn="l"/>
              </a:tabLst>
              <a:defRPr/>
            </a:pPr>
            <a:r>
              <a:rPr lang="en-US" spc="-5" dirty="0">
                <a:solidFill>
                  <a:srgbClr val="0070C0"/>
                </a:solidFill>
                <a:effectLst>
                  <a:outerShdw blurRad="38100" dist="38100" dir="2700000" algn="tl">
                    <a:srgbClr val="000000">
                      <a:alpha val="43137"/>
                    </a:srgbClr>
                  </a:outerShdw>
                </a:effectLst>
                <a:latin typeface="Berlin Sans FB" panose="020E0602020502020306" pitchFamily="34" charset="0"/>
                <a:cs typeface="Calibri"/>
              </a:rPr>
              <a:t>Governance can’t easily be ignored, even in the face of limited resources, it’s worthwhile to include governance requirements for  controls in any business case that supports implementing particular  information system controls.</a:t>
            </a:r>
          </a:p>
          <a:p>
            <a:pPr marL="354965" marR="548640" indent="-342900">
              <a:lnSpc>
                <a:spcPct val="70000"/>
              </a:lnSpc>
              <a:spcBef>
                <a:spcPts val="600"/>
              </a:spcBef>
              <a:spcAft>
                <a:spcPts val="600"/>
              </a:spcAft>
              <a:buFont typeface="Wingdings" panose="05000000000000000000" pitchFamily="2" charset="2"/>
              <a:buChar char="§"/>
              <a:tabLst>
                <a:tab pos="241935" algn="l"/>
              </a:tabLst>
              <a:defRPr/>
            </a:pPr>
            <a:endParaRPr lang="en-US" dirty="0">
              <a:solidFill>
                <a:srgbClr val="002060"/>
              </a:solidFill>
              <a:latin typeface="Berlin Sans FB" panose="020E0602020502020306" pitchFamily="34" charset="0"/>
              <a:cs typeface="Calibri"/>
            </a:endParaRPr>
          </a:p>
          <a:p>
            <a:pPr marL="354965" marR="548640" lvl="0" indent="-342900" algn="l" defTabSz="914400" rtl="0" eaLnBrk="1" fontAlgn="auto" latinLnBrk="0" hangingPunct="1">
              <a:lnSpc>
                <a:spcPct val="70000"/>
              </a:lnSpc>
              <a:spcBef>
                <a:spcPts val="600"/>
              </a:spcBef>
              <a:spcAft>
                <a:spcPts val="600"/>
              </a:spcAft>
              <a:buClrTx/>
              <a:buSzTx/>
              <a:buFont typeface="Wingdings" panose="05000000000000000000" pitchFamily="2" charset="2"/>
              <a:buChar char="§"/>
              <a:tabLst>
                <a:tab pos="241935" algn="l"/>
              </a:tabLst>
              <a:defRPr/>
            </a:pPr>
            <a:endParaRPr kumimoji="0" lang="en-US"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Calibri"/>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16939" y="609676"/>
            <a:ext cx="8818880" cy="697230"/>
          </a:xfrm>
          <a:prstGeom prst="rect">
            <a:avLst/>
          </a:prstGeom>
        </p:spPr>
        <p:txBody>
          <a:bodyPr vert="horz" wrap="square" lIns="0" tIns="13335" rIns="0" bIns="0" rtlCol="0">
            <a:spAutoFit/>
          </a:bodyPr>
          <a:lstStyle/>
          <a:p>
            <a:pPr marL="12700">
              <a:lnSpc>
                <a:spcPct val="100000"/>
              </a:lnSpc>
              <a:spcBef>
                <a:spcPts val="105"/>
              </a:spcBef>
            </a:pPr>
            <a:r>
              <a:rPr sz="4400" u="heavy" spc="-30" dirty="0">
                <a:solidFill>
                  <a:srgbClr val="074891"/>
                </a:solidFill>
                <a:uFill>
                  <a:solidFill>
                    <a:srgbClr val="000000"/>
                  </a:solidFill>
                </a:uFill>
                <a:latin typeface="Calibri Light"/>
                <a:cs typeface="Calibri Light"/>
              </a:rPr>
              <a:t>Security</a:t>
            </a:r>
            <a:r>
              <a:rPr sz="4400" u="heavy" spc="-80" dirty="0">
                <a:solidFill>
                  <a:srgbClr val="074891"/>
                </a:solidFill>
                <a:uFill>
                  <a:solidFill>
                    <a:srgbClr val="000000"/>
                  </a:solidFill>
                </a:uFill>
                <a:latin typeface="Calibri Light"/>
                <a:cs typeface="Calibri Light"/>
              </a:rPr>
              <a:t> </a:t>
            </a:r>
            <a:r>
              <a:rPr sz="4400" u="heavy" spc="-25" dirty="0">
                <a:solidFill>
                  <a:srgbClr val="074891"/>
                </a:solidFill>
                <a:uFill>
                  <a:solidFill>
                    <a:srgbClr val="000000"/>
                  </a:solidFill>
                </a:uFill>
                <a:latin typeface="Calibri Light"/>
                <a:cs typeface="Calibri Light"/>
              </a:rPr>
              <a:t>Goals</a:t>
            </a:r>
            <a:r>
              <a:rPr sz="4400" u="heavy" spc="-85" dirty="0">
                <a:solidFill>
                  <a:srgbClr val="074891"/>
                </a:solidFill>
                <a:uFill>
                  <a:solidFill>
                    <a:srgbClr val="000000"/>
                  </a:solidFill>
                </a:uFill>
                <a:latin typeface="Calibri Light"/>
                <a:cs typeface="Calibri Light"/>
              </a:rPr>
              <a:t> </a:t>
            </a:r>
            <a:r>
              <a:rPr sz="4400" u="heavy" spc="-20" dirty="0">
                <a:solidFill>
                  <a:srgbClr val="074891"/>
                </a:solidFill>
                <a:uFill>
                  <a:solidFill>
                    <a:srgbClr val="000000"/>
                  </a:solidFill>
                </a:uFill>
                <a:latin typeface="Calibri Light"/>
                <a:cs typeface="Calibri Light"/>
              </a:rPr>
              <a:t>and</a:t>
            </a:r>
            <a:r>
              <a:rPr sz="4400" u="heavy" spc="-90" dirty="0">
                <a:solidFill>
                  <a:srgbClr val="074891"/>
                </a:solidFill>
                <a:uFill>
                  <a:solidFill>
                    <a:srgbClr val="000000"/>
                  </a:solidFill>
                </a:uFill>
                <a:latin typeface="Calibri Light"/>
                <a:cs typeface="Calibri Light"/>
              </a:rPr>
              <a:t> </a:t>
            </a:r>
            <a:r>
              <a:rPr sz="4400" u="heavy" spc="-35" dirty="0">
                <a:solidFill>
                  <a:srgbClr val="074891"/>
                </a:solidFill>
                <a:uFill>
                  <a:solidFill>
                    <a:srgbClr val="000000"/>
                  </a:solidFill>
                </a:uFill>
                <a:latin typeface="Calibri Light"/>
                <a:cs typeface="Calibri Light"/>
              </a:rPr>
              <a:t>Supporting</a:t>
            </a:r>
            <a:r>
              <a:rPr sz="4400" u="heavy" spc="-95" dirty="0">
                <a:solidFill>
                  <a:srgbClr val="074891"/>
                </a:solidFill>
                <a:uFill>
                  <a:solidFill>
                    <a:srgbClr val="000000"/>
                  </a:solidFill>
                </a:uFill>
                <a:latin typeface="Calibri Light"/>
                <a:cs typeface="Calibri Light"/>
              </a:rPr>
              <a:t> </a:t>
            </a:r>
            <a:r>
              <a:rPr sz="4400" u="heavy" spc="-35" dirty="0">
                <a:solidFill>
                  <a:srgbClr val="074891"/>
                </a:solidFill>
                <a:uFill>
                  <a:solidFill>
                    <a:srgbClr val="000000"/>
                  </a:solidFill>
                </a:uFill>
                <a:latin typeface="Calibri Light"/>
                <a:cs typeface="Calibri Light"/>
              </a:rPr>
              <a:t>Concep</a:t>
            </a:r>
            <a:r>
              <a:rPr sz="4400" spc="-35" dirty="0">
                <a:solidFill>
                  <a:srgbClr val="074891"/>
                </a:solidFill>
                <a:latin typeface="Calibri Light"/>
                <a:cs typeface="Calibri Light"/>
              </a:rPr>
              <a:t>ts</a:t>
            </a:r>
            <a:endParaRPr sz="4400">
              <a:latin typeface="Calibri Light"/>
              <a:cs typeface="Calibri Light"/>
            </a:endParaRPr>
          </a:p>
        </p:txBody>
      </p:sp>
      <p:sp>
        <p:nvSpPr>
          <p:cNvPr id="3" name="object 3"/>
          <p:cNvSpPr txBox="1"/>
          <p:nvPr/>
        </p:nvSpPr>
        <p:spPr>
          <a:xfrm>
            <a:off x="1518724" y="1832219"/>
            <a:ext cx="6617091" cy="3488455"/>
          </a:xfrm>
          <a:prstGeom prst="rect">
            <a:avLst/>
          </a:prstGeom>
        </p:spPr>
        <p:txBody>
          <a:bodyPr vert="horz" wrap="square" lIns="0" tIns="121920" rIns="0" bIns="0" rtlCol="0">
            <a:spAutoFit/>
          </a:bodyPr>
          <a:lstStyle/>
          <a:p>
            <a:pPr marL="354965" marR="783590" indent="-342900">
              <a:lnSpc>
                <a:spcPct val="70000"/>
              </a:lnSpc>
              <a:spcBef>
                <a:spcPts val="600"/>
              </a:spcBef>
              <a:spcAft>
                <a:spcPts val="600"/>
              </a:spcAft>
              <a:buFont typeface="Wingdings" panose="05000000000000000000" pitchFamily="2" charset="2"/>
              <a:buChar char="§"/>
              <a:tabLst>
                <a:tab pos="241935" algn="l"/>
              </a:tabLst>
            </a:pPr>
            <a:r>
              <a:rPr spc="-10" dirty="0">
                <a:solidFill>
                  <a:srgbClr val="002060"/>
                </a:solidFill>
                <a:latin typeface="Berlin Sans FB" panose="020E0602020502020306" pitchFamily="34" charset="0"/>
                <a:cs typeface="Calibri"/>
              </a:rPr>
              <a:t>Controls </a:t>
            </a:r>
            <a:r>
              <a:rPr spc="-5" dirty="0">
                <a:solidFill>
                  <a:srgbClr val="002060"/>
                </a:solidFill>
                <a:latin typeface="Berlin Sans FB" panose="020E0602020502020306" pitchFamily="34" charset="0"/>
                <a:cs typeface="Calibri"/>
              </a:rPr>
              <a:t>selected because of </a:t>
            </a:r>
            <a:r>
              <a:rPr dirty="0">
                <a:solidFill>
                  <a:srgbClr val="002060"/>
                </a:solidFill>
                <a:latin typeface="Berlin Sans FB" panose="020E0602020502020306" pitchFamily="34" charset="0"/>
                <a:cs typeface="Calibri"/>
              </a:rPr>
              <a:t>a </a:t>
            </a:r>
            <a:r>
              <a:rPr spc="-5" dirty="0">
                <a:solidFill>
                  <a:srgbClr val="002060"/>
                </a:solidFill>
                <a:latin typeface="Berlin Sans FB" panose="020E0602020502020306" pitchFamily="34" charset="0"/>
                <a:cs typeface="Calibri"/>
              </a:rPr>
              <a:t>need </a:t>
            </a:r>
            <a:r>
              <a:rPr spc="-15" dirty="0">
                <a:solidFill>
                  <a:srgbClr val="002060"/>
                </a:solidFill>
                <a:latin typeface="Berlin Sans FB" panose="020E0602020502020306" pitchFamily="34" charset="0"/>
                <a:cs typeface="Calibri"/>
              </a:rPr>
              <a:t>to mitigate </a:t>
            </a:r>
            <a:r>
              <a:rPr dirty="0">
                <a:solidFill>
                  <a:srgbClr val="002060"/>
                </a:solidFill>
                <a:latin typeface="Berlin Sans FB" panose="020E0602020502020306" pitchFamily="34" charset="0"/>
                <a:cs typeface="Calibri"/>
              </a:rPr>
              <a:t>a </a:t>
            </a:r>
            <a:r>
              <a:rPr spc="-5" dirty="0">
                <a:solidFill>
                  <a:srgbClr val="002060"/>
                </a:solidFill>
                <a:latin typeface="Berlin Sans FB" panose="020E0602020502020306" pitchFamily="34" charset="0"/>
                <a:cs typeface="Calibri"/>
              </a:rPr>
              <a:t>particular </a:t>
            </a:r>
            <a:r>
              <a:rPr dirty="0">
                <a:solidFill>
                  <a:srgbClr val="002060"/>
                </a:solidFill>
                <a:latin typeface="Berlin Sans FB" panose="020E0602020502020306" pitchFamily="34" charset="0"/>
                <a:cs typeface="Calibri"/>
              </a:rPr>
              <a:t>risk, </a:t>
            </a:r>
            <a:r>
              <a:rPr spc="-5" dirty="0">
                <a:solidFill>
                  <a:srgbClr val="002060"/>
                </a:solidFill>
                <a:latin typeface="Berlin Sans FB" panose="020E0602020502020306" pitchFamily="34" charset="0"/>
                <a:cs typeface="Calibri"/>
              </a:rPr>
              <a:t>support </a:t>
            </a:r>
            <a:r>
              <a:rPr dirty="0">
                <a:solidFill>
                  <a:srgbClr val="002060"/>
                </a:solidFill>
                <a:latin typeface="Berlin Sans FB" panose="020E0602020502020306" pitchFamily="34" charset="0"/>
                <a:cs typeface="Calibri"/>
              </a:rPr>
              <a:t>a </a:t>
            </a:r>
            <a:r>
              <a:rPr spc="5" dirty="0">
                <a:solidFill>
                  <a:srgbClr val="002060"/>
                </a:solidFill>
                <a:latin typeface="Berlin Sans FB" panose="020E0602020502020306" pitchFamily="34" charset="0"/>
                <a:cs typeface="Calibri"/>
              </a:rPr>
              <a:t> </a:t>
            </a:r>
            <a:r>
              <a:rPr spc="-5" dirty="0">
                <a:solidFill>
                  <a:srgbClr val="002060"/>
                </a:solidFill>
                <a:latin typeface="Berlin Sans FB" panose="020E0602020502020306" pitchFamily="34" charset="0"/>
                <a:cs typeface="Calibri"/>
              </a:rPr>
              <a:t>particular</a:t>
            </a:r>
            <a:r>
              <a:rPr spc="-25" dirty="0">
                <a:solidFill>
                  <a:srgbClr val="002060"/>
                </a:solidFill>
                <a:latin typeface="Berlin Sans FB" panose="020E0602020502020306" pitchFamily="34" charset="0"/>
                <a:cs typeface="Calibri"/>
              </a:rPr>
              <a:t> </a:t>
            </a:r>
            <a:r>
              <a:rPr spc="-5" dirty="0">
                <a:solidFill>
                  <a:srgbClr val="002060"/>
                </a:solidFill>
                <a:latin typeface="Berlin Sans FB" panose="020E0602020502020306" pitchFamily="34" charset="0"/>
                <a:cs typeface="Calibri"/>
              </a:rPr>
              <a:t>security</a:t>
            </a:r>
            <a:r>
              <a:rPr spc="-10" dirty="0">
                <a:solidFill>
                  <a:srgbClr val="002060"/>
                </a:solidFill>
                <a:latin typeface="Berlin Sans FB" panose="020E0602020502020306" pitchFamily="34" charset="0"/>
                <a:cs typeface="Calibri"/>
              </a:rPr>
              <a:t> goal,</a:t>
            </a:r>
            <a:r>
              <a:rPr spc="-20" dirty="0">
                <a:solidFill>
                  <a:srgbClr val="002060"/>
                </a:solidFill>
                <a:latin typeface="Berlin Sans FB" panose="020E0602020502020306" pitchFamily="34" charset="0"/>
                <a:cs typeface="Calibri"/>
              </a:rPr>
              <a:t> </a:t>
            </a:r>
            <a:r>
              <a:rPr spc="-5" dirty="0">
                <a:solidFill>
                  <a:srgbClr val="002060"/>
                </a:solidFill>
                <a:latin typeface="Berlin Sans FB" panose="020E0602020502020306" pitchFamily="34" charset="0"/>
                <a:cs typeface="Calibri"/>
              </a:rPr>
              <a:t>or</a:t>
            </a:r>
            <a:r>
              <a:rPr spc="-20" dirty="0">
                <a:solidFill>
                  <a:srgbClr val="002060"/>
                </a:solidFill>
                <a:latin typeface="Berlin Sans FB" panose="020E0602020502020306" pitchFamily="34" charset="0"/>
                <a:cs typeface="Calibri"/>
              </a:rPr>
              <a:t> </a:t>
            </a:r>
            <a:r>
              <a:rPr spc="-10" dirty="0">
                <a:solidFill>
                  <a:srgbClr val="002060"/>
                </a:solidFill>
                <a:latin typeface="Berlin Sans FB" panose="020E0602020502020306" pitchFamily="34" charset="0"/>
                <a:cs typeface="Calibri"/>
              </a:rPr>
              <a:t>even</a:t>
            </a:r>
            <a:r>
              <a:rPr spc="10" dirty="0">
                <a:solidFill>
                  <a:srgbClr val="002060"/>
                </a:solidFill>
                <a:latin typeface="Berlin Sans FB" panose="020E0602020502020306" pitchFamily="34" charset="0"/>
                <a:cs typeface="Calibri"/>
              </a:rPr>
              <a:t> </a:t>
            </a:r>
            <a:r>
              <a:rPr spc="-5" dirty="0">
                <a:solidFill>
                  <a:srgbClr val="002060"/>
                </a:solidFill>
                <a:latin typeface="Berlin Sans FB" panose="020E0602020502020306" pitchFamily="34" charset="0"/>
                <a:cs typeface="Calibri"/>
              </a:rPr>
              <a:t>support</a:t>
            </a:r>
            <a:r>
              <a:rPr dirty="0">
                <a:solidFill>
                  <a:srgbClr val="002060"/>
                </a:solidFill>
                <a:latin typeface="Berlin Sans FB" panose="020E0602020502020306" pitchFamily="34" charset="0"/>
                <a:cs typeface="Calibri"/>
              </a:rPr>
              <a:t> </a:t>
            </a:r>
            <a:r>
              <a:rPr spc="-5" dirty="0">
                <a:solidFill>
                  <a:srgbClr val="002060"/>
                </a:solidFill>
                <a:latin typeface="Berlin Sans FB" panose="020E0602020502020306" pitchFamily="34" charset="0"/>
                <a:cs typeface="Calibri"/>
              </a:rPr>
              <a:t>one</a:t>
            </a:r>
            <a:r>
              <a:rPr spc="5" dirty="0">
                <a:solidFill>
                  <a:srgbClr val="002060"/>
                </a:solidFill>
                <a:latin typeface="Berlin Sans FB" panose="020E0602020502020306" pitchFamily="34" charset="0"/>
                <a:cs typeface="Calibri"/>
              </a:rPr>
              <a:t> </a:t>
            </a:r>
            <a:r>
              <a:rPr spc="-5" dirty="0">
                <a:solidFill>
                  <a:srgbClr val="002060"/>
                </a:solidFill>
                <a:latin typeface="Berlin Sans FB" panose="020E0602020502020306" pitchFamily="34" charset="0"/>
                <a:cs typeface="Calibri"/>
              </a:rPr>
              <a:t>of</a:t>
            </a:r>
            <a:r>
              <a:rPr spc="-10" dirty="0">
                <a:solidFill>
                  <a:srgbClr val="002060"/>
                </a:solidFill>
                <a:latin typeface="Berlin Sans FB" panose="020E0602020502020306" pitchFamily="34" charset="0"/>
                <a:cs typeface="Calibri"/>
              </a:rPr>
              <a:t> </a:t>
            </a:r>
            <a:r>
              <a:rPr dirty="0">
                <a:solidFill>
                  <a:srgbClr val="002060"/>
                </a:solidFill>
                <a:latin typeface="Berlin Sans FB" panose="020E0602020502020306" pitchFamily="34" charset="0"/>
                <a:cs typeface="Calibri"/>
              </a:rPr>
              <a:t>the </a:t>
            </a:r>
            <a:r>
              <a:rPr spc="-5" dirty="0">
                <a:solidFill>
                  <a:srgbClr val="002060"/>
                </a:solidFill>
                <a:latin typeface="Berlin Sans FB" panose="020E0602020502020306" pitchFamily="34" charset="0"/>
                <a:cs typeface="Calibri"/>
              </a:rPr>
              <a:t>basic</a:t>
            </a:r>
            <a:r>
              <a:rPr spc="-10" dirty="0">
                <a:solidFill>
                  <a:srgbClr val="002060"/>
                </a:solidFill>
                <a:latin typeface="Berlin Sans FB" panose="020E0602020502020306" pitchFamily="34" charset="0"/>
                <a:cs typeface="Calibri"/>
              </a:rPr>
              <a:t> </a:t>
            </a:r>
            <a:r>
              <a:rPr spc="-5" dirty="0">
                <a:solidFill>
                  <a:srgbClr val="002060"/>
                </a:solidFill>
                <a:latin typeface="Berlin Sans FB" panose="020E0602020502020306" pitchFamily="34" charset="0"/>
                <a:cs typeface="Calibri"/>
              </a:rPr>
              <a:t>tenets</a:t>
            </a:r>
            <a:r>
              <a:rPr lang="en-US" spc="-5" dirty="0">
                <a:solidFill>
                  <a:srgbClr val="002060"/>
                </a:solidFill>
                <a:latin typeface="Berlin Sans FB" panose="020E0602020502020306" pitchFamily="34" charset="0"/>
                <a:cs typeface="Calibri"/>
              </a:rPr>
              <a:t> (principles)</a:t>
            </a:r>
            <a:r>
              <a:rPr spc="-20" dirty="0">
                <a:solidFill>
                  <a:srgbClr val="002060"/>
                </a:solidFill>
                <a:latin typeface="Berlin Sans FB" panose="020E0602020502020306" pitchFamily="34" charset="0"/>
                <a:cs typeface="Calibri"/>
              </a:rPr>
              <a:t> </a:t>
            </a:r>
            <a:r>
              <a:rPr spc="-5" dirty="0">
                <a:solidFill>
                  <a:srgbClr val="002060"/>
                </a:solidFill>
                <a:latin typeface="Berlin Sans FB" panose="020E0602020502020306" pitchFamily="34" charset="0"/>
                <a:cs typeface="Calibri"/>
              </a:rPr>
              <a:t>of </a:t>
            </a:r>
            <a:r>
              <a:rPr spc="-20" dirty="0">
                <a:solidFill>
                  <a:srgbClr val="002060"/>
                </a:solidFill>
                <a:latin typeface="Berlin Sans FB" panose="020E0602020502020306" pitchFamily="34" charset="0"/>
                <a:cs typeface="Calibri"/>
              </a:rPr>
              <a:t>security.</a:t>
            </a:r>
            <a:endParaRPr dirty="0">
              <a:solidFill>
                <a:srgbClr val="002060"/>
              </a:solidFill>
              <a:latin typeface="Berlin Sans FB" panose="020E0602020502020306" pitchFamily="34" charset="0"/>
              <a:cs typeface="Calibri"/>
            </a:endParaRPr>
          </a:p>
          <a:p>
            <a:pPr marL="755015" lvl="1" indent="-285750">
              <a:lnSpc>
                <a:spcPts val="2075"/>
              </a:lnSpc>
              <a:spcBef>
                <a:spcPts val="600"/>
              </a:spcBef>
              <a:spcAft>
                <a:spcPts val="600"/>
              </a:spcAft>
              <a:buFont typeface="Arial" panose="020B0604020202020204" pitchFamily="34" charset="0"/>
              <a:buChar char="•"/>
              <a:tabLst>
                <a:tab pos="698500" algn="l"/>
                <a:tab pos="699135" algn="l"/>
              </a:tabLst>
            </a:pPr>
            <a:r>
              <a:rPr sz="1600" spc="-5" dirty="0">
                <a:solidFill>
                  <a:srgbClr val="C00000"/>
                </a:solidFill>
                <a:latin typeface="Berlin Sans FB" panose="020E0602020502020306" pitchFamily="34" charset="0"/>
                <a:cs typeface="Calibri"/>
              </a:rPr>
              <a:t>Some</a:t>
            </a:r>
            <a:r>
              <a:rPr sz="1600" dirty="0">
                <a:solidFill>
                  <a:srgbClr val="C00000"/>
                </a:solidFill>
                <a:latin typeface="Berlin Sans FB" panose="020E0602020502020306" pitchFamily="34" charset="0"/>
                <a:cs typeface="Calibri"/>
              </a:rPr>
              <a:t> </a:t>
            </a:r>
            <a:r>
              <a:rPr sz="1600" spc="-10" dirty="0">
                <a:solidFill>
                  <a:srgbClr val="C00000"/>
                </a:solidFill>
                <a:latin typeface="Berlin Sans FB" panose="020E0602020502020306" pitchFamily="34" charset="0"/>
                <a:cs typeface="Calibri"/>
              </a:rPr>
              <a:t>controls</a:t>
            </a:r>
            <a:r>
              <a:rPr sz="1600" dirty="0">
                <a:solidFill>
                  <a:srgbClr val="C00000"/>
                </a:solidFill>
                <a:latin typeface="Berlin Sans FB" panose="020E0602020502020306" pitchFamily="34" charset="0"/>
                <a:cs typeface="Calibri"/>
              </a:rPr>
              <a:t> </a:t>
            </a:r>
            <a:r>
              <a:rPr sz="1600" spc="-5" dirty="0">
                <a:solidFill>
                  <a:srgbClr val="C00000"/>
                </a:solidFill>
                <a:latin typeface="Berlin Sans FB" panose="020E0602020502020306" pitchFamily="34" charset="0"/>
                <a:cs typeface="Calibri"/>
              </a:rPr>
              <a:t>might support </a:t>
            </a:r>
            <a:r>
              <a:rPr sz="1600" spc="-15" dirty="0">
                <a:solidFill>
                  <a:srgbClr val="C00000"/>
                </a:solidFill>
                <a:latin typeface="Berlin Sans FB" panose="020E0602020502020306" pitchFamily="34" charset="0"/>
                <a:cs typeface="Calibri"/>
              </a:rPr>
              <a:t>confidentiality,</a:t>
            </a:r>
            <a:r>
              <a:rPr sz="1600" spc="15" dirty="0">
                <a:solidFill>
                  <a:srgbClr val="C00000"/>
                </a:solidFill>
                <a:latin typeface="Berlin Sans FB" panose="020E0602020502020306" pitchFamily="34" charset="0"/>
                <a:cs typeface="Calibri"/>
              </a:rPr>
              <a:t> </a:t>
            </a:r>
            <a:r>
              <a:rPr sz="1600" spc="-20" dirty="0">
                <a:solidFill>
                  <a:srgbClr val="C00000"/>
                </a:solidFill>
                <a:latin typeface="Berlin Sans FB" panose="020E0602020502020306" pitchFamily="34" charset="0"/>
                <a:cs typeface="Calibri"/>
              </a:rPr>
              <a:t>integrity,</a:t>
            </a:r>
            <a:r>
              <a:rPr sz="1600" spc="10" dirty="0">
                <a:solidFill>
                  <a:srgbClr val="C00000"/>
                </a:solidFill>
                <a:latin typeface="Berlin Sans FB" panose="020E0602020502020306" pitchFamily="34" charset="0"/>
                <a:cs typeface="Calibri"/>
              </a:rPr>
              <a:t> </a:t>
            </a:r>
            <a:r>
              <a:rPr sz="1600" dirty="0">
                <a:solidFill>
                  <a:srgbClr val="C00000"/>
                </a:solidFill>
                <a:latin typeface="Berlin Sans FB" panose="020E0602020502020306" pitchFamily="34" charset="0"/>
                <a:cs typeface="Calibri"/>
              </a:rPr>
              <a:t>and</a:t>
            </a:r>
            <a:r>
              <a:rPr sz="1600" spc="-5" dirty="0">
                <a:solidFill>
                  <a:srgbClr val="C00000"/>
                </a:solidFill>
                <a:latin typeface="Berlin Sans FB" panose="020E0602020502020306" pitchFamily="34" charset="0"/>
                <a:cs typeface="Calibri"/>
              </a:rPr>
              <a:t> </a:t>
            </a:r>
            <a:r>
              <a:rPr sz="1600" spc="-10" dirty="0">
                <a:solidFill>
                  <a:srgbClr val="C00000"/>
                </a:solidFill>
                <a:latin typeface="Berlin Sans FB" panose="020E0602020502020306" pitchFamily="34" charset="0"/>
                <a:cs typeface="Calibri"/>
              </a:rPr>
              <a:t>availability;</a:t>
            </a:r>
            <a:endParaRPr sz="1600" dirty="0">
              <a:solidFill>
                <a:srgbClr val="C00000"/>
              </a:solidFill>
              <a:latin typeface="Berlin Sans FB" panose="020E0602020502020306" pitchFamily="34" charset="0"/>
              <a:cs typeface="Calibri"/>
            </a:endParaRPr>
          </a:p>
          <a:p>
            <a:pPr marL="755650" marR="927735" lvl="1" indent="-285750">
              <a:lnSpc>
                <a:spcPct val="70000"/>
              </a:lnSpc>
              <a:spcBef>
                <a:spcPts val="600"/>
              </a:spcBef>
              <a:spcAft>
                <a:spcPts val="600"/>
              </a:spcAft>
              <a:buFont typeface="Arial" panose="020B0604020202020204" pitchFamily="34" charset="0"/>
              <a:buChar char="•"/>
              <a:tabLst>
                <a:tab pos="698500" algn="l"/>
                <a:tab pos="699135" algn="l"/>
              </a:tabLst>
            </a:pPr>
            <a:r>
              <a:rPr sz="1600" spc="-10" dirty="0">
                <a:solidFill>
                  <a:srgbClr val="C00000"/>
                </a:solidFill>
                <a:latin typeface="Berlin Sans FB" panose="020E0602020502020306" pitchFamily="34" charset="0"/>
                <a:cs typeface="Calibri"/>
              </a:rPr>
              <a:t>others</a:t>
            </a:r>
            <a:r>
              <a:rPr sz="1600" spc="5" dirty="0">
                <a:solidFill>
                  <a:srgbClr val="C00000"/>
                </a:solidFill>
                <a:latin typeface="Berlin Sans FB" panose="020E0602020502020306" pitchFamily="34" charset="0"/>
                <a:cs typeface="Calibri"/>
              </a:rPr>
              <a:t> </a:t>
            </a:r>
            <a:r>
              <a:rPr sz="1600" spc="-15" dirty="0">
                <a:solidFill>
                  <a:srgbClr val="C00000"/>
                </a:solidFill>
                <a:latin typeface="Berlin Sans FB" panose="020E0602020502020306" pitchFamily="34" charset="0"/>
                <a:cs typeface="Calibri"/>
              </a:rPr>
              <a:t>may</a:t>
            </a:r>
            <a:r>
              <a:rPr sz="1600" spc="10" dirty="0">
                <a:solidFill>
                  <a:srgbClr val="C00000"/>
                </a:solidFill>
                <a:latin typeface="Berlin Sans FB" panose="020E0602020502020306" pitchFamily="34" charset="0"/>
                <a:cs typeface="Calibri"/>
              </a:rPr>
              <a:t> </a:t>
            </a:r>
            <a:r>
              <a:rPr sz="1600" spc="-5" dirty="0">
                <a:solidFill>
                  <a:srgbClr val="C00000"/>
                </a:solidFill>
                <a:latin typeface="Berlin Sans FB" panose="020E0602020502020306" pitchFamily="34" charset="0"/>
                <a:cs typeface="Calibri"/>
              </a:rPr>
              <a:t>support</a:t>
            </a:r>
            <a:r>
              <a:rPr sz="1600" dirty="0">
                <a:solidFill>
                  <a:srgbClr val="C00000"/>
                </a:solidFill>
                <a:latin typeface="Berlin Sans FB" panose="020E0602020502020306" pitchFamily="34" charset="0"/>
                <a:cs typeface="Calibri"/>
              </a:rPr>
              <a:t> </a:t>
            </a:r>
            <a:r>
              <a:rPr sz="1600" spc="-5" dirty="0">
                <a:solidFill>
                  <a:srgbClr val="C00000"/>
                </a:solidFill>
                <a:latin typeface="Berlin Sans FB" panose="020E0602020502020306" pitchFamily="34" charset="0"/>
                <a:cs typeface="Calibri"/>
              </a:rPr>
              <a:t>identification,</a:t>
            </a:r>
            <a:r>
              <a:rPr sz="1600" spc="25" dirty="0">
                <a:solidFill>
                  <a:srgbClr val="C00000"/>
                </a:solidFill>
                <a:latin typeface="Berlin Sans FB" panose="020E0602020502020306" pitchFamily="34" charset="0"/>
                <a:cs typeface="Calibri"/>
              </a:rPr>
              <a:t> </a:t>
            </a:r>
            <a:r>
              <a:rPr sz="1600" spc="-5" dirty="0">
                <a:solidFill>
                  <a:srgbClr val="C00000"/>
                </a:solidFill>
                <a:latin typeface="Berlin Sans FB" panose="020E0602020502020306" pitchFamily="34" charset="0"/>
                <a:cs typeface="Calibri"/>
              </a:rPr>
              <a:t>authentication,</a:t>
            </a:r>
            <a:r>
              <a:rPr sz="1600" dirty="0">
                <a:solidFill>
                  <a:srgbClr val="C00000"/>
                </a:solidFill>
                <a:latin typeface="Berlin Sans FB" panose="020E0602020502020306" pitchFamily="34" charset="0"/>
                <a:cs typeface="Calibri"/>
              </a:rPr>
              <a:t> </a:t>
            </a:r>
            <a:r>
              <a:rPr sz="1600" spc="-5" dirty="0">
                <a:solidFill>
                  <a:srgbClr val="C00000"/>
                </a:solidFill>
                <a:latin typeface="Berlin Sans FB" panose="020E0602020502020306" pitchFamily="34" charset="0"/>
                <a:cs typeface="Calibri"/>
              </a:rPr>
              <a:t>authorization,</a:t>
            </a:r>
            <a:r>
              <a:rPr sz="1600" spc="10" dirty="0">
                <a:solidFill>
                  <a:srgbClr val="C00000"/>
                </a:solidFill>
                <a:latin typeface="Berlin Sans FB" panose="020E0602020502020306" pitchFamily="34" charset="0"/>
                <a:cs typeface="Calibri"/>
              </a:rPr>
              <a:t> </a:t>
            </a:r>
            <a:r>
              <a:rPr sz="1600" spc="-5" dirty="0">
                <a:solidFill>
                  <a:srgbClr val="C00000"/>
                </a:solidFill>
                <a:latin typeface="Berlin Sans FB" panose="020E0602020502020306" pitchFamily="34" charset="0"/>
                <a:cs typeface="Calibri"/>
              </a:rPr>
              <a:t>nonrepudiation,</a:t>
            </a:r>
            <a:r>
              <a:rPr sz="1600" spc="-20" dirty="0">
                <a:solidFill>
                  <a:srgbClr val="C00000"/>
                </a:solidFill>
                <a:latin typeface="Berlin Sans FB" panose="020E0602020502020306" pitchFamily="34" charset="0"/>
                <a:cs typeface="Calibri"/>
              </a:rPr>
              <a:t> </a:t>
            </a:r>
            <a:r>
              <a:rPr sz="1600" spc="-5" dirty="0">
                <a:solidFill>
                  <a:srgbClr val="C00000"/>
                </a:solidFill>
                <a:latin typeface="Berlin Sans FB" panose="020E0602020502020306" pitchFamily="34" charset="0"/>
                <a:cs typeface="Calibri"/>
              </a:rPr>
              <a:t>or </a:t>
            </a:r>
            <a:r>
              <a:rPr sz="1600" spc="-434" dirty="0">
                <a:solidFill>
                  <a:srgbClr val="C00000"/>
                </a:solidFill>
                <a:latin typeface="Berlin Sans FB" panose="020E0602020502020306" pitchFamily="34" charset="0"/>
                <a:cs typeface="Calibri"/>
              </a:rPr>
              <a:t> </a:t>
            </a:r>
            <a:r>
              <a:rPr sz="1600" spc="-15" dirty="0">
                <a:solidFill>
                  <a:srgbClr val="C00000"/>
                </a:solidFill>
                <a:latin typeface="Berlin Sans FB" panose="020E0602020502020306" pitchFamily="34" charset="0"/>
                <a:cs typeface="Calibri"/>
              </a:rPr>
              <a:t>accountability.</a:t>
            </a:r>
            <a:endParaRPr sz="1600" dirty="0">
              <a:solidFill>
                <a:srgbClr val="C00000"/>
              </a:solidFill>
              <a:latin typeface="Berlin Sans FB" panose="020E0602020502020306" pitchFamily="34" charset="0"/>
              <a:cs typeface="Calibri"/>
            </a:endParaRPr>
          </a:p>
          <a:p>
            <a:pPr marL="354965" marR="176530" indent="-342900">
              <a:lnSpc>
                <a:spcPct val="70000"/>
              </a:lnSpc>
              <a:spcBef>
                <a:spcPts val="600"/>
              </a:spcBef>
              <a:spcAft>
                <a:spcPts val="600"/>
              </a:spcAft>
              <a:buFont typeface="Wingdings" panose="05000000000000000000" pitchFamily="2" charset="2"/>
              <a:buChar char="§"/>
              <a:tabLst>
                <a:tab pos="241935" algn="l"/>
              </a:tabLst>
            </a:pPr>
            <a:r>
              <a:rPr spc="-15" dirty="0">
                <a:solidFill>
                  <a:srgbClr val="002060"/>
                </a:solidFill>
                <a:latin typeface="Berlin Sans FB" panose="020E0602020502020306" pitchFamily="34" charset="0"/>
                <a:cs typeface="Calibri"/>
              </a:rPr>
              <a:t>For</a:t>
            </a:r>
            <a:r>
              <a:rPr spc="-5" dirty="0">
                <a:solidFill>
                  <a:srgbClr val="002060"/>
                </a:solidFill>
                <a:latin typeface="Berlin Sans FB" panose="020E0602020502020306" pitchFamily="34" charset="0"/>
                <a:cs typeface="Calibri"/>
              </a:rPr>
              <a:t> </a:t>
            </a:r>
            <a:r>
              <a:rPr spc="-10" dirty="0">
                <a:solidFill>
                  <a:srgbClr val="002060"/>
                </a:solidFill>
                <a:latin typeface="Berlin Sans FB" panose="020E0602020502020306" pitchFamily="34" charset="0"/>
                <a:cs typeface="Calibri"/>
              </a:rPr>
              <a:t>example,</a:t>
            </a:r>
            <a:r>
              <a:rPr spc="-15" dirty="0">
                <a:solidFill>
                  <a:srgbClr val="002060"/>
                </a:solidFill>
                <a:latin typeface="Berlin Sans FB" panose="020E0602020502020306" pitchFamily="34" charset="0"/>
                <a:cs typeface="Calibri"/>
              </a:rPr>
              <a:t> to</a:t>
            </a:r>
            <a:r>
              <a:rPr spc="-25" dirty="0">
                <a:solidFill>
                  <a:srgbClr val="002060"/>
                </a:solidFill>
                <a:latin typeface="Berlin Sans FB" panose="020E0602020502020306" pitchFamily="34" charset="0"/>
                <a:cs typeface="Calibri"/>
              </a:rPr>
              <a:t> </a:t>
            </a:r>
            <a:r>
              <a:rPr spc="-5" dirty="0">
                <a:solidFill>
                  <a:srgbClr val="002060"/>
                </a:solidFill>
                <a:latin typeface="Berlin Sans FB" panose="020E0602020502020306" pitchFamily="34" charset="0"/>
                <a:cs typeface="Calibri"/>
              </a:rPr>
              <a:t>support</a:t>
            </a:r>
            <a:r>
              <a:rPr spc="5" dirty="0">
                <a:solidFill>
                  <a:srgbClr val="002060"/>
                </a:solidFill>
                <a:latin typeface="Berlin Sans FB" panose="020E0602020502020306" pitchFamily="34" charset="0"/>
                <a:cs typeface="Calibri"/>
              </a:rPr>
              <a:t> </a:t>
            </a:r>
            <a:r>
              <a:rPr spc="-20" dirty="0">
                <a:solidFill>
                  <a:srgbClr val="002060"/>
                </a:solidFill>
                <a:latin typeface="Berlin Sans FB" panose="020E0602020502020306" pitchFamily="34" charset="0"/>
                <a:cs typeface="Calibri"/>
              </a:rPr>
              <a:t>confidentiality,</a:t>
            </a:r>
            <a:r>
              <a:rPr spc="-15" dirty="0">
                <a:solidFill>
                  <a:srgbClr val="002060"/>
                </a:solidFill>
                <a:latin typeface="Berlin Sans FB" panose="020E0602020502020306" pitchFamily="34" charset="0"/>
                <a:cs typeface="Calibri"/>
              </a:rPr>
              <a:t> </a:t>
            </a:r>
            <a:r>
              <a:rPr dirty="0">
                <a:solidFill>
                  <a:srgbClr val="002060"/>
                </a:solidFill>
                <a:latin typeface="Berlin Sans FB" panose="020E0602020502020306" pitchFamily="34" charset="0"/>
                <a:cs typeface="Calibri"/>
              </a:rPr>
              <a:t>encryption</a:t>
            </a:r>
            <a:r>
              <a:rPr spc="-20" dirty="0">
                <a:solidFill>
                  <a:srgbClr val="002060"/>
                </a:solidFill>
                <a:latin typeface="Berlin Sans FB" panose="020E0602020502020306" pitchFamily="34" charset="0"/>
                <a:cs typeface="Calibri"/>
              </a:rPr>
              <a:t> </a:t>
            </a:r>
            <a:r>
              <a:rPr spc="-15" dirty="0">
                <a:solidFill>
                  <a:srgbClr val="002060"/>
                </a:solidFill>
                <a:latin typeface="Berlin Sans FB" panose="020E0602020502020306" pitchFamily="34" charset="0"/>
                <a:cs typeface="Calibri"/>
              </a:rPr>
              <a:t>controls</a:t>
            </a:r>
            <a:r>
              <a:rPr spc="-5" dirty="0">
                <a:solidFill>
                  <a:srgbClr val="002060"/>
                </a:solidFill>
                <a:latin typeface="Berlin Sans FB" panose="020E0602020502020306" pitchFamily="34" charset="0"/>
                <a:cs typeface="Calibri"/>
              </a:rPr>
              <a:t> on </a:t>
            </a:r>
            <a:r>
              <a:rPr spc="-15" dirty="0">
                <a:solidFill>
                  <a:srgbClr val="002060"/>
                </a:solidFill>
                <a:latin typeface="Berlin Sans FB" panose="020E0602020502020306" pitchFamily="34" charset="0"/>
                <a:cs typeface="Calibri"/>
              </a:rPr>
              <a:t>data at rest</a:t>
            </a:r>
            <a:r>
              <a:rPr spc="5" dirty="0">
                <a:solidFill>
                  <a:srgbClr val="002060"/>
                </a:solidFill>
                <a:latin typeface="Berlin Sans FB" panose="020E0602020502020306" pitchFamily="34" charset="0"/>
                <a:cs typeface="Calibri"/>
              </a:rPr>
              <a:t> </a:t>
            </a:r>
            <a:r>
              <a:rPr dirty="0">
                <a:solidFill>
                  <a:srgbClr val="002060"/>
                </a:solidFill>
                <a:latin typeface="Berlin Sans FB" panose="020E0602020502020306" pitchFamily="34" charset="0"/>
                <a:cs typeface="Calibri"/>
              </a:rPr>
              <a:t>and </a:t>
            </a:r>
            <a:r>
              <a:rPr spc="5" dirty="0">
                <a:solidFill>
                  <a:srgbClr val="002060"/>
                </a:solidFill>
                <a:latin typeface="Berlin Sans FB" panose="020E0602020502020306" pitchFamily="34" charset="0"/>
                <a:cs typeface="Calibri"/>
              </a:rPr>
              <a:t> </a:t>
            </a:r>
            <a:r>
              <a:rPr spc="-15" dirty="0">
                <a:solidFill>
                  <a:srgbClr val="002060"/>
                </a:solidFill>
                <a:latin typeface="Berlin Sans FB" panose="020E0602020502020306" pitchFamily="34" charset="0"/>
                <a:cs typeface="Calibri"/>
              </a:rPr>
              <a:t>data </a:t>
            </a:r>
            <a:r>
              <a:rPr dirty="0">
                <a:solidFill>
                  <a:srgbClr val="002060"/>
                </a:solidFill>
                <a:latin typeface="Berlin Sans FB" panose="020E0602020502020306" pitchFamily="34" charset="0"/>
                <a:cs typeface="Calibri"/>
              </a:rPr>
              <a:t>in </a:t>
            </a:r>
            <a:r>
              <a:rPr spc="-10" dirty="0">
                <a:solidFill>
                  <a:srgbClr val="002060"/>
                </a:solidFill>
                <a:latin typeface="Berlin Sans FB" panose="020E0602020502020306" pitchFamily="34" charset="0"/>
                <a:cs typeface="Calibri"/>
              </a:rPr>
              <a:t>transit </a:t>
            </a:r>
            <a:r>
              <a:rPr spc="-15" dirty="0">
                <a:solidFill>
                  <a:srgbClr val="002060"/>
                </a:solidFill>
                <a:latin typeface="Berlin Sans FB" panose="020E0602020502020306" pitchFamily="34" charset="0"/>
                <a:cs typeface="Calibri"/>
              </a:rPr>
              <a:t>may</a:t>
            </a:r>
            <a:r>
              <a:rPr spc="-10" dirty="0">
                <a:solidFill>
                  <a:srgbClr val="002060"/>
                </a:solidFill>
                <a:latin typeface="Berlin Sans FB" panose="020E0602020502020306" pitchFamily="34" charset="0"/>
                <a:cs typeface="Calibri"/>
              </a:rPr>
              <a:t> </a:t>
            </a:r>
            <a:r>
              <a:rPr spc="-5" dirty="0">
                <a:solidFill>
                  <a:srgbClr val="002060"/>
                </a:solidFill>
                <a:latin typeface="Berlin Sans FB" panose="020E0602020502020306" pitchFamily="34" charset="0"/>
                <a:cs typeface="Calibri"/>
              </a:rPr>
              <a:t>be</a:t>
            </a:r>
            <a:r>
              <a:rPr dirty="0">
                <a:solidFill>
                  <a:srgbClr val="002060"/>
                </a:solidFill>
                <a:latin typeface="Berlin Sans FB" panose="020E0602020502020306" pitchFamily="34" charset="0"/>
                <a:cs typeface="Calibri"/>
              </a:rPr>
              <a:t> </a:t>
            </a:r>
            <a:r>
              <a:rPr spc="-10" dirty="0">
                <a:solidFill>
                  <a:srgbClr val="002060"/>
                </a:solidFill>
                <a:latin typeface="Berlin Sans FB" panose="020E0602020502020306" pitchFamily="34" charset="0"/>
                <a:cs typeface="Calibri"/>
              </a:rPr>
              <a:t>required.</a:t>
            </a:r>
            <a:r>
              <a:rPr dirty="0">
                <a:solidFill>
                  <a:srgbClr val="002060"/>
                </a:solidFill>
                <a:latin typeface="Berlin Sans FB" panose="020E0602020502020306" pitchFamily="34" charset="0"/>
                <a:cs typeface="Calibri"/>
              </a:rPr>
              <a:t> </a:t>
            </a:r>
            <a:r>
              <a:rPr spc="-30" dirty="0">
                <a:solidFill>
                  <a:srgbClr val="002060"/>
                </a:solidFill>
                <a:latin typeface="Berlin Sans FB" panose="020E0602020502020306" pitchFamily="34" charset="0"/>
                <a:cs typeface="Calibri"/>
              </a:rPr>
              <a:t>There’s</a:t>
            </a:r>
            <a:r>
              <a:rPr spc="5" dirty="0">
                <a:solidFill>
                  <a:srgbClr val="002060"/>
                </a:solidFill>
                <a:latin typeface="Berlin Sans FB" panose="020E0602020502020306" pitchFamily="34" charset="0"/>
                <a:cs typeface="Calibri"/>
              </a:rPr>
              <a:t> </a:t>
            </a:r>
            <a:r>
              <a:rPr dirty="0">
                <a:solidFill>
                  <a:srgbClr val="002060"/>
                </a:solidFill>
                <a:latin typeface="Berlin Sans FB" panose="020E0602020502020306" pitchFamily="34" charset="0"/>
                <a:cs typeface="Calibri"/>
              </a:rPr>
              <a:t>also</a:t>
            </a:r>
            <a:r>
              <a:rPr spc="-10" dirty="0">
                <a:solidFill>
                  <a:srgbClr val="002060"/>
                </a:solidFill>
                <a:latin typeface="Berlin Sans FB" panose="020E0602020502020306" pitchFamily="34" charset="0"/>
                <a:cs typeface="Calibri"/>
              </a:rPr>
              <a:t> corresponding</a:t>
            </a:r>
            <a:r>
              <a:rPr spc="-5" dirty="0">
                <a:solidFill>
                  <a:srgbClr val="002060"/>
                </a:solidFill>
                <a:latin typeface="Berlin Sans FB" panose="020E0602020502020306" pitchFamily="34" charset="0"/>
                <a:cs typeface="Calibri"/>
              </a:rPr>
              <a:t> </a:t>
            </a:r>
            <a:r>
              <a:rPr dirty="0">
                <a:solidFill>
                  <a:srgbClr val="002060"/>
                </a:solidFill>
                <a:latin typeface="Berlin Sans FB" panose="020E0602020502020306" pitchFamily="34" charset="0"/>
                <a:cs typeface="Calibri"/>
              </a:rPr>
              <a:t>risk </a:t>
            </a:r>
            <a:r>
              <a:rPr spc="-10" dirty="0">
                <a:solidFill>
                  <a:srgbClr val="002060"/>
                </a:solidFill>
                <a:latin typeface="Berlin Sans FB" panose="020E0602020502020306" pitchFamily="34" charset="0"/>
                <a:cs typeface="Calibri"/>
              </a:rPr>
              <a:t>that </a:t>
            </a:r>
            <a:r>
              <a:rPr dirty="0">
                <a:solidFill>
                  <a:srgbClr val="002060"/>
                </a:solidFill>
                <a:latin typeface="Berlin Sans FB" panose="020E0602020502020306" pitchFamily="34" charset="0"/>
                <a:cs typeface="Calibri"/>
              </a:rPr>
              <a:t>these </a:t>
            </a:r>
            <a:r>
              <a:rPr spc="5" dirty="0">
                <a:solidFill>
                  <a:srgbClr val="002060"/>
                </a:solidFill>
                <a:latin typeface="Berlin Sans FB" panose="020E0602020502020306" pitchFamily="34" charset="0"/>
                <a:cs typeface="Calibri"/>
              </a:rPr>
              <a:t> </a:t>
            </a:r>
            <a:r>
              <a:rPr dirty="0">
                <a:solidFill>
                  <a:srgbClr val="002060"/>
                </a:solidFill>
                <a:latin typeface="Berlin Sans FB" panose="020E0602020502020306" pitchFamily="34" charset="0"/>
                <a:cs typeface="Calibri"/>
              </a:rPr>
              <a:t>encryption</a:t>
            </a:r>
            <a:r>
              <a:rPr spc="-20" dirty="0">
                <a:solidFill>
                  <a:srgbClr val="002060"/>
                </a:solidFill>
                <a:latin typeface="Berlin Sans FB" panose="020E0602020502020306" pitchFamily="34" charset="0"/>
                <a:cs typeface="Calibri"/>
              </a:rPr>
              <a:t> </a:t>
            </a:r>
            <a:r>
              <a:rPr spc="-15" dirty="0">
                <a:solidFill>
                  <a:srgbClr val="002060"/>
                </a:solidFill>
                <a:latin typeface="Berlin Sans FB" panose="020E0602020502020306" pitchFamily="34" charset="0"/>
                <a:cs typeface="Calibri"/>
              </a:rPr>
              <a:t>controls</a:t>
            </a:r>
            <a:r>
              <a:rPr spc="-20" dirty="0">
                <a:solidFill>
                  <a:srgbClr val="002060"/>
                </a:solidFill>
                <a:latin typeface="Berlin Sans FB" panose="020E0602020502020306" pitchFamily="34" charset="0"/>
                <a:cs typeface="Calibri"/>
              </a:rPr>
              <a:t> </a:t>
            </a:r>
            <a:r>
              <a:rPr spc="-10" dirty="0">
                <a:solidFill>
                  <a:srgbClr val="002060"/>
                </a:solidFill>
                <a:latin typeface="Berlin Sans FB" panose="020E0602020502020306" pitchFamily="34" charset="0"/>
                <a:cs typeface="Calibri"/>
              </a:rPr>
              <a:t>can</a:t>
            </a:r>
            <a:r>
              <a:rPr spc="-5" dirty="0">
                <a:solidFill>
                  <a:srgbClr val="002060"/>
                </a:solidFill>
                <a:latin typeface="Berlin Sans FB" panose="020E0602020502020306" pitchFamily="34" charset="0"/>
                <a:cs typeface="Calibri"/>
              </a:rPr>
              <a:t> </a:t>
            </a:r>
            <a:r>
              <a:rPr spc="-15" dirty="0">
                <a:solidFill>
                  <a:srgbClr val="002060"/>
                </a:solidFill>
                <a:latin typeface="Berlin Sans FB" panose="020E0602020502020306" pitchFamily="34" charset="0"/>
                <a:cs typeface="Calibri"/>
              </a:rPr>
              <a:t>mitigate, </a:t>
            </a:r>
            <a:r>
              <a:rPr dirty="0">
                <a:solidFill>
                  <a:srgbClr val="002060"/>
                </a:solidFill>
                <a:latin typeface="Berlin Sans FB" panose="020E0602020502020306" pitchFamily="34" charset="0"/>
                <a:cs typeface="Calibri"/>
              </a:rPr>
              <a:t>and </a:t>
            </a:r>
            <a:r>
              <a:rPr spc="-10" dirty="0">
                <a:solidFill>
                  <a:srgbClr val="002060"/>
                </a:solidFill>
                <a:latin typeface="Berlin Sans FB" panose="020E0602020502020306" pitchFamily="34" charset="0"/>
                <a:cs typeface="Calibri"/>
              </a:rPr>
              <a:t>that</a:t>
            </a:r>
            <a:r>
              <a:rPr spc="-15" dirty="0">
                <a:solidFill>
                  <a:srgbClr val="002060"/>
                </a:solidFill>
                <a:latin typeface="Berlin Sans FB" panose="020E0602020502020306" pitchFamily="34" charset="0"/>
                <a:cs typeface="Calibri"/>
              </a:rPr>
              <a:t> </a:t>
            </a:r>
            <a:r>
              <a:rPr dirty="0">
                <a:solidFill>
                  <a:srgbClr val="002060"/>
                </a:solidFill>
                <a:latin typeface="Berlin Sans FB" panose="020E0602020502020306" pitchFamily="34" charset="0"/>
                <a:cs typeface="Calibri"/>
              </a:rPr>
              <a:t>risk</a:t>
            </a:r>
            <a:r>
              <a:rPr spc="5" dirty="0">
                <a:solidFill>
                  <a:srgbClr val="002060"/>
                </a:solidFill>
                <a:latin typeface="Berlin Sans FB" panose="020E0602020502020306" pitchFamily="34" charset="0"/>
                <a:cs typeface="Calibri"/>
              </a:rPr>
              <a:t> </a:t>
            </a:r>
            <a:r>
              <a:rPr dirty="0">
                <a:solidFill>
                  <a:srgbClr val="002060"/>
                </a:solidFill>
                <a:latin typeface="Berlin Sans FB" panose="020E0602020502020306" pitchFamily="34" charset="0"/>
                <a:cs typeface="Calibri"/>
              </a:rPr>
              <a:t>is</a:t>
            </a:r>
            <a:r>
              <a:rPr spc="-15" dirty="0">
                <a:solidFill>
                  <a:srgbClr val="002060"/>
                </a:solidFill>
                <a:latin typeface="Berlin Sans FB" panose="020E0602020502020306" pitchFamily="34" charset="0"/>
                <a:cs typeface="Calibri"/>
              </a:rPr>
              <a:t> </a:t>
            </a:r>
            <a:r>
              <a:rPr spc="-5" dirty="0">
                <a:solidFill>
                  <a:srgbClr val="002060"/>
                </a:solidFill>
                <a:latin typeface="Berlin Sans FB" panose="020E0602020502020306" pitchFamily="34" charset="0"/>
                <a:cs typeface="Calibri"/>
              </a:rPr>
              <a:t>of </a:t>
            </a:r>
            <a:r>
              <a:rPr spc="-10" dirty="0">
                <a:solidFill>
                  <a:srgbClr val="002060"/>
                </a:solidFill>
                <a:latin typeface="Berlin Sans FB" panose="020E0602020502020306" pitchFamily="34" charset="0"/>
                <a:cs typeface="Calibri"/>
              </a:rPr>
              <a:t>unauthorized</a:t>
            </a:r>
            <a:r>
              <a:rPr spc="5" dirty="0">
                <a:solidFill>
                  <a:srgbClr val="002060"/>
                </a:solidFill>
                <a:latin typeface="Berlin Sans FB" panose="020E0602020502020306" pitchFamily="34" charset="0"/>
                <a:cs typeface="Calibri"/>
              </a:rPr>
              <a:t> </a:t>
            </a:r>
            <a:r>
              <a:rPr dirty="0">
                <a:solidFill>
                  <a:srgbClr val="002060"/>
                </a:solidFill>
                <a:latin typeface="Berlin Sans FB" panose="020E0602020502020306" pitchFamily="34" charset="0"/>
                <a:cs typeface="Calibri"/>
              </a:rPr>
              <a:t>access</a:t>
            </a:r>
            <a:r>
              <a:rPr spc="-30" dirty="0">
                <a:solidFill>
                  <a:srgbClr val="002060"/>
                </a:solidFill>
                <a:latin typeface="Berlin Sans FB" panose="020E0602020502020306" pitchFamily="34" charset="0"/>
                <a:cs typeface="Calibri"/>
              </a:rPr>
              <a:t> </a:t>
            </a:r>
            <a:r>
              <a:rPr spc="-15" dirty="0">
                <a:solidFill>
                  <a:srgbClr val="002060"/>
                </a:solidFill>
                <a:latin typeface="Berlin Sans FB" panose="020E0602020502020306" pitchFamily="34" charset="0"/>
                <a:cs typeface="Calibri"/>
              </a:rPr>
              <a:t>to</a:t>
            </a:r>
            <a:r>
              <a:rPr spc="-10" dirty="0">
                <a:solidFill>
                  <a:srgbClr val="002060"/>
                </a:solidFill>
                <a:latin typeface="Berlin Sans FB" panose="020E0602020502020306" pitchFamily="34" charset="0"/>
                <a:cs typeface="Calibri"/>
              </a:rPr>
              <a:t> </a:t>
            </a:r>
            <a:r>
              <a:rPr spc="-15" dirty="0">
                <a:solidFill>
                  <a:srgbClr val="002060"/>
                </a:solidFill>
                <a:latin typeface="Berlin Sans FB" panose="020E0602020502020306" pitchFamily="34" charset="0"/>
                <a:cs typeface="Calibri"/>
              </a:rPr>
              <a:t>data.</a:t>
            </a:r>
            <a:endParaRPr dirty="0">
              <a:solidFill>
                <a:srgbClr val="002060"/>
              </a:solidFill>
              <a:latin typeface="Berlin Sans FB" panose="020E0602020502020306" pitchFamily="34" charset="0"/>
              <a:cs typeface="Calibri"/>
            </a:endParaRPr>
          </a:p>
          <a:p>
            <a:pPr marL="354965" marR="5080" indent="-342900">
              <a:lnSpc>
                <a:spcPct val="70000"/>
              </a:lnSpc>
              <a:spcBef>
                <a:spcPts val="600"/>
              </a:spcBef>
              <a:spcAft>
                <a:spcPts val="600"/>
              </a:spcAft>
              <a:buFont typeface="Wingdings" panose="05000000000000000000" pitchFamily="2" charset="2"/>
              <a:buChar char="§"/>
              <a:tabLst>
                <a:tab pos="241935" algn="l"/>
              </a:tabLst>
            </a:pPr>
            <a:r>
              <a:rPr spc="-20" dirty="0">
                <a:solidFill>
                  <a:srgbClr val="002060"/>
                </a:solidFill>
                <a:latin typeface="Berlin Sans FB" panose="020E0602020502020306" pitchFamily="34" charset="0"/>
                <a:cs typeface="Calibri"/>
              </a:rPr>
              <a:t>It’s </a:t>
            </a:r>
            <a:r>
              <a:rPr dirty="0">
                <a:solidFill>
                  <a:srgbClr val="002060"/>
                </a:solidFill>
                <a:latin typeface="Berlin Sans FB" panose="020E0602020502020306" pitchFamily="34" charset="0"/>
                <a:cs typeface="Calibri"/>
              </a:rPr>
              <a:t>also </a:t>
            </a:r>
            <a:r>
              <a:rPr spc="-5" dirty="0">
                <a:solidFill>
                  <a:srgbClr val="002060"/>
                </a:solidFill>
                <a:latin typeface="Berlin Sans FB" panose="020E0602020502020306" pitchFamily="34" charset="0"/>
                <a:cs typeface="Calibri"/>
              </a:rPr>
              <a:t>critical </a:t>
            </a:r>
            <a:r>
              <a:rPr spc="-15" dirty="0">
                <a:solidFill>
                  <a:srgbClr val="002060"/>
                </a:solidFill>
                <a:latin typeface="Berlin Sans FB" panose="020E0602020502020306" pitchFamily="34" charset="0"/>
                <a:cs typeface="Calibri"/>
              </a:rPr>
              <a:t>to </a:t>
            </a:r>
            <a:r>
              <a:rPr spc="-5" dirty="0">
                <a:solidFill>
                  <a:srgbClr val="002060"/>
                </a:solidFill>
                <a:latin typeface="Berlin Sans FB" panose="020E0602020502020306" pitchFamily="34" charset="0"/>
                <a:cs typeface="Calibri"/>
              </a:rPr>
              <a:t>identify </a:t>
            </a:r>
            <a:r>
              <a:rPr spc="-15" dirty="0">
                <a:solidFill>
                  <a:srgbClr val="002060"/>
                </a:solidFill>
                <a:latin typeface="Berlin Sans FB" panose="020E0602020502020306" pitchFamily="34" charset="0"/>
                <a:cs typeface="Calibri"/>
              </a:rPr>
              <a:t>any </a:t>
            </a:r>
            <a:r>
              <a:rPr dirty="0">
                <a:solidFill>
                  <a:srgbClr val="002060"/>
                </a:solidFill>
                <a:latin typeface="Berlin Sans FB" panose="020E0602020502020306" pitchFamily="34" charset="0"/>
                <a:cs typeface="Calibri"/>
              </a:rPr>
              <a:t>impacts </a:t>
            </a:r>
            <a:r>
              <a:rPr spc="-15" dirty="0">
                <a:solidFill>
                  <a:srgbClr val="002060"/>
                </a:solidFill>
                <a:latin typeface="Berlin Sans FB" panose="020E0602020502020306" pitchFamily="34" charset="0"/>
                <a:cs typeface="Calibri"/>
              </a:rPr>
              <a:t>to </a:t>
            </a:r>
            <a:r>
              <a:rPr dirty="0">
                <a:solidFill>
                  <a:srgbClr val="002060"/>
                </a:solidFill>
                <a:latin typeface="Berlin Sans FB" panose="020E0602020502020306" pitchFamily="34" charset="0"/>
                <a:cs typeface="Calibri"/>
              </a:rPr>
              <a:t>the </a:t>
            </a:r>
            <a:r>
              <a:rPr spc="-15" dirty="0">
                <a:solidFill>
                  <a:srgbClr val="002060"/>
                </a:solidFill>
                <a:latin typeface="Berlin Sans FB" panose="020E0602020502020306" pitchFamily="34" charset="0"/>
                <a:cs typeface="Calibri"/>
              </a:rPr>
              <a:t>asset’s organization </a:t>
            </a:r>
            <a:r>
              <a:rPr dirty="0">
                <a:solidFill>
                  <a:srgbClr val="002060"/>
                </a:solidFill>
                <a:latin typeface="Berlin Sans FB" panose="020E0602020502020306" pitchFamily="34" charset="0"/>
                <a:cs typeface="Calibri"/>
              </a:rPr>
              <a:t>if the </a:t>
            </a:r>
            <a:r>
              <a:rPr spc="-15" dirty="0">
                <a:solidFill>
                  <a:srgbClr val="002060"/>
                </a:solidFill>
                <a:latin typeface="Berlin Sans FB" panose="020E0602020502020306" pitchFamily="34" charset="0"/>
                <a:cs typeface="Calibri"/>
              </a:rPr>
              <a:t>control </a:t>
            </a:r>
            <a:r>
              <a:rPr dirty="0">
                <a:solidFill>
                  <a:srgbClr val="002060"/>
                </a:solidFill>
                <a:latin typeface="Berlin Sans FB" panose="020E0602020502020306" pitchFamily="34" charset="0"/>
                <a:cs typeface="Calibri"/>
              </a:rPr>
              <a:t>is </a:t>
            </a:r>
            <a:r>
              <a:rPr spc="5" dirty="0">
                <a:solidFill>
                  <a:srgbClr val="002060"/>
                </a:solidFill>
                <a:latin typeface="Berlin Sans FB" panose="020E0602020502020306" pitchFamily="34" charset="0"/>
                <a:cs typeface="Calibri"/>
              </a:rPr>
              <a:t> </a:t>
            </a:r>
            <a:r>
              <a:rPr spc="-5" dirty="0">
                <a:solidFill>
                  <a:srgbClr val="002060"/>
                </a:solidFill>
                <a:latin typeface="Berlin Sans FB" panose="020E0602020502020306" pitchFamily="34" charset="0"/>
                <a:cs typeface="Calibri"/>
              </a:rPr>
              <a:t>not</a:t>
            </a:r>
            <a:r>
              <a:rPr dirty="0">
                <a:solidFill>
                  <a:srgbClr val="002060"/>
                </a:solidFill>
                <a:latin typeface="Berlin Sans FB" panose="020E0602020502020306" pitchFamily="34" charset="0"/>
                <a:cs typeface="Calibri"/>
              </a:rPr>
              <a:t> </a:t>
            </a:r>
            <a:r>
              <a:rPr spc="-5" dirty="0">
                <a:solidFill>
                  <a:srgbClr val="002060"/>
                </a:solidFill>
                <a:latin typeface="Berlin Sans FB" panose="020E0602020502020306" pitchFamily="34" charset="0"/>
                <a:cs typeface="Calibri"/>
              </a:rPr>
              <a:t>implemented.</a:t>
            </a:r>
            <a:r>
              <a:rPr spc="-25" dirty="0">
                <a:solidFill>
                  <a:srgbClr val="002060"/>
                </a:solidFill>
                <a:latin typeface="Berlin Sans FB" panose="020E0602020502020306" pitchFamily="34" charset="0"/>
                <a:cs typeface="Calibri"/>
              </a:rPr>
              <a:t> </a:t>
            </a:r>
            <a:r>
              <a:rPr spc="-5" dirty="0">
                <a:solidFill>
                  <a:srgbClr val="002060"/>
                </a:solidFill>
                <a:latin typeface="Berlin Sans FB" panose="020E0602020502020306" pitchFamily="34" charset="0"/>
                <a:cs typeface="Calibri"/>
              </a:rPr>
              <a:t>This</a:t>
            </a:r>
            <a:r>
              <a:rPr spc="5" dirty="0">
                <a:solidFill>
                  <a:srgbClr val="002060"/>
                </a:solidFill>
                <a:latin typeface="Berlin Sans FB" panose="020E0602020502020306" pitchFamily="34" charset="0"/>
                <a:cs typeface="Calibri"/>
              </a:rPr>
              <a:t> </a:t>
            </a:r>
            <a:r>
              <a:rPr spc="-10" dirty="0">
                <a:solidFill>
                  <a:srgbClr val="002060"/>
                </a:solidFill>
                <a:latin typeface="Berlin Sans FB" panose="020E0602020502020306" pitchFamily="34" charset="0"/>
                <a:cs typeface="Calibri"/>
              </a:rPr>
              <a:t>ensures</a:t>
            </a:r>
            <a:r>
              <a:rPr spc="10" dirty="0">
                <a:solidFill>
                  <a:srgbClr val="002060"/>
                </a:solidFill>
                <a:latin typeface="Berlin Sans FB" panose="020E0602020502020306" pitchFamily="34" charset="0"/>
                <a:cs typeface="Calibri"/>
              </a:rPr>
              <a:t> </a:t>
            </a:r>
            <a:r>
              <a:rPr spc="-10" dirty="0">
                <a:solidFill>
                  <a:srgbClr val="002060"/>
                </a:solidFill>
                <a:latin typeface="Berlin Sans FB" panose="020E0602020502020306" pitchFamily="34" charset="0"/>
                <a:cs typeface="Calibri"/>
              </a:rPr>
              <a:t>that</a:t>
            </a:r>
            <a:r>
              <a:rPr spc="-15" dirty="0">
                <a:solidFill>
                  <a:srgbClr val="002060"/>
                </a:solidFill>
                <a:latin typeface="Berlin Sans FB" panose="020E0602020502020306" pitchFamily="34" charset="0"/>
                <a:cs typeface="Calibri"/>
              </a:rPr>
              <a:t> </a:t>
            </a:r>
            <a:r>
              <a:rPr spc="-5" dirty="0">
                <a:solidFill>
                  <a:srgbClr val="002060"/>
                </a:solidFill>
                <a:latin typeface="Berlin Sans FB" panose="020E0602020502020306" pitchFamily="34" charset="0"/>
                <a:cs typeface="Calibri"/>
              </a:rPr>
              <a:t>senior</a:t>
            </a:r>
            <a:r>
              <a:rPr spc="5" dirty="0">
                <a:solidFill>
                  <a:srgbClr val="002060"/>
                </a:solidFill>
                <a:latin typeface="Berlin Sans FB" panose="020E0602020502020306" pitchFamily="34" charset="0"/>
                <a:cs typeface="Calibri"/>
              </a:rPr>
              <a:t> </a:t>
            </a:r>
            <a:r>
              <a:rPr spc="-10" dirty="0">
                <a:solidFill>
                  <a:srgbClr val="002060"/>
                </a:solidFill>
                <a:latin typeface="Berlin Sans FB" panose="020E0602020502020306" pitchFamily="34" charset="0"/>
                <a:cs typeface="Calibri"/>
              </a:rPr>
              <a:t>managers</a:t>
            </a:r>
            <a:r>
              <a:rPr spc="-15" dirty="0">
                <a:solidFill>
                  <a:srgbClr val="002060"/>
                </a:solidFill>
                <a:latin typeface="Berlin Sans FB" panose="020E0602020502020306" pitchFamily="34" charset="0"/>
                <a:cs typeface="Calibri"/>
              </a:rPr>
              <a:t> </a:t>
            </a:r>
            <a:r>
              <a:rPr dirty="0">
                <a:solidFill>
                  <a:srgbClr val="002060"/>
                </a:solidFill>
                <a:latin typeface="Berlin Sans FB" panose="020E0602020502020306" pitchFamily="34" charset="0"/>
                <a:cs typeface="Calibri"/>
              </a:rPr>
              <a:t>and</a:t>
            </a:r>
            <a:r>
              <a:rPr spc="5" dirty="0">
                <a:solidFill>
                  <a:srgbClr val="002060"/>
                </a:solidFill>
                <a:latin typeface="Berlin Sans FB" panose="020E0602020502020306" pitchFamily="34" charset="0"/>
                <a:cs typeface="Calibri"/>
              </a:rPr>
              <a:t> </a:t>
            </a:r>
            <a:r>
              <a:rPr spc="-15" dirty="0">
                <a:solidFill>
                  <a:srgbClr val="002060"/>
                </a:solidFill>
                <a:latin typeface="Berlin Sans FB" panose="020E0602020502020306" pitchFamily="34" charset="0"/>
                <a:cs typeface="Calibri"/>
              </a:rPr>
              <a:t>executives</a:t>
            </a:r>
            <a:r>
              <a:rPr spc="-10" dirty="0">
                <a:solidFill>
                  <a:srgbClr val="002060"/>
                </a:solidFill>
                <a:latin typeface="Berlin Sans FB" panose="020E0602020502020306" pitchFamily="34" charset="0"/>
                <a:cs typeface="Calibri"/>
              </a:rPr>
              <a:t> </a:t>
            </a:r>
            <a:r>
              <a:rPr spc="-15" dirty="0">
                <a:solidFill>
                  <a:srgbClr val="002060"/>
                </a:solidFill>
                <a:latin typeface="Berlin Sans FB" panose="020E0602020502020306" pitchFamily="34" charset="0"/>
                <a:cs typeface="Calibri"/>
              </a:rPr>
              <a:t>are</a:t>
            </a:r>
            <a:r>
              <a:rPr spc="-5" dirty="0">
                <a:solidFill>
                  <a:srgbClr val="002060"/>
                </a:solidFill>
                <a:latin typeface="Berlin Sans FB" panose="020E0602020502020306" pitchFamily="34" charset="0"/>
                <a:cs typeface="Calibri"/>
              </a:rPr>
              <a:t> </a:t>
            </a:r>
            <a:r>
              <a:rPr spc="-15" dirty="0">
                <a:solidFill>
                  <a:srgbClr val="002060"/>
                </a:solidFill>
                <a:latin typeface="Berlin Sans FB" panose="020E0602020502020306" pitchFamily="34" charset="0"/>
                <a:cs typeface="Calibri"/>
              </a:rPr>
              <a:t>aware</a:t>
            </a:r>
            <a:r>
              <a:rPr spc="-5" dirty="0">
                <a:solidFill>
                  <a:srgbClr val="002060"/>
                </a:solidFill>
                <a:latin typeface="Berlin Sans FB" panose="020E0602020502020306" pitchFamily="34" charset="0"/>
                <a:cs typeface="Calibri"/>
              </a:rPr>
              <a:t> of </a:t>
            </a:r>
            <a:r>
              <a:rPr spc="-530" dirty="0">
                <a:solidFill>
                  <a:srgbClr val="002060"/>
                </a:solidFill>
                <a:latin typeface="Berlin Sans FB" panose="020E0602020502020306" pitchFamily="34" charset="0"/>
                <a:cs typeface="Calibri"/>
              </a:rPr>
              <a:t> </a:t>
            </a:r>
            <a:r>
              <a:rPr dirty="0">
                <a:solidFill>
                  <a:srgbClr val="002060"/>
                </a:solidFill>
                <a:latin typeface="Berlin Sans FB" panose="020E0602020502020306" pitchFamily="34" charset="0"/>
                <a:cs typeface="Calibri"/>
              </a:rPr>
              <a:t>the </a:t>
            </a:r>
            <a:r>
              <a:rPr spc="-10" dirty="0">
                <a:solidFill>
                  <a:srgbClr val="002060"/>
                </a:solidFill>
                <a:latin typeface="Berlin Sans FB" panose="020E0602020502020306" pitchFamily="34" charset="0"/>
                <a:cs typeface="Calibri"/>
              </a:rPr>
              <a:t>consequences</a:t>
            </a:r>
            <a:r>
              <a:rPr spc="-5" dirty="0">
                <a:solidFill>
                  <a:srgbClr val="002060"/>
                </a:solidFill>
                <a:latin typeface="Berlin Sans FB" panose="020E0602020502020306" pitchFamily="34" charset="0"/>
                <a:cs typeface="Calibri"/>
              </a:rPr>
              <a:t> </a:t>
            </a:r>
            <a:r>
              <a:rPr spc="-10" dirty="0">
                <a:solidFill>
                  <a:srgbClr val="002060"/>
                </a:solidFill>
                <a:latin typeface="Berlin Sans FB" panose="020E0602020502020306" pitchFamily="34" charset="0"/>
                <a:cs typeface="Calibri"/>
              </a:rPr>
              <a:t>of</a:t>
            </a:r>
            <a:r>
              <a:rPr spc="-5" dirty="0">
                <a:solidFill>
                  <a:srgbClr val="002060"/>
                </a:solidFill>
                <a:latin typeface="Berlin Sans FB" panose="020E0602020502020306" pitchFamily="34" charset="0"/>
                <a:cs typeface="Calibri"/>
              </a:rPr>
              <a:t> </a:t>
            </a:r>
            <a:r>
              <a:rPr spc="-10" dirty="0">
                <a:solidFill>
                  <a:srgbClr val="002060"/>
                </a:solidFill>
                <a:latin typeface="Berlin Sans FB" panose="020E0602020502020306" pitchFamily="34" charset="0"/>
                <a:cs typeface="Calibri"/>
              </a:rPr>
              <a:t>not</a:t>
            </a:r>
            <a:r>
              <a:rPr dirty="0">
                <a:solidFill>
                  <a:srgbClr val="002060"/>
                </a:solidFill>
                <a:latin typeface="Berlin Sans FB" panose="020E0602020502020306" pitchFamily="34" charset="0"/>
                <a:cs typeface="Calibri"/>
              </a:rPr>
              <a:t> </a:t>
            </a:r>
            <a:r>
              <a:rPr spc="-5" dirty="0">
                <a:solidFill>
                  <a:srgbClr val="002060"/>
                </a:solidFill>
                <a:latin typeface="Berlin Sans FB" panose="020E0602020502020306" pitchFamily="34" charset="0"/>
                <a:cs typeface="Calibri"/>
              </a:rPr>
              <a:t>implementing</a:t>
            </a:r>
            <a:r>
              <a:rPr spc="-35" dirty="0">
                <a:solidFill>
                  <a:srgbClr val="002060"/>
                </a:solidFill>
                <a:latin typeface="Berlin Sans FB" panose="020E0602020502020306" pitchFamily="34" charset="0"/>
                <a:cs typeface="Calibri"/>
              </a:rPr>
              <a:t> </a:t>
            </a:r>
            <a:r>
              <a:rPr dirty="0">
                <a:solidFill>
                  <a:srgbClr val="002060"/>
                </a:solidFill>
                <a:latin typeface="Berlin Sans FB" panose="020E0602020502020306" pitchFamily="34" charset="0"/>
                <a:cs typeface="Calibri"/>
              </a:rPr>
              <a:t>the </a:t>
            </a:r>
            <a:r>
              <a:rPr spc="-15" dirty="0">
                <a:solidFill>
                  <a:srgbClr val="002060"/>
                </a:solidFill>
                <a:latin typeface="Berlin Sans FB" panose="020E0602020502020306" pitchFamily="34" charset="0"/>
                <a:cs typeface="Calibri"/>
              </a:rPr>
              <a:t>control.</a:t>
            </a:r>
            <a:endParaRPr dirty="0">
              <a:solidFill>
                <a:srgbClr val="002060"/>
              </a:solidFill>
              <a:latin typeface="Berlin Sans FB" panose="020E0602020502020306" pitchFamily="34" charset="0"/>
              <a:cs typeface="Calibri"/>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16939" y="609676"/>
            <a:ext cx="8387715" cy="697230"/>
          </a:xfrm>
          <a:prstGeom prst="rect">
            <a:avLst/>
          </a:prstGeom>
        </p:spPr>
        <p:txBody>
          <a:bodyPr vert="horz" wrap="square" lIns="0" tIns="13335" rIns="0" bIns="0" rtlCol="0">
            <a:spAutoFit/>
          </a:bodyPr>
          <a:lstStyle/>
          <a:p>
            <a:pPr marL="12700">
              <a:lnSpc>
                <a:spcPct val="100000"/>
              </a:lnSpc>
              <a:spcBef>
                <a:spcPts val="105"/>
              </a:spcBef>
            </a:pPr>
            <a:r>
              <a:rPr sz="4400" u="heavy" spc="-20" dirty="0">
                <a:solidFill>
                  <a:srgbClr val="074891"/>
                </a:solidFill>
                <a:uFill>
                  <a:solidFill>
                    <a:srgbClr val="000000"/>
                  </a:solidFill>
                </a:uFill>
                <a:latin typeface="Calibri Light"/>
                <a:cs typeface="Calibri Light"/>
              </a:rPr>
              <a:t>Due</a:t>
            </a:r>
            <a:r>
              <a:rPr sz="4400" u="heavy" spc="-95" dirty="0">
                <a:solidFill>
                  <a:srgbClr val="074891"/>
                </a:solidFill>
                <a:uFill>
                  <a:solidFill>
                    <a:srgbClr val="000000"/>
                  </a:solidFill>
                </a:uFill>
                <a:latin typeface="Calibri Light"/>
                <a:cs typeface="Calibri Light"/>
              </a:rPr>
              <a:t> </a:t>
            </a:r>
            <a:r>
              <a:rPr sz="4400" u="heavy" spc="-35" dirty="0">
                <a:solidFill>
                  <a:srgbClr val="074891"/>
                </a:solidFill>
                <a:uFill>
                  <a:solidFill>
                    <a:srgbClr val="000000"/>
                  </a:solidFill>
                </a:uFill>
                <a:latin typeface="Calibri Light"/>
                <a:cs typeface="Calibri Light"/>
              </a:rPr>
              <a:t>Diligence,</a:t>
            </a:r>
            <a:r>
              <a:rPr sz="4400" u="heavy" spc="-75" dirty="0">
                <a:solidFill>
                  <a:srgbClr val="074891"/>
                </a:solidFill>
                <a:uFill>
                  <a:solidFill>
                    <a:srgbClr val="000000"/>
                  </a:solidFill>
                </a:uFill>
                <a:latin typeface="Calibri Light"/>
                <a:cs typeface="Calibri Light"/>
              </a:rPr>
              <a:t> </a:t>
            </a:r>
            <a:r>
              <a:rPr sz="4400" u="heavy" spc="-20" dirty="0">
                <a:solidFill>
                  <a:srgbClr val="074891"/>
                </a:solidFill>
                <a:uFill>
                  <a:solidFill>
                    <a:srgbClr val="000000"/>
                  </a:solidFill>
                </a:uFill>
                <a:latin typeface="Calibri Light"/>
                <a:cs typeface="Calibri Light"/>
              </a:rPr>
              <a:t>Due</a:t>
            </a:r>
            <a:r>
              <a:rPr sz="4400" u="heavy" spc="-105" dirty="0">
                <a:solidFill>
                  <a:srgbClr val="074891"/>
                </a:solidFill>
                <a:uFill>
                  <a:solidFill>
                    <a:srgbClr val="000000"/>
                  </a:solidFill>
                </a:uFill>
                <a:latin typeface="Calibri Light"/>
                <a:cs typeface="Calibri Light"/>
              </a:rPr>
              <a:t> </a:t>
            </a:r>
            <a:r>
              <a:rPr sz="4400" u="heavy" spc="-35" dirty="0">
                <a:solidFill>
                  <a:srgbClr val="074891"/>
                </a:solidFill>
                <a:uFill>
                  <a:solidFill>
                    <a:srgbClr val="000000"/>
                  </a:solidFill>
                </a:uFill>
                <a:latin typeface="Calibri Light"/>
                <a:cs typeface="Calibri Light"/>
              </a:rPr>
              <a:t>Care,</a:t>
            </a:r>
            <a:r>
              <a:rPr sz="4400" u="heavy" spc="-75" dirty="0">
                <a:solidFill>
                  <a:srgbClr val="074891"/>
                </a:solidFill>
                <a:uFill>
                  <a:solidFill>
                    <a:srgbClr val="000000"/>
                  </a:solidFill>
                </a:uFill>
                <a:latin typeface="Calibri Light"/>
                <a:cs typeface="Calibri Light"/>
              </a:rPr>
              <a:t> </a:t>
            </a:r>
            <a:r>
              <a:rPr sz="4400" u="heavy" spc="-20" dirty="0">
                <a:solidFill>
                  <a:srgbClr val="074891"/>
                </a:solidFill>
                <a:uFill>
                  <a:solidFill>
                    <a:srgbClr val="000000"/>
                  </a:solidFill>
                </a:uFill>
                <a:latin typeface="Calibri Light"/>
                <a:cs typeface="Calibri Light"/>
              </a:rPr>
              <a:t>and</a:t>
            </a:r>
            <a:r>
              <a:rPr sz="4400" u="heavy" spc="-90" dirty="0">
                <a:solidFill>
                  <a:srgbClr val="074891"/>
                </a:solidFill>
                <a:uFill>
                  <a:solidFill>
                    <a:srgbClr val="000000"/>
                  </a:solidFill>
                </a:uFill>
                <a:latin typeface="Calibri Light"/>
                <a:cs typeface="Calibri Light"/>
              </a:rPr>
              <a:t> </a:t>
            </a:r>
            <a:r>
              <a:rPr sz="4400" u="heavy" spc="-25" dirty="0">
                <a:solidFill>
                  <a:srgbClr val="074891"/>
                </a:solidFill>
                <a:uFill>
                  <a:solidFill>
                    <a:srgbClr val="000000"/>
                  </a:solidFill>
                </a:uFill>
                <a:latin typeface="Calibri Light"/>
                <a:cs typeface="Calibri Light"/>
              </a:rPr>
              <a:t>Liability</a:t>
            </a:r>
            <a:r>
              <a:rPr sz="4400" u="heavy" spc="254" dirty="0">
                <a:solidFill>
                  <a:srgbClr val="074891"/>
                </a:solidFill>
                <a:uFill>
                  <a:solidFill>
                    <a:srgbClr val="000000"/>
                  </a:solidFill>
                </a:uFill>
                <a:latin typeface="Calibri Light"/>
                <a:cs typeface="Calibri Light"/>
              </a:rPr>
              <a:t> </a:t>
            </a:r>
            <a:endParaRPr sz="4400">
              <a:latin typeface="Calibri Light"/>
              <a:cs typeface="Calibri Light"/>
            </a:endParaRPr>
          </a:p>
        </p:txBody>
      </p:sp>
      <p:sp>
        <p:nvSpPr>
          <p:cNvPr id="3" name="object 3"/>
          <p:cNvSpPr txBox="1"/>
          <p:nvPr/>
        </p:nvSpPr>
        <p:spPr>
          <a:xfrm>
            <a:off x="1792262" y="1895093"/>
            <a:ext cx="7914445" cy="3435299"/>
          </a:xfrm>
          <a:prstGeom prst="rect">
            <a:avLst/>
          </a:prstGeom>
        </p:spPr>
        <p:txBody>
          <a:bodyPr vert="horz" wrap="square" lIns="0" tIns="54610" rIns="0" bIns="0" rtlCol="0">
            <a:spAutoFit/>
          </a:bodyPr>
          <a:lstStyle/>
          <a:p>
            <a:pPr marL="354965" marR="607695" indent="-342900">
              <a:lnSpc>
                <a:spcPct val="90000"/>
              </a:lnSpc>
              <a:spcBef>
                <a:spcPts val="430"/>
              </a:spcBef>
              <a:buFont typeface="Wingdings" panose="05000000000000000000" pitchFamily="2" charset="2"/>
              <a:buChar char="§"/>
              <a:tabLst>
                <a:tab pos="241935" algn="l"/>
              </a:tabLst>
            </a:pPr>
            <a:r>
              <a:rPr sz="2000" spc="-20" dirty="0">
                <a:solidFill>
                  <a:srgbClr val="0070C0"/>
                </a:solidFill>
                <a:latin typeface="Berlin Sans FB" panose="020E0602020502020306" pitchFamily="34" charset="0"/>
                <a:cs typeface="Calibri"/>
              </a:rPr>
              <a:t>Organizations</a:t>
            </a:r>
            <a:r>
              <a:rPr sz="2000" spc="5" dirty="0">
                <a:solidFill>
                  <a:srgbClr val="0070C0"/>
                </a:solidFill>
                <a:latin typeface="Berlin Sans FB" panose="020E0602020502020306" pitchFamily="34" charset="0"/>
                <a:cs typeface="Calibri"/>
              </a:rPr>
              <a:t> </a:t>
            </a:r>
            <a:r>
              <a:rPr sz="2000" spc="-10" dirty="0">
                <a:solidFill>
                  <a:srgbClr val="0070C0"/>
                </a:solidFill>
                <a:latin typeface="Berlin Sans FB" panose="020E0602020502020306" pitchFamily="34" charset="0"/>
                <a:cs typeface="Calibri"/>
              </a:rPr>
              <a:t>could</a:t>
            </a:r>
            <a:r>
              <a:rPr sz="2000" spc="15" dirty="0">
                <a:solidFill>
                  <a:srgbClr val="0070C0"/>
                </a:solidFill>
                <a:latin typeface="Berlin Sans FB" panose="020E0602020502020306" pitchFamily="34" charset="0"/>
                <a:cs typeface="Calibri"/>
              </a:rPr>
              <a:t> </a:t>
            </a:r>
            <a:r>
              <a:rPr sz="2000" spc="-5" dirty="0">
                <a:solidFill>
                  <a:srgbClr val="0070C0"/>
                </a:solidFill>
                <a:latin typeface="Berlin Sans FB" panose="020E0602020502020306" pitchFamily="34" charset="0"/>
                <a:cs typeface="Calibri"/>
              </a:rPr>
              <a:t>be </a:t>
            </a:r>
            <a:r>
              <a:rPr sz="2000" spc="-10" dirty="0">
                <a:solidFill>
                  <a:srgbClr val="0070C0"/>
                </a:solidFill>
                <a:latin typeface="Berlin Sans FB" panose="020E0602020502020306" pitchFamily="34" charset="0"/>
                <a:cs typeface="Calibri"/>
              </a:rPr>
              <a:t>charged</a:t>
            </a:r>
            <a:r>
              <a:rPr sz="2000" spc="5" dirty="0">
                <a:solidFill>
                  <a:srgbClr val="0070C0"/>
                </a:solidFill>
                <a:latin typeface="Berlin Sans FB" panose="020E0602020502020306" pitchFamily="34" charset="0"/>
                <a:cs typeface="Calibri"/>
              </a:rPr>
              <a:t> </a:t>
            </a:r>
            <a:r>
              <a:rPr sz="2000" spc="-5" dirty="0">
                <a:solidFill>
                  <a:srgbClr val="0070C0"/>
                </a:solidFill>
                <a:latin typeface="Berlin Sans FB" panose="020E0602020502020306" pitchFamily="34" charset="0"/>
                <a:cs typeface="Calibri"/>
              </a:rPr>
              <a:t>with</a:t>
            </a:r>
            <a:r>
              <a:rPr sz="2000" spc="5" dirty="0">
                <a:solidFill>
                  <a:srgbClr val="0070C0"/>
                </a:solidFill>
                <a:latin typeface="Berlin Sans FB" panose="020E0602020502020306" pitchFamily="34" charset="0"/>
                <a:cs typeface="Calibri"/>
              </a:rPr>
              <a:t> </a:t>
            </a:r>
            <a:r>
              <a:rPr sz="2000" spc="-5" dirty="0">
                <a:solidFill>
                  <a:srgbClr val="0070C0"/>
                </a:solidFill>
                <a:latin typeface="Berlin Sans FB" panose="020E0602020502020306" pitchFamily="34" charset="0"/>
                <a:cs typeface="Calibri"/>
              </a:rPr>
              <a:t>criminal</a:t>
            </a:r>
            <a:r>
              <a:rPr sz="2000" spc="5" dirty="0">
                <a:solidFill>
                  <a:srgbClr val="0070C0"/>
                </a:solidFill>
                <a:latin typeface="Berlin Sans FB" panose="020E0602020502020306" pitchFamily="34" charset="0"/>
                <a:cs typeface="Calibri"/>
              </a:rPr>
              <a:t> </a:t>
            </a:r>
            <a:r>
              <a:rPr sz="2000" spc="-10" dirty="0">
                <a:solidFill>
                  <a:srgbClr val="0070C0"/>
                </a:solidFill>
                <a:latin typeface="Berlin Sans FB" panose="020E0602020502020306" pitchFamily="34" charset="0"/>
                <a:cs typeface="Calibri"/>
              </a:rPr>
              <a:t>neglect</a:t>
            </a:r>
            <a:r>
              <a:rPr sz="2000" spc="5" dirty="0">
                <a:solidFill>
                  <a:srgbClr val="0070C0"/>
                </a:solidFill>
                <a:latin typeface="Berlin Sans FB" panose="020E0602020502020306" pitchFamily="34" charset="0"/>
                <a:cs typeface="Calibri"/>
              </a:rPr>
              <a:t> </a:t>
            </a:r>
            <a:r>
              <a:rPr sz="2000" spc="-5" dirty="0">
                <a:solidFill>
                  <a:srgbClr val="0070C0"/>
                </a:solidFill>
                <a:latin typeface="Berlin Sans FB" panose="020E0602020502020306" pitchFamily="34" charset="0"/>
                <a:cs typeface="Calibri"/>
              </a:rPr>
              <a:t>or</a:t>
            </a:r>
            <a:r>
              <a:rPr sz="2000" spc="5" dirty="0">
                <a:solidFill>
                  <a:srgbClr val="0070C0"/>
                </a:solidFill>
                <a:latin typeface="Berlin Sans FB" panose="020E0602020502020306" pitchFamily="34" charset="0"/>
                <a:cs typeface="Calibri"/>
              </a:rPr>
              <a:t> </a:t>
            </a:r>
            <a:r>
              <a:rPr sz="2000" spc="-10" dirty="0">
                <a:solidFill>
                  <a:srgbClr val="0070C0"/>
                </a:solidFill>
                <a:latin typeface="Berlin Sans FB" panose="020E0602020502020306" pitchFamily="34" charset="0"/>
                <a:cs typeface="Calibri"/>
              </a:rPr>
              <a:t>find </a:t>
            </a:r>
            <a:r>
              <a:rPr sz="2000" spc="-5" dirty="0">
                <a:solidFill>
                  <a:srgbClr val="0070C0"/>
                </a:solidFill>
                <a:latin typeface="Berlin Sans FB" panose="020E0602020502020306" pitchFamily="34" charset="0"/>
                <a:cs typeface="Calibri"/>
              </a:rPr>
              <a:t> </a:t>
            </a:r>
            <a:r>
              <a:rPr sz="2000" spc="-10" dirty="0">
                <a:solidFill>
                  <a:srgbClr val="0070C0"/>
                </a:solidFill>
                <a:latin typeface="Berlin Sans FB" panose="020E0602020502020306" pitchFamily="34" charset="0"/>
                <a:cs typeface="Calibri"/>
              </a:rPr>
              <a:t>themselves</a:t>
            </a:r>
            <a:r>
              <a:rPr sz="2000" spc="25" dirty="0">
                <a:solidFill>
                  <a:srgbClr val="0070C0"/>
                </a:solidFill>
                <a:latin typeface="Berlin Sans FB" panose="020E0602020502020306" pitchFamily="34" charset="0"/>
                <a:cs typeface="Calibri"/>
              </a:rPr>
              <a:t> </a:t>
            </a:r>
            <a:r>
              <a:rPr sz="2000" spc="-5" dirty="0">
                <a:solidFill>
                  <a:srgbClr val="0070C0"/>
                </a:solidFill>
                <a:latin typeface="Berlin Sans FB" panose="020E0602020502020306" pitchFamily="34" charset="0"/>
                <a:cs typeface="Calibri"/>
              </a:rPr>
              <a:t>victim</a:t>
            </a:r>
            <a:r>
              <a:rPr sz="2000" spc="15" dirty="0">
                <a:solidFill>
                  <a:srgbClr val="0070C0"/>
                </a:solidFill>
                <a:latin typeface="Berlin Sans FB" panose="020E0602020502020306" pitchFamily="34" charset="0"/>
                <a:cs typeface="Calibri"/>
              </a:rPr>
              <a:t> </a:t>
            </a:r>
            <a:r>
              <a:rPr sz="2000" spc="-20" dirty="0">
                <a:solidFill>
                  <a:srgbClr val="0070C0"/>
                </a:solidFill>
                <a:latin typeface="Berlin Sans FB" panose="020E0602020502020306" pitchFamily="34" charset="0"/>
                <a:cs typeface="Calibri"/>
              </a:rPr>
              <a:t>to</a:t>
            </a:r>
            <a:r>
              <a:rPr sz="2000" spc="5" dirty="0">
                <a:solidFill>
                  <a:srgbClr val="0070C0"/>
                </a:solidFill>
                <a:latin typeface="Berlin Sans FB" panose="020E0602020502020306" pitchFamily="34" charset="0"/>
                <a:cs typeface="Calibri"/>
              </a:rPr>
              <a:t> </a:t>
            </a:r>
            <a:r>
              <a:rPr sz="2000" spc="-5" dirty="0">
                <a:solidFill>
                  <a:srgbClr val="0070C0"/>
                </a:solidFill>
                <a:latin typeface="Berlin Sans FB" panose="020E0602020502020306" pitchFamily="34" charset="0"/>
                <a:cs typeface="Calibri"/>
              </a:rPr>
              <a:t>civil</a:t>
            </a:r>
            <a:r>
              <a:rPr sz="2000" spc="10" dirty="0">
                <a:solidFill>
                  <a:srgbClr val="0070C0"/>
                </a:solidFill>
                <a:latin typeface="Berlin Sans FB" panose="020E0602020502020306" pitchFamily="34" charset="0"/>
                <a:cs typeface="Calibri"/>
              </a:rPr>
              <a:t> </a:t>
            </a:r>
            <a:r>
              <a:rPr sz="2000" spc="-10" dirty="0">
                <a:solidFill>
                  <a:srgbClr val="0070C0"/>
                </a:solidFill>
                <a:latin typeface="Berlin Sans FB" panose="020E0602020502020306" pitchFamily="34" charset="0"/>
                <a:cs typeface="Calibri"/>
              </a:rPr>
              <a:t>suits</a:t>
            </a:r>
            <a:r>
              <a:rPr sz="2000" spc="30" dirty="0">
                <a:solidFill>
                  <a:srgbClr val="0070C0"/>
                </a:solidFill>
                <a:latin typeface="Berlin Sans FB" panose="020E0602020502020306" pitchFamily="34" charset="0"/>
                <a:cs typeface="Calibri"/>
              </a:rPr>
              <a:t> </a:t>
            </a:r>
            <a:r>
              <a:rPr sz="2000" spc="-5" dirty="0">
                <a:solidFill>
                  <a:srgbClr val="0070C0"/>
                </a:solidFill>
                <a:latin typeface="Berlin Sans FB" panose="020E0602020502020306" pitchFamily="34" charset="0"/>
                <a:cs typeface="Calibri"/>
              </a:rPr>
              <a:t>if </a:t>
            </a:r>
            <a:r>
              <a:rPr sz="2000" spc="-10" dirty="0">
                <a:solidFill>
                  <a:srgbClr val="0070C0"/>
                </a:solidFill>
                <a:latin typeface="Berlin Sans FB" panose="020E0602020502020306" pitchFamily="34" charset="0"/>
                <a:cs typeface="Calibri"/>
              </a:rPr>
              <a:t>they</a:t>
            </a:r>
            <a:r>
              <a:rPr sz="2000" spc="10" dirty="0">
                <a:solidFill>
                  <a:srgbClr val="0070C0"/>
                </a:solidFill>
                <a:latin typeface="Berlin Sans FB" panose="020E0602020502020306" pitchFamily="34" charset="0"/>
                <a:cs typeface="Calibri"/>
              </a:rPr>
              <a:t> </a:t>
            </a:r>
            <a:r>
              <a:rPr sz="2000" spc="-25" dirty="0">
                <a:solidFill>
                  <a:srgbClr val="0070C0"/>
                </a:solidFill>
                <a:latin typeface="Berlin Sans FB" panose="020E0602020502020306" pitchFamily="34" charset="0"/>
                <a:cs typeface="Calibri"/>
              </a:rPr>
              <a:t>have</a:t>
            </a:r>
            <a:r>
              <a:rPr sz="2000" spc="10" dirty="0">
                <a:solidFill>
                  <a:srgbClr val="0070C0"/>
                </a:solidFill>
                <a:latin typeface="Berlin Sans FB" panose="020E0602020502020306" pitchFamily="34" charset="0"/>
                <a:cs typeface="Calibri"/>
              </a:rPr>
              <a:t> </a:t>
            </a:r>
            <a:r>
              <a:rPr sz="2000" spc="-5" dirty="0">
                <a:solidFill>
                  <a:srgbClr val="0070C0"/>
                </a:solidFill>
                <a:latin typeface="Berlin Sans FB" panose="020E0602020502020306" pitchFamily="34" charset="0"/>
                <a:cs typeface="Calibri"/>
              </a:rPr>
              <a:t>not</a:t>
            </a:r>
            <a:r>
              <a:rPr sz="2000" spc="15" dirty="0">
                <a:solidFill>
                  <a:srgbClr val="0070C0"/>
                </a:solidFill>
                <a:latin typeface="Berlin Sans FB" panose="020E0602020502020306" pitchFamily="34" charset="0"/>
                <a:cs typeface="Calibri"/>
              </a:rPr>
              <a:t> </a:t>
            </a:r>
            <a:r>
              <a:rPr sz="2000" spc="-15" dirty="0">
                <a:solidFill>
                  <a:srgbClr val="0070C0"/>
                </a:solidFill>
                <a:latin typeface="Berlin Sans FB" panose="020E0602020502020306" pitchFamily="34" charset="0"/>
                <a:cs typeface="Calibri"/>
              </a:rPr>
              <a:t>implemented</a:t>
            </a:r>
            <a:r>
              <a:rPr sz="2000" spc="25" dirty="0">
                <a:solidFill>
                  <a:srgbClr val="0070C0"/>
                </a:solidFill>
                <a:latin typeface="Berlin Sans FB" panose="020E0602020502020306" pitchFamily="34" charset="0"/>
                <a:cs typeface="Calibri"/>
              </a:rPr>
              <a:t> </a:t>
            </a:r>
            <a:r>
              <a:rPr sz="2000" spc="-5" dirty="0">
                <a:solidFill>
                  <a:srgbClr val="0070C0"/>
                </a:solidFill>
                <a:latin typeface="Berlin Sans FB" panose="020E0602020502020306" pitchFamily="34" charset="0"/>
                <a:cs typeface="Calibri"/>
              </a:rPr>
              <a:t>the </a:t>
            </a:r>
            <a:r>
              <a:rPr sz="2000" spc="-620" dirty="0">
                <a:solidFill>
                  <a:srgbClr val="0070C0"/>
                </a:solidFill>
                <a:latin typeface="Berlin Sans FB" panose="020E0602020502020306" pitchFamily="34" charset="0"/>
                <a:cs typeface="Calibri"/>
              </a:rPr>
              <a:t> </a:t>
            </a:r>
            <a:r>
              <a:rPr sz="2000" spc="-20" dirty="0">
                <a:solidFill>
                  <a:srgbClr val="0070C0"/>
                </a:solidFill>
                <a:latin typeface="Berlin Sans FB" panose="020E0602020502020306" pitchFamily="34" charset="0"/>
                <a:cs typeface="Calibri"/>
              </a:rPr>
              <a:t>proper</a:t>
            </a:r>
            <a:r>
              <a:rPr sz="2000" spc="15" dirty="0">
                <a:solidFill>
                  <a:srgbClr val="0070C0"/>
                </a:solidFill>
                <a:latin typeface="Berlin Sans FB" panose="020E0602020502020306" pitchFamily="34" charset="0"/>
                <a:cs typeface="Calibri"/>
              </a:rPr>
              <a:t> </a:t>
            </a:r>
            <a:r>
              <a:rPr sz="2000" spc="-15" dirty="0">
                <a:solidFill>
                  <a:srgbClr val="0070C0"/>
                </a:solidFill>
                <a:latin typeface="Berlin Sans FB" panose="020E0602020502020306" pitchFamily="34" charset="0"/>
                <a:cs typeface="Calibri"/>
              </a:rPr>
              <a:t>information</a:t>
            </a:r>
            <a:r>
              <a:rPr sz="2000" spc="15" dirty="0">
                <a:solidFill>
                  <a:srgbClr val="0070C0"/>
                </a:solidFill>
                <a:latin typeface="Berlin Sans FB" panose="020E0602020502020306" pitchFamily="34" charset="0"/>
                <a:cs typeface="Calibri"/>
              </a:rPr>
              <a:t> </a:t>
            </a:r>
            <a:r>
              <a:rPr sz="2000" spc="-10" dirty="0">
                <a:solidFill>
                  <a:srgbClr val="0070C0"/>
                </a:solidFill>
                <a:latin typeface="Berlin Sans FB" panose="020E0602020502020306" pitchFamily="34" charset="0"/>
                <a:cs typeface="Calibri"/>
              </a:rPr>
              <a:t>security</a:t>
            </a:r>
            <a:r>
              <a:rPr sz="2000" spc="15" dirty="0">
                <a:solidFill>
                  <a:srgbClr val="0070C0"/>
                </a:solidFill>
                <a:latin typeface="Berlin Sans FB" panose="020E0602020502020306" pitchFamily="34" charset="0"/>
                <a:cs typeface="Calibri"/>
              </a:rPr>
              <a:t> </a:t>
            </a:r>
            <a:r>
              <a:rPr sz="2000" spc="-20" dirty="0">
                <a:solidFill>
                  <a:srgbClr val="0070C0"/>
                </a:solidFill>
                <a:latin typeface="Berlin Sans FB" panose="020E0602020502020306" pitchFamily="34" charset="0"/>
                <a:cs typeface="Calibri"/>
              </a:rPr>
              <a:t>controls.</a:t>
            </a:r>
            <a:endParaRPr sz="2000" dirty="0">
              <a:solidFill>
                <a:srgbClr val="0070C0"/>
              </a:solidFill>
              <a:latin typeface="Berlin Sans FB" panose="020E0602020502020306" pitchFamily="34" charset="0"/>
              <a:cs typeface="Calibri"/>
            </a:endParaRPr>
          </a:p>
          <a:p>
            <a:pPr marL="297815" marR="97790" indent="-285750">
              <a:lnSpc>
                <a:spcPts val="3020"/>
              </a:lnSpc>
              <a:spcBef>
                <a:spcPts val="1055"/>
              </a:spcBef>
              <a:buFont typeface="Wingdings" panose="05000000000000000000" pitchFamily="2" charset="2"/>
              <a:buChar char="§"/>
              <a:tabLst>
                <a:tab pos="241935" algn="l"/>
              </a:tabLst>
            </a:pPr>
            <a:r>
              <a:rPr spc="-25" dirty="0">
                <a:solidFill>
                  <a:srgbClr val="C00000"/>
                </a:solidFill>
                <a:effectLst>
                  <a:outerShdw blurRad="38100" dist="38100" dir="2700000" algn="tl">
                    <a:srgbClr val="000000">
                      <a:alpha val="43137"/>
                    </a:srgbClr>
                  </a:outerShdw>
                </a:effectLst>
                <a:latin typeface="Bahnschrift" panose="020B0502040204020203" pitchFamily="34" charset="0"/>
                <a:cs typeface="Calibri"/>
              </a:rPr>
              <a:t>Even</a:t>
            </a:r>
            <a:r>
              <a:rPr spc="5" dirty="0">
                <a:solidFill>
                  <a:srgbClr val="C00000"/>
                </a:solidFill>
                <a:effectLst>
                  <a:outerShdw blurRad="38100" dist="38100" dir="2700000" algn="tl">
                    <a:srgbClr val="000000">
                      <a:alpha val="43137"/>
                    </a:srgbClr>
                  </a:outerShdw>
                </a:effectLst>
                <a:latin typeface="Bahnschrift" panose="020B0502040204020203" pitchFamily="34" charset="0"/>
                <a:cs typeface="Calibri"/>
              </a:rPr>
              <a:t> </a:t>
            </a:r>
            <a:r>
              <a:rPr spc="-5" dirty="0">
                <a:solidFill>
                  <a:srgbClr val="C00000"/>
                </a:solidFill>
                <a:effectLst>
                  <a:outerShdw blurRad="38100" dist="38100" dir="2700000" algn="tl">
                    <a:srgbClr val="000000">
                      <a:alpha val="43137"/>
                    </a:srgbClr>
                  </a:outerShdw>
                </a:effectLst>
                <a:latin typeface="Bahnschrift" panose="020B0502040204020203" pitchFamily="34" charset="0"/>
                <a:cs typeface="Calibri"/>
              </a:rPr>
              <a:t>if</a:t>
            </a:r>
            <a:r>
              <a:rPr spc="5" dirty="0">
                <a:solidFill>
                  <a:srgbClr val="C00000"/>
                </a:solidFill>
                <a:effectLst>
                  <a:outerShdw blurRad="38100" dist="38100" dir="2700000" algn="tl">
                    <a:srgbClr val="000000">
                      <a:alpha val="43137"/>
                    </a:srgbClr>
                  </a:outerShdw>
                </a:effectLst>
                <a:latin typeface="Bahnschrift" panose="020B0502040204020203" pitchFamily="34" charset="0"/>
                <a:cs typeface="Calibri"/>
              </a:rPr>
              <a:t> </a:t>
            </a:r>
            <a:r>
              <a:rPr spc="-10" dirty="0">
                <a:solidFill>
                  <a:srgbClr val="C00000"/>
                </a:solidFill>
                <a:effectLst>
                  <a:outerShdw blurRad="38100" dist="38100" dir="2700000" algn="tl">
                    <a:srgbClr val="000000">
                      <a:alpha val="43137"/>
                    </a:srgbClr>
                  </a:outerShdw>
                </a:effectLst>
                <a:latin typeface="Bahnschrift" panose="020B0502040204020203" pitchFamily="34" charset="0"/>
                <a:cs typeface="Calibri"/>
              </a:rPr>
              <a:t>governance</a:t>
            </a:r>
            <a:r>
              <a:rPr spc="10" dirty="0">
                <a:solidFill>
                  <a:srgbClr val="C00000"/>
                </a:solidFill>
                <a:effectLst>
                  <a:outerShdw blurRad="38100" dist="38100" dir="2700000" algn="tl">
                    <a:srgbClr val="000000">
                      <a:alpha val="43137"/>
                    </a:srgbClr>
                  </a:outerShdw>
                </a:effectLst>
                <a:latin typeface="Bahnschrift" panose="020B0502040204020203" pitchFamily="34" charset="0"/>
                <a:cs typeface="Calibri"/>
              </a:rPr>
              <a:t> </a:t>
            </a:r>
            <a:r>
              <a:rPr spc="-10" dirty="0">
                <a:solidFill>
                  <a:srgbClr val="C00000"/>
                </a:solidFill>
                <a:effectLst>
                  <a:outerShdw blurRad="38100" dist="38100" dir="2700000" algn="tl">
                    <a:srgbClr val="000000">
                      <a:alpha val="43137"/>
                    </a:srgbClr>
                  </a:outerShdw>
                </a:effectLst>
                <a:latin typeface="Bahnschrift" panose="020B0502040204020203" pitchFamily="34" charset="0"/>
                <a:cs typeface="Calibri"/>
              </a:rPr>
              <a:t>does</a:t>
            </a:r>
            <a:r>
              <a:rPr spc="10" dirty="0">
                <a:solidFill>
                  <a:srgbClr val="C00000"/>
                </a:solidFill>
                <a:effectLst>
                  <a:outerShdw blurRad="38100" dist="38100" dir="2700000" algn="tl">
                    <a:srgbClr val="000000">
                      <a:alpha val="43137"/>
                    </a:srgbClr>
                  </a:outerShdw>
                </a:effectLst>
                <a:latin typeface="Bahnschrift" panose="020B0502040204020203" pitchFamily="34" charset="0"/>
                <a:cs typeface="Calibri"/>
              </a:rPr>
              <a:t> </a:t>
            </a:r>
            <a:r>
              <a:rPr spc="-10" dirty="0">
                <a:solidFill>
                  <a:srgbClr val="C00000"/>
                </a:solidFill>
                <a:effectLst>
                  <a:outerShdw blurRad="38100" dist="38100" dir="2700000" algn="tl">
                    <a:srgbClr val="000000">
                      <a:alpha val="43137"/>
                    </a:srgbClr>
                  </a:outerShdw>
                </a:effectLst>
                <a:latin typeface="Bahnschrift" panose="020B0502040204020203" pitchFamily="34" charset="0"/>
                <a:cs typeface="Calibri"/>
              </a:rPr>
              <a:t>not</a:t>
            </a:r>
            <a:r>
              <a:rPr spc="25" dirty="0">
                <a:solidFill>
                  <a:srgbClr val="C00000"/>
                </a:solidFill>
                <a:effectLst>
                  <a:outerShdw blurRad="38100" dist="38100" dir="2700000" algn="tl">
                    <a:srgbClr val="000000">
                      <a:alpha val="43137"/>
                    </a:srgbClr>
                  </a:outerShdw>
                </a:effectLst>
                <a:latin typeface="Bahnschrift" panose="020B0502040204020203" pitchFamily="34" charset="0"/>
                <a:cs typeface="Calibri"/>
              </a:rPr>
              <a:t> </a:t>
            </a:r>
            <a:r>
              <a:rPr spc="-20" dirty="0">
                <a:solidFill>
                  <a:srgbClr val="C00000"/>
                </a:solidFill>
                <a:effectLst>
                  <a:outerShdw blurRad="38100" dist="38100" dir="2700000" algn="tl">
                    <a:srgbClr val="000000">
                      <a:alpha val="43137"/>
                    </a:srgbClr>
                  </a:outerShdw>
                </a:effectLst>
                <a:latin typeface="Bahnschrift" panose="020B0502040204020203" pitchFamily="34" charset="0"/>
                <a:cs typeface="Calibri"/>
              </a:rPr>
              <a:t>require</a:t>
            </a:r>
            <a:r>
              <a:rPr spc="20" dirty="0">
                <a:solidFill>
                  <a:srgbClr val="C00000"/>
                </a:solidFill>
                <a:effectLst>
                  <a:outerShdw blurRad="38100" dist="38100" dir="2700000" algn="tl">
                    <a:srgbClr val="000000">
                      <a:alpha val="43137"/>
                    </a:srgbClr>
                  </a:outerShdw>
                </a:effectLst>
                <a:latin typeface="Bahnschrift" panose="020B0502040204020203" pitchFamily="34" charset="0"/>
                <a:cs typeface="Calibri"/>
              </a:rPr>
              <a:t> </a:t>
            </a:r>
            <a:r>
              <a:rPr spc="-5" dirty="0">
                <a:solidFill>
                  <a:srgbClr val="C00000"/>
                </a:solidFill>
                <a:effectLst>
                  <a:outerShdw blurRad="38100" dist="38100" dir="2700000" algn="tl">
                    <a:srgbClr val="000000">
                      <a:alpha val="43137"/>
                    </a:srgbClr>
                  </a:outerShdw>
                </a:effectLst>
                <a:latin typeface="Bahnschrift" panose="020B0502040204020203" pitchFamily="34" charset="0"/>
                <a:cs typeface="Calibri"/>
              </a:rPr>
              <a:t>an</a:t>
            </a:r>
            <a:r>
              <a:rPr spc="20" dirty="0">
                <a:solidFill>
                  <a:srgbClr val="C00000"/>
                </a:solidFill>
                <a:effectLst>
                  <a:outerShdw blurRad="38100" dist="38100" dir="2700000" algn="tl">
                    <a:srgbClr val="000000">
                      <a:alpha val="43137"/>
                    </a:srgbClr>
                  </a:outerShdw>
                </a:effectLst>
                <a:latin typeface="Bahnschrift" panose="020B0502040204020203" pitchFamily="34" charset="0"/>
                <a:cs typeface="Calibri"/>
              </a:rPr>
              <a:t> </a:t>
            </a:r>
            <a:r>
              <a:rPr spc="-20" dirty="0">
                <a:solidFill>
                  <a:srgbClr val="C00000"/>
                </a:solidFill>
                <a:effectLst>
                  <a:outerShdw blurRad="38100" dist="38100" dir="2700000" algn="tl">
                    <a:srgbClr val="000000">
                      <a:alpha val="43137"/>
                    </a:srgbClr>
                  </a:outerShdw>
                </a:effectLst>
                <a:latin typeface="Bahnschrift" panose="020B0502040204020203" pitchFamily="34" charset="0"/>
                <a:cs typeface="Calibri"/>
              </a:rPr>
              <a:t>organization</a:t>
            </a:r>
            <a:r>
              <a:rPr spc="-5" dirty="0">
                <a:solidFill>
                  <a:srgbClr val="C00000"/>
                </a:solidFill>
                <a:effectLst>
                  <a:outerShdw blurRad="38100" dist="38100" dir="2700000" algn="tl">
                    <a:srgbClr val="000000">
                      <a:alpha val="43137"/>
                    </a:srgbClr>
                  </a:outerShdw>
                </a:effectLst>
                <a:latin typeface="Bahnschrift" panose="020B0502040204020203" pitchFamily="34" charset="0"/>
                <a:cs typeface="Calibri"/>
              </a:rPr>
              <a:t> </a:t>
            </a:r>
            <a:r>
              <a:rPr spc="-15" dirty="0">
                <a:solidFill>
                  <a:srgbClr val="C00000"/>
                </a:solidFill>
                <a:effectLst>
                  <a:outerShdw blurRad="38100" dist="38100" dir="2700000" algn="tl">
                    <a:srgbClr val="000000">
                      <a:alpha val="43137"/>
                    </a:srgbClr>
                  </a:outerShdw>
                </a:effectLst>
                <a:latin typeface="Bahnschrift" panose="020B0502040204020203" pitchFamily="34" charset="0"/>
                <a:cs typeface="Calibri"/>
              </a:rPr>
              <a:t>to</a:t>
            </a:r>
            <a:r>
              <a:rPr dirty="0">
                <a:solidFill>
                  <a:srgbClr val="C00000"/>
                </a:solidFill>
                <a:effectLst>
                  <a:outerShdw blurRad="38100" dist="38100" dir="2700000" algn="tl">
                    <a:srgbClr val="000000">
                      <a:alpha val="43137"/>
                    </a:srgbClr>
                  </a:outerShdw>
                </a:effectLst>
                <a:latin typeface="Bahnschrift" panose="020B0502040204020203" pitchFamily="34" charset="0"/>
                <a:cs typeface="Calibri"/>
              </a:rPr>
              <a:t> </a:t>
            </a:r>
            <a:r>
              <a:rPr spc="-10" dirty="0">
                <a:solidFill>
                  <a:srgbClr val="C00000"/>
                </a:solidFill>
                <a:effectLst>
                  <a:outerShdw blurRad="38100" dist="38100" dir="2700000" algn="tl">
                    <a:srgbClr val="000000">
                      <a:alpha val="43137"/>
                    </a:srgbClr>
                  </a:outerShdw>
                </a:effectLst>
                <a:latin typeface="Bahnschrift" panose="020B0502040204020203" pitchFamily="34" charset="0"/>
                <a:cs typeface="Calibri"/>
              </a:rPr>
              <a:t>implement</a:t>
            </a:r>
            <a:r>
              <a:rPr spc="45" dirty="0">
                <a:solidFill>
                  <a:srgbClr val="C00000"/>
                </a:solidFill>
                <a:effectLst>
                  <a:outerShdw blurRad="38100" dist="38100" dir="2700000" algn="tl">
                    <a:srgbClr val="000000">
                      <a:alpha val="43137"/>
                    </a:srgbClr>
                  </a:outerShdw>
                </a:effectLst>
                <a:latin typeface="Bahnschrift" panose="020B0502040204020203" pitchFamily="34" charset="0"/>
                <a:cs typeface="Calibri"/>
              </a:rPr>
              <a:t> </a:t>
            </a:r>
            <a:r>
              <a:rPr spc="-5" dirty="0">
                <a:solidFill>
                  <a:srgbClr val="C00000"/>
                </a:solidFill>
                <a:effectLst>
                  <a:outerShdw blurRad="38100" dist="38100" dir="2700000" algn="tl">
                    <a:srgbClr val="000000">
                      <a:alpha val="43137"/>
                    </a:srgbClr>
                  </a:outerShdw>
                </a:effectLst>
                <a:latin typeface="Bahnschrift" panose="020B0502040204020203" pitchFamily="34" charset="0"/>
                <a:cs typeface="Calibri"/>
              </a:rPr>
              <a:t>a </a:t>
            </a:r>
            <a:r>
              <a:rPr spc="-620" dirty="0">
                <a:solidFill>
                  <a:srgbClr val="C00000"/>
                </a:solidFill>
                <a:effectLst>
                  <a:outerShdw blurRad="38100" dist="38100" dir="2700000" algn="tl">
                    <a:srgbClr val="000000">
                      <a:alpha val="43137"/>
                    </a:srgbClr>
                  </a:outerShdw>
                </a:effectLst>
                <a:latin typeface="Bahnschrift" panose="020B0502040204020203" pitchFamily="34" charset="0"/>
                <a:cs typeface="Calibri"/>
              </a:rPr>
              <a:t> </a:t>
            </a:r>
            <a:r>
              <a:rPr spc="-10" dirty="0">
                <a:solidFill>
                  <a:srgbClr val="C00000"/>
                </a:solidFill>
                <a:effectLst>
                  <a:outerShdw blurRad="38100" dist="38100" dir="2700000" algn="tl">
                    <a:srgbClr val="000000">
                      <a:alpha val="43137"/>
                    </a:srgbClr>
                  </a:outerShdw>
                </a:effectLst>
                <a:latin typeface="Bahnschrift" panose="020B0502040204020203" pitchFamily="34" charset="0"/>
                <a:cs typeface="Calibri"/>
              </a:rPr>
              <a:t>particular</a:t>
            </a:r>
            <a:r>
              <a:rPr spc="20" dirty="0">
                <a:solidFill>
                  <a:srgbClr val="C00000"/>
                </a:solidFill>
                <a:effectLst>
                  <a:outerShdw blurRad="38100" dist="38100" dir="2700000" algn="tl">
                    <a:srgbClr val="000000">
                      <a:alpha val="43137"/>
                    </a:srgbClr>
                  </a:outerShdw>
                </a:effectLst>
                <a:latin typeface="Bahnschrift" panose="020B0502040204020203" pitchFamily="34" charset="0"/>
                <a:cs typeface="Calibri"/>
              </a:rPr>
              <a:t> </a:t>
            </a:r>
            <a:r>
              <a:rPr spc="-20" dirty="0">
                <a:solidFill>
                  <a:srgbClr val="C00000"/>
                </a:solidFill>
                <a:effectLst>
                  <a:outerShdw blurRad="38100" dist="38100" dir="2700000" algn="tl">
                    <a:srgbClr val="000000">
                      <a:alpha val="43137"/>
                    </a:srgbClr>
                  </a:outerShdw>
                </a:effectLst>
                <a:latin typeface="Bahnschrift" panose="020B0502040204020203" pitchFamily="34" charset="0"/>
                <a:cs typeface="Calibri"/>
              </a:rPr>
              <a:t>control</a:t>
            </a:r>
            <a:r>
              <a:rPr spc="10" dirty="0">
                <a:solidFill>
                  <a:srgbClr val="C00000"/>
                </a:solidFill>
                <a:effectLst>
                  <a:outerShdw blurRad="38100" dist="38100" dir="2700000" algn="tl">
                    <a:srgbClr val="000000">
                      <a:alpha val="43137"/>
                    </a:srgbClr>
                  </a:outerShdw>
                </a:effectLst>
                <a:latin typeface="Bahnschrift" panose="020B0502040204020203" pitchFamily="34" charset="0"/>
                <a:cs typeface="Calibri"/>
              </a:rPr>
              <a:t> </a:t>
            </a:r>
            <a:r>
              <a:rPr spc="-5" dirty="0">
                <a:solidFill>
                  <a:srgbClr val="C00000"/>
                </a:solidFill>
                <a:effectLst>
                  <a:outerShdw blurRad="38100" dist="38100" dir="2700000" algn="tl">
                    <a:srgbClr val="000000">
                      <a:alpha val="43137"/>
                    </a:srgbClr>
                  </a:outerShdw>
                </a:effectLst>
                <a:latin typeface="Bahnschrift" panose="020B0502040204020203" pitchFamily="34" charset="0"/>
                <a:cs typeface="Calibri"/>
              </a:rPr>
              <a:t>or</a:t>
            </a:r>
            <a:r>
              <a:rPr spc="15" dirty="0">
                <a:solidFill>
                  <a:srgbClr val="C00000"/>
                </a:solidFill>
                <a:effectLst>
                  <a:outerShdw blurRad="38100" dist="38100" dir="2700000" algn="tl">
                    <a:srgbClr val="000000">
                      <a:alpha val="43137"/>
                    </a:srgbClr>
                  </a:outerShdw>
                </a:effectLst>
                <a:latin typeface="Bahnschrift" panose="020B0502040204020203" pitchFamily="34" charset="0"/>
                <a:cs typeface="Calibri"/>
              </a:rPr>
              <a:t> </a:t>
            </a:r>
            <a:r>
              <a:rPr spc="-20" dirty="0">
                <a:solidFill>
                  <a:srgbClr val="C00000"/>
                </a:solidFill>
                <a:effectLst>
                  <a:outerShdw blurRad="38100" dist="38100" dir="2700000" algn="tl">
                    <a:srgbClr val="000000">
                      <a:alpha val="43137"/>
                    </a:srgbClr>
                  </a:outerShdw>
                </a:effectLst>
                <a:latin typeface="Bahnschrift" panose="020B0502040204020203" pitchFamily="34" charset="0"/>
                <a:cs typeface="Calibri"/>
              </a:rPr>
              <a:t>safeguard,</a:t>
            </a:r>
            <a:r>
              <a:rPr dirty="0">
                <a:solidFill>
                  <a:srgbClr val="C00000"/>
                </a:solidFill>
                <a:effectLst>
                  <a:outerShdw blurRad="38100" dist="38100" dir="2700000" algn="tl">
                    <a:srgbClr val="000000">
                      <a:alpha val="43137"/>
                    </a:srgbClr>
                  </a:outerShdw>
                </a:effectLst>
                <a:latin typeface="Bahnschrift" panose="020B0502040204020203" pitchFamily="34" charset="0"/>
                <a:cs typeface="Calibri"/>
              </a:rPr>
              <a:t> </a:t>
            </a:r>
            <a:r>
              <a:rPr spc="-10" dirty="0">
                <a:solidFill>
                  <a:srgbClr val="C00000"/>
                </a:solidFill>
                <a:effectLst>
                  <a:outerShdw blurRad="38100" dist="38100" dir="2700000" algn="tl">
                    <a:srgbClr val="000000">
                      <a:alpha val="43137"/>
                    </a:srgbClr>
                  </a:outerShdw>
                </a:effectLst>
                <a:latin typeface="Bahnschrift" panose="020B0502040204020203" pitchFamily="34" charset="0"/>
                <a:cs typeface="Calibri"/>
              </a:rPr>
              <a:t>that</a:t>
            </a:r>
            <a:r>
              <a:rPr spc="15" dirty="0">
                <a:solidFill>
                  <a:srgbClr val="C00000"/>
                </a:solidFill>
                <a:effectLst>
                  <a:outerShdw blurRad="38100" dist="38100" dir="2700000" algn="tl">
                    <a:srgbClr val="000000">
                      <a:alpha val="43137"/>
                    </a:srgbClr>
                  </a:outerShdw>
                </a:effectLst>
                <a:latin typeface="Bahnschrift" panose="020B0502040204020203" pitchFamily="34" charset="0"/>
                <a:cs typeface="Calibri"/>
              </a:rPr>
              <a:t> </a:t>
            </a:r>
            <a:r>
              <a:rPr spc="-10" dirty="0">
                <a:solidFill>
                  <a:srgbClr val="C00000"/>
                </a:solidFill>
                <a:effectLst>
                  <a:outerShdw blurRad="38100" dist="38100" dir="2700000" algn="tl">
                    <a:srgbClr val="000000">
                      <a:alpha val="43137"/>
                    </a:srgbClr>
                  </a:outerShdw>
                </a:effectLst>
                <a:latin typeface="Bahnschrift" panose="020B0502040204020203" pitchFamily="34" charset="0"/>
                <a:cs typeface="Calibri"/>
              </a:rPr>
              <a:t>doesn’t</a:t>
            </a:r>
            <a:r>
              <a:rPr spc="30" dirty="0">
                <a:solidFill>
                  <a:srgbClr val="C00000"/>
                </a:solidFill>
                <a:effectLst>
                  <a:outerShdw blurRad="38100" dist="38100" dir="2700000" algn="tl">
                    <a:srgbClr val="000000">
                      <a:alpha val="43137"/>
                    </a:srgbClr>
                  </a:outerShdw>
                </a:effectLst>
                <a:latin typeface="Bahnschrift" panose="020B0502040204020203" pitchFamily="34" charset="0"/>
                <a:cs typeface="Calibri"/>
              </a:rPr>
              <a:t> </a:t>
            </a:r>
            <a:r>
              <a:rPr spc="-10" dirty="0">
                <a:solidFill>
                  <a:srgbClr val="C00000"/>
                </a:solidFill>
                <a:effectLst>
                  <a:outerShdw blurRad="38100" dist="38100" dir="2700000" algn="tl">
                    <a:srgbClr val="000000">
                      <a:alpha val="43137"/>
                    </a:srgbClr>
                  </a:outerShdw>
                </a:effectLst>
                <a:latin typeface="Bahnschrift" panose="020B0502040204020203" pitchFamily="34" charset="0"/>
                <a:cs typeface="Calibri"/>
              </a:rPr>
              <a:t>necessarily</a:t>
            </a:r>
            <a:r>
              <a:rPr spc="25" dirty="0">
                <a:solidFill>
                  <a:srgbClr val="C00000"/>
                </a:solidFill>
                <a:effectLst>
                  <a:outerShdw blurRad="38100" dist="38100" dir="2700000" algn="tl">
                    <a:srgbClr val="000000">
                      <a:alpha val="43137"/>
                    </a:srgbClr>
                  </a:outerShdw>
                </a:effectLst>
                <a:latin typeface="Bahnschrift" panose="020B0502040204020203" pitchFamily="34" charset="0"/>
                <a:cs typeface="Calibri"/>
              </a:rPr>
              <a:t> </a:t>
            </a:r>
            <a:r>
              <a:rPr spc="-5" dirty="0">
                <a:solidFill>
                  <a:srgbClr val="C00000"/>
                </a:solidFill>
                <a:effectLst>
                  <a:outerShdw blurRad="38100" dist="38100" dir="2700000" algn="tl">
                    <a:srgbClr val="000000">
                      <a:alpha val="43137"/>
                    </a:srgbClr>
                  </a:outerShdw>
                </a:effectLst>
                <a:latin typeface="Bahnschrift" panose="020B0502040204020203" pitchFamily="34" charset="0"/>
                <a:cs typeface="Calibri"/>
              </a:rPr>
              <a:t>mean</a:t>
            </a:r>
            <a:r>
              <a:rPr spc="15" dirty="0">
                <a:solidFill>
                  <a:srgbClr val="C00000"/>
                </a:solidFill>
                <a:effectLst>
                  <a:outerShdw blurRad="38100" dist="38100" dir="2700000" algn="tl">
                    <a:srgbClr val="000000">
                      <a:alpha val="43137"/>
                    </a:srgbClr>
                  </a:outerShdw>
                </a:effectLst>
                <a:latin typeface="Bahnschrift" panose="020B0502040204020203" pitchFamily="34" charset="0"/>
                <a:cs typeface="Calibri"/>
              </a:rPr>
              <a:t> </a:t>
            </a:r>
            <a:r>
              <a:rPr spc="-10" dirty="0">
                <a:solidFill>
                  <a:srgbClr val="C00000"/>
                </a:solidFill>
                <a:effectLst>
                  <a:outerShdw blurRad="38100" dist="38100" dir="2700000" algn="tl">
                    <a:srgbClr val="000000">
                      <a:alpha val="43137"/>
                    </a:srgbClr>
                  </a:outerShdw>
                </a:effectLst>
                <a:latin typeface="Bahnschrift" panose="020B0502040204020203" pitchFamily="34" charset="0"/>
                <a:cs typeface="Calibri"/>
              </a:rPr>
              <a:t>that </a:t>
            </a:r>
            <a:r>
              <a:rPr spc="-5" dirty="0">
                <a:solidFill>
                  <a:srgbClr val="C00000"/>
                </a:solidFill>
                <a:effectLst>
                  <a:outerShdw blurRad="38100" dist="38100" dir="2700000" algn="tl">
                    <a:srgbClr val="000000">
                      <a:alpha val="43137"/>
                    </a:srgbClr>
                  </a:outerShdw>
                </a:effectLst>
                <a:latin typeface="Bahnschrift" panose="020B0502040204020203" pitchFamily="34" charset="0"/>
                <a:cs typeface="Calibri"/>
              </a:rPr>
              <a:t> this</a:t>
            </a:r>
            <a:r>
              <a:rPr spc="15" dirty="0">
                <a:solidFill>
                  <a:srgbClr val="C00000"/>
                </a:solidFill>
                <a:effectLst>
                  <a:outerShdw blurRad="38100" dist="38100" dir="2700000" algn="tl">
                    <a:srgbClr val="000000">
                      <a:alpha val="43137"/>
                    </a:srgbClr>
                  </a:outerShdw>
                </a:effectLst>
                <a:latin typeface="Bahnschrift" panose="020B0502040204020203" pitchFamily="34" charset="0"/>
                <a:cs typeface="Calibri"/>
              </a:rPr>
              <a:t> </a:t>
            </a:r>
            <a:r>
              <a:rPr spc="-20" dirty="0">
                <a:solidFill>
                  <a:srgbClr val="C00000"/>
                </a:solidFill>
                <a:effectLst>
                  <a:outerShdw blurRad="38100" dist="38100" dir="2700000" algn="tl">
                    <a:srgbClr val="000000">
                      <a:alpha val="43137"/>
                    </a:srgbClr>
                  </a:outerShdw>
                </a:effectLst>
                <a:latin typeface="Bahnschrift" panose="020B0502040204020203" pitchFamily="34" charset="0"/>
                <a:cs typeface="Calibri"/>
              </a:rPr>
              <a:t>excuse</a:t>
            </a:r>
            <a:r>
              <a:rPr spc="5" dirty="0">
                <a:solidFill>
                  <a:srgbClr val="C00000"/>
                </a:solidFill>
                <a:effectLst>
                  <a:outerShdw blurRad="38100" dist="38100" dir="2700000" algn="tl">
                    <a:srgbClr val="000000">
                      <a:alpha val="43137"/>
                    </a:srgbClr>
                  </a:outerShdw>
                </a:effectLst>
                <a:latin typeface="Bahnschrift" panose="020B0502040204020203" pitchFamily="34" charset="0"/>
                <a:cs typeface="Calibri"/>
              </a:rPr>
              <a:t> </a:t>
            </a:r>
            <a:r>
              <a:rPr spc="-5" dirty="0">
                <a:solidFill>
                  <a:srgbClr val="C00000"/>
                </a:solidFill>
                <a:effectLst>
                  <a:outerShdw blurRad="38100" dist="38100" dir="2700000" algn="tl">
                    <a:srgbClr val="000000">
                      <a:alpha val="43137"/>
                    </a:srgbClr>
                  </a:outerShdw>
                </a:effectLst>
                <a:latin typeface="Bahnschrift" panose="020B0502040204020203" pitchFamily="34" charset="0"/>
                <a:cs typeface="Calibri"/>
              </a:rPr>
              <a:t>will</a:t>
            </a:r>
            <a:r>
              <a:rPr dirty="0">
                <a:solidFill>
                  <a:srgbClr val="C00000"/>
                </a:solidFill>
                <a:effectLst>
                  <a:outerShdw blurRad="38100" dist="38100" dir="2700000" algn="tl">
                    <a:srgbClr val="000000">
                      <a:alpha val="43137"/>
                    </a:srgbClr>
                  </a:outerShdw>
                </a:effectLst>
                <a:latin typeface="Bahnschrift" panose="020B0502040204020203" pitchFamily="34" charset="0"/>
                <a:cs typeface="Calibri"/>
              </a:rPr>
              <a:t> </a:t>
            </a:r>
            <a:r>
              <a:rPr spc="-15" dirty="0">
                <a:solidFill>
                  <a:srgbClr val="C00000"/>
                </a:solidFill>
                <a:effectLst>
                  <a:outerShdw blurRad="38100" dist="38100" dir="2700000" algn="tl">
                    <a:srgbClr val="000000">
                      <a:alpha val="43137"/>
                    </a:srgbClr>
                  </a:outerShdw>
                </a:effectLst>
                <a:latin typeface="Bahnschrift" panose="020B0502040204020203" pitchFamily="34" charset="0"/>
                <a:cs typeface="Calibri"/>
              </a:rPr>
              <a:t>get </a:t>
            </a:r>
            <a:r>
              <a:rPr spc="-5" dirty="0">
                <a:solidFill>
                  <a:srgbClr val="C00000"/>
                </a:solidFill>
                <a:effectLst>
                  <a:outerShdw blurRad="38100" dist="38100" dir="2700000" algn="tl">
                    <a:srgbClr val="000000">
                      <a:alpha val="43137"/>
                    </a:srgbClr>
                  </a:outerShdw>
                </a:effectLst>
                <a:latin typeface="Bahnschrift" panose="020B0502040204020203" pitchFamily="34" charset="0"/>
                <a:cs typeface="Calibri"/>
              </a:rPr>
              <a:t>them</a:t>
            </a:r>
            <a:r>
              <a:rPr spc="10" dirty="0">
                <a:solidFill>
                  <a:srgbClr val="C00000"/>
                </a:solidFill>
                <a:effectLst>
                  <a:outerShdw blurRad="38100" dist="38100" dir="2700000" algn="tl">
                    <a:srgbClr val="000000">
                      <a:alpha val="43137"/>
                    </a:srgbClr>
                  </a:outerShdw>
                </a:effectLst>
                <a:latin typeface="Bahnschrift" panose="020B0502040204020203" pitchFamily="34" charset="0"/>
                <a:cs typeface="Calibri"/>
              </a:rPr>
              <a:t> </a:t>
            </a:r>
            <a:r>
              <a:rPr spc="-5" dirty="0">
                <a:solidFill>
                  <a:srgbClr val="C00000"/>
                </a:solidFill>
                <a:effectLst>
                  <a:outerShdw blurRad="38100" dist="38100" dir="2700000" algn="tl">
                    <a:srgbClr val="000000">
                      <a:alpha val="43137"/>
                    </a:srgbClr>
                  </a:outerShdw>
                </a:effectLst>
                <a:latin typeface="Bahnschrift" panose="020B0502040204020203" pitchFamily="34" charset="0"/>
                <a:cs typeface="Calibri"/>
              </a:rPr>
              <a:t>out</a:t>
            </a:r>
            <a:r>
              <a:rPr spc="5" dirty="0">
                <a:solidFill>
                  <a:srgbClr val="C00000"/>
                </a:solidFill>
                <a:effectLst>
                  <a:outerShdw blurRad="38100" dist="38100" dir="2700000" algn="tl">
                    <a:srgbClr val="000000">
                      <a:alpha val="43137"/>
                    </a:srgbClr>
                  </a:outerShdw>
                </a:effectLst>
                <a:latin typeface="Bahnschrift" panose="020B0502040204020203" pitchFamily="34" charset="0"/>
                <a:cs typeface="Calibri"/>
              </a:rPr>
              <a:t> </a:t>
            </a:r>
            <a:r>
              <a:rPr spc="-5" dirty="0">
                <a:solidFill>
                  <a:srgbClr val="C00000"/>
                </a:solidFill>
                <a:effectLst>
                  <a:outerShdw blurRad="38100" dist="38100" dir="2700000" algn="tl">
                    <a:srgbClr val="000000">
                      <a:alpha val="43137"/>
                    </a:srgbClr>
                  </a:outerShdw>
                </a:effectLst>
                <a:latin typeface="Bahnschrift" panose="020B0502040204020203" pitchFamily="34" charset="0"/>
                <a:cs typeface="Calibri"/>
              </a:rPr>
              <a:t>of </a:t>
            </a:r>
            <a:r>
              <a:rPr spc="-15" dirty="0">
                <a:solidFill>
                  <a:srgbClr val="C00000"/>
                </a:solidFill>
                <a:effectLst>
                  <a:outerShdw blurRad="38100" dist="38100" dir="2700000" algn="tl">
                    <a:srgbClr val="000000">
                      <a:alpha val="43137"/>
                    </a:srgbClr>
                  </a:outerShdw>
                </a:effectLst>
                <a:latin typeface="Bahnschrift" panose="020B0502040204020203" pitchFamily="34" charset="0"/>
                <a:cs typeface="Calibri"/>
              </a:rPr>
              <a:t>legal</a:t>
            </a:r>
            <a:r>
              <a:rPr spc="-30" dirty="0">
                <a:solidFill>
                  <a:srgbClr val="C00000"/>
                </a:solidFill>
                <a:effectLst>
                  <a:outerShdw blurRad="38100" dist="38100" dir="2700000" algn="tl">
                    <a:srgbClr val="000000">
                      <a:alpha val="43137"/>
                    </a:srgbClr>
                  </a:outerShdw>
                </a:effectLst>
                <a:latin typeface="Bahnschrift" panose="020B0502040204020203" pitchFamily="34" charset="0"/>
                <a:cs typeface="Calibri"/>
              </a:rPr>
              <a:t> </a:t>
            </a:r>
            <a:r>
              <a:rPr spc="-15" dirty="0">
                <a:solidFill>
                  <a:srgbClr val="C00000"/>
                </a:solidFill>
                <a:effectLst>
                  <a:outerShdw blurRad="38100" dist="38100" dir="2700000" algn="tl">
                    <a:srgbClr val="000000">
                      <a:alpha val="43137"/>
                    </a:srgbClr>
                  </a:outerShdw>
                </a:effectLst>
                <a:latin typeface="Bahnschrift" panose="020B0502040204020203" pitchFamily="34" charset="0"/>
                <a:cs typeface="Calibri"/>
              </a:rPr>
              <a:t>trouble.</a:t>
            </a:r>
            <a:endParaRPr dirty="0">
              <a:solidFill>
                <a:srgbClr val="C00000"/>
              </a:solidFill>
              <a:effectLst>
                <a:outerShdw blurRad="38100" dist="38100" dir="2700000" algn="tl">
                  <a:srgbClr val="000000">
                    <a:alpha val="43137"/>
                  </a:srgbClr>
                </a:outerShdw>
              </a:effectLst>
              <a:latin typeface="Bahnschrift" panose="020B0502040204020203" pitchFamily="34" charset="0"/>
              <a:cs typeface="Calibri"/>
            </a:endParaRPr>
          </a:p>
          <a:p>
            <a:pPr marL="297815" marR="5080" indent="-285750" algn="just">
              <a:lnSpc>
                <a:spcPts val="3020"/>
              </a:lnSpc>
              <a:spcBef>
                <a:spcPts val="1010"/>
              </a:spcBef>
              <a:buFont typeface="Wingdings" panose="05000000000000000000" pitchFamily="2" charset="2"/>
              <a:buChar char="§"/>
              <a:tabLst>
                <a:tab pos="241935" algn="l"/>
              </a:tabLst>
            </a:pPr>
            <a:r>
              <a:rPr spc="-20" dirty="0">
                <a:solidFill>
                  <a:srgbClr val="002060"/>
                </a:solidFill>
                <a:latin typeface="Berlin Sans FB" panose="020E0602020502020306" pitchFamily="34" charset="0"/>
                <a:cs typeface="Calibri"/>
              </a:rPr>
              <a:t>For </a:t>
            </a:r>
            <a:r>
              <a:rPr spc="-15" dirty="0">
                <a:solidFill>
                  <a:srgbClr val="002060"/>
                </a:solidFill>
                <a:latin typeface="Berlin Sans FB" panose="020E0602020502020306" pitchFamily="34" charset="0"/>
                <a:cs typeface="Calibri"/>
              </a:rPr>
              <a:t>example, even </a:t>
            </a:r>
            <a:r>
              <a:rPr spc="-5" dirty="0">
                <a:solidFill>
                  <a:srgbClr val="002060"/>
                </a:solidFill>
                <a:latin typeface="Berlin Sans FB" panose="020E0602020502020306" pitchFamily="34" charset="0"/>
                <a:cs typeface="Calibri"/>
              </a:rPr>
              <a:t>if </a:t>
            </a:r>
            <a:r>
              <a:rPr dirty="0">
                <a:solidFill>
                  <a:srgbClr val="002060"/>
                </a:solidFill>
                <a:latin typeface="Berlin Sans FB" panose="020E0602020502020306" pitchFamily="34" charset="0"/>
                <a:cs typeface="Calibri"/>
              </a:rPr>
              <a:t>an </a:t>
            </a:r>
            <a:r>
              <a:rPr spc="-20" dirty="0">
                <a:solidFill>
                  <a:srgbClr val="002060"/>
                </a:solidFill>
                <a:latin typeface="Berlin Sans FB" panose="020E0602020502020306" pitchFamily="34" charset="0"/>
                <a:cs typeface="Calibri"/>
              </a:rPr>
              <a:t>organization </a:t>
            </a:r>
            <a:r>
              <a:rPr spc="-5" dirty="0">
                <a:solidFill>
                  <a:srgbClr val="002060"/>
                </a:solidFill>
                <a:latin typeface="Berlin Sans FB" panose="020E0602020502020306" pitchFamily="34" charset="0"/>
                <a:cs typeface="Calibri"/>
              </a:rPr>
              <a:t>isn’t </a:t>
            </a:r>
            <a:r>
              <a:rPr spc="-15" dirty="0">
                <a:solidFill>
                  <a:srgbClr val="002060"/>
                </a:solidFill>
                <a:latin typeface="Berlin Sans FB" panose="020E0602020502020306" pitchFamily="34" charset="0"/>
                <a:cs typeface="Calibri"/>
              </a:rPr>
              <a:t>required </a:t>
            </a:r>
            <a:r>
              <a:rPr spc="-20" dirty="0">
                <a:solidFill>
                  <a:srgbClr val="002060"/>
                </a:solidFill>
                <a:latin typeface="Berlin Sans FB" panose="020E0602020502020306" pitchFamily="34" charset="0"/>
                <a:cs typeface="Calibri"/>
              </a:rPr>
              <a:t>to </a:t>
            </a:r>
            <a:r>
              <a:rPr spc="-5" dirty="0">
                <a:solidFill>
                  <a:srgbClr val="002060"/>
                </a:solidFill>
                <a:latin typeface="Berlin Sans FB" panose="020E0602020502020306" pitchFamily="34" charset="0"/>
                <a:cs typeface="Calibri"/>
              </a:rPr>
              <a:t>encrypt </a:t>
            </a:r>
            <a:r>
              <a:rPr spc="-20" dirty="0">
                <a:solidFill>
                  <a:srgbClr val="002060"/>
                </a:solidFill>
                <a:latin typeface="Berlin Sans FB" panose="020E0602020502020306" pitchFamily="34" charset="0"/>
                <a:cs typeface="Calibri"/>
              </a:rPr>
              <a:t>data </a:t>
            </a:r>
            <a:r>
              <a:rPr spc="-15" dirty="0">
                <a:solidFill>
                  <a:srgbClr val="002060"/>
                </a:solidFill>
                <a:latin typeface="Berlin Sans FB" panose="020E0602020502020306" pitchFamily="34" charset="0"/>
                <a:cs typeface="Calibri"/>
              </a:rPr>
              <a:t>at </a:t>
            </a:r>
            <a:r>
              <a:rPr spc="-620" dirty="0">
                <a:solidFill>
                  <a:srgbClr val="002060"/>
                </a:solidFill>
                <a:latin typeface="Berlin Sans FB" panose="020E0602020502020306" pitchFamily="34" charset="0"/>
                <a:cs typeface="Calibri"/>
              </a:rPr>
              <a:t> </a:t>
            </a:r>
            <a:r>
              <a:rPr spc="-20" dirty="0">
                <a:solidFill>
                  <a:srgbClr val="002060"/>
                </a:solidFill>
                <a:latin typeface="Berlin Sans FB" panose="020E0602020502020306" pitchFamily="34" charset="0"/>
                <a:cs typeface="Calibri"/>
              </a:rPr>
              <a:t>rest, </a:t>
            </a:r>
            <a:r>
              <a:rPr spc="-5" dirty="0">
                <a:solidFill>
                  <a:srgbClr val="002060"/>
                </a:solidFill>
                <a:latin typeface="Berlin Sans FB" panose="020E0602020502020306" pitchFamily="34" charset="0"/>
                <a:cs typeface="Calibri"/>
              </a:rPr>
              <a:t>in the </a:t>
            </a:r>
            <a:r>
              <a:rPr spc="-20" dirty="0">
                <a:solidFill>
                  <a:srgbClr val="002060"/>
                </a:solidFill>
                <a:latin typeface="Berlin Sans FB" panose="020E0602020502020306" pitchFamily="34" charset="0"/>
                <a:cs typeface="Calibri"/>
              </a:rPr>
              <a:t>event </a:t>
            </a:r>
            <a:r>
              <a:rPr spc="-5" dirty="0">
                <a:solidFill>
                  <a:srgbClr val="002060"/>
                </a:solidFill>
                <a:latin typeface="Berlin Sans FB" panose="020E0602020502020306" pitchFamily="34" charset="0"/>
                <a:cs typeface="Calibri"/>
              </a:rPr>
              <a:t>of a </a:t>
            </a:r>
            <a:r>
              <a:rPr spc="-10" dirty="0">
                <a:solidFill>
                  <a:srgbClr val="002060"/>
                </a:solidFill>
                <a:latin typeface="Berlin Sans FB" panose="020E0602020502020306" pitchFamily="34" charset="0"/>
                <a:cs typeface="Calibri"/>
              </a:rPr>
              <a:t>serious </a:t>
            </a:r>
            <a:r>
              <a:rPr spc="-20" dirty="0">
                <a:solidFill>
                  <a:srgbClr val="002060"/>
                </a:solidFill>
                <a:latin typeface="Berlin Sans FB" panose="020E0602020502020306" pitchFamily="34" charset="0"/>
                <a:cs typeface="Calibri"/>
              </a:rPr>
              <a:t>data </a:t>
            </a:r>
            <a:r>
              <a:rPr spc="-10" dirty="0">
                <a:solidFill>
                  <a:srgbClr val="002060"/>
                </a:solidFill>
                <a:latin typeface="Berlin Sans FB" panose="020E0602020502020306" pitchFamily="34" charset="0"/>
                <a:cs typeface="Calibri"/>
              </a:rPr>
              <a:t>breach, </a:t>
            </a:r>
            <a:r>
              <a:rPr spc="-5" dirty="0">
                <a:solidFill>
                  <a:srgbClr val="002060"/>
                </a:solidFill>
                <a:latin typeface="Berlin Sans FB" panose="020E0602020502020306" pitchFamily="34" charset="0"/>
                <a:cs typeface="Calibri"/>
              </a:rPr>
              <a:t>the </a:t>
            </a:r>
            <a:r>
              <a:rPr spc="-20" dirty="0">
                <a:solidFill>
                  <a:srgbClr val="002060"/>
                </a:solidFill>
                <a:latin typeface="Berlin Sans FB" panose="020E0602020502020306" pitchFamily="34" charset="0"/>
                <a:cs typeface="Calibri"/>
              </a:rPr>
              <a:t>organization </a:t>
            </a:r>
            <a:r>
              <a:rPr spc="-25" dirty="0">
                <a:solidFill>
                  <a:srgbClr val="002060"/>
                </a:solidFill>
                <a:latin typeface="Berlin Sans FB" panose="020E0602020502020306" pitchFamily="34" charset="0"/>
                <a:cs typeface="Calibri"/>
              </a:rPr>
              <a:t>may </a:t>
            </a:r>
            <a:r>
              <a:rPr spc="-20" dirty="0">
                <a:solidFill>
                  <a:srgbClr val="002060"/>
                </a:solidFill>
                <a:latin typeface="Berlin Sans FB" panose="020E0602020502020306" pitchFamily="34" charset="0"/>
                <a:cs typeface="Calibri"/>
              </a:rPr>
              <a:t>face </a:t>
            </a:r>
            <a:r>
              <a:rPr spc="-15" dirty="0">
                <a:solidFill>
                  <a:srgbClr val="002060"/>
                </a:solidFill>
                <a:latin typeface="Berlin Sans FB" panose="020E0602020502020306" pitchFamily="34" charset="0"/>
                <a:cs typeface="Calibri"/>
              </a:rPr>
              <a:t>legal</a:t>
            </a:r>
            <a:r>
              <a:rPr spc="-20" dirty="0">
                <a:solidFill>
                  <a:srgbClr val="002060"/>
                </a:solidFill>
                <a:latin typeface="Berlin Sans FB" panose="020E0602020502020306" pitchFamily="34" charset="0"/>
                <a:cs typeface="Calibri"/>
              </a:rPr>
              <a:t> </a:t>
            </a:r>
            <a:r>
              <a:rPr spc="-15" dirty="0">
                <a:solidFill>
                  <a:srgbClr val="002060"/>
                </a:solidFill>
                <a:latin typeface="Berlin Sans FB" panose="020E0602020502020306" pitchFamily="34" charset="0"/>
                <a:cs typeface="Calibri"/>
              </a:rPr>
              <a:t>ramifications</a:t>
            </a:r>
            <a:r>
              <a:rPr spc="30" dirty="0">
                <a:solidFill>
                  <a:srgbClr val="002060"/>
                </a:solidFill>
                <a:latin typeface="Berlin Sans FB" panose="020E0602020502020306" pitchFamily="34" charset="0"/>
                <a:cs typeface="Calibri"/>
              </a:rPr>
              <a:t> </a:t>
            </a:r>
            <a:r>
              <a:rPr spc="-15" dirty="0">
                <a:solidFill>
                  <a:srgbClr val="002060"/>
                </a:solidFill>
                <a:latin typeface="Berlin Sans FB" panose="020E0602020502020306" pitchFamily="34" charset="0"/>
                <a:cs typeface="Calibri"/>
              </a:rPr>
              <a:t>by</a:t>
            </a:r>
            <a:r>
              <a:rPr spc="10" dirty="0">
                <a:solidFill>
                  <a:srgbClr val="002060"/>
                </a:solidFill>
                <a:latin typeface="Berlin Sans FB" panose="020E0602020502020306" pitchFamily="34" charset="0"/>
                <a:cs typeface="Calibri"/>
              </a:rPr>
              <a:t> </a:t>
            </a:r>
            <a:r>
              <a:rPr spc="-10" dirty="0">
                <a:solidFill>
                  <a:srgbClr val="002060"/>
                </a:solidFill>
                <a:latin typeface="Berlin Sans FB" panose="020E0602020502020306" pitchFamily="34" charset="0"/>
                <a:cs typeface="Calibri"/>
              </a:rPr>
              <a:t>not</a:t>
            </a:r>
            <a:r>
              <a:rPr spc="15" dirty="0">
                <a:solidFill>
                  <a:srgbClr val="002060"/>
                </a:solidFill>
                <a:latin typeface="Berlin Sans FB" panose="020E0602020502020306" pitchFamily="34" charset="0"/>
                <a:cs typeface="Calibri"/>
              </a:rPr>
              <a:t> </a:t>
            </a:r>
            <a:r>
              <a:rPr spc="-15" dirty="0">
                <a:solidFill>
                  <a:srgbClr val="002060"/>
                </a:solidFill>
                <a:latin typeface="Berlin Sans FB" panose="020E0602020502020306" pitchFamily="34" charset="0"/>
                <a:cs typeface="Calibri"/>
              </a:rPr>
              <a:t>following</a:t>
            </a:r>
            <a:r>
              <a:rPr spc="15" dirty="0">
                <a:solidFill>
                  <a:srgbClr val="002060"/>
                </a:solidFill>
                <a:latin typeface="Berlin Sans FB" panose="020E0602020502020306" pitchFamily="34" charset="0"/>
                <a:cs typeface="Calibri"/>
              </a:rPr>
              <a:t> </a:t>
            </a:r>
            <a:r>
              <a:rPr spc="-10" dirty="0">
                <a:solidFill>
                  <a:srgbClr val="002060"/>
                </a:solidFill>
                <a:latin typeface="Berlin Sans FB" panose="020E0602020502020306" pitchFamily="34" charset="0"/>
                <a:cs typeface="Calibri"/>
              </a:rPr>
              <a:t>this</a:t>
            </a:r>
            <a:r>
              <a:rPr spc="30" dirty="0">
                <a:solidFill>
                  <a:srgbClr val="002060"/>
                </a:solidFill>
                <a:latin typeface="Berlin Sans FB" panose="020E0602020502020306" pitchFamily="34" charset="0"/>
                <a:cs typeface="Calibri"/>
              </a:rPr>
              <a:t> </a:t>
            </a:r>
            <a:r>
              <a:rPr spc="-10" dirty="0">
                <a:solidFill>
                  <a:srgbClr val="002060"/>
                </a:solidFill>
                <a:latin typeface="Berlin Sans FB" panose="020E0602020502020306" pitchFamily="34" charset="0"/>
                <a:cs typeface="Calibri"/>
              </a:rPr>
              <a:t>industry-accepted</a:t>
            </a:r>
            <a:r>
              <a:rPr spc="60" dirty="0">
                <a:solidFill>
                  <a:srgbClr val="002060"/>
                </a:solidFill>
                <a:latin typeface="Berlin Sans FB" panose="020E0602020502020306" pitchFamily="34" charset="0"/>
                <a:cs typeface="Calibri"/>
              </a:rPr>
              <a:t> </a:t>
            </a:r>
            <a:r>
              <a:rPr spc="-10" dirty="0">
                <a:solidFill>
                  <a:srgbClr val="002060"/>
                </a:solidFill>
                <a:latin typeface="Berlin Sans FB" panose="020E0602020502020306" pitchFamily="34" charset="0"/>
                <a:cs typeface="Calibri"/>
              </a:rPr>
              <a:t>practice.</a:t>
            </a:r>
            <a:endParaRPr dirty="0">
              <a:solidFill>
                <a:srgbClr val="002060"/>
              </a:solidFill>
              <a:latin typeface="Berlin Sans FB" panose="020E0602020502020306" pitchFamily="34" charset="0"/>
              <a:cs typeface="Calibri"/>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16939" y="609676"/>
            <a:ext cx="8387715" cy="697230"/>
          </a:xfrm>
          <a:prstGeom prst="rect">
            <a:avLst/>
          </a:prstGeom>
        </p:spPr>
        <p:txBody>
          <a:bodyPr vert="horz" wrap="square" lIns="0" tIns="13335" rIns="0" bIns="0" rtlCol="0">
            <a:spAutoFit/>
          </a:bodyPr>
          <a:lstStyle/>
          <a:p>
            <a:pPr marL="12700">
              <a:lnSpc>
                <a:spcPct val="100000"/>
              </a:lnSpc>
              <a:spcBef>
                <a:spcPts val="105"/>
              </a:spcBef>
              <a:tabLst>
                <a:tab pos="8374380" algn="l"/>
              </a:tabLst>
            </a:pPr>
            <a:r>
              <a:rPr sz="4400" u="heavy" spc="-40" dirty="0">
                <a:solidFill>
                  <a:srgbClr val="074891"/>
                </a:solidFill>
                <a:uFill>
                  <a:solidFill>
                    <a:srgbClr val="000000"/>
                  </a:solidFill>
                </a:uFill>
                <a:latin typeface="Calibri Light"/>
                <a:cs typeface="Calibri Light"/>
              </a:rPr>
              <a:t>Governance	</a:t>
            </a:r>
            <a:endParaRPr sz="4400">
              <a:latin typeface="Calibri Light"/>
              <a:cs typeface="Calibri Light"/>
            </a:endParaRPr>
          </a:p>
        </p:txBody>
      </p:sp>
      <p:sp>
        <p:nvSpPr>
          <p:cNvPr id="3" name="object 3"/>
          <p:cNvSpPr txBox="1"/>
          <p:nvPr/>
        </p:nvSpPr>
        <p:spPr>
          <a:xfrm>
            <a:off x="2339340" y="2124230"/>
            <a:ext cx="7309191" cy="2774477"/>
          </a:xfrm>
          <a:prstGeom prst="rect">
            <a:avLst/>
          </a:prstGeom>
        </p:spPr>
        <p:txBody>
          <a:bodyPr vert="horz" wrap="square" lIns="0" tIns="12065" rIns="0" bIns="0" rtlCol="0">
            <a:spAutoFit/>
          </a:bodyPr>
          <a:lstStyle/>
          <a:p>
            <a:pPr marL="297815" indent="-285750">
              <a:buFont typeface="Wingdings" panose="05000000000000000000" pitchFamily="2" charset="2"/>
              <a:buChar char="§"/>
              <a:tabLst>
                <a:tab pos="241935" algn="l"/>
              </a:tabLst>
            </a:pPr>
            <a:r>
              <a:rPr spc="-5" dirty="0">
                <a:solidFill>
                  <a:srgbClr val="0070C0"/>
                </a:solidFill>
                <a:effectLst>
                  <a:outerShdw blurRad="38100" dist="38100" dir="2700000" algn="tl">
                    <a:srgbClr val="000000">
                      <a:alpha val="43137"/>
                    </a:srgbClr>
                  </a:outerShdw>
                </a:effectLst>
                <a:latin typeface="Berlin Sans FB" panose="020E0602020502020306" pitchFamily="34" charset="0"/>
                <a:cs typeface="Calibri"/>
              </a:rPr>
              <a:t>Governance can’t easily be ignored, even in the face of limited</a:t>
            </a:r>
            <a:r>
              <a:rPr lang="en-US" spc="-5" dirty="0">
                <a:solidFill>
                  <a:srgbClr val="0070C0"/>
                </a:solidFill>
                <a:effectLst>
                  <a:outerShdw blurRad="38100" dist="38100" dir="2700000" algn="tl">
                    <a:srgbClr val="000000">
                      <a:alpha val="43137"/>
                    </a:srgbClr>
                  </a:outerShdw>
                </a:effectLst>
                <a:latin typeface="Berlin Sans FB" panose="020E0602020502020306" pitchFamily="34" charset="0"/>
                <a:cs typeface="Calibri"/>
              </a:rPr>
              <a:t> </a:t>
            </a:r>
            <a:r>
              <a:rPr spc="-5" dirty="0">
                <a:solidFill>
                  <a:srgbClr val="0070C0"/>
                </a:solidFill>
                <a:effectLst>
                  <a:outerShdw blurRad="38100" dist="38100" dir="2700000" algn="tl">
                    <a:srgbClr val="000000">
                      <a:alpha val="43137"/>
                    </a:srgbClr>
                  </a:outerShdw>
                </a:effectLst>
                <a:latin typeface="Berlin Sans FB" panose="020E0602020502020306" pitchFamily="34" charset="0"/>
                <a:cs typeface="Calibri"/>
              </a:rPr>
              <a:t>resources, it’s worthwhile to include governance requirements for  controls in any business case that supports implementing particular  information system controls.</a:t>
            </a:r>
          </a:p>
          <a:p>
            <a:pPr marL="297815" marR="410209" indent="-285750">
              <a:spcBef>
                <a:spcPts val="1055"/>
              </a:spcBef>
              <a:buFont typeface="Wingdings" panose="05000000000000000000" pitchFamily="2" charset="2"/>
              <a:buChar char="§"/>
              <a:tabLst>
                <a:tab pos="241935" algn="l"/>
              </a:tabLst>
            </a:pPr>
            <a:r>
              <a:rPr spc="-5" dirty="0">
                <a:solidFill>
                  <a:srgbClr val="002060"/>
                </a:solidFill>
                <a:latin typeface="Berlin Sans FB" panose="020E0602020502020306" pitchFamily="34" charset="0"/>
                <a:cs typeface="Calibri"/>
              </a:rPr>
              <a:t>Governance requirements can be used to justify the cost, as well as  the need to implement security controls.</a:t>
            </a:r>
          </a:p>
          <a:p>
            <a:pPr marL="297815" marR="5080" indent="-285750" algn="just">
              <a:spcBef>
                <a:spcPts val="1005"/>
              </a:spcBef>
              <a:buFont typeface="Wingdings" panose="05000000000000000000" pitchFamily="2" charset="2"/>
              <a:buChar char="§"/>
              <a:tabLst>
                <a:tab pos="241935" algn="l"/>
              </a:tabLst>
            </a:pPr>
            <a:r>
              <a:rPr spc="-5" dirty="0">
                <a:solidFill>
                  <a:srgbClr val="002060"/>
                </a:solidFill>
                <a:latin typeface="Berlin Sans FB" panose="020E0602020502020306" pitchFamily="34" charset="0"/>
                <a:cs typeface="Calibri"/>
              </a:rPr>
              <a:t>The particular types of governance your organization is subject to will  need to be carefully examined before inclusion in any business case to  ensure that they are properly interpreted.</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16939" y="633122"/>
            <a:ext cx="8387715" cy="697230"/>
          </a:xfrm>
          <a:prstGeom prst="rect">
            <a:avLst/>
          </a:prstGeom>
        </p:spPr>
        <p:txBody>
          <a:bodyPr vert="horz" wrap="square" lIns="0" tIns="13335" rIns="0" bIns="0" rtlCol="0">
            <a:spAutoFit/>
          </a:bodyPr>
          <a:lstStyle/>
          <a:p>
            <a:pPr marL="12700">
              <a:lnSpc>
                <a:spcPct val="100000"/>
              </a:lnSpc>
              <a:spcBef>
                <a:spcPts val="105"/>
              </a:spcBef>
              <a:tabLst>
                <a:tab pos="8374380" algn="l"/>
              </a:tabLst>
            </a:pPr>
            <a:r>
              <a:rPr sz="4400" u="heavy" spc="-65" dirty="0">
                <a:solidFill>
                  <a:srgbClr val="074891"/>
                </a:solidFill>
                <a:uFill>
                  <a:solidFill>
                    <a:srgbClr val="000000"/>
                  </a:solidFill>
                </a:uFill>
                <a:latin typeface="Calibri Light"/>
                <a:cs typeface="Calibri Light"/>
              </a:rPr>
              <a:t>Economy</a:t>
            </a:r>
            <a:r>
              <a:rPr sz="4400" u="heavy" spc="-114" dirty="0">
                <a:solidFill>
                  <a:srgbClr val="074891"/>
                </a:solidFill>
                <a:uFill>
                  <a:solidFill>
                    <a:srgbClr val="000000"/>
                  </a:solidFill>
                </a:uFill>
                <a:latin typeface="Calibri Light"/>
                <a:cs typeface="Calibri Light"/>
              </a:rPr>
              <a:t> </a:t>
            </a:r>
            <a:r>
              <a:rPr sz="4400" u="heavy" spc="-20" dirty="0">
                <a:solidFill>
                  <a:srgbClr val="074891"/>
                </a:solidFill>
                <a:uFill>
                  <a:solidFill>
                    <a:srgbClr val="000000"/>
                  </a:solidFill>
                </a:uFill>
                <a:latin typeface="Calibri Light"/>
                <a:cs typeface="Calibri Light"/>
              </a:rPr>
              <a:t>and</a:t>
            </a:r>
            <a:r>
              <a:rPr sz="4400" u="heavy" spc="-95" dirty="0">
                <a:solidFill>
                  <a:srgbClr val="074891"/>
                </a:solidFill>
                <a:uFill>
                  <a:solidFill>
                    <a:srgbClr val="000000"/>
                  </a:solidFill>
                </a:uFill>
                <a:latin typeface="Calibri Light"/>
                <a:cs typeface="Calibri Light"/>
              </a:rPr>
              <a:t> </a:t>
            </a:r>
            <a:r>
              <a:rPr sz="4400" u="heavy" spc="-50" dirty="0">
                <a:solidFill>
                  <a:srgbClr val="074891"/>
                </a:solidFill>
                <a:uFill>
                  <a:solidFill>
                    <a:srgbClr val="000000"/>
                  </a:solidFill>
                </a:uFill>
                <a:latin typeface="Calibri Light"/>
                <a:cs typeface="Calibri Light"/>
              </a:rPr>
              <a:t>Efficiency</a:t>
            </a:r>
            <a:r>
              <a:rPr sz="4400" u="heavy" spc="-100" dirty="0">
                <a:solidFill>
                  <a:srgbClr val="074891"/>
                </a:solidFill>
                <a:uFill>
                  <a:solidFill>
                    <a:srgbClr val="000000"/>
                  </a:solidFill>
                </a:uFill>
                <a:latin typeface="Calibri Light"/>
                <a:cs typeface="Calibri Light"/>
              </a:rPr>
              <a:t> </a:t>
            </a:r>
            <a:r>
              <a:rPr sz="4400" u="heavy" spc="-15" dirty="0">
                <a:solidFill>
                  <a:srgbClr val="074891"/>
                </a:solidFill>
                <a:uFill>
                  <a:solidFill>
                    <a:srgbClr val="000000"/>
                  </a:solidFill>
                </a:uFill>
                <a:latin typeface="Calibri Light"/>
                <a:cs typeface="Calibri Light"/>
              </a:rPr>
              <a:t>of</a:t>
            </a:r>
            <a:r>
              <a:rPr sz="4400" u="heavy" spc="-70" dirty="0">
                <a:solidFill>
                  <a:srgbClr val="074891"/>
                </a:solidFill>
                <a:uFill>
                  <a:solidFill>
                    <a:srgbClr val="000000"/>
                  </a:solidFill>
                </a:uFill>
                <a:latin typeface="Calibri Light"/>
                <a:cs typeface="Calibri Light"/>
              </a:rPr>
              <a:t> </a:t>
            </a:r>
            <a:r>
              <a:rPr sz="4400" u="heavy" spc="-20" dirty="0">
                <a:solidFill>
                  <a:srgbClr val="074891"/>
                </a:solidFill>
                <a:uFill>
                  <a:solidFill>
                    <a:srgbClr val="000000"/>
                  </a:solidFill>
                </a:uFill>
                <a:latin typeface="Calibri Light"/>
                <a:cs typeface="Calibri Light"/>
              </a:rPr>
              <a:t>Use	</a:t>
            </a:r>
            <a:endParaRPr sz="4400">
              <a:latin typeface="Calibri Light"/>
              <a:cs typeface="Calibri Light"/>
            </a:endParaRPr>
          </a:p>
        </p:txBody>
      </p:sp>
      <p:sp>
        <p:nvSpPr>
          <p:cNvPr id="3" name="object 3"/>
          <p:cNvSpPr txBox="1"/>
          <p:nvPr/>
        </p:nvSpPr>
        <p:spPr>
          <a:xfrm>
            <a:off x="1041984" y="1986612"/>
            <a:ext cx="4217770" cy="1555939"/>
          </a:xfrm>
          <a:prstGeom prst="rect">
            <a:avLst/>
          </a:prstGeom>
        </p:spPr>
        <p:txBody>
          <a:bodyPr vert="horz" wrap="square" lIns="0" tIns="97155" rIns="0" bIns="0" rtlCol="0">
            <a:spAutoFit/>
          </a:bodyPr>
          <a:lstStyle/>
          <a:p>
            <a:pPr marL="354965" marR="38100" indent="-342900">
              <a:lnSpc>
                <a:spcPct val="80000"/>
              </a:lnSpc>
              <a:spcBef>
                <a:spcPts val="765"/>
              </a:spcBef>
              <a:buFont typeface="Wingdings" panose="05000000000000000000" pitchFamily="2" charset="2"/>
              <a:buChar char="§"/>
              <a:tabLst>
                <a:tab pos="241935" algn="l"/>
              </a:tabLst>
            </a:pPr>
            <a:r>
              <a:rPr spc="-5" dirty="0">
                <a:solidFill>
                  <a:srgbClr val="002060"/>
                </a:solidFill>
                <a:latin typeface="Berlin Sans FB" panose="020E0602020502020306" pitchFamily="34" charset="0"/>
                <a:cs typeface="Calibri"/>
              </a:rPr>
              <a:t>The business case  should discuss why a  particular control is  effective in  mitigating a  particular risk.</a:t>
            </a:r>
          </a:p>
          <a:p>
            <a:pPr marL="354965" marR="5080" indent="-342900">
              <a:lnSpc>
                <a:spcPct val="80000"/>
              </a:lnSpc>
              <a:spcBef>
                <a:spcPts val="1000"/>
              </a:spcBef>
              <a:buFont typeface="Wingdings" panose="05000000000000000000" pitchFamily="2" charset="2"/>
              <a:buChar char="§"/>
              <a:tabLst>
                <a:tab pos="241935" algn="l"/>
              </a:tabLst>
            </a:pPr>
            <a:r>
              <a:rPr spc="-5" dirty="0">
                <a:solidFill>
                  <a:srgbClr val="002060"/>
                </a:solidFill>
                <a:latin typeface="Berlin Sans FB" panose="020E0602020502020306" pitchFamily="34" charset="0"/>
                <a:cs typeface="Calibri"/>
              </a:rPr>
              <a:t>The business case  should try to  examine controls  that follow the  principle of economy  of use.</a:t>
            </a:r>
          </a:p>
        </p:txBody>
      </p:sp>
      <p:pic>
        <p:nvPicPr>
          <p:cNvPr id="4" name="object 4"/>
          <p:cNvPicPr/>
          <p:nvPr/>
        </p:nvPicPr>
        <p:blipFill>
          <a:blip r:embed="rId2" cstate="print"/>
          <a:stretch>
            <a:fillRect/>
          </a:stretch>
        </p:blipFill>
        <p:spPr>
          <a:xfrm>
            <a:off x="6385169" y="2164862"/>
            <a:ext cx="5277656" cy="3472767"/>
          </a:xfrm>
          <a:prstGeom prst="rect">
            <a:avLst/>
          </a:prstGeom>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16939" y="609676"/>
            <a:ext cx="8387715" cy="697230"/>
          </a:xfrm>
          <a:prstGeom prst="rect">
            <a:avLst/>
          </a:prstGeom>
        </p:spPr>
        <p:txBody>
          <a:bodyPr vert="horz" wrap="square" lIns="0" tIns="13335" rIns="0" bIns="0" rtlCol="0">
            <a:spAutoFit/>
          </a:bodyPr>
          <a:lstStyle/>
          <a:p>
            <a:pPr marL="12700">
              <a:lnSpc>
                <a:spcPct val="100000"/>
              </a:lnSpc>
              <a:spcBef>
                <a:spcPts val="105"/>
              </a:spcBef>
              <a:tabLst>
                <a:tab pos="8374380" algn="l"/>
              </a:tabLst>
            </a:pPr>
            <a:r>
              <a:rPr sz="4400" u="heavy" spc="-30" dirty="0">
                <a:solidFill>
                  <a:srgbClr val="074891"/>
                </a:solidFill>
                <a:uFill>
                  <a:solidFill>
                    <a:srgbClr val="000000"/>
                  </a:solidFill>
                </a:uFill>
                <a:latin typeface="Calibri Light"/>
                <a:cs typeface="Calibri Light"/>
              </a:rPr>
              <a:t>Business</a:t>
            </a:r>
            <a:r>
              <a:rPr sz="4400" u="heavy" spc="-90" dirty="0">
                <a:solidFill>
                  <a:srgbClr val="074891"/>
                </a:solidFill>
                <a:uFill>
                  <a:solidFill>
                    <a:srgbClr val="000000"/>
                  </a:solidFill>
                </a:uFill>
                <a:latin typeface="Calibri Light"/>
                <a:cs typeface="Calibri Light"/>
              </a:rPr>
              <a:t> </a:t>
            </a:r>
            <a:r>
              <a:rPr sz="4400" u="heavy" spc="-35" dirty="0">
                <a:solidFill>
                  <a:srgbClr val="074891"/>
                </a:solidFill>
                <a:uFill>
                  <a:solidFill>
                    <a:srgbClr val="000000"/>
                  </a:solidFill>
                </a:uFill>
                <a:latin typeface="Calibri Light"/>
                <a:cs typeface="Calibri Light"/>
              </a:rPr>
              <a:t>Functions</a:t>
            </a:r>
            <a:r>
              <a:rPr sz="4400" u="heavy" spc="-90" dirty="0">
                <a:solidFill>
                  <a:srgbClr val="074891"/>
                </a:solidFill>
                <a:uFill>
                  <a:solidFill>
                    <a:srgbClr val="000000"/>
                  </a:solidFill>
                </a:uFill>
                <a:latin typeface="Calibri Light"/>
                <a:cs typeface="Calibri Light"/>
              </a:rPr>
              <a:t> </a:t>
            </a:r>
            <a:r>
              <a:rPr sz="4400" u="heavy" spc="-20" dirty="0">
                <a:solidFill>
                  <a:srgbClr val="074891"/>
                </a:solidFill>
                <a:uFill>
                  <a:solidFill>
                    <a:srgbClr val="000000"/>
                  </a:solidFill>
                </a:uFill>
                <a:latin typeface="Calibri Light"/>
                <a:cs typeface="Calibri Light"/>
              </a:rPr>
              <a:t>and</a:t>
            </a:r>
            <a:r>
              <a:rPr sz="4400" u="heavy" spc="-90" dirty="0">
                <a:solidFill>
                  <a:srgbClr val="074891"/>
                </a:solidFill>
                <a:uFill>
                  <a:solidFill>
                    <a:srgbClr val="000000"/>
                  </a:solidFill>
                </a:uFill>
                <a:latin typeface="Calibri Light"/>
                <a:cs typeface="Calibri Light"/>
              </a:rPr>
              <a:t> </a:t>
            </a:r>
            <a:r>
              <a:rPr sz="4400" u="heavy" spc="-45" dirty="0">
                <a:solidFill>
                  <a:srgbClr val="074891"/>
                </a:solidFill>
                <a:uFill>
                  <a:solidFill>
                    <a:srgbClr val="000000"/>
                  </a:solidFill>
                </a:uFill>
                <a:latin typeface="Calibri Light"/>
                <a:cs typeface="Calibri Light"/>
              </a:rPr>
              <a:t>Controls	</a:t>
            </a:r>
            <a:endParaRPr sz="4400">
              <a:latin typeface="Calibri Light"/>
              <a:cs typeface="Calibri Light"/>
            </a:endParaRPr>
          </a:p>
        </p:txBody>
      </p:sp>
      <p:sp>
        <p:nvSpPr>
          <p:cNvPr id="3" name="object 3"/>
          <p:cNvSpPr txBox="1"/>
          <p:nvPr/>
        </p:nvSpPr>
        <p:spPr>
          <a:xfrm>
            <a:off x="1753185" y="1785678"/>
            <a:ext cx="6882815" cy="2068580"/>
          </a:xfrm>
          <a:prstGeom prst="rect">
            <a:avLst/>
          </a:prstGeom>
        </p:spPr>
        <p:txBody>
          <a:bodyPr vert="horz" wrap="square" lIns="0" tIns="60960" rIns="0" bIns="0" rtlCol="0">
            <a:spAutoFit/>
          </a:bodyPr>
          <a:lstStyle/>
          <a:p>
            <a:pPr marL="354965" marR="453390" indent="-342900">
              <a:lnSpc>
                <a:spcPts val="3020"/>
              </a:lnSpc>
              <a:spcBef>
                <a:spcPts val="480"/>
              </a:spcBef>
              <a:buFont typeface="Wingdings" panose="05000000000000000000" pitchFamily="2" charset="2"/>
              <a:buChar char="§"/>
              <a:tabLst>
                <a:tab pos="241935" algn="l"/>
              </a:tabLst>
            </a:pPr>
            <a:r>
              <a:rPr spc="-5" dirty="0">
                <a:solidFill>
                  <a:srgbClr val="002060"/>
                </a:solidFill>
                <a:latin typeface="Berlin Sans FB" panose="020E0602020502020306" pitchFamily="34" charset="0"/>
                <a:cs typeface="Calibri"/>
              </a:rPr>
              <a:t>From a business perspective, controls are also there to protect the  integrity and continuity of business functions.</a:t>
            </a:r>
          </a:p>
          <a:p>
            <a:pPr marL="354965" marR="5080" indent="-342900">
              <a:lnSpc>
                <a:spcPts val="3020"/>
              </a:lnSpc>
              <a:spcBef>
                <a:spcPts val="1015"/>
              </a:spcBef>
              <a:buFont typeface="Wingdings" panose="05000000000000000000" pitchFamily="2" charset="2"/>
              <a:buChar char="§"/>
              <a:tabLst>
                <a:tab pos="241935" algn="l"/>
              </a:tabLst>
            </a:pPr>
            <a:r>
              <a:rPr spc="-5" dirty="0">
                <a:solidFill>
                  <a:srgbClr val="002060"/>
                </a:solidFill>
                <a:latin typeface="Berlin Sans FB" panose="020E0602020502020306" pitchFamily="34" charset="0"/>
                <a:cs typeface="Calibri"/>
              </a:rPr>
              <a:t>Business functions, such as sales, human resources or accounting  processes, or even processes that take place with third parties, are all  also considerations when designing and implementing controls.</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16939" y="609676"/>
            <a:ext cx="8387715" cy="697230"/>
          </a:xfrm>
          <a:prstGeom prst="rect">
            <a:avLst/>
          </a:prstGeom>
        </p:spPr>
        <p:txBody>
          <a:bodyPr vert="horz" wrap="square" lIns="0" tIns="13335" rIns="0" bIns="0" rtlCol="0">
            <a:spAutoFit/>
          </a:bodyPr>
          <a:lstStyle/>
          <a:p>
            <a:pPr marL="12700">
              <a:lnSpc>
                <a:spcPct val="100000"/>
              </a:lnSpc>
              <a:spcBef>
                <a:spcPts val="105"/>
              </a:spcBef>
              <a:tabLst>
                <a:tab pos="8374380" algn="l"/>
              </a:tabLst>
            </a:pPr>
            <a:r>
              <a:rPr sz="4400" u="heavy" spc="-40" dirty="0">
                <a:solidFill>
                  <a:srgbClr val="074891"/>
                </a:solidFill>
                <a:uFill>
                  <a:solidFill>
                    <a:srgbClr val="000000"/>
                  </a:solidFill>
                </a:uFill>
                <a:latin typeface="Calibri Light"/>
                <a:cs typeface="Calibri Light"/>
              </a:rPr>
              <a:t>Internal</a:t>
            </a:r>
            <a:r>
              <a:rPr sz="4400" u="heavy" spc="-114" dirty="0">
                <a:solidFill>
                  <a:srgbClr val="074891"/>
                </a:solidFill>
                <a:uFill>
                  <a:solidFill>
                    <a:srgbClr val="000000"/>
                  </a:solidFill>
                </a:uFill>
                <a:latin typeface="Calibri Light"/>
                <a:cs typeface="Calibri Light"/>
              </a:rPr>
              <a:t> </a:t>
            </a:r>
            <a:r>
              <a:rPr sz="4400" u="heavy" spc="-30" dirty="0">
                <a:solidFill>
                  <a:srgbClr val="074891"/>
                </a:solidFill>
                <a:uFill>
                  <a:solidFill>
                    <a:srgbClr val="000000"/>
                  </a:solidFill>
                </a:uFill>
                <a:latin typeface="Calibri Light"/>
                <a:cs typeface="Calibri Light"/>
              </a:rPr>
              <a:t>Functions	</a:t>
            </a:r>
            <a:endParaRPr sz="4400">
              <a:latin typeface="Calibri Light"/>
              <a:cs typeface="Calibri Light"/>
            </a:endParaRPr>
          </a:p>
        </p:txBody>
      </p:sp>
      <p:sp>
        <p:nvSpPr>
          <p:cNvPr id="3" name="object 3"/>
          <p:cNvSpPr txBox="1"/>
          <p:nvPr/>
        </p:nvSpPr>
        <p:spPr>
          <a:xfrm>
            <a:off x="1837885" y="1840035"/>
            <a:ext cx="6501130" cy="4025526"/>
          </a:xfrm>
          <a:prstGeom prst="rect">
            <a:avLst/>
          </a:prstGeom>
        </p:spPr>
        <p:txBody>
          <a:bodyPr vert="horz" wrap="square" lIns="0" tIns="121920" rIns="0" bIns="0" rtlCol="0">
            <a:spAutoFit/>
          </a:bodyPr>
          <a:lstStyle/>
          <a:p>
            <a:pPr marL="354965" marR="1032510" indent="-342900">
              <a:lnSpc>
                <a:spcPct val="70000"/>
              </a:lnSpc>
              <a:spcBef>
                <a:spcPts val="960"/>
              </a:spcBef>
              <a:buFont typeface="Wingdings" panose="05000000000000000000" pitchFamily="2" charset="2"/>
              <a:buChar char="§"/>
              <a:tabLst>
                <a:tab pos="241935" algn="l"/>
              </a:tabLst>
            </a:pPr>
            <a:r>
              <a:rPr sz="2800" spc="-5" dirty="0">
                <a:solidFill>
                  <a:srgbClr val="C00000"/>
                </a:solidFill>
                <a:latin typeface="Bahnschrift SemiBold" panose="020B0502040204020203" pitchFamily="34" charset="0"/>
                <a:cs typeface="Calibri"/>
              </a:rPr>
              <a:t>Internal functions </a:t>
            </a:r>
            <a:r>
              <a:rPr spc="-5" dirty="0">
                <a:solidFill>
                  <a:srgbClr val="002060"/>
                </a:solidFill>
                <a:latin typeface="Berlin Sans FB" panose="020E0602020502020306" pitchFamily="34" charset="0"/>
                <a:cs typeface="Calibri"/>
              </a:rPr>
              <a:t>such as</a:t>
            </a:r>
          </a:p>
          <a:p>
            <a:pPr marL="755015" lvl="1" indent="-285750">
              <a:lnSpc>
                <a:spcPts val="2190"/>
              </a:lnSpc>
              <a:buFont typeface="Courier New" panose="02070309020205020404" pitchFamily="49" charset="0"/>
              <a:buChar char="o"/>
              <a:tabLst>
                <a:tab pos="698500" algn="l"/>
                <a:tab pos="699135" algn="l"/>
              </a:tabLst>
            </a:pPr>
            <a:r>
              <a:rPr spc="-5" dirty="0">
                <a:solidFill>
                  <a:srgbClr val="002060"/>
                </a:solidFill>
                <a:latin typeface="Berlin Sans FB" panose="020E0602020502020306" pitchFamily="34" charset="0"/>
                <a:cs typeface="Calibri"/>
              </a:rPr>
              <a:t>human resources, accounting, </a:t>
            </a:r>
            <a:endParaRPr lang="en-US" spc="-5" dirty="0">
              <a:solidFill>
                <a:srgbClr val="002060"/>
              </a:solidFill>
              <a:latin typeface="Berlin Sans FB" panose="020E0602020502020306" pitchFamily="34" charset="0"/>
              <a:cs typeface="Calibri"/>
            </a:endParaRPr>
          </a:p>
          <a:p>
            <a:pPr marL="755015" lvl="1" indent="-285750">
              <a:lnSpc>
                <a:spcPts val="2190"/>
              </a:lnSpc>
              <a:buFont typeface="Courier New" panose="02070309020205020404" pitchFamily="49" charset="0"/>
              <a:buChar char="o"/>
              <a:tabLst>
                <a:tab pos="698500" algn="l"/>
                <a:tab pos="699135" algn="l"/>
              </a:tabLst>
            </a:pPr>
            <a:r>
              <a:rPr spc="-5" dirty="0">
                <a:solidFill>
                  <a:srgbClr val="002060"/>
                </a:solidFill>
                <a:latin typeface="Berlin Sans FB" panose="020E0602020502020306" pitchFamily="34" charset="0"/>
                <a:cs typeface="Calibri"/>
              </a:rPr>
              <a:t>security, production, marketing, and so on.</a:t>
            </a:r>
          </a:p>
          <a:p>
            <a:pPr marL="354965" marR="1304290" indent="-342900">
              <a:lnSpc>
                <a:spcPct val="70000"/>
              </a:lnSpc>
              <a:spcBef>
                <a:spcPts val="994"/>
              </a:spcBef>
              <a:buFont typeface="Wingdings" panose="05000000000000000000" pitchFamily="2" charset="2"/>
              <a:buChar char="§"/>
              <a:tabLst>
                <a:tab pos="241935" algn="l"/>
              </a:tabLst>
            </a:pPr>
            <a:r>
              <a:rPr spc="-5" dirty="0">
                <a:solidFill>
                  <a:srgbClr val="002060"/>
                </a:solidFill>
                <a:latin typeface="Berlin Sans FB" panose="020E0602020502020306" pitchFamily="34" charset="0"/>
                <a:cs typeface="Calibri"/>
              </a:rPr>
              <a:t>Controls may be necessary to protect information systems within the  organization, typically from an access control perspective, based on the  sensitivity of systems and information</a:t>
            </a:r>
          </a:p>
          <a:p>
            <a:pPr marL="354965" marR="5080" indent="-342900">
              <a:lnSpc>
                <a:spcPct val="70000"/>
              </a:lnSpc>
              <a:spcBef>
                <a:spcPts val="1000"/>
              </a:spcBef>
              <a:buFont typeface="Wingdings" panose="05000000000000000000" pitchFamily="2" charset="2"/>
              <a:buChar char="§"/>
              <a:tabLst>
                <a:tab pos="241935" algn="l"/>
              </a:tabLst>
            </a:pPr>
            <a:r>
              <a:rPr spc="-5" dirty="0">
                <a:solidFill>
                  <a:srgbClr val="002060"/>
                </a:solidFill>
                <a:latin typeface="Berlin Sans FB" panose="020E0602020502020306" pitchFamily="34" charset="0"/>
                <a:cs typeface="Calibri"/>
              </a:rPr>
              <a:t>Controls should be considered that protect data on the internal infrastructure,  using access controls, rights, permissions and privileges, encryption, and so on.  Policies are also important controls that protect internal systems and information.</a:t>
            </a:r>
          </a:p>
          <a:p>
            <a:pPr marL="354965" marR="186055" indent="-342900">
              <a:lnSpc>
                <a:spcPct val="70000"/>
              </a:lnSpc>
              <a:spcBef>
                <a:spcPts val="1005"/>
              </a:spcBef>
              <a:buFont typeface="Wingdings" panose="05000000000000000000" pitchFamily="2" charset="2"/>
              <a:buChar char="§"/>
              <a:tabLst>
                <a:tab pos="241935" algn="l"/>
              </a:tabLst>
            </a:pPr>
            <a:r>
              <a:rPr spc="-5" dirty="0">
                <a:solidFill>
                  <a:srgbClr val="C00000"/>
                </a:solidFill>
                <a:latin typeface="Berlin Sans FB" panose="020E0602020502020306" pitchFamily="34" charset="0"/>
                <a:cs typeface="Calibri"/>
              </a:rPr>
              <a:t>When developing business cases for controls, don’t neglect internal systems and  data.</a:t>
            </a:r>
            <a:endParaRPr lang="en-US" spc="-5" dirty="0">
              <a:solidFill>
                <a:srgbClr val="C00000"/>
              </a:solidFill>
              <a:latin typeface="Berlin Sans FB" panose="020E0602020502020306" pitchFamily="34" charset="0"/>
              <a:cs typeface="Calibri"/>
            </a:endParaRPr>
          </a:p>
          <a:p>
            <a:pPr marL="354965" marR="186055" indent="-342900">
              <a:lnSpc>
                <a:spcPct val="70000"/>
              </a:lnSpc>
              <a:spcBef>
                <a:spcPts val="1005"/>
              </a:spcBef>
              <a:buFont typeface="Wingdings" panose="05000000000000000000" pitchFamily="2" charset="2"/>
              <a:buChar char="§"/>
              <a:tabLst>
                <a:tab pos="241935" algn="l"/>
              </a:tabLst>
            </a:pPr>
            <a:r>
              <a:rPr spc="-5" dirty="0">
                <a:solidFill>
                  <a:srgbClr val="C00000"/>
                </a:solidFill>
                <a:latin typeface="Berlin Sans FB" panose="020E0602020502020306" pitchFamily="34" charset="0"/>
                <a:cs typeface="Calibri"/>
              </a:rPr>
              <a:t>Internal controls serve to protect data from threats such as malicious insiders,  employee neglect, and accidental access, modification, or  destruction.</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16939" y="609676"/>
            <a:ext cx="8387715" cy="697230"/>
          </a:xfrm>
          <a:prstGeom prst="rect">
            <a:avLst/>
          </a:prstGeom>
        </p:spPr>
        <p:txBody>
          <a:bodyPr vert="horz" wrap="square" lIns="0" tIns="13335" rIns="0" bIns="0" rtlCol="0">
            <a:spAutoFit/>
          </a:bodyPr>
          <a:lstStyle/>
          <a:p>
            <a:pPr marL="12700">
              <a:lnSpc>
                <a:spcPct val="100000"/>
              </a:lnSpc>
              <a:spcBef>
                <a:spcPts val="105"/>
              </a:spcBef>
              <a:tabLst>
                <a:tab pos="8374380" algn="l"/>
              </a:tabLst>
            </a:pPr>
            <a:r>
              <a:rPr sz="4400" u="heavy" spc="-30" dirty="0">
                <a:solidFill>
                  <a:srgbClr val="074891"/>
                </a:solidFill>
                <a:uFill>
                  <a:solidFill>
                    <a:srgbClr val="000000"/>
                  </a:solidFill>
                </a:uFill>
                <a:latin typeface="Calibri Light"/>
                <a:cs typeface="Calibri Light"/>
              </a:rPr>
              <a:t>External</a:t>
            </a:r>
            <a:r>
              <a:rPr sz="4400" u="heavy" spc="-95" dirty="0">
                <a:solidFill>
                  <a:srgbClr val="074891"/>
                </a:solidFill>
                <a:uFill>
                  <a:solidFill>
                    <a:srgbClr val="000000"/>
                  </a:solidFill>
                </a:uFill>
                <a:latin typeface="Calibri Light"/>
                <a:cs typeface="Calibri Light"/>
              </a:rPr>
              <a:t> </a:t>
            </a:r>
            <a:r>
              <a:rPr sz="4400" u="heavy" spc="-35" dirty="0">
                <a:solidFill>
                  <a:srgbClr val="074891"/>
                </a:solidFill>
                <a:uFill>
                  <a:solidFill>
                    <a:srgbClr val="000000"/>
                  </a:solidFill>
                </a:uFill>
                <a:latin typeface="Calibri Light"/>
                <a:cs typeface="Calibri Light"/>
              </a:rPr>
              <a:t>Functions	</a:t>
            </a:r>
            <a:endParaRPr sz="4400">
              <a:latin typeface="Calibri Light"/>
              <a:cs typeface="Calibri Light"/>
            </a:endParaRPr>
          </a:p>
        </p:txBody>
      </p:sp>
      <p:sp>
        <p:nvSpPr>
          <p:cNvPr id="3" name="object 3"/>
          <p:cNvSpPr txBox="1"/>
          <p:nvPr/>
        </p:nvSpPr>
        <p:spPr>
          <a:xfrm>
            <a:off x="1917308" y="1926355"/>
            <a:ext cx="8117646" cy="2289153"/>
          </a:xfrm>
          <a:prstGeom prst="rect">
            <a:avLst/>
          </a:prstGeom>
        </p:spPr>
        <p:txBody>
          <a:bodyPr vert="horz" wrap="square" lIns="0" tIns="60960" rIns="0" bIns="0" rtlCol="0">
            <a:spAutoFit/>
          </a:bodyPr>
          <a:lstStyle/>
          <a:p>
            <a:pPr marL="297815" marR="1078230" indent="-285750">
              <a:lnSpc>
                <a:spcPts val="3020"/>
              </a:lnSpc>
              <a:spcBef>
                <a:spcPts val="480"/>
              </a:spcBef>
              <a:buFont typeface="Wingdings" panose="05000000000000000000" pitchFamily="2" charset="2"/>
              <a:buChar char="§"/>
              <a:tabLst>
                <a:tab pos="241935" algn="l"/>
              </a:tabLst>
            </a:pPr>
            <a:r>
              <a:rPr spc="-5" dirty="0">
                <a:solidFill>
                  <a:srgbClr val="002060"/>
                </a:solidFill>
                <a:latin typeface="Berlin Sans FB" panose="020E0602020502020306" pitchFamily="34" charset="0"/>
                <a:cs typeface="Calibri"/>
              </a:rPr>
              <a:t>Most organizations put a higher priority on protecting external  functions, such as</a:t>
            </a:r>
          </a:p>
          <a:p>
            <a:pPr marL="755015" lvl="1" indent="-285750">
              <a:lnSpc>
                <a:spcPct val="100000"/>
              </a:lnSpc>
              <a:spcBef>
                <a:spcPts val="204"/>
              </a:spcBef>
              <a:buFont typeface="Courier New" panose="02070309020205020404" pitchFamily="49" charset="0"/>
              <a:buChar char="o"/>
              <a:tabLst>
                <a:tab pos="699135" algn="l"/>
              </a:tabLst>
            </a:pPr>
            <a:r>
              <a:rPr lang="en-US" spc="-5" dirty="0">
                <a:solidFill>
                  <a:srgbClr val="C00000"/>
                </a:solidFill>
                <a:latin typeface="Berlin Sans FB" panose="020E0602020502020306" pitchFamily="34" charset="0"/>
                <a:cs typeface="Calibri"/>
              </a:rPr>
              <a:t>E</a:t>
            </a:r>
            <a:r>
              <a:rPr spc="-5" dirty="0">
                <a:solidFill>
                  <a:srgbClr val="C00000"/>
                </a:solidFill>
                <a:latin typeface="Berlin Sans FB" panose="020E0602020502020306" pitchFamily="34" charset="0"/>
                <a:cs typeface="Calibri"/>
              </a:rPr>
              <a:t>xternal websites, and other potentially publicly accessible data.</a:t>
            </a:r>
          </a:p>
          <a:p>
            <a:pPr marL="755015" lvl="1" indent="-285750">
              <a:lnSpc>
                <a:spcPct val="100000"/>
              </a:lnSpc>
              <a:spcBef>
                <a:spcPts val="215"/>
              </a:spcBef>
              <a:buFont typeface="Courier New" panose="02070309020205020404" pitchFamily="49" charset="0"/>
              <a:buChar char="o"/>
              <a:tabLst>
                <a:tab pos="699135" algn="l"/>
              </a:tabLst>
            </a:pPr>
            <a:r>
              <a:rPr spc="-5" dirty="0">
                <a:solidFill>
                  <a:srgbClr val="C00000"/>
                </a:solidFill>
                <a:latin typeface="Berlin Sans FB" panose="020E0602020502020306" pitchFamily="34" charset="0"/>
                <a:cs typeface="Calibri"/>
              </a:rPr>
              <a:t>The typical example of a control that protects external functions is a firewall.</a:t>
            </a:r>
          </a:p>
          <a:p>
            <a:pPr marL="297815" marR="5080" indent="-285750">
              <a:lnSpc>
                <a:spcPts val="3020"/>
              </a:lnSpc>
              <a:spcBef>
                <a:spcPts val="1020"/>
              </a:spcBef>
              <a:buFont typeface="Wingdings" panose="05000000000000000000" pitchFamily="2" charset="2"/>
              <a:buChar char="§"/>
              <a:tabLst>
                <a:tab pos="241935" algn="l"/>
              </a:tabLst>
            </a:pPr>
            <a:r>
              <a:rPr spc="-5" dirty="0">
                <a:solidFill>
                  <a:srgbClr val="002060"/>
                </a:solidFill>
                <a:latin typeface="Berlin Sans FB" panose="020E0602020502020306" pitchFamily="34" charset="0"/>
                <a:cs typeface="Calibri"/>
              </a:rPr>
              <a:t>Strong authentication, encryption, third-party, agreements, and other  access controls should be used to protect external functions and data.</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16939" y="609676"/>
            <a:ext cx="8387715" cy="697230"/>
          </a:xfrm>
          <a:prstGeom prst="rect">
            <a:avLst/>
          </a:prstGeom>
        </p:spPr>
        <p:txBody>
          <a:bodyPr vert="horz" wrap="square" lIns="0" tIns="13335" rIns="0" bIns="0" rtlCol="0">
            <a:spAutoFit/>
          </a:bodyPr>
          <a:lstStyle/>
          <a:p>
            <a:pPr marL="12700">
              <a:lnSpc>
                <a:spcPct val="100000"/>
              </a:lnSpc>
              <a:spcBef>
                <a:spcPts val="105"/>
              </a:spcBef>
              <a:tabLst>
                <a:tab pos="8374380" algn="l"/>
              </a:tabLst>
            </a:pPr>
            <a:r>
              <a:rPr sz="4400" u="sng" spc="-40" dirty="0">
                <a:solidFill>
                  <a:srgbClr val="074891"/>
                </a:solidFill>
                <a:uFill>
                  <a:solidFill>
                    <a:srgbClr val="000000"/>
                  </a:solidFill>
                </a:uFill>
                <a:latin typeface="Calibri Light"/>
                <a:cs typeface="Calibri Light"/>
              </a:rPr>
              <a:t>Cross-boundary</a:t>
            </a:r>
            <a:r>
              <a:rPr sz="4400" u="sng" spc="-130" dirty="0">
                <a:solidFill>
                  <a:srgbClr val="074891"/>
                </a:solidFill>
                <a:uFill>
                  <a:solidFill>
                    <a:srgbClr val="000000"/>
                  </a:solidFill>
                </a:uFill>
                <a:latin typeface="Calibri Light"/>
                <a:cs typeface="Calibri Light"/>
              </a:rPr>
              <a:t> </a:t>
            </a:r>
            <a:r>
              <a:rPr sz="4400" u="sng" spc="-35" dirty="0">
                <a:solidFill>
                  <a:srgbClr val="074891"/>
                </a:solidFill>
                <a:uFill>
                  <a:solidFill>
                    <a:srgbClr val="000000"/>
                  </a:solidFill>
                </a:uFill>
                <a:latin typeface="Calibri Light"/>
                <a:cs typeface="Calibri Light"/>
              </a:rPr>
              <a:t>Functions	</a:t>
            </a:r>
            <a:endParaRPr sz="4400" u="sng" dirty="0">
              <a:latin typeface="Calibri Light"/>
              <a:cs typeface="Calibri Light"/>
            </a:endParaRPr>
          </a:p>
        </p:txBody>
      </p:sp>
      <p:sp>
        <p:nvSpPr>
          <p:cNvPr id="3" name="object 3"/>
          <p:cNvSpPr txBox="1"/>
          <p:nvPr/>
        </p:nvSpPr>
        <p:spPr>
          <a:xfrm>
            <a:off x="2409678" y="1870368"/>
            <a:ext cx="6835922" cy="3333733"/>
          </a:xfrm>
          <a:prstGeom prst="rect">
            <a:avLst/>
          </a:prstGeom>
        </p:spPr>
        <p:txBody>
          <a:bodyPr vert="horz" wrap="square" lIns="0" tIns="92075" rIns="0" bIns="0" rtlCol="0">
            <a:spAutoFit/>
          </a:bodyPr>
          <a:lstStyle/>
          <a:p>
            <a:pPr marL="354965" marR="405130" indent="-342900">
              <a:lnSpc>
                <a:spcPct val="80000"/>
              </a:lnSpc>
              <a:spcBef>
                <a:spcPts val="725"/>
              </a:spcBef>
              <a:buFont typeface="Wingdings" panose="05000000000000000000" pitchFamily="2" charset="2"/>
              <a:buChar char="§"/>
              <a:tabLst>
                <a:tab pos="241935" algn="l"/>
              </a:tabLst>
            </a:pPr>
            <a:r>
              <a:rPr spc="-5" dirty="0">
                <a:solidFill>
                  <a:srgbClr val="0070C0"/>
                </a:solidFill>
                <a:latin typeface="Berlin Sans FB" panose="020E0602020502020306" pitchFamily="34" charset="0"/>
                <a:cs typeface="Calibri"/>
              </a:rPr>
              <a:t>Functions that tend to cross the physical and logical boundaries of the  organization between the internal and external networks.</a:t>
            </a:r>
            <a:r>
              <a:rPr lang="en-US" spc="-5" dirty="0">
                <a:solidFill>
                  <a:srgbClr val="0070C0"/>
                </a:solidFill>
                <a:latin typeface="Berlin Sans FB" panose="020E0602020502020306" pitchFamily="34" charset="0"/>
                <a:cs typeface="Calibri"/>
              </a:rPr>
              <a:t> </a:t>
            </a:r>
            <a:r>
              <a:rPr spc="-5" dirty="0">
                <a:solidFill>
                  <a:srgbClr val="0070C0"/>
                </a:solidFill>
                <a:latin typeface="Berlin Sans FB" panose="020E0602020502020306" pitchFamily="34" charset="0"/>
                <a:cs typeface="Calibri"/>
              </a:rPr>
              <a:t>Are most difficult to secure simply because data must pass between the  internal and external boundaries of the infrastructure, so they can’t be  completely closed off from the outside world.</a:t>
            </a:r>
          </a:p>
          <a:p>
            <a:pPr marL="354965" marR="866140" indent="-342900">
              <a:lnSpc>
                <a:spcPct val="80000"/>
              </a:lnSpc>
              <a:spcBef>
                <a:spcPts val="1010"/>
              </a:spcBef>
              <a:buFont typeface="Wingdings" panose="05000000000000000000" pitchFamily="2" charset="2"/>
              <a:buChar char="§"/>
              <a:tabLst>
                <a:tab pos="241935" algn="l"/>
              </a:tabLst>
            </a:pPr>
            <a:r>
              <a:rPr sz="1600" spc="-5" dirty="0">
                <a:solidFill>
                  <a:srgbClr val="002060"/>
                </a:solidFill>
                <a:latin typeface="Berlin Sans FB" panose="020E0602020502020306" pitchFamily="34" charset="0"/>
                <a:cs typeface="Calibri"/>
              </a:rPr>
              <a:t>security control used to protect and separate internal and external  boundaries, such as:</a:t>
            </a:r>
          </a:p>
          <a:p>
            <a:pPr marL="812165" lvl="1" indent="-342900">
              <a:lnSpc>
                <a:spcPts val="2620"/>
              </a:lnSpc>
              <a:buFont typeface="Courier New" panose="02070309020205020404" pitchFamily="49" charset="0"/>
              <a:buChar char="o"/>
              <a:tabLst>
                <a:tab pos="698500" algn="l"/>
                <a:tab pos="699135" algn="l"/>
              </a:tabLst>
            </a:pPr>
            <a:r>
              <a:rPr sz="1600" spc="-5" dirty="0">
                <a:solidFill>
                  <a:srgbClr val="C00000"/>
                </a:solidFill>
                <a:latin typeface="Berlin Sans FB" panose="020E0602020502020306" pitchFamily="34" charset="0"/>
                <a:cs typeface="Calibri"/>
              </a:rPr>
              <a:t>Firewalls, multifactor authentication, and data encryption</a:t>
            </a:r>
          </a:p>
          <a:p>
            <a:pPr marL="354965" marR="5080" indent="-342900">
              <a:lnSpc>
                <a:spcPts val="2500"/>
              </a:lnSpc>
              <a:spcBef>
                <a:spcPts val="965"/>
              </a:spcBef>
              <a:buFont typeface="Wingdings" panose="05000000000000000000" pitchFamily="2" charset="2"/>
              <a:buChar char="§"/>
              <a:tabLst>
                <a:tab pos="241935" algn="l"/>
              </a:tabLst>
            </a:pPr>
            <a:r>
              <a:rPr sz="1600" spc="-5" dirty="0">
                <a:solidFill>
                  <a:srgbClr val="002060"/>
                </a:solidFill>
                <a:latin typeface="Berlin Sans FB" panose="020E0602020502020306" pitchFamily="34" charset="0"/>
                <a:cs typeface="Calibri"/>
              </a:rPr>
              <a:t>Controls must be selected and implemented that protect and restrict any  and all access that is actually allowed from the external to the internal  network, and vice versa.</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B2894E3-34C9-B4B4-A9C0-D36274620DC5}"/>
              </a:ext>
            </a:extLst>
          </p:cNvPr>
          <p:cNvPicPr>
            <a:picLocks noChangeAspect="1"/>
          </p:cNvPicPr>
          <p:nvPr/>
        </p:nvPicPr>
        <p:blipFill>
          <a:blip r:embed="rId2"/>
          <a:stretch>
            <a:fillRect/>
          </a:stretch>
        </p:blipFill>
        <p:spPr>
          <a:xfrm>
            <a:off x="1809321" y="1141177"/>
            <a:ext cx="7651143" cy="4200508"/>
          </a:xfrm>
          <a:prstGeom prst="rect">
            <a:avLst/>
          </a:prstGeom>
        </p:spPr>
      </p:pic>
      <p:sp>
        <p:nvSpPr>
          <p:cNvPr id="6" name="TextBox 5">
            <a:extLst>
              <a:ext uri="{FF2B5EF4-FFF2-40B4-BE49-F238E27FC236}">
                <a16:creationId xmlns:a16="http://schemas.microsoft.com/office/drawing/2014/main" id="{90A21774-FB83-7E21-1199-E9CEA2C3E76A}"/>
              </a:ext>
            </a:extLst>
          </p:cNvPr>
          <p:cNvSpPr txBox="1"/>
          <p:nvPr/>
        </p:nvSpPr>
        <p:spPr>
          <a:xfrm>
            <a:off x="570522" y="458374"/>
            <a:ext cx="9566031" cy="461665"/>
          </a:xfrm>
          <a:prstGeom prst="rect">
            <a:avLst/>
          </a:prstGeom>
          <a:noFill/>
        </p:spPr>
        <p:txBody>
          <a:bodyPr wrap="square">
            <a:spAutoFit/>
          </a:bodyPr>
          <a:lstStyle/>
          <a:p>
            <a:r>
              <a:rPr lang="en-US" sz="2400" spc="-5" dirty="0">
                <a:solidFill>
                  <a:srgbClr val="C00000"/>
                </a:solidFill>
                <a:latin typeface="Calibri Light"/>
                <a:cs typeface="Calibri Light"/>
              </a:rPr>
              <a:t>Examples</a:t>
            </a:r>
            <a:r>
              <a:rPr lang="en-US" sz="2400" spc="-15" dirty="0">
                <a:solidFill>
                  <a:srgbClr val="C00000"/>
                </a:solidFill>
                <a:latin typeface="Calibri Light"/>
                <a:cs typeface="Calibri Light"/>
              </a:rPr>
              <a:t> </a:t>
            </a:r>
            <a:r>
              <a:rPr lang="en-US" sz="2400" spc="-5" dirty="0">
                <a:solidFill>
                  <a:srgbClr val="C00000"/>
                </a:solidFill>
                <a:latin typeface="Calibri Light"/>
                <a:cs typeface="Calibri Light"/>
              </a:rPr>
              <a:t>of</a:t>
            </a:r>
            <a:r>
              <a:rPr lang="en-US" sz="2400" spc="-10" dirty="0">
                <a:solidFill>
                  <a:srgbClr val="C00000"/>
                </a:solidFill>
                <a:latin typeface="Calibri Light"/>
                <a:cs typeface="Calibri Light"/>
              </a:rPr>
              <a:t> internal,</a:t>
            </a:r>
            <a:r>
              <a:rPr lang="en-US" sz="2400" spc="-15" dirty="0">
                <a:solidFill>
                  <a:srgbClr val="C00000"/>
                </a:solidFill>
                <a:latin typeface="Calibri Light"/>
                <a:cs typeface="Calibri Light"/>
              </a:rPr>
              <a:t> </a:t>
            </a:r>
            <a:r>
              <a:rPr lang="en-US" sz="2400" spc="-10" dirty="0">
                <a:solidFill>
                  <a:srgbClr val="C00000"/>
                </a:solidFill>
                <a:latin typeface="Calibri Light"/>
                <a:cs typeface="Calibri Light"/>
              </a:rPr>
              <a:t>external,</a:t>
            </a:r>
            <a:r>
              <a:rPr lang="en-US" sz="2400" spc="-25" dirty="0">
                <a:solidFill>
                  <a:srgbClr val="C00000"/>
                </a:solidFill>
                <a:latin typeface="Calibri Light"/>
                <a:cs typeface="Calibri Light"/>
              </a:rPr>
              <a:t> </a:t>
            </a:r>
            <a:r>
              <a:rPr lang="en-US" sz="2400" dirty="0">
                <a:solidFill>
                  <a:srgbClr val="C00000"/>
                </a:solidFill>
                <a:latin typeface="Calibri Light"/>
                <a:cs typeface="Calibri Light"/>
              </a:rPr>
              <a:t>and</a:t>
            </a:r>
            <a:r>
              <a:rPr lang="en-US" sz="2400" spc="5" dirty="0">
                <a:solidFill>
                  <a:srgbClr val="C00000"/>
                </a:solidFill>
                <a:latin typeface="Calibri Light"/>
                <a:cs typeface="Calibri Light"/>
              </a:rPr>
              <a:t> </a:t>
            </a:r>
            <a:r>
              <a:rPr lang="en-US" sz="2400" spc="-10" dirty="0">
                <a:solidFill>
                  <a:srgbClr val="C00000"/>
                </a:solidFill>
                <a:latin typeface="Calibri Light"/>
                <a:cs typeface="Calibri Light"/>
              </a:rPr>
              <a:t>cross-boundary</a:t>
            </a:r>
            <a:r>
              <a:rPr lang="en-US" sz="2400" spc="15" dirty="0">
                <a:solidFill>
                  <a:srgbClr val="C00000"/>
                </a:solidFill>
                <a:latin typeface="Calibri Light"/>
                <a:cs typeface="Calibri Light"/>
              </a:rPr>
              <a:t> </a:t>
            </a:r>
            <a:r>
              <a:rPr lang="en-US" sz="2400" dirty="0">
                <a:solidFill>
                  <a:srgbClr val="C00000"/>
                </a:solidFill>
                <a:latin typeface="Calibri Light"/>
                <a:cs typeface="Calibri Light"/>
              </a:rPr>
              <a:t>functions</a:t>
            </a:r>
            <a:r>
              <a:rPr lang="en-US" sz="2400" spc="-5" dirty="0">
                <a:solidFill>
                  <a:srgbClr val="C00000"/>
                </a:solidFill>
                <a:latin typeface="Calibri Light"/>
                <a:cs typeface="Calibri Light"/>
              </a:rPr>
              <a:t> </a:t>
            </a:r>
            <a:r>
              <a:rPr lang="en-US" sz="2400" dirty="0">
                <a:solidFill>
                  <a:srgbClr val="C00000"/>
                </a:solidFill>
                <a:latin typeface="Calibri Light"/>
                <a:cs typeface="Calibri Light"/>
              </a:rPr>
              <a:t>and</a:t>
            </a:r>
            <a:r>
              <a:rPr lang="en-US" sz="2400" spc="5" dirty="0">
                <a:solidFill>
                  <a:srgbClr val="C00000"/>
                </a:solidFill>
                <a:latin typeface="Calibri Light"/>
                <a:cs typeface="Calibri Light"/>
              </a:rPr>
              <a:t> </a:t>
            </a:r>
            <a:r>
              <a:rPr lang="en-US" sz="2400" spc="-20" dirty="0">
                <a:solidFill>
                  <a:srgbClr val="C00000"/>
                </a:solidFill>
                <a:latin typeface="Calibri Light"/>
                <a:cs typeface="Calibri Light"/>
              </a:rPr>
              <a:t>controls</a:t>
            </a:r>
            <a:endParaRPr lang="en-US" sz="2400" dirty="0">
              <a:solidFill>
                <a:srgbClr val="C00000"/>
              </a:solidFill>
            </a:endParaRPr>
          </a:p>
        </p:txBody>
      </p:sp>
    </p:spTree>
    <p:extLst>
      <p:ext uri="{BB962C8B-B14F-4D97-AF65-F5344CB8AC3E}">
        <p14:creationId xmlns:p14="http://schemas.microsoft.com/office/powerpoint/2010/main" val="50739963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16939" y="609676"/>
            <a:ext cx="8387715" cy="697230"/>
          </a:xfrm>
          <a:prstGeom prst="rect">
            <a:avLst/>
          </a:prstGeom>
        </p:spPr>
        <p:txBody>
          <a:bodyPr vert="horz" wrap="square" lIns="0" tIns="13335" rIns="0" bIns="0" rtlCol="0">
            <a:spAutoFit/>
          </a:bodyPr>
          <a:lstStyle/>
          <a:p>
            <a:pPr marL="12700">
              <a:lnSpc>
                <a:spcPct val="100000"/>
              </a:lnSpc>
              <a:spcBef>
                <a:spcPts val="105"/>
              </a:spcBef>
              <a:tabLst>
                <a:tab pos="8374380" algn="l"/>
              </a:tabLst>
            </a:pPr>
            <a:r>
              <a:rPr sz="4400" u="heavy" spc="-45" dirty="0">
                <a:solidFill>
                  <a:srgbClr val="074891"/>
                </a:solidFill>
                <a:uFill>
                  <a:solidFill>
                    <a:srgbClr val="000000"/>
                  </a:solidFill>
                </a:uFill>
                <a:latin typeface="Calibri Light"/>
                <a:cs typeface="Calibri Light"/>
              </a:rPr>
              <a:t>Regulatory</a:t>
            </a:r>
            <a:r>
              <a:rPr sz="4400" u="heavy" spc="-120" dirty="0">
                <a:solidFill>
                  <a:srgbClr val="074891"/>
                </a:solidFill>
                <a:uFill>
                  <a:solidFill>
                    <a:srgbClr val="000000"/>
                  </a:solidFill>
                </a:uFill>
                <a:latin typeface="Calibri Light"/>
                <a:cs typeface="Calibri Light"/>
              </a:rPr>
              <a:t> </a:t>
            </a:r>
            <a:r>
              <a:rPr sz="4400" u="heavy" spc="-30" dirty="0">
                <a:solidFill>
                  <a:srgbClr val="074891"/>
                </a:solidFill>
                <a:uFill>
                  <a:solidFill>
                    <a:srgbClr val="000000"/>
                  </a:solidFill>
                </a:uFill>
                <a:latin typeface="Calibri Light"/>
                <a:cs typeface="Calibri Light"/>
              </a:rPr>
              <a:t>Guidance</a:t>
            </a:r>
            <a:r>
              <a:rPr sz="4400" u="heavy" spc="-114" dirty="0">
                <a:solidFill>
                  <a:srgbClr val="074891"/>
                </a:solidFill>
                <a:uFill>
                  <a:solidFill>
                    <a:srgbClr val="000000"/>
                  </a:solidFill>
                </a:uFill>
                <a:latin typeface="Calibri Light"/>
                <a:cs typeface="Calibri Light"/>
              </a:rPr>
              <a:t> </a:t>
            </a:r>
            <a:r>
              <a:rPr sz="4400" u="heavy" spc="-20" dirty="0">
                <a:solidFill>
                  <a:srgbClr val="074891"/>
                </a:solidFill>
                <a:uFill>
                  <a:solidFill>
                    <a:srgbClr val="000000"/>
                  </a:solidFill>
                </a:uFill>
                <a:latin typeface="Calibri Light"/>
                <a:cs typeface="Calibri Light"/>
              </a:rPr>
              <a:t>and</a:t>
            </a:r>
            <a:r>
              <a:rPr sz="4400" u="heavy" spc="-100" dirty="0">
                <a:solidFill>
                  <a:srgbClr val="074891"/>
                </a:solidFill>
                <a:uFill>
                  <a:solidFill>
                    <a:srgbClr val="000000"/>
                  </a:solidFill>
                </a:uFill>
                <a:latin typeface="Calibri Light"/>
                <a:cs typeface="Calibri Light"/>
              </a:rPr>
              <a:t> </a:t>
            </a:r>
            <a:r>
              <a:rPr sz="4400" u="heavy" spc="-45" dirty="0">
                <a:solidFill>
                  <a:srgbClr val="074891"/>
                </a:solidFill>
                <a:uFill>
                  <a:solidFill>
                    <a:srgbClr val="000000"/>
                  </a:solidFill>
                </a:uFill>
                <a:latin typeface="Calibri Light"/>
                <a:cs typeface="Calibri Light"/>
              </a:rPr>
              <a:t>Controls	</a:t>
            </a:r>
            <a:endParaRPr sz="4400">
              <a:latin typeface="Calibri Light"/>
              <a:cs typeface="Calibri Light"/>
            </a:endParaRPr>
          </a:p>
        </p:txBody>
      </p:sp>
      <p:sp>
        <p:nvSpPr>
          <p:cNvPr id="3" name="object 3"/>
          <p:cNvSpPr txBox="1"/>
          <p:nvPr/>
        </p:nvSpPr>
        <p:spPr>
          <a:xfrm>
            <a:off x="2933308" y="1895487"/>
            <a:ext cx="5710507" cy="2474524"/>
          </a:xfrm>
          <a:prstGeom prst="rect">
            <a:avLst/>
          </a:prstGeom>
        </p:spPr>
        <p:txBody>
          <a:bodyPr vert="horz" wrap="square" lIns="0" tIns="97790" rIns="0" bIns="0" rtlCol="0">
            <a:spAutoFit/>
          </a:bodyPr>
          <a:lstStyle/>
          <a:p>
            <a:pPr marL="354965" indent="-342900">
              <a:lnSpc>
                <a:spcPct val="100000"/>
              </a:lnSpc>
              <a:spcBef>
                <a:spcPts val="770"/>
              </a:spcBef>
              <a:buFont typeface="Wingdings" panose="05000000000000000000" pitchFamily="2" charset="2"/>
              <a:buChar char="§"/>
              <a:tabLst>
                <a:tab pos="241935" algn="l"/>
              </a:tabLst>
            </a:pPr>
            <a:r>
              <a:rPr sz="1600" spc="-5" dirty="0">
                <a:solidFill>
                  <a:srgbClr val="002060"/>
                </a:solidFill>
                <a:latin typeface="Berlin Sans FB" panose="020E0602020502020306" pitchFamily="34" charset="0"/>
                <a:cs typeface="Calibri"/>
              </a:rPr>
              <a:t>Control implementation is heavily influenced by governance.</a:t>
            </a:r>
          </a:p>
          <a:p>
            <a:pPr marL="354965" marR="838835" indent="-342900">
              <a:lnSpc>
                <a:spcPts val="3030"/>
              </a:lnSpc>
              <a:spcBef>
                <a:spcPts val="1045"/>
              </a:spcBef>
              <a:buFont typeface="Wingdings" panose="05000000000000000000" pitchFamily="2" charset="2"/>
              <a:buChar char="§"/>
              <a:tabLst>
                <a:tab pos="241935" algn="l"/>
              </a:tabLst>
            </a:pPr>
            <a:r>
              <a:rPr sz="1600" spc="-5" dirty="0">
                <a:solidFill>
                  <a:srgbClr val="002060"/>
                </a:solidFill>
                <a:latin typeface="Berlin Sans FB" panose="020E0602020502020306" pitchFamily="34" charset="0"/>
                <a:cs typeface="Calibri"/>
              </a:rPr>
              <a:t>Different governance requirements mandate the use of specific  control frameworks.</a:t>
            </a:r>
          </a:p>
          <a:p>
            <a:pPr marL="354965" marR="5080" indent="-342900">
              <a:lnSpc>
                <a:spcPts val="3030"/>
              </a:lnSpc>
              <a:spcBef>
                <a:spcPts val="990"/>
              </a:spcBef>
              <a:buFont typeface="Wingdings" panose="05000000000000000000" pitchFamily="2" charset="2"/>
              <a:buChar char="§"/>
              <a:tabLst>
                <a:tab pos="241935" algn="l"/>
              </a:tabLst>
            </a:pPr>
            <a:r>
              <a:rPr sz="1600" spc="-5" dirty="0">
                <a:solidFill>
                  <a:srgbClr val="002060"/>
                </a:solidFill>
                <a:latin typeface="Berlin Sans FB" panose="020E0602020502020306" pitchFamily="34" charset="0"/>
                <a:cs typeface="Calibri"/>
              </a:rPr>
              <a:t>Some are concerned with meeting security requirements and leave  the control framework decision to the organization, based upon their  particular needs.</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D33A59D-2D91-0CAC-C5D0-9B0A285A48C6}"/>
              </a:ext>
            </a:extLst>
          </p:cNvPr>
          <p:cNvSpPr txBox="1"/>
          <p:nvPr/>
        </p:nvSpPr>
        <p:spPr>
          <a:xfrm>
            <a:off x="1227221" y="766807"/>
            <a:ext cx="7713580" cy="523220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srgbClr val="C00000"/>
                </a:solidFill>
                <a:effectLst/>
                <a:uLnTx/>
                <a:uFillTx/>
                <a:latin typeface="Berlin Sans FB Demi" panose="020E0802020502020306" pitchFamily="34" charset="0"/>
                <a:ea typeface="+mn-ea"/>
                <a:cs typeface="+mn-cs"/>
              </a:rPr>
              <a:t>Control Design and Selection</a:t>
            </a:r>
          </a:p>
          <a:p>
            <a:pPr marL="800100" marR="0" lvl="1" indent="-342900" algn="l" defTabSz="914400" rtl="0" eaLnBrk="1" fontAlgn="auto" latinLnBrk="0" hangingPunct="1">
              <a:lnSpc>
                <a:spcPct val="100000"/>
              </a:lnSpc>
              <a:spcBef>
                <a:spcPts val="0"/>
              </a:spcBef>
              <a:spcAft>
                <a:spcPts val="0"/>
              </a:spcAft>
              <a:buClrTx/>
              <a:buSzTx/>
              <a:buFont typeface="+mj-lt"/>
              <a:buAutoNum type="arabicPeriod"/>
              <a:tabLst/>
              <a:defRPr/>
            </a:pPr>
            <a:endPar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endParaRPr>
          </a:p>
          <a:p>
            <a:pPr marL="800100" marR="0" lvl="1" indent="-342900" algn="l" defTabSz="914400" rtl="0" eaLnBrk="1" fontAlgn="auto" latinLnBrk="0" hangingPunct="1">
              <a:lnSpc>
                <a:spcPct val="100000"/>
              </a:lnSpc>
              <a:spcBef>
                <a:spcPts val="0"/>
              </a:spcBef>
              <a:spcAft>
                <a:spcPts val="1200"/>
              </a:spcAft>
              <a:buClrTx/>
              <a:buSzTx/>
              <a:buFont typeface="+mj-lt"/>
              <a:buAutoNum type="arabicPeriod"/>
              <a:tabLst/>
              <a:defRPr/>
            </a:pPr>
            <a:r>
              <a:rPr kumimoji="0" lang="en-US" sz="1600" b="0" i="0" u="none" strike="noStrike" kern="1200" cap="none" spc="0" normalizeH="0" baseline="0" noProof="0" dirty="0">
                <a:ln>
                  <a:noFill/>
                </a:ln>
                <a:solidFill>
                  <a:srgbClr val="7030A0"/>
                </a:solidFill>
                <a:effectLst>
                  <a:outerShdw blurRad="38100" dist="38100" dir="2700000" algn="tl">
                    <a:srgbClr val="000000">
                      <a:alpha val="43137"/>
                    </a:srgbClr>
                  </a:outerShdw>
                </a:effectLst>
                <a:uLnTx/>
                <a:uFillTx/>
                <a:latin typeface="Berlin Sans FB" panose="020E0602020502020306" pitchFamily="34" charset="0"/>
                <a:ea typeface="+mn-ea"/>
                <a:cs typeface="+mn-cs"/>
              </a:rPr>
              <a:t>Once the specific shortcomings of existing controls and configurations are understood, the next step is to design or select controls to close the gap between the current state and an acceptable level of risk. </a:t>
            </a:r>
          </a:p>
          <a:p>
            <a:pPr marL="800100" marR="0" lvl="1" indent="-342900" algn="l" defTabSz="914400" rtl="0" eaLnBrk="1" fontAlgn="auto" latinLnBrk="0" hangingPunct="1">
              <a:lnSpc>
                <a:spcPct val="100000"/>
              </a:lnSpc>
              <a:spcBef>
                <a:spcPts val="0"/>
              </a:spcBef>
              <a:spcAft>
                <a:spcPts val="1200"/>
              </a:spcAft>
              <a:buClrTx/>
              <a:buSzTx/>
              <a:buFont typeface="+mj-lt"/>
              <a:buAutoNum type="arabicPeriod"/>
              <a:tabLst/>
              <a:defRPr/>
            </a:pPr>
            <a:r>
              <a:rPr kumimoji="0" lang="en-US" sz="1600" b="0" i="0" u="none" strike="noStrike" kern="1200" cap="none" spc="0" normalizeH="0" baseline="0" noProof="0" dirty="0">
                <a:ln>
                  <a:noFill/>
                </a:ln>
                <a:solidFill>
                  <a:srgbClr val="0070C0"/>
                </a:solidFill>
                <a:effectLst>
                  <a:outerShdw blurRad="38100" dist="38100" dir="2700000" algn="tl">
                    <a:srgbClr val="000000">
                      <a:alpha val="43137"/>
                    </a:srgbClr>
                  </a:outerShdw>
                </a:effectLst>
                <a:uLnTx/>
                <a:uFillTx/>
                <a:latin typeface="Berlin Sans FB" panose="020E0602020502020306" pitchFamily="34" charset="0"/>
                <a:ea typeface="+mn-ea"/>
                <a:cs typeface="+mn-cs"/>
              </a:rPr>
              <a:t>Controls may be </a:t>
            </a:r>
            <a:r>
              <a:rPr kumimoji="0" lang="en-US" sz="1600" b="0" i="0" u="none" strike="noStrike" kern="1200" cap="none" spc="0" normalizeH="0" baseline="0" noProof="0" dirty="0">
                <a:ln>
                  <a:noFill/>
                </a:ln>
                <a:solidFill>
                  <a:srgbClr val="C00000"/>
                </a:solidFill>
                <a:effectLst>
                  <a:outerShdw blurRad="38100" dist="38100" dir="2700000" algn="tl">
                    <a:srgbClr val="000000">
                      <a:alpha val="43137"/>
                    </a:srgbClr>
                  </a:outerShdw>
                </a:effectLst>
                <a:uLnTx/>
                <a:uFillTx/>
                <a:latin typeface="Berlin Sans FB" panose="020E0602020502020306" pitchFamily="34" charset="0"/>
                <a:ea typeface="+mn-ea"/>
                <a:cs typeface="+mn-cs"/>
              </a:rPr>
              <a:t>proactive</a:t>
            </a:r>
            <a:r>
              <a:rPr kumimoji="0" lang="en-US" sz="1600" b="0" i="0" u="none" strike="noStrike" kern="1200" cap="none" spc="0" normalizeH="0" baseline="0" noProof="0" dirty="0">
                <a:ln>
                  <a:noFill/>
                </a:ln>
                <a:solidFill>
                  <a:srgbClr val="0070C0"/>
                </a:solidFill>
                <a:effectLst>
                  <a:outerShdw blurRad="38100" dist="38100" dir="2700000" algn="tl">
                    <a:srgbClr val="000000">
                      <a:alpha val="43137"/>
                    </a:srgbClr>
                  </a:outerShdw>
                </a:effectLst>
                <a:uLnTx/>
                <a:uFillTx/>
                <a:latin typeface="Berlin Sans FB" panose="020E0602020502020306" pitchFamily="34" charset="0"/>
                <a:ea typeface="+mn-ea"/>
                <a:cs typeface="+mn-cs"/>
              </a:rPr>
              <a:t> meaning that they attempt to </a:t>
            </a:r>
            <a:r>
              <a:rPr kumimoji="0" lang="en-US" sz="1600" b="0" i="0" u="none" strike="noStrike" kern="1200" cap="none" spc="0" normalizeH="0" baseline="0" noProof="0" dirty="0">
                <a:ln>
                  <a:noFill/>
                </a:ln>
                <a:solidFill>
                  <a:srgbClr val="C00000"/>
                </a:solidFill>
                <a:effectLst>
                  <a:outerShdw blurRad="38100" dist="38100" dir="2700000" algn="tl">
                    <a:srgbClr val="000000">
                      <a:alpha val="43137"/>
                    </a:srgbClr>
                  </a:outerShdw>
                </a:effectLst>
                <a:uLnTx/>
                <a:uFillTx/>
                <a:latin typeface="Berlin Sans FB" panose="020E0602020502020306" pitchFamily="34" charset="0"/>
                <a:ea typeface="+mn-ea"/>
                <a:cs typeface="+mn-cs"/>
              </a:rPr>
              <a:t>prevent </a:t>
            </a:r>
            <a:r>
              <a:rPr kumimoji="0" lang="en-US" sz="1600" b="0" i="0" u="none" strike="noStrike" kern="1200" cap="none" spc="0" normalizeH="0" baseline="0" noProof="0" dirty="0">
                <a:ln>
                  <a:noFill/>
                </a:ln>
                <a:solidFill>
                  <a:srgbClr val="0070C0"/>
                </a:solidFill>
                <a:effectLst>
                  <a:outerShdw blurRad="38100" dist="38100" dir="2700000" algn="tl">
                    <a:srgbClr val="000000">
                      <a:alpha val="43137"/>
                    </a:srgbClr>
                  </a:outerShdw>
                </a:effectLst>
                <a:uLnTx/>
                <a:uFillTx/>
                <a:latin typeface="Berlin Sans FB" panose="020E0602020502020306" pitchFamily="34" charset="0"/>
                <a:ea typeface="+mn-ea"/>
                <a:cs typeface="+mn-cs"/>
              </a:rPr>
              <a:t>an incident or </a:t>
            </a:r>
            <a:r>
              <a:rPr kumimoji="0" lang="en-US" sz="1600" b="0" i="0" u="none" strike="noStrike" kern="1200" cap="none" spc="0" normalizeH="0" baseline="0" noProof="0" dirty="0">
                <a:ln>
                  <a:noFill/>
                </a:ln>
                <a:solidFill>
                  <a:srgbClr val="C00000"/>
                </a:solidFill>
                <a:effectLst>
                  <a:outerShdw blurRad="38100" dist="38100" dir="2700000" algn="tl">
                    <a:srgbClr val="000000">
                      <a:alpha val="43137"/>
                    </a:srgbClr>
                  </a:outerShdw>
                </a:effectLst>
                <a:uLnTx/>
                <a:uFillTx/>
                <a:latin typeface="Berlin Sans FB" panose="020E0602020502020306" pitchFamily="34" charset="0"/>
                <a:ea typeface="+mn-ea"/>
                <a:cs typeface="+mn-cs"/>
              </a:rPr>
              <a:t>reactive </a:t>
            </a:r>
            <a:r>
              <a:rPr kumimoji="0" lang="en-US" sz="1600" b="0" i="0" u="none" strike="noStrike" kern="1200" cap="none" spc="0" normalizeH="0" baseline="0" noProof="0" dirty="0">
                <a:ln>
                  <a:noFill/>
                </a:ln>
                <a:solidFill>
                  <a:srgbClr val="0070C0"/>
                </a:solidFill>
                <a:effectLst>
                  <a:outerShdw blurRad="38100" dist="38100" dir="2700000" algn="tl">
                    <a:srgbClr val="000000">
                      <a:alpha val="43137"/>
                    </a:srgbClr>
                  </a:outerShdw>
                </a:effectLst>
                <a:uLnTx/>
                <a:uFillTx/>
                <a:latin typeface="Berlin Sans FB" panose="020E0602020502020306" pitchFamily="34" charset="0"/>
                <a:ea typeface="+mn-ea"/>
                <a:cs typeface="+mn-cs"/>
              </a:rPr>
              <a:t>meaning that they support the </a:t>
            </a:r>
            <a:r>
              <a:rPr kumimoji="0" lang="en-US" sz="1600" b="0" i="0" u="none" strike="noStrike" kern="1200" cap="none" spc="0" normalizeH="0" baseline="0" noProof="0" dirty="0">
                <a:ln>
                  <a:noFill/>
                </a:ln>
                <a:solidFill>
                  <a:srgbClr val="C00000"/>
                </a:solidFill>
                <a:effectLst>
                  <a:outerShdw blurRad="38100" dist="38100" dir="2700000" algn="tl">
                    <a:srgbClr val="000000">
                      <a:alpha val="43137"/>
                    </a:srgbClr>
                  </a:outerShdw>
                </a:effectLst>
                <a:uLnTx/>
                <a:uFillTx/>
                <a:latin typeface="Berlin Sans FB" panose="020E0602020502020306" pitchFamily="34" charset="0"/>
                <a:ea typeface="+mn-ea"/>
                <a:cs typeface="+mn-cs"/>
              </a:rPr>
              <a:t>detection, containment and recovery </a:t>
            </a:r>
            <a:r>
              <a:rPr kumimoji="0" lang="en-US" sz="1600" b="0" i="0" u="none" strike="noStrike" kern="1200" cap="none" spc="0" normalizeH="0" baseline="0" noProof="0" dirty="0">
                <a:ln>
                  <a:noFill/>
                </a:ln>
                <a:solidFill>
                  <a:srgbClr val="0070C0"/>
                </a:solidFill>
                <a:effectLst>
                  <a:outerShdw blurRad="38100" dist="38100" dir="2700000" algn="tl">
                    <a:srgbClr val="000000">
                      <a:alpha val="43137"/>
                    </a:srgbClr>
                  </a:outerShdw>
                </a:effectLst>
                <a:uLnTx/>
                <a:uFillTx/>
                <a:latin typeface="Berlin Sans FB" panose="020E0602020502020306" pitchFamily="34" charset="0"/>
                <a:ea typeface="+mn-ea"/>
                <a:cs typeface="+mn-cs"/>
              </a:rPr>
              <a:t>of operations should an incident occur.</a:t>
            </a:r>
          </a:p>
          <a:p>
            <a:pPr marL="800100" marR="0" lvl="1" indent="-342900" algn="l" defTabSz="914400" rtl="0" eaLnBrk="1" fontAlgn="auto" latinLnBrk="0" hangingPunct="1">
              <a:lnSpc>
                <a:spcPct val="100000"/>
              </a:lnSpc>
              <a:spcBef>
                <a:spcPts val="0"/>
              </a:spcBef>
              <a:spcAft>
                <a:spcPts val="1200"/>
              </a:spcAft>
              <a:buClrTx/>
              <a:buSzTx/>
              <a:buFont typeface="+mj-lt"/>
              <a:buAutoNum type="arabicPeriod"/>
              <a:tabLst/>
              <a:defRPr/>
            </a:pPr>
            <a:r>
              <a:rPr kumimoji="0" lang="en-US" sz="1600" b="0" i="0" u="none" strike="noStrike" kern="1200" cap="none" spc="0" normalizeH="0" baseline="0" noProof="0" dirty="0">
                <a:ln>
                  <a:noFill/>
                </a:ln>
                <a:solidFill>
                  <a:srgbClr val="0070C0"/>
                </a:solidFill>
                <a:effectLst>
                  <a:outerShdw blurRad="38100" dist="38100" dir="2700000" algn="tl">
                    <a:srgbClr val="000000">
                      <a:alpha val="43137"/>
                    </a:srgbClr>
                  </a:outerShdw>
                </a:effectLst>
                <a:uLnTx/>
                <a:uFillTx/>
                <a:latin typeface="Berlin Sans FB" panose="020E0602020502020306" pitchFamily="34" charset="0"/>
                <a:ea typeface="+mn-ea"/>
                <a:cs typeface="+mn-cs"/>
              </a:rPr>
              <a:t>Because these are different roles, proactive controls are sometimes called safeguards, while reactive controls are often called countermeasures.</a:t>
            </a:r>
          </a:p>
          <a:p>
            <a:pPr marL="800100" marR="0" lvl="1" indent="-342900" algn="l" defTabSz="914400" rtl="0" eaLnBrk="1" fontAlgn="auto" latinLnBrk="0" hangingPunct="1">
              <a:lnSpc>
                <a:spcPct val="100000"/>
              </a:lnSpc>
              <a:spcBef>
                <a:spcPts val="0"/>
              </a:spcBef>
              <a:spcAft>
                <a:spcPts val="1200"/>
              </a:spcAft>
              <a:buClrTx/>
              <a:buSzTx/>
              <a:buFont typeface="+mj-lt"/>
              <a:buAutoNum type="arabicPeriod"/>
              <a:tabLst/>
              <a:defRPr/>
            </a:pPr>
            <a:r>
              <a:rPr kumimoji="0" lang="en-US" sz="1600" b="0" i="0" u="none" strike="noStrike" kern="1200" cap="none" spc="0" normalizeH="0" baseline="0" noProof="0" dirty="0">
                <a:ln>
                  <a:noFill/>
                </a:ln>
                <a:solidFill>
                  <a:srgbClr val="0070C0"/>
                </a:solidFill>
                <a:effectLst>
                  <a:outerShdw blurRad="38100" dist="38100" dir="2700000" algn="tl">
                    <a:srgbClr val="000000">
                      <a:alpha val="43137"/>
                    </a:srgbClr>
                  </a:outerShdw>
                </a:effectLst>
                <a:uLnTx/>
                <a:uFillTx/>
                <a:latin typeface="Berlin Sans FB" panose="020E0602020502020306" pitchFamily="34" charset="0"/>
                <a:ea typeface="+mn-ea"/>
                <a:cs typeface="+mn-cs"/>
              </a:rPr>
              <a:t>For example, a sign that warns a person about a risk of fire is a safeguard against a fire starting, while a fire extinguisher or sprinkler system is a countermeasure that puts one out should it start.</a:t>
            </a:r>
          </a:p>
          <a:p>
            <a:pPr marL="800100" marR="0" lvl="1" indent="-342900" algn="l" defTabSz="914400" rtl="0" eaLnBrk="1" fontAlgn="auto" latinLnBrk="0" hangingPunct="1">
              <a:lnSpc>
                <a:spcPct val="100000"/>
              </a:lnSpc>
              <a:spcBef>
                <a:spcPts val="0"/>
              </a:spcBef>
              <a:spcAft>
                <a:spcPts val="1200"/>
              </a:spcAft>
              <a:buClrTx/>
              <a:buSzTx/>
              <a:buFont typeface="+mj-lt"/>
              <a:buAutoNum type="arabicPeriod"/>
              <a:tabLst/>
              <a:defRPr/>
            </a:pPr>
            <a:r>
              <a:rPr kumimoji="0" lang="en-US" sz="1600" b="0" i="0" u="none" strike="noStrike" kern="1200" cap="none" spc="0" normalizeH="0" baseline="0" noProof="0" dirty="0">
                <a:ln>
                  <a:noFill/>
                </a:ln>
                <a:solidFill>
                  <a:srgbClr val="7030A0"/>
                </a:solidFill>
                <a:effectLst/>
                <a:uLnTx/>
                <a:uFillTx/>
                <a:latin typeface="Berlin Sans FB" panose="020E0602020502020306" pitchFamily="34" charset="0"/>
                <a:ea typeface="+mn-ea"/>
                <a:cs typeface="+mn-cs"/>
              </a:rPr>
              <a:t>Every enterprise has controls. In general, an effective control is one that prevents, detects or contains an incident, or enables recovery from a risk event. </a:t>
            </a:r>
          </a:p>
          <a:p>
            <a:pPr marL="800100" marR="0" lvl="1" indent="-342900" algn="l" defTabSz="914400" rtl="0" eaLnBrk="1" fontAlgn="auto" latinLnBrk="0" hangingPunct="1">
              <a:lnSpc>
                <a:spcPct val="100000"/>
              </a:lnSpc>
              <a:spcBef>
                <a:spcPts val="0"/>
              </a:spcBef>
              <a:spcAft>
                <a:spcPts val="1200"/>
              </a:spcAft>
              <a:buClrTx/>
              <a:buSzTx/>
              <a:buFont typeface="+mj-lt"/>
              <a:buAutoNum type="arabicPeriod"/>
              <a:tabLst/>
              <a:defRPr/>
            </a:pPr>
            <a:r>
              <a:rPr kumimoji="0" lang="en-US" sz="1600" b="0" i="0" u="none" strike="noStrike" kern="1200" cap="none" spc="0" normalizeH="0" baseline="0" noProof="0" dirty="0">
                <a:ln>
                  <a:noFill/>
                </a:ln>
                <a:solidFill>
                  <a:srgbClr val="C00000"/>
                </a:solidFill>
                <a:effectLst/>
                <a:uLnTx/>
                <a:uFillTx/>
                <a:latin typeface="Berlin Sans FB" panose="020E0602020502020306" pitchFamily="34" charset="0"/>
                <a:ea typeface="+mn-ea"/>
                <a:cs typeface="+mn-cs"/>
              </a:rPr>
              <a:t>However, the purpose of a control is specifically to maintain risk at an acceptable level. </a:t>
            </a:r>
          </a:p>
        </p:txBody>
      </p:sp>
    </p:spTree>
    <p:extLst>
      <p:ext uri="{BB962C8B-B14F-4D97-AF65-F5344CB8AC3E}">
        <p14:creationId xmlns:p14="http://schemas.microsoft.com/office/powerpoint/2010/main" val="38109961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6685507-FA50-9368-FAFD-3E30205132F4}"/>
              </a:ext>
            </a:extLst>
          </p:cNvPr>
          <p:cNvSpPr txBox="1"/>
          <p:nvPr/>
        </p:nvSpPr>
        <p:spPr>
          <a:xfrm>
            <a:off x="1748589" y="1230104"/>
            <a:ext cx="6777995" cy="2893100"/>
          </a:xfrm>
          <a:prstGeom prst="rect">
            <a:avLst/>
          </a:prstGeom>
          <a:noFill/>
        </p:spPr>
        <p:txBody>
          <a:bodyPr wrap="square">
            <a:spAutoFit/>
          </a:bodyPr>
          <a:lstStyle/>
          <a:p>
            <a:pPr marL="342900" marR="0" lvl="0" indent="-342900" algn="l" defTabSz="914400" rtl="0" eaLnBrk="1" fontAlgn="auto" latinLnBrk="0" hangingPunct="1">
              <a:lnSpc>
                <a:spcPct val="100000"/>
              </a:lnSpc>
              <a:spcBef>
                <a:spcPts val="0"/>
              </a:spcBef>
              <a:spcAft>
                <a:spcPts val="1200"/>
              </a:spcAft>
              <a:buClrTx/>
              <a:buSzTx/>
              <a:buFont typeface="+mj-lt"/>
              <a:buAutoNum type="arabicPeriod" startAt="7"/>
              <a:tabLst/>
              <a:defRPr/>
            </a:pPr>
            <a:r>
              <a:rPr kumimoji="0" lang="en-US" b="0" i="0" u="none" strike="noStrike" kern="1200" cap="none" spc="0" normalizeH="0" baseline="0" noProof="0" dirty="0">
                <a:ln>
                  <a:noFill/>
                </a:ln>
                <a:solidFill>
                  <a:srgbClr val="7030A0"/>
                </a:solidFill>
                <a:effectLst/>
                <a:uLnTx/>
                <a:uFillTx/>
                <a:latin typeface="Berlin Sans FB" panose="020E0602020502020306" pitchFamily="34" charset="0"/>
                <a:ea typeface="+mn-ea"/>
                <a:cs typeface="+mn-cs"/>
              </a:rPr>
              <a:t>Compensating controls address weaknesses through concepts such as layered defense, increased supervision, or increased audits and logging of system activity. Compensating controls must be effective and protect the identified assets or processes. </a:t>
            </a:r>
          </a:p>
          <a:p>
            <a:pPr marL="342900" marR="0" lvl="0" indent="-342900" algn="l" defTabSz="914400" rtl="0" eaLnBrk="1" fontAlgn="auto" latinLnBrk="0" hangingPunct="1">
              <a:lnSpc>
                <a:spcPct val="100000"/>
              </a:lnSpc>
              <a:spcBef>
                <a:spcPts val="0"/>
              </a:spcBef>
              <a:spcAft>
                <a:spcPts val="1200"/>
              </a:spcAft>
              <a:buClrTx/>
              <a:buSzTx/>
              <a:buFont typeface="+mj-lt"/>
              <a:buAutoNum type="arabicPeriod" startAt="7"/>
              <a:tabLst/>
              <a:defRPr/>
            </a:pPr>
            <a:r>
              <a:rPr kumimoji="0" lang="en-US" b="0" i="0" u="none" strike="noStrike" kern="1200" cap="none" spc="0" normalizeH="0" baseline="0" noProof="0" dirty="0">
                <a:ln>
                  <a:noFill/>
                </a:ln>
                <a:solidFill>
                  <a:srgbClr val="7030A0"/>
                </a:solidFill>
                <a:effectLst/>
                <a:uLnTx/>
                <a:uFillTx/>
                <a:latin typeface="Berlin Sans FB" panose="020E0602020502020306" pitchFamily="34" charset="0"/>
                <a:ea typeface="+mn-ea"/>
                <a:cs typeface="+mn-cs"/>
              </a:rPr>
              <a:t>the risk practitioner should consider not only functionality but also maintenance and sustainability.</a:t>
            </a:r>
          </a:p>
          <a:p>
            <a:pPr marL="342900" marR="0" lvl="0" indent="-342900" algn="l" defTabSz="914400" rtl="0" eaLnBrk="1" fontAlgn="auto" latinLnBrk="0" hangingPunct="1">
              <a:lnSpc>
                <a:spcPct val="100000"/>
              </a:lnSpc>
              <a:spcBef>
                <a:spcPts val="0"/>
              </a:spcBef>
              <a:spcAft>
                <a:spcPts val="1200"/>
              </a:spcAft>
              <a:buClrTx/>
              <a:buSzTx/>
              <a:buFont typeface="+mj-lt"/>
              <a:buAutoNum type="arabicPeriod" startAt="7"/>
              <a:tabLst/>
              <a:defRPr/>
            </a:pPr>
            <a:r>
              <a:rPr kumimoji="0" lang="en-US" b="0" i="0" u="none" strike="noStrike" kern="1200" cap="none" spc="0" normalizeH="0" baseline="0" noProof="0" dirty="0">
                <a:ln>
                  <a:noFill/>
                </a:ln>
                <a:solidFill>
                  <a:srgbClr val="7030A0"/>
                </a:solidFill>
                <a:effectLst/>
                <a:uLnTx/>
                <a:uFillTx/>
                <a:latin typeface="Berlin Sans FB" panose="020E0602020502020306" pitchFamily="34" charset="0"/>
                <a:ea typeface="+mn-ea"/>
                <a:cs typeface="+mn-cs"/>
              </a:rPr>
              <a:t>Whether controls will be automated or manual, fail-safe (open) or secure (closed) or provide inputs to other controls or processes are all factors that should be considered.</a:t>
            </a:r>
          </a:p>
        </p:txBody>
      </p:sp>
    </p:spTree>
    <p:extLst>
      <p:ext uri="{BB962C8B-B14F-4D97-AF65-F5344CB8AC3E}">
        <p14:creationId xmlns:p14="http://schemas.microsoft.com/office/powerpoint/2010/main" val="413421402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485894" y="2996945"/>
            <a:ext cx="3215640" cy="939800"/>
          </a:xfrm>
          <a:prstGeom prst="rect">
            <a:avLst/>
          </a:prstGeom>
        </p:spPr>
        <p:txBody>
          <a:bodyPr vert="horz" wrap="square" lIns="0" tIns="12700" rIns="0" bIns="0" rtlCol="0">
            <a:spAutoFit/>
          </a:bodyPr>
          <a:lstStyle/>
          <a:p>
            <a:pPr marL="12700">
              <a:lnSpc>
                <a:spcPct val="100000"/>
              </a:lnSpc>
              <a:spcBef>
                <a:spcPts val="100"/>
              </a:spcBef>
            </a:pPr>
            <a:r>
              <a:rPr spc="-5" dirty="0"/>
              <a:t>Thank</a:t>
            </a:r>
            <a:r>
              <a:rPr spc="-80" dirty="0"/>
              <a:t> </a:t>
            </a:r>
            <a:r>
              <a:rPr spc="-35" dirty="0"/>
              <a:t>you</a:t>
            </a:r>
          </a:p>
        </p:txBody>
      </p:sp>
    </p:spTree>
  </p:cSld>
  <p:clrMapOvr>
    <a:masterClrMapping/>
  </p:clrMapOvr>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533</TotalTime>
  <Words>3834</Words>
  <Application>Microsoft Office PowerPoint</Application>
  <PresentationFormat>Widescreen</PresentationFormat>
  <Paragraphs>279</Paragraphs>
  <Slides>46</Slides>
  <Notes>1</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46</vt:i4>
      </vt:variant>
    </vt:vector>
  </HeadingPairs>
  <TitlesOfParts>
    <vt:vector size="57" baseType="lpstr">
      <vt:lpstr>Arial</vt:lpstr>
      <vt:lpstr>Bahnschrift</vt:lpstr>
      <vt:lpstr>Bahnschrift SemiBold</vt:lpstr>
      <vt:lpstr>Bell MT</vt:lpstr>
      <vt:lpstr>Berlin Sans FB</vt:lpstr>
      <vt:lpstr>Berlin Sans FB Demi</vt:lpstr>
      <vt:lpstr>Calibri</vt:lpstr>
      <vt:lpstr>Calibri Light</vt:lpstr>
      <vt:lpstr>Courier New</vt:lpstr>
      <vt:lpstr>Wingdings</vt:lpstr>
      <vt:lpstr>Retrospect</vt:lpstr>
      <vt:lpstr>Control Development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Business Cases for Controls </vt:lpstr>
      <vt:lpstr>Security Goals and Supporting Concepts</vt:lpstr>
      <vt:lpstr>Due Diligence, Due Care, and Liability </vt:lpstr>
      <vt:lpstr>Governance </vt:lpstr>
      <vt:lpstr>Economy and Efficiency of Use </vt:lpstr>
      <vt:lpstr>Business Functions and Controls </vt:lpstr>
      <vt:lpstr>Internal Functions </vt:lpstr>
      <vt:lpstr>External Functions </vt:lpstr>
      <vt:lpstr>Cross-boundary Functions </vt:lpstr>
      <vt:lpstr>PowerPoint Presentation</vt:lpstr>
      <vt:lpstr>Regulatory Guidance and Controls </vt:lpstr>
      <vt:lpstr>PowerPoint Presentation</vt:lpstr>
      <vt:lpstr>PowerPoint Presentation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YOUSSRY KHATTAB</dc:creator>
  <cp:lastModifiedBy>YOUSSRY KHATTAB</cp:lastModifiedBy>
  <cp:revision>28</cp:revision>
  <dcterms:created xsi:type="dcterms:W3CDTF">2023-05-30T14:19:19Z</dcterms:created>
  <dcterms:modified xsi:type="dcterms:W3CDTF">2023-06-20T22:34:22Z</dcterms:modified>
</cp:coreProperties>
</file>
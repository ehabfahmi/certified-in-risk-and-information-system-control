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4.jpg" ContentType="image/jpg"/>
  <Override PartName="/ppt/media/image14.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sldIdLst>
    <p:sldId id="493" r:id="rId3"/>
    <p:sldId id="494" r:id="rId4"/>
    <p:sldId id="496" r:id="rId5"/>
    <p:sldId id="497" r:id="rId6"/>
    <p:sldId id="260" r:id="rId7"/>
    <p:sldId id="498" r:id="rId8"/>
    <p:sldId id="499" r:id="rId9"/>
    <p:sldId id="500" r:id="rId10"/>
    <p:sldId id="501" r:id="rId11"/>
    <p:sldId id="502" r:id="rId12"/>
    <p:sldId id="503" r:id="rId13"/>
    <p:sldId id="504" r:id="rId14"/>
    <p:sldId id="505" r:id="rId15"/>
    <p:sldId id="1243" r:id="rId16"/>
    <p:sldId id="1244" r:id="rId17"/>
    <p:sldId id="506" r:id="rId18"/>
    <p:sldId id="1245" r:id="rId19"/>
    <p:sldId id="269" r:id="rId20"/>
    <p:sldId id="507" r:id="rId21"/>
    <p:sldId id="270" r:id="rId22"/>
    <p:sldId id="1246" r:id="rId23"/>
    <p:sldId id="508" r:id="rId24"/>
    <p:sldId id="1247" r:id="rId25"/>
    <p:sldId id="1248" r:id="rId26"/>
    <p:sldId id="1249" r:id="rId27"/>
    <p:sldId id="1250" r:id="rId28"/>
    <p:sldId id="509" r:id="rId29"/>
    <p:sldId id="274" r:id="rId30"/>
    <p:sldId id="510" r:id="rId31"/>
    <p:sldId id="275" r:id="rId32"/>
    <p:sldId id="278" r:id="rId33"/>
    <p:sldId id="511" r:id="rId34"/>
    <p:sldId id="512" r:id="rId35"/>
    <p:sldId id="513" r:id="rId36"/>
    <p:sldId id="1988" r:id="rId37"/>
    <p:sldId id="1992" r:id="rId38"/>
    <p:sldId id="1990" r:id="rId39"/>
    <p:sldId id="514" r:id="rId40"/>
    <p:sldId id="515" r:id="rId41"/>
    <p:sldId id="1873" r:id="rId42"/>
    <p:sldId id="1987" r:id="rId43"/>
    <p:sldId id="1874" r:id="rId44"/>
    <p:sldId id="517" r:id="rId45"/>
    <p:sldId id="51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318D10-D19D-4ECE-8C9C-E5B668EF3CD0}" type="datetimeFigureOut">
              <a:rPr lang="en-US" smtClean="0"/>
              <a:t>6/20/2023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8C2805-34F2-4B29-A521-C025E832AFD6}" type="slidenum">
              <a:rPr lang="en-US" smtClean="0"/>
              <a:t>‹#›</a:t>
            </a:fld>
            <a:endParaRPr lang="en-US"/>
          </a:p>
        </p:txBody>
      </p:sp>
    </p:spTree>
    <p:extLst>
      <p:ext uri="{BB962C8B-B14F-4D97-AF65-F5344CB8AC3E}">
        <p14:creationId xmlns:p14="http://schemas.microsoft.com/office/powerpoint/2010/main" val="3758262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A208-C5BC-B42C-D969-30CA04A97D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D959FE-7DEC-BCB7-B471-80EC727A03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A1CDAD-38E8-8AC3-6F47-9BE6A2838F69}"/>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5" name="Footer Placeholder 4">
            <a:extLst>
              <a:ext uri="{FF2B5EF4-FFF2-40B4-BE49-F238E27FC236}">
                <a16:creationId xmlns:a16="http://schemas.microsoft.com/office/drawing/2014/main" id="{FCACEDD4-9110-7F5E-7137-F71D0FBB6D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072B0-96E6-E348-1090-A35EDDF1E028}"/>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1891983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24812-55DB-2229-BDAD-CDF0D617D0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6771C7-5A4A-E11D-0AE7-4D00C871F4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B948F-B6E6-D408-4F69-7F9EE9FC2C98}"/>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5" name="Footer Placeholder 4">
            <a:extLst>
              <a:ext uri="{FF2B5EF4-FFF2-40B4-BE49-F238E27FC236}">
                <a16:creationId xmlns:a16="http://schemas.microsoft.com/office/drawing/2014/main" id="{8AAB13ED-0EFB-C4BD-E6EA-2E879A5C2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4274AE-D16C-F5F0-FED8-B029E888040F}"/>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1667261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A003-C0CF-C8E6-FBC9-70CE78A10A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378DBD-ED80-145B-AE41-CFE7803119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2B0B10-D716-30FC-C07D-84C641D0D7B5}"/>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5" name="Footer Placeholder 4">
            <a:extLst>
              <a:ext uri="{FF2B5EF4-FFF2-40B4-BE49-F238E27FC236}">
                <a16:creationId xmlns:a16="http://schemas.microsoft.com/office/drawing/2014/main" id="{27D76FE4-9CE2-3145-7B62-5A1C862ED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276E8-6236-34E1-358A-119A94C1FB5A}"/>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3480223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7FD0-3A1C-FCB1-AC71-DBD7A0560E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C60F29-8BAC-6190-9EE6-9FCA39A710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B754D9-EAAB-27B4-E72E-5F58F77F2E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1E9E21-47CB-ED4B-CF17-FE53568E5C39}"/>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6" name="Footer Placeholder 5">
            <a:extLst>
              <a:ext uri="{FF2B5EF4-FFF2-40B4-BE49-F238E27FC236}">
                <a16:creationId xmlns:a16="http://schemas.microsoft.com/office/drawing/2014/main" id="{93FA5A45-9543-8D53-1C30-2C1A73E5A8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E28EA5-1148-C1F6-9C74-D24934331965}"/>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1349752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14DF4-B9F5-7992-A8CE-011C7989E0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263465-B62E-FC71-9488-C9CFB6ACA1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665CE3-BA0A-1B56-06BD-BAA900604B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A2A21D-DB90-B9EC-63AF-53AF85C8F9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872453-F201-79CA-675F-18F4D5F1B1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5B8F7D-F62E-D929-87EE-C33C2CC257DF}"/>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8" name="Footer Placeholder 7">
            <a:extLst>
              <a:ext uri="{FF2B5EF4-FFF2-40B4-BE49-F238E27FC236}">
                <a16:creationId xmlns:a16="http://schemas.microsoft.com/office/drawing/2014/main" id="{D36D7EC8-7F1B-040C-EF2B-E43D270EE5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18AD20-F148-4B9E-55A1-4703FD0A2C38}"/>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2752094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DBC26-B9F7-FED8-3837-5C305E99BD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4E8BF4-7F7D-69A0-B134-16D52DDBBBEB}"/>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4" name="Footer Placeholder 3">
            <a:extLst>
              <a:ext uri="{FF2B5EF4-FFF2-40B4-BE49-F238E27FC236}">
                <a16:creationId xmlns:a16="http://schemas.microsoft.com/office/drawing/2014/main" id="{5BC9131B-BDB0-31AD-DD74-B2200B2DA9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C49B54-D158-0ACB-A6EA-3EB9E7E24B01}"/>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2686191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714BBB-9B50-9F4E-7FE1-071CEB1512AB}"/>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3" name="Footer Placeholder 2">
            <a:extLst>
              <a:ext uri="{FF2B5EF4-FFF2-40B4-BE49-F238E27FC236}">
                <a16:creationId xmlns:a16="http://schemas.microsoft.com/office/drawing/2014/main" id="{BBE9CFA2-0537-BCE8-9E7F-6B4ED24F8F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B5D6AC-57BA-E982-38D5-3A8EE57CB1FB}"/>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2302405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3FFE-B52D-44EA-3FAB-281A71E069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3F6608-FC3A-BAFF-3B10-A3EB0542E0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AC8809-4ED2-FADD-6323-42F0754C8C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3ABBD6-9C58-1721-FAF3-0EBC1982F834}"/>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6" name="Footer Placeholder 5">
            <a:extLst>
              <a:ext uri="{FF2B5EF4-FFF2-40B4-BE49-F238E27FC236}">
                <a16:creationId xmlns:a16="http://schemas.microsoft.com/office/drawing/2014/main" id="{82E95591-51E5-24B0-8751-9E7B7F0CD2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12E76C-F0B9-03AB-F338-13DC7DCC37B0}"/>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2279387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F5DBC-C9B5-90CE-8170-DC2F39B73A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B4674E-4FBE-2803-9975-42BA318F3D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9C086E-45E5-E9DA-C475-115ADE118D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033A4-EF67-70CE-8ABC-BDCF53679250}"/>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6" name="Footer Placeholder 5">
            <a:extLst>
              <a:ext uri="{FF2B5EF4-FFF2-40B4-BE49-F238E27FC236}">
                <a16:creationId xmlns:a16="http://schemas.microsoft.com/office/drawing/2014/main" id="{AC5DA86B-BF89-C451-8E25-D37BB9C31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A47643-DBA3-3A94-C959-527106FD237C}"/>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1567997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3977E-F959-C0BB-B58B-9F325BD6AE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1086E0-50B0-611D-0DF6-A2881E857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D2D4A-6C20-2D6A-7A22-C7F97814FBB8}"/>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5" name="Footer Placeholder 4">
            <a:extLst>
              <a:ext uri="{FF2B5EF4-FFF2-40B4-BE49-F238E27FC236}">
                <a16:creationId xmlns:a16="http://schemas.microsoft.com/office/drawing/2014/main" id="{67959C48-E187-3D09-A503-8287D7C55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0133C2-3093-6AEE-934B-5B836F8AF325}"/>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3041915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73F9F6-C45F-C41A-0280-D917F5BC26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0950F6-8843-E5B7-3F96-5B557651A3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B021C-DC86-ED0E-845C-2B0E3AE8A420}"/>
              </a:ext>
            </a:extLst>
          </p:cNvPr>
          <p:cNvSpPr>
            <a:spLocks noGrp="1"/>
          </p:cNvSpPr>
          <p:nvPr>
            <p:ph type="dt" sz="half" idx="10"/>
          </p:nvPr>
        </p:nvSpPr>
        <p:spPr/>
        <p:txBody>
          <a:bodyPr/>
          <a:lstStyle/>
          <a:p>
            <a:fld id="{222C90E0-2D3F-452B-B474-00F6E85115A6}" type="datetimeFigureOut">
              <a:rPr lang="en-US" smtClean="0"/>
              <a:t>6/20/2023</a:t>
            </a:fld>
            <a:endParaRPr lang="en-US"/>
          </a:p>
        </p:txBody>
      </p:sp>
      <p:sp>
        <p:nvSpPr>
          <p:cNvPr id="5" name="Footer Placeholder 4">
            <a:extLst>
              <a:ext uri="{FF2B5EF4-FFF2-40B4-BE49-F238E27FC236}">
                <a16:creationId xmlns:a16="http://schemas.microsoft.com/office/drawing/2014/main" id="{7D2F5F6E-34A7-86B4-591D-23F8555928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911DB6-EA5D-96D8-7942-5D4CF7DF42D0}"/>
              </a:ext>
            </a:extLst>
          </p:cNvPr>
          <p:cNvSpPr>
            <a:spLocks noGrp="1"/>
          </p:cNvSpPr>
          <p:nvPr>
            <p:ph type="sldNum" sz="quarter" idx="12"/>
          </p:nvPr>
        </p:nvSpPr>
        <p:spPr/>
        <p:txBody>
          <a:bodyPr/>
          <a:lstStyle/>
          <a:p>
            <a:fld id="{D28B6322-932C-4DC9-9CC3-9377E8169B67}" type="slidenum">
              <a:rPr lang="en-US" smtClean="0"/>
              <a:t>‹#›</a:t>
            </a:fld>
            <a:endParaRPr lang="en-US"/>
          </a:p>
        </p:txBody>
      </p:sp>
    </p:spTree>
    <p:extLst>
      <p:ext uri="{BB962C8B-B14F-4D97-AF65-F5344CB8AC3E}">
        <p14:creationId xmlns:p14="http://schemas.microsoft.com/office/powerpoint/2010/main" val="4255431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4295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4026437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2CFA0-53A8-433A-A47F-F7ECCA5249C8}"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3299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2CFA0-53A8-433A-A47F-F7ECCA5249C8}"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486289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2CFA0-53A8-433A-A47F-F7ECCA5249C8}" type="datetimeFigureOut">
              <a:rPr lang="en-US" smtClean="0"/>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41664261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2CFA0-53A8-433A-A47F-F7ECCA5249C8}" type="datetimeFigureOut">
              <a:rPr lang="en-US" smtClean="0"/>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4181158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E2CFA0-53A8-433A-A47F-F7ECCA5249C8}" type="datetimeFigureOut">
              <a:rPr lang="en-US" smtClean="0"/>
              <a:t>6/20/2023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965765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E2CFA0-53A8-433A-A47F-F7ECCA5249C8}" type="datetimeFigureOut">
              <a:rPr lang="en-US" smtClean="0"/>
              <a:t>6/20/2023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A44C02-18DE-41FE-9E60-4563A10FB45B}" type="slidenum">
              <a:rPr lang="en-US" smtClean="0"/>
              <a:t>‹#›</a:t>
            </a:fld>
            <a:endParaRPr lang="en-US"/>
          </a:p>
        </p:txBody>
      </p:sp>
    </p:spTree>
    <p:extLst>
      <p:ext uri="{BB962C8B-B14F-4D97-AF65-F5344CB8AC3E}">
        <p14:creationId xmlns:p14="http://schemas.microsoft.com/office/powerpoint/2010/main" val="4073801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2CFA0-53A8-433A-A47F-F7ECCA5249C8}"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9018227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8873482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090065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a:cs typeface="Calibri"/>
              </a:defRPr>
            </a:lvl1pPr>
          </a:lstStyle>
          <a:p>
            <a:endParaRPr/>
          </a:p>
        </p:txBody>
      </p:sp>
      <p:sp>
        <p:nvSpPr>
          <p:cNvPr id="3" name="Holder 3"/>
          <p:cNvSpPr>
            <a:spLocks noGrp="1"/>
          </p:cNvSpPr>
          <p:nvPr>
            <p:ph sz="half" idx="2"/>
          </p:nvPr>
        </p:nvSpPr>
        <p:spPr>
          <a:xfrm>
            <a:off x="439013" y="1726437"/>
            <a:ext cx="5100955" cy="4203700"/>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4" name="Holder 4"/>
          <p:cNvSpPr>
            <a:spLocks noGrp="1"/>
          </p:cNvSpPr>
          <p:nvPr>
            <p:ph sz="half" idx="3"/>
          </p:nvPr>
        </p:nvSpPr>
        <p:spPr>
          <a:xfrm>
            <a:off x="6270116" y="1851588"/>
            <a:ext cx="4989830" cy="3616325"/>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6/20/2023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29014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ED43D4-BA58-378B-C74F-D26D3ED428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AA4928-1D45-CD8D-E6FF-68CDDFB5D9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4D23F0-C76B-ABED-B9B0-8A63DC7FDE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2C90E0-2D3F-452B-B474-00F6E85115A6}" type="datetimeFigureOut">
              <a:rPr lang="en-US" smtClean="0"/>
              <a:t>6/20/2023</a:t>
            </a:fld>
            <a:endParaRPr lang="en-US"/>
          </a:p>
        </p:txBody>
      </p:sp>
      <p:sp>
        <p:nvSpPr>
          <p:cNvPr id="5" name="Footer Placeholder 4">
            <a:extLst>
              <a:ext uri="{FF2B5EF4-FFF2-40B4-BE49-F238E27FC236}">
                <a16:creationId xmlns:a16="http://schemas.microsoft.com/office/drawing/2014/main" id="{AD2D88A2-DE5E-1C06-DE24-8EDD68B039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3E42B2-3F9E-D74E-35D6-E243247C15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B6322-932C-4DC9-9CC3-9377E8169B67}" type="slidenum">
              <a:rPr lang="en-US" smtClean="0"/>
              <a:t>‹#›</a:t>
            </a:fld>
            <a:endParaRPr lang="en-US"/>
          </a:p>
        </p:txBody>
      </p:sp>
    </p:spTree>
    <p:extLst>
      <p:ext uri="{BB962C8B-B14F-4D97-AF65-F5344CB8AC3E}">
        <p14:creationId xmlns:p14="http://schemas.microsoft.com/office/powerpoint/2010/main" val="1182231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E2CFA0-53A8-433A-A47F-F7ECCA5249C8}" type="datetimeFigureOut">
              <a:rPr lang="en-US" smtClean="0"/>
              <a:t>6/20/2023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A44C02-18DE-41FE-9E60-4563A10FB45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90191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6C1AA4-10BC-AC64-CF88-D6C990F97BA6}"/>
              </a:ext>
            </a:extLst>
          </p:cNvPr>
          <p:cNvPicPr>
            <a:picLocks noChangeAspect="1"/>
          </p:cNvPicPr>
          <p:nvPr/>
        </p:nvPicPr>
        <p:blipFill rotWithShape="1">
          <a:blip r:embed="rId2"/>
          <a:srcRect t="33100"/>
          <a:stretch/>
        </p:blipFill>
        <p:spPr>
          <a:xfrm>
            <a:off x="2117278" y="1235241"/>
            <a:ext cx="9064348" cy="4588042"/>
          </a:xfrm>
          <a:prstGeom prst="rect">
            <a:avLst/>
          </a:prstGeom>
        </p:spPr>
      </p:pic>
      <p:pic>
        <p:nvPicPr>
          <p:cNvPr id="3" name="Picture 2">
            <a:extLst>
              <a:ext uri="{FF2B5EF4-FFF2-40B4-BE49-F238E27FC236}">
                <a16:creationId xmlns:a16="http://schemas.microsoft.com/office/drawing/2014/main" id="{9EB9FDA2-77E3-0469-E92C-A0010F9392A3}"/>
              </a:ext>
            </a:extLst>
          </p:cNvPr>
          <p:cNvPicPr>
            <a:picLocks noChangeAspect="1"/>
          </p:cNvPicPr>
          <p:nvPr/>
        </p:nvPicPr>
        <p:blipFill rotWithShape="1">
          <a:blip r:embed="rId2"/>
          <a:srcRect b="87602"/>
          <a:stretch/>
        </p:blipFill>
        <p:spPr>
          <a:xfrm>
            <a:off x="1411426" y="385009"/>
            <a:ext cx="9064348" cy="850232"/>
          </a:xfrm>
          <a:prstGeom prst="rect">
            <a:avLst/>
          </a:prstGeom>
        </p:spPr>
      </p:pic>
    </p:spTree>
    <p:extLst>
      <p:ext uri="{BB962C8B-B14F-4D97-AF65-F5344CB8AC3E}">
        <p14:creationId xmlns:p14="http://schemas.microsoft.com/office/powerpoint/2010/main" val="378544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F87B2B-8605-2071-D88F-C38468FA4030}"/>
              </a:ext>
            </a:extLst>
          </p:cNvPr>
          <p:cNvSpPr txBox="1"/>
          <p:nvPr/>
        </p:nvSpPr>
        <p:spPr>
          <a:xfrm>
            <a:off x="1507958" y="1029578"/>
            <a:ext cx="7221828" cy="3970318"/>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Overview</a:t>
            </a:r>
          </a:p>
          <a:p>
            <a:endParaRPr lang="en-US" sz="1100" dirty="0">
              <a:latin typeface="Courier New" panose="02070309020205020404" pitchFamily="49" charset="0"/>
            </a:endParaRP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By identifying and analyzing risk, enterprises become aware of what forces within and beyond their control might threaten their operations.</a:t>
            </a:r>
          </a:p>
          <a:p>
            <a:pPr marL="800100" lvl="1" indent="-342900">
              <a:spcAft>
                <a:spcPts val="12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 However, documenting the results of this analysis in a risk register only provides awareness of the situation as it exists.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From there, the next steps are for the enterprise to decide how to respond to the analyzed risk, which </a:t>
            </a:r>
            <a:r>
              <a:rPr lang="en-US" sz="1600" dirty="0">
                <a:solidFill>
                  <a:srgbClr val="7030A0"/>
                </a:solidFill>
                <a:latin typeface="Berlin Sans FB" panose="020E0602020502020306" pitchFamily="34" charset="0"/>
              </a:rPr>
              <a:t>may include the design and implementation of new controls or enhancements to existing controls</a:t>
            </a:r>
            <a:r>
              <a:rPr lang="en-US" sz="1600" dirty="0">
                <a:solidFill>
                  <a:srgbClr val="002060"/>
                </a:solidFill>
                <a:latin typeface="Berlin Sans FB" panose="020E0602020502020306" pitchFamily="34" charset="0"/>
              </a:rPr>
              <a:t>; and then conduct effective monitoring and reporting of risk to keep management informed in a timely manner.</a:t>
            </a:r>
          </a:p>
          <a:p>
            <a:pPr marL="800100" lvl="1" indent="-342900">
              <a:spcAft>
                <a:spcPts val="1200"/>
              </a:spcAft>
              <a:buFont typeface="+mj-lt"/>
              <a:buAutoNum type="arabicPeriod"/>
            </a:pPr>
            <a:endParaRPr lang="en-US" dirty="0">
              <a:solidFill>
                <a:srgbClr val="7030A0"/>
              </a:solidFill>
              <a:effectLst>
                <a:outerShdw blurRad="38100" dist="38100" dir="2700000" algn="tl">
                  <a:srgbClr val="000000">
                    <a:alpha val="43137"/>
                  </a:srgbClr>
                </a:outerShdw>
              </a:effectLst>
              <a:latin typeface="Berlin Sans FB" panose="020E0602020502020306" pitchFamily="34" charset="0"/>
            </a:endParaRPr>
          </a:p>
          <a:p>
            <a:endParaRPr lang="en-US" sz="1100" dirty="0">
              <a:latin typeface="Courier New" panose="02070309020205020404" pitchFamily="49" charset="0"/>
            </a:endParaRPr>
          </a:p>
        </p:txBody>
      </p:sp>
      <p:sp>
        <p:nvSpPr>
          <p:cNvPr id="5" name="TextBox 4">
            <a:extLst>
              <a:ext uri="{FF2B5EF4-FFF2-40B4-BE49-F238E27FC236}">
                <a16:creationId xmlns:a16="http://schemas.microsoft.com/office/drawing/2014/main" id="{3CC3CAEC-F128-85A3-A95E-DEC2B656F9C0}"/>
              </a:ext>
            </a:extLst>
          </p:cNvPr>
          <p:cNvSpPr txBox="1"/>
          <p:nvPr/>
        </p:nvSpPr>
        <p:spPr>
          <a:xfrm>
            <a:off x="858251" y="5111099"/>
            <a:ext cx="10587791" cy="461665"/>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This chapter represents 32 percent (approximately 48 questions) of the exam.</a:t>
            </a:r>
          </a:p>
        </p:txBody>
      </p:sp>
    </p:spTree>
    <p:extLst>
      <p:ext uri="{BB962C8B-B14F-4D97-AF65-F5344CB8AC3E}">
        <p14:creationId xmlns:p14="http://schemas.microsoft.com/office/powerpoint/2010/main" val="3648729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74CEE6-1ED9-0443-F7AE-1A981C805DB4}"/>
              </a:ext>
            </a:extLst>
          </p:cNvPr>
          <p:cNvSpPr txBox="1"/>
          <p:nvPr/>
        </p:nvSpPr>
        <p:spPr>
          <a:xfrm>
            <a:off x="1283367" y="745249"/>
            <a:ext cx="6938211" cy="4601260"/>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Part A: Risk Response</a:t>
            </a:r>
          </a:p>
          <a:p>
            <a:endParaRPr lang="en-US" sz="1100" dirty="0">
              <a:latin typeface="Courier New" panose="02070309020205020404" pitchFamily="49" charset="0"/>
            </a:endParaRP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The risk response phase of risk management, </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shown in figure 3.1</a:t>
            </a:r>
            <a:r>
              <a:rPr lang="en-US" sz="1600" dirty="0">
                <a:solidFill>
                  <a:srgbClr val="002060"/>
                </a:solidFill>
                <a:latin typeface="Berlin Sans FB" panose="020E0602020502020306" pitchFamily="34" charset="0"/>
              </a:rPr>
              <a:t>, focuses on the decisions made regarding the correct way to address identified risk, Risk response is based on the information provided in the earlier steps of risk identification and risk assessment. </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The desire to reduce risk is balanced with the constraints placed on the enterprise through budget, time, resources, strategic plans, regulations, customer expectations and other business and industry factors</a:t>
            </a:r>
            <a:r>
              <a:rPr lang="en-US" sz="1600" dirty="0">
                <a:solidFill>
                  <a:srgbClr val="002060"/>
                </a:solidFill>
                <a:latin typeface="Berlin Sans FB" panose="020E0602020502020306" pitchFamily="34" charset="0"/>
              </a:rPr>
              <a:t>.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Risk response should be undertaken in a way that protects current operations to the greatest extent possible.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In some cases, response activities may cause disruption. this makes the careful selection of actions and controls to address risk an important part of the process.</a:t>
            </a:r>
          </a:p>
          <a:p>
            <a:endParaRPr lang="en-US" sz="1100" dirty="0">
              <a:latin typeface="Courier New" panose="02070309020205020404" pitchFamily="49" charset="0"/>
            </a:endParaRPr>
          </a:p>
          <a:p>
            <a:pPr>
              <a:buFont typeface="Symbol" panose="05050102010706020507" pitchFamily="18" charset="2"/>
              <a:buChar char="·"/>
            </a:pPr>
            <a:endParaRPr lang="en-US" sz="1100" dirty="0">
              <a:latin typeface="Courier New" panose="02070309020205020404" pitchFamily="49" charset="0"/>
            </a:endParaRPr>
          </a:p>
        </p:txBody>
      </p:sp>
    </p:spTree>
    <p:extLst>
      <p:ext uri="{BB962C8B-B14F-4D97-AF65-F5344CB8AC3E}">
        <p14:creationId xmlns:p14="http://schemas.microsoft.com/office/powerpoint/2010/main" val="2747545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53F10E-C653-BB0B-0FF2-BB52554934E0}"/>
              </a:ext>
            </a:extLst>
          </p:cNvPr>
          <p:cNvPicPr>
            <a:picLocks noChangeAspect="1"/>
          </p:cNvPicPr>
          <p:nvPr/>
        </p:nvPicPr>
        <p:blipFill rotWithShape="1">
          <a:blip r:embed="rId2"/>
          <a:srcRect b="12410"/>
          <a:stretch/>
        </p:blipFill>
        <p:spPr>
          <a:xfrm>
            <a:off x="429377" y="65673"/>
            <a:ext cx="11172825" cy="5990222"/>
          </a:xfrm>
          <a:prstGeom prst="rect">
            <a:avLst/>
          </a:prstGeom>
        </p:spPr>
      </p:pic>
    </p:spTree>
    <p:extLst>
      <p:ext uri="{BB962C8B-B14F-4D97-AF65-F5344CB8AC3E}">
        <p14:creationId xmlns:p14="http://schemas.microsoft.com/office/powerpoint/2010/main" val="1145859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15" dirty="0">
                <a:solidFill>
                  <a:srgbClr val="FF0000"/>
                </a:solidFill>
                <a:uFill>
                  <a:solidFill>
                    <a:srgbClr val="000000"/>
                  </a:solidFill>
                </a:uFill>
                <a:latin typeface="Calibri Light"/>
                <a:cs typeface="Calibri Light"/>
              </a:rPr>
              <a:t>Risk</a:t>
            </a:r>
            <a:r>
              <a:rPr sz="4400" u="heavy" spc="-120" dirty="0">
                <a:solidFill>
                  <a:srgbClr val="FF0000"/>
                </a:solidFill>
                <a:uFill>
                  <a:solidFill>
                    <a:srgbClr val="000000"/>
                  </a:solidFill>
                </a:uFill>
                <a:latin typeface="Calibri Light"/>
                <a:cs typeface="Calibri Light"/>
              </a:rPr>
              <a:t> </a:t>
            </a:r>
            <a:r>
              <a:rPr sz="4400" u="heavy" spc="-45" dirty="0">
                <a:solidFill>
                  <a:srgbClr val="FF0000"/>
                </a:solidFill>
                <a:uFill>
                  <a:solidFill>
                    <a:srgbClr val="000000"/>
                  </a:solidFill>
                </a:uFill>
                <a:latin typeface="Calibri Light"/>
                <a:cs typeface="Calibri Light"/>
              </a:rPr>
              <a:t>Response	</a:t>
            </a:r>
            <a:endParaRPr sz="4400" dirty="0">
              <a:latin typeface="Calibri Light"/>
              <a:cs typeface="Calibri Light"/>
            </a:endParaRPr>
          </a:p>
        </p:txBody>
      </p:sp>
      <p:sp>
        <p:nvSpPr>
          <p:cNvPr id="3" name="object 3"/>
          <p:cNvSpPr txBox="1"/>
          <p:nvPr/>
        </p:nvSpPr>
        <p:spPr>
          <a:xfrm>
            <a:off x="1831339" y="2066925"/>
            <a:ext cx="5462270" cy="1061188"/>
          </a:xfrm>
          <a:prstGeom prst="rect">
            <a:avLst/>
          </a:prstGeom>
        </p:spPr>
        <p:txBody>
          <a:bodyPr vert="horz" wrap="square" lIns="0" tIns="92075" rIns="0" bIns="0" rtlCol="0">
            <a:spAutoFit/>
          </a:bodyPr>
          <a:lstStyle/>
          <a:p>
            <a:pPr marL="241300" marR="97155" indent="-229235">
              <a:lnSpc>
                <a:spcPct val="80000"/>
              </a:lnSpc>
              <a:spcBef>
                <a:spcPts val="1010"/>
              </a:spcBef>
              <a:buFont typeface="Arial MT"/>
              <a:buChar char="•"/>
              <a:tabLst>
                <a:tab pos="241935" algn="l"/>
              </a:tabLst>
            </a:pPr>
            <a:r>
              <a:rPr sz="2600" spc="-20" dirty="0">
                <a:latin typeface="Calibri"/>
                <a:cs typeface="Calibri"/>
              </a:rPr>
              <a:t>It’s </a:t>
            </a:r>
            <a:r>
              <a:rPr sz="2600" dirty="0">
                <a:latin typeface="Calibri"/>
                <a:cs typeface="Calibri"/>
              </a:rPr>
              <a:t>a </a:t>
            </a:r>
            <a:r>
              <a:rPr sz="2600" spc="-10" dirty="0">
                <a:latin typeface="Calibri"/>
                <a:cs typeface="Calibri"/>
              </a:rPr>
              <a:t>good </a:t>
            </a:r>
            <a:r>
              <a:rPr sz="2600" dirty="0">
                <a:latin typeface="Calibri"/>
                <a:cs typeface="Calibri"/>
              </a:rPr>
              <a:t>idea </a:t>
            </a:r>
            <a:r>
              <a:rPr sz="2600" spc="-15" dirty="0">
                <a:latin typeface="Calibri"/>
                <a:cs typeface="Calibri"/>
              </a:rPr>
              <a:t>to </a:t>
            </a:r>
            <a:r>
              <a:rPr sz="2600" spc="-5" dirty="0">
                <a:latin typeface="Calibri"/>
                <a:cs typeface="Calibri"/>
              </a:rPr>
              <a:t>think </a:t>
            </a:r>
            <a:r>
              <a:rPr sz="2600" dirty="0">
                <a:latin typeface="Calibri"/>
                <a:cs typeface="Calibri"/>
              </a:rPr>
              <a:t>about this risk </a:t>
            </a:r>
            <a:r>
              <a:rPr sz="2600" spc="-575" dirty="0">
                <a:latin typeface="Calibri"/>
                <a:cs typeface="Calibri"/>
              </a:rPr>
              <a:t> </a:t>
            </a:r>
            <a:r>
              <a:rPr sz="2600" spc="-5" dirty="0">
                <a:latin typeface="Calibri"/>
                <a:cs typeface="Calibri"/>
              </a:rPr>
              <a:t>response </a:t>
            </a:r>
            <a:r>
              <a:rPr sz="2600" dirty="0">
                <a:latin typeface="Calibri"/>
                <a:cs typeface="Calibri"/>
              </a:rPr>
              <a:t>action </a:t>
            </a:r>
            <a:r>
              <a:rPr sz="2600" spc="-5" dirty="0">
                <a:latin typeface="Calibri"/>
                <a:cs typeface="Calibri"/>
              </a:rPr>
              <a:t>plan </a:t>
            </a:r>
            <a:r>
              <a:rPr sz="2600" dirty="0">
                <a:latin typeface="Calibri"/>
                <a:cs typeface="Calibri"/>
              </a:rPr>
              <a:t>in a </a:t>
            </a:r>
            <a:r>
              <a:rPr sz="2600" spc="-5" dirty="0">
                <a:latin typeface="Calibri"/>
                <a:cs typeface="Calibri"/>
              </a:rPr>
              <a:t>Plan-Do- </a:t>
            </a:r>
            <a:r>
              <a:rPr sz="2600" dirty="0">
                <a:latin typeface="Calibri"/>
                <a:cs typeface="Calibri"/>
              </a:rPr>
              <a:t> </a:t>
            </a:r>
            <a:r>
              <a:rPr sz="2600" spc="-5" dirty="0">
                <a:latin typeface="Calibri"/>
                <a:cs typeface="Calibri"/>
              </a:rPr>
              <a:t>Check-Adjust</a:t>
            </a:r>
            <a:r>
              <a:rPr sz="2600" spc="-40" dirty="0">
                <a:latin typeface="Calibri"/>
                <a:cs typeface="Calibri"/>
              </a:rPr>
              <a:t> </a:t>
            </a:r>
            <a:r>
              <a:rPr sz="2600" dirty="0">
                <a:latin typeface="Calibri"/>
                <a:cs typeface="Calibri"/>
              </a:rPr>
              <a:t>(PDCA)</a:t>
            </a:r>
            <a:r>
              <a:rPr sz="2600" spc="-40" dirty="0">
                <a:latin typeface="Calibri"/>
                <a:cs typeface="Calibri"/>
              </a:rPr>
              <a:t> </a:t>
            </a:r>
            <a:r>
              <a:rPr sz="2600" spc="-15" dirty="0">
                <a:latin typeface="Calibri"/>
                <a:cs typeface="Calibri"/>
              </a:rPr>
              <a:t>life </a:t>
            </a:r>
            <a:r>
              <a:rPr sz="2600" spc="-10" dirty="0">
                <a:latin typeface="Calibri"/>
                <a:cs typeface="Calibri"/>
              </a:rPr>
              <a:t>cycle</a:t>
            </a:r>
            <a:endParaRPr sz="2600" dirty="0">
              <a:latin typeface="Calibri"/>
              <a:cs typeface="Calibri"/>
            </a:endParaRPr>
          </a:p>
        </p:txBody>
      </p:sp>
      <p:pic>
        <p:nvPicPr>
          <p:cNvPr id="4" name="object 4"/>
          <p:cNvPicPr/>
          <p:nvPr/>
        </p:nvPicPr>
        <p:blipFill>
          <a:blip r:embed="rId2" cstate="print"/>
          <a:stretch>
            <a:fillRect/>
          </a:stretch>
        </p:blipFill>
        <p:spPr>
          <a:xfrm>
            <a:off x="7992663" y="2066925"/>
            <a:ext cx="2705404" cy="2705100"/>
          </a:xfrm>
          <a:prstGeom prst="rect">
            <a:avLst/>
          </a:prstGeom>
        </p:spPr>
      </p:pic>
      <p:sp>
        <p:nvSpPr>
          <p:cNvPr id="5" name="object 5"/>
          <p:cNvSpPr txBox="1"/>
          <p:nvPr/>
        </p:nvSpPr>
        <p:spPr>
          <a:xfrm>
            <a:off x="8352281" y="5244210"/>
            <a:ext cx="255524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Plan-Do-Check-Adjust</a:t>
            </a:r>
            <a:r>
              <a:rPr sz="1800" spc="-40" dirty="0">
                <a:latin typeface="Calibri"/>
                <a:cs typeface="Calibri"/>
              </a:rPr>
              <a:t> </a:t>
            </a:r>
            <a:r>
              <a:rPr sz="1800" spc="-10" dirty="0">
                <a:latin typeface="Calibri"/>
                <a:cs typeface="Calibri"/>
              </a:rPr>
              <a:t>cycle</a:t>
            </a:r>
            <a:endParaRPr sz="18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884EF5-56C9-B819-5419-37798EBF75B2}"/>
              </a:ext>
            </a:extLst>
          </p:cNvPr>
          <p:cNvSpPr txBox="1"/>
          <p:nvPr/>
        </p:nvSpPr>
        <p:spPr>
          <a:xfrm>
            <a:off x="1427747" y="619669"/>
            <a:ext cx="6473607" cy="4185761"/>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Risk and Control Ownership</a:t>
            </a:r>
          </a:p>
          <a:p>
            <a:pPr marL="800100" lvl="1" indent="-342900">
              <a:buFont typeface="+mj-lt"/>
              <a:buAutoNum type="arabicPeriod"/>
            </a:pPr>
            <a:endParaRPr lang="en-US" sz="1600" dirty="0">
              <a:solidFill>
                <a:srgbClr val="002060"/>
              </a:solidFill>
              <a:latin typeface="Berlin Sans FB" panose="020E0602020502020306" pitchFamily="34" charset="0"/>
            </a:endParaRP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Every risk identified in the risk register should have a specified owner at a management level. </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This owner should be empowered to </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make decisions on behalf of the enterprise. </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In general, the risk owner should be a senior executive or manager responsible for one or more of the business processes or functions that may be impacted ( for example: the HR Manager will be the Risk owner for the risk at the HR Department level)</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 The risk practitioner should communicate with risk owners to ensure that they are aware of what risk responses have already been implemented and responses that are pending implementation.</a:t>
            </a:r>
          </a:p>
        </p:txBody>
      </p:sp>
    </p:spTree>
    <p:extLst>
      <p:ext uri="{BB962C8B-B14F-4D97-AF65-F5344CB8AC3E}">
        <p14:creationId xmlns:p14="http://schemas.microsoft.com/office/powerpoint/2010/main" val="3403741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F3F35C-D500-43CF-78AF-ED744E937998}"/>
              </a:ext>
            </a:extLst>
          </p:cNvPr>
          <p:cNvSpPr txBox="1"/>
          <p:nvPr/>
        </p:nvSpPr>
        <p:spPr>
          <a:xfrm>
            <a:off x="1475872" y="102147"/>
            <a:ext cx="7804486" cy="5555367"/>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Ownership and Accountability</a:t>
            </a:r>
          </a:p>
          <a:p>
            <a:endParaRPr lang="en-US" sz="1100" dirty="0">
              <a:latin typeface="Courier New" panose="02070309020205020404" pitchFamily="49" charset="0"/>
            </a:endParaRPr>
          </a:p>
          <a:p>
            <a:pPr marL="800100" lvl="1" indent="-342900">
              <a:spcAft>
                <a:spcPts val="12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The purpose of determining risk ownership is to ensure accountability is in place. </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A risk owner must be someone with the budget, authority and mandate to select an appropriate risk response based on analyses and guidance provided by the risk practitioner.</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 If someone who lacks one or more of these is chosen as the risk owner, that person will be incapable of exercising the full scope of ownership responsibilities, and true accountability cannot be expected.</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Similarly, a control should be owned by the owner of the risk that it mitigates. </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However, the control may be owned by someone else in the case of controls that affect more than one risk, Risk and control owners should be recorded in the risk register.</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In general, risk owners need to actively lead the risk management activities performed by risk practitioners and to ensure the desired outcomes can be clearly understood by risk practitioners.</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Accountability extends beyond the basic risk response decision to approving specific controls when mitigation is the chosen risk response.</a:t>
            </a:r>
          </a:p>
        </p:txBody>
      </p:sp>
    </p:spTree>
    <p:extLst>
      <p:ext uri="{BB962C8B-B14F-4D97-AF65-F5344CB8AC3E}">
        <p14:creationId xmlns:p14="http://schemas.microsoft.com/office/powerpoint/2010/main" val="288465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8B11D1-CB80-C1E4-BA9F-EB880A6D74F3}"/>
              </a:ext>
            </a:extLst>
          </p:cNvPr>
          <p:cNvSpPr txBox="1"/>
          <p:nvPr/>
        </p:nvSpPr>
        <p:spPr>
          <a:xfrm>
            <a:off x="1018673" y="188785"/>
            <a:ext cx="9553073" cy="1138773"/>
          </a:xfrm>
          <a:prstGeom prst="rect">
            <a:avLst/>
          </a:prstGeom>
          <a:noFill/>
        </p:spPr>
        <p:txBody>
          <a:bodyPr wrap="square">
            <a:spAutoFit/>
          </a:bodyPr>
          <a:lstStyle/>
          <a:p>
            <a:pPr marL="285750" indent="-285750">
              <a:buFont typeface="Wingdings" panose="05000000000000000000" pitchFamily="2" charset="2"/>
              <a:buChar char="q"/>
            </a:pPr>
            <a:r>
              <a:rPr lang="en-US" sz="1600" dirty="0">
                <a:solidFill>
                  <a:srgbClr val="002060"/>
                </a:solidFill>
                <a:latin typeface="Berlin Sans FB" panose="020E0602020502020306" pitchFamily="34" charset="0"/>
              </a:rPr>
              <a:t>the concept is to create a direct link between risk and control, so that all risk is addressed through appropriate controls and all controls are justified by the risk that mandates their existence. </a:t>
            </a:r>
          </a:p>
          <a:p>
            <a:endParaRPr lang="en-US" sz="1600" dirty="0">
              <a:solidFill>
                <a:srgbClr val="002060"/>
              </a:solidFill>
              <a:latin typeface="Berlin Sans FB" panose="020E0602020502020306" pitchFamily="34" charset="0"/>
            </a:endParaRPr>
          </a:p>
          <a:p>
            <a:r>
              <a:rPr lang="en-US" sz="2000" dirty="0">
                <a:solidFill>
                  <a:srgbClr val="7030A0"/>
                </a:solidFill>
                <a:effectLst>
                  <a:outerShdw blurRad="38100" dist="38100" dir="2700000" algn="tl">
                    <a:srgbClr val="000000">
                      <a:alpha val="43137"/>
                    </a:srgbClr>
                  </a:outerShdw>
                </a:effectLst>
                <a:latin typeface="Berlin Sans FB" panose="020E0602020502020306" pitchFamily="34" charset="0"/>
              </a:rPr>
              <a:t>This relationship is shown in figure 3.2.</a:t>
            </a:r>
          </a:p>
        </p:txBody>
      </p:sp>
      <p:pic>
        <p:nvPicPr>
          <p:cNvPr id="4" name="Picture 3">
            <a:extLst>
              <a:ext uri="{FF2B5EF4-FFF2-40B4-BE49-F238E27FC236}">
                <a16:creationId xmlns:a16="http://schemas.microsoft.com/office/drawing/2014/main" id="{DFCCF990-C952-D12A-0E17-EBBC4D4ACFA6}"/>
              </a:ext>
            </a:extLst>
          </p:cNvPr>
          <p:cNvPicPr>
            <a:picLocks noChangeAspect="1"/>
          </p:cNvPicPr>
          <p:nvPr/>
        </p:nvPicPr>
        <p:blipFill rotWithShape="1">
          <a:blip r:embed="rId2"/>
          <a:srcRect b="22239"/>
          <a:stretch/>
        </p:blipFill>
        <p:spPr>
          <a:xfrm>
            <a:off x="530894" y="1477377"/>
            <a:ext cx="10953750" cy="4369970"/>
          </a:xfrm>
          <a:prstGeom prst="rect">
            <a:avLst/>
          </a:prstGeom>
        </p:spPr>
      </p:pic>
    </p:spTree>
    <p:extLst>
      <p:ext uri="{BB962C8B-B14F-4D97-AF65-F5344CB8AC3E}">
        <p14:creationId xmlns:p14="http://schemas.microsoft.com/office/powerpoint/2010/main" val="1000932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C31374-E5E2-8CF7-14F2-D095BB3D4B7F}"/>
              </a:ext>
            </a:extLst>
          </p:cNvPr>
          <p:cNvSpPr txBox="1"/>
          <p:nvPr/>
        </p:nvSpPr>
        <p:spPr>
          <a:xfrm>
            <a:off x="1772652" y="1592393"/>
            <a:ext cx="7523747" cy="3046988"/>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Risk Treatment/Risk Response Options</a:t>
            </a:r>
          </a:p>
          <a:p>
            <a:endParaRPr lang="en-US" sz="1200" dirty="0">
              <a:latin typeface="Courier New" panose="02070309020205020404" pitchFamily="49" charset="0"/>
            </a:endParaRPr>
          </a:p>
          <a:p>
            <a:pPr marL="800100" lvl="1" indent="-342900">
              <a:spcAft>
                <a:spcPts val="1200"/>
              </a:spcAft>
              <a:buFont typeface="+mj-lt"/>
              <a:buAutoNum type="arabicPeriod"/>
            </a:pPr>
            <a:r>
              <a:rPr lang="en-US" dirty="0">
                <a:solidFill>
                  <a:srgbClr val="002060"/>
                </a:solidFill>
                <a:latin typeface="Berlin Sans FB" panose="020E0602020502020306" pitchFamily="34" charset="0"/>
              </a:rPr>
              <a:t>The goal of risk response is to bring risk into alignment with the organizational risk appetite and tolerance. </a:t>
            </a:r>
          </a:p>
          <a:p>
            <a:pPr marL="800100" lvl="1" indent="-342900">
              <a:spcAft>
                <a:spcPts val="1200"/>
              </a:spcAft>
              <a:buFont typeface="+mj-lt"/>
              <a:buAutoNum type="arabicPeriod"/>
            </a:pPr>
            <a:r>
              <a:rPr lang="en-US" dirty="0">
                <a:solidFill>
                  <a:srgbClr val="002060"/>
                </a:solidFill>
                <a:latin typeface="Berlin Sans FB" panose="020E0602020502020306" pitchFamily="34" charset="0"/>
              </a:rPr>
              <a:t>Factors such as on-staff expertise, strategic direction, legal and regulatory requirements and organizational culture should be considered when considering precisely what responses are best suited to particular areas of risk.</a:t>
            </a:r>
          </a:p>
          <a:p>
            <a:endParaRPr lang="en-US" sz="1200" dirty="0">
              <a:latin typeface="Courier New" panose="02070309020205020404" pitchFamily="49" charset="0"/>
            </a:endParaRPr>
          </a:p>
          <a:p>
            <a:endParaRPr lang="en-US" sz="1200" dirty="0">
              <a:latin typeface="Courier New" panose="02070309020205020404" pitchFamily="49" charset="0"/>
            </a:endParaRPr>
          </a:p>
        </p:txBody>
      </p:sp>
    </p:spTree>
    <p:extLst>
      <p:ext uri="{BB962C8B-B14F-4D97-AF65-F5344CB8AC3E}">
        <p14:creationId xmlns:p14="http://schemas.microsoft.com/office/powerpoint/2010/main" val="2531536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A0C0CC-A0C0-27A5-5EB8-3BDFAEB97A91}"/>
              </a:ext>
            </a:extLst>
          </p:cNvPr>
          <p:cNvSpPr txBox="1"/>
          <p:nvPr/>
        </p:nvSpPr>
        <p:spPr>
          <a:xfrm>
            <a:off x="1246966" y="946498"/>
            <a:ext cx="8420666" cy="40164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Aligning Risk Response with Business Objectives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lvl="1" indent="-342900">
              <a:spcAft>
                <a:spcPts val="1200"/>
              </a:spcAft>
              <a:buFont typeface="+mj-lt"/>
              <a:buAutoNum type="arabicPeriod"/>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 risk assessment report and risk register will  document the risk identified during the identification and assessment phases of the risk- management process. </a:t>
            </a:r>
          </a:p>
          <a:p>
            <a:pPr marL="800100" lvl="1" indent="-342900">
              <a:spcAft>
                <a:spcPts val="1200"/>
              </a:spcAft>
              <a:buFont typeface="+mj-lt"/>
              <a:buAutoNum type="arabicPeriod"/>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Both the report and the register should indicate the priority of each risk. </a:t>
            </a:r>
          </a:p>
          <a:p>
            <a:pPr marL="800100" lvl="1" indent="-342900">
              <a:spcAft>
                <a:spcPts val="1200"/>
              </a:spcAft>
              <a:buFont typeface="+mj-lt"/>
              <a:buAutoNum type="arabicPeriod"/>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practitioners should keep in mind that these recommendations are guidelines. </a:t>
            </a:r>
          </a:p>
          <a:p>
            <a:pPr marL="800100" lvl="1" indent="-342900">
              <a:spcAft>
                <a:spcPts val="1200"/>
              </a:spcAft>
              <a:buFont typeface="+mj-lt"/>
              <a:buAutoNum type="arabicPeriod"/>
              <a:defRPr/>
            </a:pP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Management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is responsible for evaluating and responding to the recommendations included in the report, first by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determining the best response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and </a:t>
            </a:r>
            <a:r>
              <a:rPr kumimoji="0" lang="en-US" sz="16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then developing an action plan and implementation strategy that addresses the risk in a manner consistent with the risk appetite and risk tolerance of the enterprise.</a:t>
            </a:r>
          </a:p>
          <a:p>
            <a:pPr marL="800100" lvl="1" indent="-342900">
              <a:spcAft>
                <a:spcPts val="1200"/>
              </a:spcAft>
              <a:buFont typeface="+mj-lt"/>
              <a:buAutoNum type="arabicPeriod"/>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role of the risk practitioner is not to decide on behalf of the organization. Instead, the risk practitioner  role is to ensure that management has the best available information to make informed decisions.</a:t>
            </a:r>
          </a:p>
        </p:txBody>
      </p:sp>
    </p:spTree>
    <p:extLst>
      <p:ext uri="{BB962C8B-B14F-4D97-AF65-F5344CB8AC3E}">
        <p14:creationId xmlns:p14="http://schemas.microsoft.com/office/powerpoint/2010/main" val="3046367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312841-92E2-3D5B-A6EF-FB3F5B920783}"/>
              </a:ext>
            </a:extLst>
          </p:cNvPr>
          <p:cNvSpPr txBox="1"/>
          <p:nvPr/>
        </p:nvSpPr>
        <p:spPr>
          <a:xfrm>
            <a:off x="1419725" y="385389"/>
            <a:ext cx="7491664" cy="4878259"/>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3.2.2 Risk Response Options</a:t>
            </a:r>
          </a:p>
          <a:p>
            <a:pPr marL="800100" lvl="1" indent="-342900">
              <a:spcAft>
                <a:spcPts val="1200"/>
              </a:spcAft>
              <a:buFont typeface="+mj-lt"/>
              <a:buAutoNum type="arabicPeriod"/>
              <a:defRPr/>
            </a:pPr>
            <a:r>
              <a:rPr lang="en-US" sz="1600" dirty="0">
                <a:solidFill>
                  <a:srgbClr val="002060"/>
                </a:solidFill>
                <a:latin typeface="Berlin Sans FB" panose="020E0602020502020306" pitchFamily="34" charset="0"/>
              </a:rPr>
              <a:t>Evaluation of an appropriate risk response is part of the risk-management process cycle, not a one-time activity. </a:t>
            </a:r>
          </a:p>
          <a:p>
            <a:pPr marL="800100" lvl="1" indent="-342900">
              <a:spcAft>
                <a:spcPts val="1200"/>
              </a:spcAft>
              <a:buFont typeface="+mj-lt"/>
              <a:buAutoNum type="arabicPeriod"/>
              <a:defRPr/>
            </a:pPr>
            <a:r>
              <a:rPr lang="en-US" sz="1600" dirty="0">
                <a:solidFill>
                  <a:srgbClr val="002060"/>
                </a:solidFill>
                <a:latin typeface="Berlin Sans FB" panose="020E0602020502020306" pitchFamily="34" charset="0"/>
              </a:rPr>
              <a:t>There are four commonly accepted options for risk response:</a:t>
            </a:r>
          </a:p>
          <a:p>
            <a:pPr marL="1714500" lvl="3" indent="-342900">
              <a:spcAft>
                <a:spcPts val="1200"/>
              </a:spcAft>
              <a:buFont typeface="Wingdings" panose="05000000000000000000" pitchFamily="2" charset="2"/>
              <a:buChar char="§"/>
              <a:defRPr/>
            </a:pPr>
            <a:r>
              <a:rPr lang="en-US" sz="1600" dirty="0">
                <a:solidFill>
                  <a:srgbClr val="002060"/>
                </a:solidFill>
                <a:latin typeface="Berlin Sans FB" panose="020E0602020502020306" pitchFamily="34" charset="0"/>
              </a:rPr>
              <a:t>Risk acceptance</a:t>
            </a:r>
          </a:p>
          <a:p>
            <a:pPr marL="1714500" lvl="3" indent="-342900">
              <a:spcAft>
                <a:spcPts val="1200"/>
              </a:spcAft>
              <a:buFont typeface="Wingdings" panose="05000000000000000000" pitchFamily="2" charset="2"/>
              <a:buChar char="§"/>
              <a:defRPr/>
            </a:pPr>
            <a:r>
              <a:rPr lang="en-US" sz="1600" dirty="0">
                <a:solidFill>
                  <a:srgbClr val="002060"/>
                </a:solidFill>
                <a:latin typeface="Berlin Sans FB" panose="020E0602020502020306" pitchFamily="34" charset="0"/>
              </a:rPr>
              <a:t>Risk mitigation</a:t>
            </a:r>
          </a:p>
          <a:p>
            <a:pPr marL="1714500" lvl="3" indent="-342900">
              <a:spcAft>
                <a:spcPts val="1200"/>
              </a:spcAft>
              <a:buFont typeface="Wingdings" panose="05000000000000000000" pitchFamily="2" charset="2"/>
              <a:buChar char="§"/>
              <a:defRPr/>
            </a:pPr>
            <a:r>
              <a:rPr lang="en-US" sz="1600" dirty="0">
                <a:solidFill>
                  <a:srgbClr val="002060"/>
                </a:solidFill>
                <a:latin typeface="Berlin Sans FB" panose="020E0602020502020306" pitchFamily="34" charset="0"/>
              </a:rPr>
              <a:t>Risk sharing/transfer</a:t>
            </a:r>
          </a:p>
          <a:p>
            <a:pPr marL="1714500" lvl="3" indent="-342900">
              <a:spcAft>
                <a:spcPts val="1200"/>
              </a:spcAft>
              <a:buFont typeface="Wingdings" panose="05000000000000000000" pitchFamily="2" charset="2"/>
              <a:buChar char="§"/>
              <a:defRPr/>
            </a:pPr>
            <a:r>
              <a:rPr lang="en-US" sz="1600" dirty="0">
                <a:solidFill>
                  <a:srgbClr val="002060"/>
                </a:solidFill>
                <a:latin typeface="Berlin Sans FB" panose="020E0602020502020306" pitchFamily="34" charset="0"/>
              </a:rPr>
              <a:t>Risk avoidance</a:t>
            </a:r>
          </a:p>
          <a:p>
            <a:pPr marL="800100" lvl="1" indent="-342900">
              <a:spcAft>
                <a:spcPts val="1200"/>
              </a:spcAft>
              <a:buFont typeface="+mj-lt"/>
              <a:buAutoNum type="arabicPeriod"/>
              <a:defRPr/>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Keep in mind that the purpose of defining a risk response is to bring risk in line with the enterprise defined risk appetite and tolerance as cost-effectively as possible, not to eliminate or minimize the risk at all costs.</a:t>
            </a:r>
          </a:p>
          <a:p>
            <a:pPr marL="800100" lvl="1" indent="-342900">
              <a:spcAft>
                <a:spcPts val="1200"/>
              </a:spcAft>
              <a:buFont typeface="+mj-lt"/>
              <a:buAutoNum type="arabicPeriod"/>
              <a:defRPr/>
            </a:pPr>
            <a:r>
              <a:rPr lang="en-US" sz="1600" dirty="0">
                <a:solidFill>
                  <a:srgbClr val="002060"/>
                </a:solidFill>
                <a:latin typeface="Berlin Sans FB" panose="020E0602020502020306" pitchFamily="34" charset="0"/>
              </a:rPr>
              <a:t>Finding the right balance is a management function that considers all of the constraints such as budget, time and resources.</a:t>
            </a:r>
          </a:p>
          <a:p>
            <a:endParaRPr lang="en-US" sz="1100" dirty="0">
              <a:latin typeface="Courier New" panose="02070309020205020404" pitchFamily="49" charset="0"/>
            </a:endParaRPr>
          </a:p>
        </p:txBody>
      </p:sp>
    </p:spTree>
    <p:extLst>
      <p:ext uri="{BB962C8B-B14F-4D97-AF65-F5344CB8AC3E}">
        <p14:creationId xmlns:p14="http://schemas.microsoft.com/office/powerpoint/2010/main" val="425680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B0EF14-69BC-421F-6E8A-6BD31571DDE3}"/>
              </a:ext>
            </a:extLst>
          </p:cNvPr>
          <p:cNvSpPr txBox="1"/>
          <p:nvPr/>
        </p:nvSpPr>
        <p:spPr>
          <a:xfrm>
            <a:off x="1467852" y="161887"/>
            <a:ext cx="7587916" cy="6155531"/>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Risk Acceptance</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The choice to accept risk is a conscious decision made by senior management. Risk acceptance means recognizing both the existence of risk and its potential impact, then deciding with full awareness to allow (assume) the risk to remain without (further) action. </a:t>
            </a: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Management is always accountable for the impact of a risk event should it occur, so the decision to accept a risk is made according to the organizational risk appetite and risk tolerance.</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Because the goal of risk management is to bring risk within acceptable levels as cost-effectively as possible, risk that falls within the organizational risk appetite without any action being taken generally should be accepted. </a:t>
            </a:r>
          </a:p>
          <a:p>
            <a:pPr marL="800100" lvl="1" indent="-342900">
              <a:spcAft>
                <a:spcPts val="600"/>
              </a:spcAft>
              <a:buFont typeface="+mj-lt"/>
              <a:buAutoNum type="arabicPeriod"/>
            </a:pPr>
            <a:r>
              <a:rPr lang="en-US" sz="1600" dirty="0">
                <a:solidFill>
                  <a:srgbClr val="7030A0"/>
                </a:solidFill>
                <a:latin typeface="Berlin Sans FB" panose="020E0602020502020306" pitchFamily="34" charset="0"/>
              </a:rPr>
              <a:t>Management may also choose to accept a risk outside of the risk appetite but within the range of the organization  risk tolerance.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Examples of risk acceptance as a result of risk tolerance include:</a:t>
            </a:r>
          </a:p>
          <a:p>
            <a:pPr marL="1257300" lvl="2" indent="-342900">
              <a:spcAft>
                <a:spcPts val="600"/>
              </a:spcAft>
              <a:buFont typeface="Wingdings" panose="05000000000000000000" pitchFamily="2" charset="2"/>
              <a:buChar char="q"/>
            </a:pPr>
            <a:r>
              <a:rPr lang="en-US" sz="1600" dirty="0">
                <a:solidFill>
                  <a:srgbClr val="002060"/>
                </a:solidFill>
                <a:latin typeface="Berlin Sans FB" panose="020E0602020502020306" pitchFamily="34" charset="0"/>
              </a:rPr>
              <a:t>Projections indicate that a certain project will</a:t>
            </a:r>
            <a:r>
              <a:rPr lang="en-US" sz="1600" dirty="0">
                <a:solidFill>
                  <a:srgbClr val="002060"/>
                </a:solidFill>
                <a:effectLst>
                  <a:outerShdw blurRad="38100" dist="38100" dir="2700000" algn="tl">
                    <a:srgbClr val="000000">
                      <a:alpha val="43137"/>
                    </a:srgbClr>
                  </a:outerShdw>
                </a:effectLst>
                <a:latin typeface="Berlin Sans FB" panose="020E0602020502020306" pitchFamily="34" charset="0"/>
              </a:rPr>
              <a:t> not </a:t>
            </a:r>
            <a:r>
              <a:rPr lang="en-US" sz="1600" dirty="0">
                <a:solidFill>
                  <a:srgbClr val="002060"/>
                </a:solidFill>
                <a:latin typeface="Berlin Sans FB" panose="020E0602020502020306" pitchFamily="34" charset="0"/>
              </a:rPr>
              <a:t>deliver the required business functionality by the planned delivery date, but management decides to proceed with the project hoping that the delivery will come soon after the planned date.</a:t>
            </a:r>
          </a:p>
          <a:p>
            <a:pPr marL="1257300" lvl="2" indent="-342900">
              <a:spcAft>
                <a:spcPts val="600"/>
              </a:spcAft>
              <a:buFont typeface="Wingdings" panose="05000000000000000000" pitchFamily="2" charset="2"/>
              <a:buChar char="q"/>
            </a:pPr>
            <a:r>
              <a:rPr lang="en-US" sz="1600" dirty="0">
                <a:solidFill>
                  <a:srgbClr val="002060"/>
                </a:solidFill>
                <a:latin typeface="Berlin Sans FB" panose="020E0602020502020306" pitchFamily="34" charset="0"/>
              </a:rPr>
              <a:t>A particular risk would have </a:t>
            </a:r>
            <a:r>
              <a:rPr lang="en-US" dirty="0">
                <a:solidFill>
                  <a:srgbClr val="7030A0"/>
                </a:solidFill>
                <a:latin typeface="Berlin Sans FB" panose="020E0602020502020306" pitchFamily="34" charset="0"/>
              </a:rPr>
              <a:t>c</a:t>
            </a: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atastrophic</a:t>
            </a:r>
            <a:r>
              <a:rPr lang="en-US" sz="1600" dirty="0">
                <a:solidFill>
                  <a:srgbClr val="002060"/>
                </a:solidFill>
                <a:latin typeface="Berlin Sans FB" panose="020E0602020502020306" pitchFamily="34" charset="0"/>
              </a:rPr>
              <a:t> consequences but is assessed to be </a:t>
            </a: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extremely rare</a:t>
            </a:r>
            <a:r>
              <a:rPr lang="en-US" sz="1600" dirty="0">
                <a:solidFill>
                  <a:srgbClr val="002060"/>
                </a:solidFill>
                <a:latin typeface="Berlin Sans FB" panose="020E0602020502020306" pitchFamily="34" charset="0"/>
              </a:rPr>
              <a:t>, and approaches to reduce it are cost prohibitive. Management may decide to accept this risk.</a:t>
            </a:r>
          </a:p>
        </p:txBody>
      </p:sp>
    </p:spTree>
    <p:extLst>
      <p:ext uri="{BB962C8B-B14F-4D97-AF65-F5344CB8AC3E}">
        <p14:creationId xmlns:p14="http://schemas.microsoft.com/office/powerpoint/2010/main" val="1501034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958C08-A471-515A-F926-68D43666F222}"/>
              </a:ext>
            </a:extLst>
          </p:cNvPr>
          <p:cNvSpPr txBox="1"/>
          <p:nvPr/>
        </p:nvSpPr>
        <p:spPr>
          <a:xfrm>
            <a:off x="1235239" y="747171"/>
            <a:ext cx="7603961" cy="4955203"/>
          </a:xfrm>
          <a:prstGeom prst="rect">
            <a:avLst/>
          </a:prstGeom>
          <a:noFill/>
        </p:spPr>
        <p:txBody>
          <a:bodyPr wrap="square">
            <a:spAutoFit/>
          </a:bodyPr>
          <a:lstStyle/>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Enterprises should also recognize that other approaches to risk management typically yield residual risk that must be acceptable to the organization.</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 A mitigated risk, for instance, is typically still non-zero and must be evaluated to ensure that it falls within the organizational risk appetite.</a:t>
            </a:r>
          </a:p>
          <a:p>
            <a:pPr marL="800100" lvl="1" indent="-342900">
              <a:spcAft>
                <a:spcPts val="1200"/>
              </a:spcAft>
              <a:buFont typeface="+mj-lt"/>
              <a:buAutoNum type="arabicPeriod"/>
            </a:pP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Additionally, risk acceptance is not a one-time process.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The level of risk and potential impact of an incident can change dramatically as assets increase or decrease in value, new threats emerge, attackers gain additional skills or motivation, vulnerabilities are discovered, the existing controls become weaker or the operations team becomes less diligent. </a:t>
            </a:r>
          </a:p>
          <a:p>
            <a:pPr marL="800100" lvl="1" indent="-342900">
              <a:spcAft>
                <a:spcPts val="12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Enterprises should conduct regular reviews of their accepted risk to ensure that these continue to be consistent with senior management's levels of risk appetite and risk tolerance.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Wherever a risk owner is unwilling to accept the current risk, a new risk response is necessary. </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This process is continued through iterations until the risk reaches an acceptable level, at which point the risk owner should formally accept the risk.</a:t>
            </a:r>
          </a:p>
        </p:txBody>
      </p:sp>
    </p:spTree>
    <p:extLst>
      <p:ext uri="{BB962C8B-B14F-4D97-AF65-F5344CB8AC3E}">
        <p14:creationId xmlns:p14="http://schemas.microsoft.com/office/powerpoint/2010/main" val="1202413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083DAB-A189-43CF-8F43-30ACA09277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 y="0"/>
            <a:ext cx="12144375" cy="6385560"/>
          </a:xfrm>
          <a:prstGeom prst="rect">
            <a:avLst/>
          </a:prstGeom>
        </p:spPr>
      </p:pic>
    </p:spTree>
    <p:extLst>
      <p:ext uri="{BB962C8B-B14F-4D97-AF65-F5344CB8AC3E}">
        <p14:creationId xmlns:p14="http://schemas.microsoft.com/office/powerpoint/2010/main" val="1436029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B5F834-5839-4B0E-9AF4-CDD0A31E4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384"/>
            <a:ext cx="12192000" cy="6300216"/>
          </a:xfrm>
          <a:prstGeom prst="rect">
            <a:avLst/>
          </a:prstGeom>
        </p:spPr>
      </p:pic>
    </p:spTree>
    <p:extLst>
      <p:ext uri="{BB962C8B-B14F-4D97-AF65-F5344CB8AC3E}">
        <p14:creationId xmlns:p14="http://schemas.microsoft.com/office/powerpoint/2010/main" val="1004247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22A2EF-7239-A9DE-36C5-CA3F28A9D3A5}"/>
              </a:ext>
            </a:extLst>
          </p:cNvPr>
          <p:cNvSpPr txBox="1"/>
          <p:nvPr/>
        </p:nvSpPr>
        <p:spPr>
          <a:xfrm>
            <a:off x="1291390" y="92456"/>
            <a:ext cx="8309811" cy="5816977"/>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Risk Mitigation</a:t>
            </a:r>
          </a:p>
          <a:p>
            <a:pPr marL="342900" indent="-342900">
              <a:buFont typeface="+mj-lt"/>
              <a:buAutoNum type="arabicPeriod"/>
            </a:pPr>
            <a:r>
              <a:rPr lang="en-US" sz="1600" dirty="0">
                <a:solidFill>
                  <a:srgbClr val="002060"/>
                </a:solidFill>
                <a:latin typeface="Berlin Sans FB" panose="020E0602020502020306" pitchFamily="34" charset="0"/>
              </a:rPr>
              <a:t>Risk mitigation refers to actions that the enterprise takes to reduce a risk. </a:t>
            </a:r>
          </a:p>
          <a:p>
            <a:pPr marL="342900" indent="-342900">
              <a:buFont typeface="+mj-lt"/>
              <a:buAutoNum type="arabicPeriod"/>
            </a:pPr>
            <a:endParaRPr lang="en-US" sz="1600" dirty="0">
              <a:solidFill>
                <a:srgbClr val="002060"/>
              </a:solidFill>
              <a:latin typeface="Berlin Sans FB" panose="020E0602020502020306" pitchFamily="34" charset="0"/>
            </a:endParaRPr>
          </a:p>
          <a:p>
            <a:r>
              <a:rPr lang="en-US" sz="2000" dirty="0">
                <a:solidFill>
                  <a:srgbClr val="7030A0"/>
                </a:solidFill>
                <a:effectLst>
                  <a:outerShdw blurRad="38100" dist="38100" dir="2700000" algn="tl">
                    <a:srgbClr val="000000">
                      <a:alpha val="43137"/>
                    </a:srgbClr>
                  </a:outerShdw>
                </a:effectLst>
                <a:latin typeface="Berlin Sans FB" panose="020E0602020502020306" pitchFamily="34" charset="0"/>
              </a:rPr>
              <a:t>Some examples of risk mitigation are</a:t>
            </a:r>
            <a:r>
              <a:rPr lang="en-US" sz="1600" dirty="0">
                <a:solidFill>
                  <a:srgbClr val="002060"/>
                </a:solidFill>
                <a:latin typeface="Berlin Sans FB" panose="020E0602020502020306" pitchFamily="34" charset="0"/>
              </a:rPr>
              <a:t>:</a:t>
            </a:r>
          </a:p>
          <a:p>
            <a:pPr marL="800100" lvl="1" indent="-342900">
              <a:buFont typeface="Wingdings" panose="05000000000000000000" pitchFamily="2" charset="2"/>
              <a:buChar char="§"/>
            </a:pPr>
            <a:r>
              <a:rPr lang="en-US" sz="1600" dirty="0">
                <a:solidFill>
                  <a:srgbClr val="002060"/>
                </a:solidFill>
                <a:latin typeface="Berlin Sans FB" panose="020E0602020502020306" pitchFamily="34" charset="0"/>
              </a:rPr>
              <a:t>maturing internal processes</a:t>
            </a:r>
          </a:p>
          <a:p>
            <a:pPr marL="800100" lvl="1" indent="-342900">
              <a:buFont typeface="Wingdings" panose="05000000000000000000" pitchFamily="2" charset="2"/>
              <a:buChar char="§"/>
            </a:pPr>
            <a:r>
              <a:rPr lang="en-US" sz="1600" dirty="0">
                <a:solidFill>
                  <a:srgbClr val="002060"/>
                </a:solidFill>
                <a:latin typeface="Berlin Sans FB" panose="020E0602020502020306" pitchFamily="34" charset="0"/>
              </a:rPr>
              <a:t>Installing a new access control system</a:t>
            </a:r>
          </a:p>
          <a:p>
            <a:pPr marL="800100" lvl="1" indent="-342900">
              <a:buFont typeface="Wingdings" panose="05000000000000000000" pitchFamily="2" charset="2"/>
              <a:buChar char="§"/>
            </a:pPr>
            <a:r>
              <a:rPr lang="en-US" sz="1600" dirty="0">
                <a:solidFill>
                  <a:srgbClr val="002060"/>
                </a:solidFill>
                <a:latin typeface="Berlin Sans FB" panose="020E0602020502020306" pitchFamily="34" charset="0"/>
              </a:rPr>
              <a:t>Improving organizational policies or operational procedures</a:t>
            </a:r>
          </a:p>
          <a:p>
            <a:pPr marL="800100" lvl="1" indent="-342900">
              <a:buFont typeface="Wingdings" panose="05000000000000000000" pitchFamily="2" charset="2"/>
              <a:buChar char="§"/>
            </a:pPr>
            <a:r>
              <a:rPr lang="en-US" sz="1600" dirty="0">
                <a:solidFill>
                  <a:srgbClr val="002060"/>
                </a:solidFill>
                <a:latin typeface="Berlin Sans FB" panose="020E0602020502020306" pitchFamily="34" charset="0"/>
              </a:rPr>
              <a:t>Developing effective plans for incident response, disaster recovery or business continuity</a:t>
            </a:r>
          </a:p>
          <a:p>
            <a:pPr marL="800100" lvl="1" indent="-342900">
              <a:buFont typeface="Wingdings" panose="05000000000000000000" pitchFamily="2" charset="2"/>
              <a:buChar char="§"/>
            </a:pPr>
            <a:r>
              <a:rPr lang="en-US" sz="1600" dirty="0">
                <a:solidFill>
                  <a:srgbClr val="002060"/>
                </a:solidFill>
                <a:latin typeface="Berlin Sans FB" panose="020E0602020502020306" pitchFamily="34" charset="0"/>
              </a:rPr>
              <a:t>Using compensating controls to address areas of persistent weakness in production systems</a:t>
            </a:r>
          </a:p>
          <a:p>
            <a:pPr marL="800100" lvl="1" indent="-342900">
              <a:buFont typeface="Wingdings" panose="05000000000000000000" pitchFamily="2" charset="2"/>
              <a:buChar char="§"/>
            </a:pPr>
            <a:endParaRPr lang="en-US" sz="1600" dirty="0">
              <a:solidFill>
                <a:srgbClr val="002060"/>
              </a:solidFill>
              <a:latin typeface="Berlin Sans FB" panose="020E0602020502020306" pitchFamily="34" charset="0"/>
            </a:endParaRPr>
          </a:p>
          <a:p>
            <a:pPr marL="342900" indent="-342900">
              <a:spcAft>
                <a:spcPts val="600"/>
              </a:spcAft>
              <a:buFont typeface="+mj-lt"/>
              <a:buAutoNum type="arabicPeriod"/>
            </a:pPr>
            <a:r>
              <a:rPr lang="en-US" sz="1600" dirty="0">
                <a:solidFill>
                  <a:srgbClr val="002060"/>
                </a:solidFill>
                <a:latin typeface="Berlin Sans FB" panose="020E0602020502020306" pitchFamily="34" charset="0"/>
              </a:rPr>
              <a:t>Mitigation is typically achieved through the implementation of controls, which affect the frequency and/or impact of the risk. </a:t>
            </a:r>
          </a:p>
          <a:p>
            <a:pPr marL="342900" indent="-342900">
              <a:spcAft>
                <a:spcPts val="600"/>
              </a:spcAft>
              <a:buFont typeface="+mj-lt"/>
              <a:buAutoNum type="arabicPeriod"/>
            </a:pPr>
            <a:r>
              <a:rPr lang="en-US" sz="1600" dirty="0">
                <a:solidFill>
                  <a:srgbClr val="002060"/>
                </a:solidFill>
                <a:latin typeface="Berlin Sans FB" panose="020E0602020502020306" pitchFamily="34" charset="0"/>
              </a:rPr>
              <a:t>multiple controls may be needed to reduce risk to an acceptable level. Risk practitioners should also take care to account for the cost of controls relative to their effects on risk.</a:t>
            </a:r>
          </a:p>
          <a:p>
            <a:pPr marL="342900" indent="-342900">
              <a:spcAft>
                <a:spcPts val="600"/>
              </a:spcAft>
              <a:buFont typeface="+mj-lt"/>
              <a:buAutoNum type="arabicPeriod"/>
            </a:pPr>
            <a:r>
              <a:rPr lang="en-US" sz="1600" dirty="0">
                <a:solidFill>
                  <a:srgbClr val="7030A0"/>
                </a:solidFill>
                <a:latin typeface="Berlin Sans FB" panose="020E0602020502020306" pitchFamily="34" charset="0"/>
              </a:rPr>
              <a:t> </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Controls whose implementation cost exceeds the risk that they are meant to mitigate are cost-ineffective and should not be deployed without further justification.</a:t>
            </a:r>
          </a:p>
          <a:p>
            <a:pPr marL="342900"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Keep in mind also that the goal of mitigation is to reduce risk to an acceptable level, not to eliminate risk entirely. </a:t>
            </a:r>
          </a:p>
          <a:p>
            <a:pPr marL="342900" indent="-342900">
              <a:spcAft>
                <a:spcPts val="600"/>
              </a:spcAft>
              <a:buFont typeface="+mj-lt"/>
              <a:buAutoNum type="arabicPeriod"/>
            </a:pPr>
            <a:r>
              <a:rPr lang="en-US" sz="1600" dirty="0">
                <a:solidFill>
                  <a:srgbClr val="002060"/>
                </a:solidFill>
                <a:latin typeface="Berlin Sans FB" panose="020E0602020502020306" pitchFamily="34" charset="0"/>
              </a:rPr>
              <a:t>Once mitigation is complete, acceptance of residual risk should be documented and subject to periodic reevaluation in the same manner as the acceptance of inherent risk.</a:t>
            </a:r>
          </a:p>
        </p:txBody>
      </p:sp>
    </p:spTree>
    <p:extLst>
      <p:ext uri="{BB962C8B-B14F-4D97-AF65-F5344CB8AC3E}">
        <p14:creationId xmlns:p14="http://schemas.microsoft.com/office/powerpoint/2010/main" val="1296578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5EC7C0-2625-4BF0-B49D-F0853B2D8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24600"/>
          </a:xfrm>
          <a:prstGeom prst="rect">
            <a:avLst/>
          </a:prstGeom>
        </p:spPr>
      </p:pic>
    </p:spTree>
    <p:extLst>
      <p:ext uri="{BB962C8B-B14F-4D97-AF65-F5344CB8AC3E}">
        <p14:creationId xmlns:p14="http://schemas.microsoft.com/office/powerpoint/2010/main" val="2367903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45" dirty="0">
                <a:solidFill>
                  <a:srgbClr val="074891"/>
                </a:solidFill>
                <a:uFill>
                  <a:solidFill>
                    <a:srgbClr val="000000"/>
                  </a:solidFill>
                </a:uFill>
                <a:latin typeface="Calibri Light"/>
                <a:cs typeface="Calibri Light"/>
              </a:rPr>
              <a:t>Examples</a:t>
            </a:r>
            <a:r>
              <a:rPr sz="4400" u="heavy" spc="-100" dirty="0">
                <a:solidFill>
                  <a:srgbClr val="074891"/>
                </a:solidFill>
                <a:uFill>
                  <a:solidFill>
                    <a:srgbClr val="000000"/>
                  </a:solidFill>
                </a:uFill>
                <a:latin typeface="Calibri Light"/>
                <a:cs typeface="Calibri Light"/>
              </a:rPr>
              <a:t> </a:t>
            </a:r>
            <a:r>
              <a:rPr sz="4400" u="heavy" spc="-15" dirty="0">
                <a:solidFill>
                  <a:srgbClr val="074891"/>
                </a:solidFill>
                <a:uFill>
                  <a:solidFill>
                    <a:srgbClr val="000000"/>
                  </a:solidFill>
                </a:uFill>
                <a:latin typeface="Calibri Light"/>
                <a:cs typeface="Calibri Light"/>
              </a:rPr>
              <a:t>of</a:t>
            </a:r>
            <a:r>
              <a:rPr sz="4400" u="heavy" spc="-80" dirty="0">
                <a:solidFill>
                  <a:srgbClr val="074891"/>
                </a:solidFill>
                <a:uFill>
                  <a:solidFill>
                    <a:srgbClr val="000000"/>
                  </a:solidFill>
                </a:uFill>
                <a:latin typeface="Calibri Light"/>
                <a:cs typeface="Calibri Light"/>
              </a:rPr>
              <a:t> </a:t>
            </a:r>
            <a:r>
              <a:rPr sz="4400" u="heavy" spc="-45" dirty="0">
                <a:solidFill>
                  <a:srgbClr val="074891"/>
                </a:solidFill>
                <a:uFill>
                  <a:solidFill>
                    <a:srgbClr val="000000"/>
                  </a:solidFill>
                </a:uFill>
                <a:latin typeface="Calibri Light"/>
                <a:cs typeface="Calibri Light"/>
              </a:rPr>
              <a:t>Controls	</a:t>
            </a:r>
            <a:endParaRPr sz="4400">
              <a:latin typeface="Calibri Light"/>
              <a:cs typeface="Calibri Light"/>
            </a:endParaRPr>
          </a:p>
        </p:txBody>
      </p:sp>
      <p:sp>
        <p:nvSpPr>
          <p:cNvPr id="3" name="object 3"/>
          <p:cNvSpPr txBox="1">
            <a:spLocks noGrp="1"/>
          </p:cNvSpPr>
          <p:nvPr>
            <p:ph sz="half" idx="2"/>
          </p:nvPr>
        </p:nvSpPr>
        <p:spPr>
          <a:prstGeom prst="rect">
            <a:avLst/>
          </a:prstGeom>
        </p:spPr>
        <p:txBody>
          <a:bodyPr vert="horz" wrap="square" lIns="0" tIns="84455" rIns="0" bIns="0" rtlCol="0">
            <a:spAutoFit/>
          </a:bodyPr>
          <a:lstStyle/>
          <a:p>
            <a:pPr marL="12700">
              <a:lnSpc>
                <a:spcPct val="100000"/>
              </a:lnSpc>
              <a:spcBef>
                <a:spcPts val="665"/>
              </a:spcBef>
            </a:pPr>
            <a:r>
              <a:rPr spc="-5" dirty="0"/>
              <a:t>Managerial</a:t>
            </a:r>
          </a:p>
          <a:p>
            <a:pPr marL="241300" marR="51435" indent="-228600">
              <a:lnSpc>
                <a:spcPct val="80000"/>
              </a:lnSpc>
              <a:spcBef>
                <a:spcPts val="994"/>
              </a:spcBef>
              <a:buChar char="•"/>
              <a:tabLst>
                <a:tab pos="240665" algn="l"/>
                <a:tab pos="241300" algn="l"/>
              </a:tabLst>
            </a:pPr>
            <a:r>
              <a:rPr b="0" spc="-5" dirty="0">
                <a:latin typeface="Arial MT"/>
                <a:cs typeface="Arial MT"/>
              </a:rPr>
              <a:t>Requiring</a:t>
            </a:r>
            <a:r>
              <a:rPr b="0" spc="10" dirty="0">
                <a:latin typeface="Arial MT"/>
                <a:cs typeface="Arial MT"/>
              </a:rPr>
              <a:t> </a:t>
            </a:r>
            <a:r>
              <a:rPr b="0" spc="-5" dirty="0">
                <a:latin typeface="Arial MT"/>
                <a:cs typeface="Arial MT"/>
              </a:rPr>
              <a:t>an</a:t>
            </a:r>
            <a:r>
              <a:rPr b="0" spc="5" dirty="0">
                <a:latin typeface="Arial MT"/>
                <a:cs typeface="Arial MT"/>
              </a:rPr>
              <a:t> </a:t>
            </a:r>
            <a:r>
              <a:rPr b="0" spc="-5" dirty="0">
                <a:latin typeface="Arial MT"/>
                <a:cs typeface="Arial MT"/>
              </a:rPr>
              <a:t>acceptable</a:t>
            </a:r>
            <a:r>
              <a:rPr b="0" spc="5" dirty="0">
                <a:latin typeface="Arial MT"/>
                <a:cs typeface="Arial MT"/>
              </a:rPr>
              <a:t> </a:t>
            </a:r>
            <a:r>
              <a:rPr b="0" spc="-5" dirty="0">
                <a:latin typeface="Arial MT"/>
                <a:cs typeface="Arial MT"/>
              </a:rPr>
              <a:t>use</a:t>
            </a:r>
            <a:r>
              <a:rPr b="0" dirty="0">
                <a:latin typeface="Arial MT"/>
                <a:cs typeface="Arial MT"/>
              </a:rPr>
              <a:t> </a:t>
            </a:r>
            <a:r>
              <a:rPr b="0" spc="-5" dirty="0">
                <a:latin typeface="Arial MT"/>
                <a:cs typeface="Arial MT"/>
              </a:rPr>
              <a:t>policy</a:t>
            </a:r>
            <a:r>
              <a:rPr b="0" spc="10" dirty="0">
                <a:latin typeface="Arial MT"/>
                <a:cs typeface="Arial MT"/>
              </a:rPr>
              <a:t> </a:t>
            </a:r>
            <a:r>
              <a:rPr b="0" dirty="0">
                <a:latin typeface="Arial MT"/>
                <a:cs typeface="Arial MT"/>
              </a:rPr>
              <a:t>to</a:t>
            </a:r>
            <a:r>
              <a:rPr b="0" spc="-10" dirty="0">
                <a:latin typeface="Arial MT"/>
                <a:cs typeface="Arial MT"/>
              </a:rPr>
              <a:t> </a:t>
            </a:r>
            <a:r>
              <a:rPr b="0" spc="-5" dirty="0">
                <a:latin typeface="Arial MT"/>
                <a:cs typeface="Arial MT"/>
              </a:rPr>
              <a:t>dictate</a:t>
            </a:r>
            <a:r>
              <a:rPr b="0" spc="5" dirty="0">
                <a:latin typeface="Arial MT"/>
                <a:cs typeface="Arial MT"/>
              </a:rPr>
              <a:t> </a:t>
            </a:r>
            <a:r>
              <a:rPr b="0" dirty="0">
                <a:latin typeface="Arial MT"/>
                <a:cs typeface="Arial MT"/>
              </a:rPr>
              <a:t>IT </a:t>
            </a:r>
            <a:r>
              <a:rPr b="0" spc="-484" dirty="0">
                <a:latin typeface="Arial MT"/>
                <a:cs typeface="Arial MT"/>
              </a:rPr>
              <a:t> </a:t>
            </a:r>
            <a:r>
              <a:rPr b="0" spc="-5" dirty="0">
                <a:latin typeface="Arial MT"/>
                <a:cs typeface="Arial MT"/>
              </a:rPr>
              <a:t>usage</a:t>
            </a:r>
            <a:r>
              <a:rPr b="0" dirty="0">
                <a:latin typeface="Arial MT"/>
                <a:cs typeface="Arial MT"/>
              </a:rPr>
              <a:t> </a:t>
            </a:r>
            <a:r>
              <a:rPr b="0" spc="-10" dirty="0">
                <a:latin typeface="Arial MT"/>
                <a:cs typeface="Arial MT"/>
              </a:rPr>
              <a:t>within</a:t>
            </a:r>
            <a:r>
              <a:rPr b="0" spc="45" dirty="0">
                <a:latin typeface="Arial MT"/>
                <a:cs typeface="Arial MT"/>
              </a:rPr>
              <a:t> </a:t>
            </a:r>
            <a:r>
              <a:rPr b="0" dirty="0">
                <a:latin typeface="Arial MT"/>
                <a:cs typeface="Arial MT"/>
              </a:rPr>
              <a:t>the</a:t>
            </a:r>
            <a:r>
              <a:rPr b="0" spc="-10" dirty="0">
                <a:latin typeface="Arial MT"/>
                <a:cs typeface="Arial MT"/>
              </a:rPr>
              <a:t> </a:t>
            </a:r>
            <a:r>
              <a:rPr b="0" spc="-5" dirty="0">
                <a:latin typeface="Arial MT"/>
                <a:cs typeface="Arial MT"/>
              </a:rPr>
              <a:t>organization</a:t>
            </a:r>
          </a:p>
          <a:p>
            <a:pPr marL="241300" marR="59055" indent="-228600">
              <a:lnSpc>
                <a:spcPct val="80000"/>
              </a:lnSpc>
              <a:spcBef>
                <a:spcPts val="1010"/>
              </a:spcBef>
              <a:buChar char="•"/>
              <a:tabLst>
                <a:tab pos="240665" algn="l"/>
                <a:tab pos="241300" algn="l"/>
              </a:tabLst>
            </a:pPr>
            <a:r>
              <a:rPr b="0" spc="-5" dirty="0">
                <a:latin typeface="Arial MT"/>
                <a:cs typeface="Arial MT"/>
              </a:rPr>
              <a:t>Starting a</a:t>
            </a:r>
            <a:r>
              <a:rPr b="0" spc="-10" dirty="0">
                <a:latin typeface="Arial MT"/>
                <a:cs typeface="Arial MT"/>
              </a:rPr>
              <a:t> </a:t>
            </a:r>
            <a:r>
              <a:rPr b="0" spc="-5" dirty="0">
                <a:latin typeface="Arial MT"/>
                <a:cs typeface="Arial MT"/>
              </a:rPr>
              <a:t>risk</a:t>
            </a:r>
            <a:r>
              <a:rPr b="0" dirty="0">
                <a:latin typeface="Arial MT"/>
                <a:cs typeface="Arial MT"/>
              </a:rPr>
              <a:t> </a:t>
            </a:r>
            <a:r>
              <a:rPr b="0" spc="-5" dirty="0">
                <a:latin typeface="Arial MT"/>
                <a:cs typeface="Arial MT"/>
              </a:rPr>
              <a:t>management</a:t>
            </a:r>
            <a:r>
              <a:rPr b="0" spc="20" dirty="0">
                <a:latin typeface="Arial MT"/>
                <a:cs typeface="Arial MT"/>
              </a:rPr>
              <a:t> </a:t>
            </a:r>
            <a:r>
              <a:rPr b="0" spc="-5" dirty="0">
                <a:latin typeface="Arial MT"/>
                <a:cs typeface="Arial MT"/>
              </a:rPr>
              <a:t>program</a:t>
            </a:r>
            <a:r>
              <a:rPr b="0" spc="10" dirty="0">
                <a:latin typeface="Arial MT"/>
                <a:cs typeface="Arial MT"/>
              </a:rPr>
              <a:t> </a:t>
            </a:r>
            <a:r>
              <a:rPr b="0" dirty="0">
                <a:latin typeface="Arial MT"/>
                <a:cs typeface="Arial MT"/>
              </a:rPr>
              <a:t>to </a:t>
            </a:r>
            <a:r>
              <a:rPr b="0" spc="-20" dirty="0">
                <a:latin typeface="Arial MT"/>
                <a:cs typeface="Arial MT"/>
              </a:rPr>
              <a:t>identify, </a:t>
            </a:r>
            <a:r>
              <a:rPr b="0" spc="-484" dirty="0">
                <a:latin typeface="Arial MT"/>
                <a:cs typeface="Arial MT"/>
              </a:rPr>
              <a:t> </a:t>
            </a:r>
            <a:r>
              <a:rPr b="0" spc="-30" dirty="0">
                <a:latin typeface="Arial MT"/>
                <a:cs typeface="Arial MT"/>
              </a:rPr>
              <a:t>lower,</a:t>
            </a:r>
            <a:r>
              <a:rPr b="0" spc="35" dirty="0">
                <a:latin typeface="Arial MT"/>
                <a:cs typeface="Arial MT"/>
              </a:rPr>
              <a:t> </a:t>
            </a:r>
            <a:r>
              <a:rPr b="0" spc="-5" dirty="0">
                <a:latin typeface="Arial MT"/>
                <a:cs typeface="Arial MT"/>
              </a:rPr>
              <a:t>and</a:t>
            </a:r>
            <a:r>
              <a:rPr b="0" spc="5" dirty="0">
                <a:latin typeface="Arial MT"/>
                <a:cs typeface="Arial MT"/>
              </a:rPr>
              <a:t> </a:t>
            </a:r>
            <a:r>
              <a:rPr b="0" spc="-5" dirty="0">
                <a:latin typeface="Arial MT"/>
                <a:cs typeface="Arial MT"/>
              </a:rPr>
              <a:t>monitor</a:t>
            </a:r>
            <a:r>
              <a:rPr b="0" spc="5" dirty="0">
                <a:latin typeface="Arial MT"/>
                <a:cs typeface="Arial MT"/>
              </a:rPr>
              <a:t> </a:t>
            </a:r>
            <a:r>
              <a:rPr b="0" spc="-5" dirty="0">
                <a:latin typeface="Arial MT"/>
                <a:cs typeface="Arial MT"/>
              </a:rPr>
              <a:t>unacceptable</a:t>
            </a:r>
            <a:r>
              <a:rPr b="0" spc="20" dirty="0">
                <a:latin typeface="Arial MT"/>
                <a:cs typeface="Arial MT"/>
              </a:rPr>
              <a:t> </a:t>
            </a:r>
            <a:r>
              <a:rPr b="0" spc="-5" dirty="0">
                <a:latin typeface="Arial MT"/>
                <a:cs typeface="Arial MT"/>
              </a:rPr>
              <a:t>risk</a:t>
            </a:r>
            <a:r>
              <a:rPr b="0" dirty="0">
                <a:latin typeface="Arial MT"/>
                <a:cs typeface="Arial MT"/>
              </a:rPr>
              <a:t> </a:t>
            </a:r>
            <a:r>
              <a:rPr b="0" spc="-5" dirty="0">
                <a:latin typeface="Arial MT"/>
                <a:cs typeface="Arial MT"/>
              </a:rPr>
              <a:t>levels </a:t>
            </a:r>
            <a:r>
              <a:rPr b="0" dirty="0">
                <a:latin typeface="Arial MT"/>
                <a:cs typeface="Arial MT"/>
              </a:rPr>
              <a:t> </a:t>
            </a:r>
            <a:r>
              <a:rPr b="0" spc="-10" dirty="0">
                <a:latin typeface="Arial MT"/>
                <a:cs typeface="Arial MT"/>
              </a:rPr>
              <a:t>within</a:t>
            </a:r>
            <a:r>
              <a:rPr b="0" spc="40" dirty="0">
                <a:latin typeface="Arial MT"/>
                <a:cs typeface="Arial MT"/>
              </a:rPr>
              <a:t> </a:t>
            </a:r>
            <a:r>
              <a:rPr b="0" dirty="0">
                <a:latin typeface="Arial MT"/>
                <a:cs typeface="Arial MT"/>
              </a:rPr>
              <a:t>the</a:t>
            </a:r>
            <a:r>
              <a:rPr b="0" spc="-10" dirty="0">
                <a:latin typeface="Arial MT"/>
                <a:cs typeface="Arial MT"/>
              </a:rPr>
              <a:t> </a:t>
            </a:r>
            <a:r>
              <a:rPr b="0" spc="-5" dirty="0">
                <a:latin typeface="Arial MT"/>
                <a:cs typeface="Arial MT"/>
              </a:rPr>
              <a:t>organization</a:t>
            </a:r>
          </a:p>
          <a:p>
            <a:pPr marL="12700">
              <a:lnSpc>
                <a:spcPct val="100000"/>
              </a:lnSpc>
              <a:spcBef>
                <a:spcPts val="565"/>
              </a:spcBef>
            </a:pPr>
            <a:r>
              <a:rPr spc="-20" dirty="0"/>
              <a:t>Technical</a:t>
            </a:r>
          </a:p>
          <a:p>
            <a:pPr marL="241300" marR="534670" indent="-228600">
              <a:lnSpc>
                <a:spcPts val="1730"/>
              </a:lnSpc>
              <a:spcBef>
                <a:spcPts val="980"/>
              </a:spcBef>
              <a:buChar char="•"/>
              <a:tabLst>
                <a:tab pos="240665" algn="l"/>
                <a:tab pos="241300" algn="l"/>
              </a:tabLst>
            </a:pPr>
            <a:r>
              <a:rPr b="0" spc="-5" dirty="0">
                <a:latin typeface="Arial MT"/>
                <a:cs typeface="Arial MT"/>
              </a:rPr>
              <a:t>Implementing</a:t>
            </a:r>
            <a:r>
              <a:rPr b="0" spc="15" dirty="0">
                <a:latin typeface="Arial MT"/>
                <a:cs typeface="Arial MT"/>
              </a:rPr>
              <a:t> </a:t>
            </a:r>
            <a:r>
              <a:rPr b="0" spc="-5" dirty="0">
                <a:latin typeface="Arial MT"/>
                <a:cs typeface="Arial MT"/>
              </a:rPr>
              <a:t>additional</a:t>
            </a:r>
            <a:r>
              <a:rPr b="0" spc="20" dirty="0">
                <a:latin typeface="Arial MT"/>
                <a:cs typeface="Arial MT"/>
              </a:rPr>
              <a:t> </a:t>
            </a:r>
            <a:r>
              <a:rPr b="0" spc="-10" dirty="0">
                <a:latin typeface="Arial MT"/>
                <a:cs typeface="Arial MT"/>
              </a:rPr>
              <a:t>firewalls</a:t>
            </a:r>
            <a:r>
              <a:rPr b="0" spc="50" dirty="0">
                <a:latin typeface="Arial MT"/>
                <a:cs typeface="Arial MT"/>
              </a:rPr>
              <a:t> </a:t>
            </a:r>
            <a:r>
              <a:rPr b="0" dirty="0">
                <a:latin typeface="Arial MT"/>
                <a:cs typeface="Arial MT"/>
              </a:rPr>
              <a:t>to </a:t>
            </a:r>
            <a:r>
              <a:rPr b="0" spc="-5" dirty="0">
                <a:latin typeface="Arial MT"/>
                <a:cs typeface="Arial MT"/>
              </a:rPr>
              <a:t>protect </a:t>
            </a:r>
            <a:r>
              <a:rPr b="0" spc="-484" dirty="0">
                <a:latin typeface="Arial MT"/>
                <a:cs typeface="Arial MT"/>
              </a:rPr>
              <a:t> </a:t>
            </a:r>
            <a:r>
              <a:rPr b="0" spc="-5" dirty="0">
                <a:latin typeface="Arial MT"/>
                <a:cs typeface="Arial MT"/>
              </a:rPr>
              <a:t>internal</a:t>
            </a:r>
            <a:r>
              <a:rPr b="0" spc="5" dirty="0">
                <a:latin typeface="Arial MT"/>
                <a:cs typeface="Arial MT"/>
              </a:rPr>
              <a:t> </a:t>
            </a:r>
            <a:r>
              <a:rPr b="0" spc="-5" dirty="0">
                <a:latin typeface="Arial MT"/>
                <a:cs typeface="Arial MT"/>
              </a:rPr>
              <a:t>(non-public</a:t>
            </a:r>
            <a:r>
              <a:rPr b="0" spc="30" dirty="0">
                <a:latin typeface="Arial MT"/>
                <a:cs typeface="Arial MT"/>
              </a:rPr>
              <a:t> </a:t>
            </a:r>
            <a:r>
              <a:rPr b="0" spc="-5" dirty="0">
                <a:latin typeface="Arial MT"/>
                <a:cs typeface="Arial MT"/>
              </a:rPr>
              <a:t>facing) systems</a:t>
            </a:r>
          </a:p>
          <a:p>
            <a:pPr marL="241300" marR="15875" indent="-228600">
              <a:lnSpc>
                <a:spcPct val="80000"/>
              </a:lnSpc>
              <a:spcBef>
                <a:spcPts val="1019"/>
              </a:spcBef>
              <a:buChar char="•"/>
              <a:tabLst>
                <a:tab pos="240665" algn="l"/>
                <a:tab pos="241300" algn="l"/>
              </a:tabLst>
            </a:pPr>
            <a:r>
              <a:rPr b="0" spc="-5" dirty="0">
                <a:latin typeface="Arial MT"/>
                <a:cs typeface="Arial MT"/>
              </a:rPr>
              <a:t>Adding</a:t>
            </a:r>
            <a:r>
              <a:rPr b="0" dirty="0">
                <a:latin typeface="Arial MT"/>
                <a:cs typeface="Arial MT"/>
              </a:rPr>
              <a:t> </a:t>
            </a:r>
            <a:r>
              <a:rPr b="0" spc="-5" dirty="0">
                <a:latin typeface="Arial MT"/>
                <a:cs typeface="Arial MT"/>
              </a:rPr>
              <a:t>802.1X</a:t>
            </a:r>
            <a:r>
              <a:rPr b="0" spc="10" dirty="0">
                <a:latin typeface="Arial MT"/>
                <a:cs typeface="Arial MT"/>
              </a:rPr>
              <a:t> </a:t>
            </a:r>
            <a:r>
              <a:rPr b="0" spc="-5" dirty="0">
                <a:latin typeface="Arial MT"/>
                <a:cs typeface="Arial MT"/>
              </a:rPr>
              <a:t>port-based</a:t>
            </a:r>
            <a:r>
              <a:rPr b="0" spc="5" dirty="0">
                <a:latin typeface="Arial MT"/>
                <a:cs typeface="Arial MT"/>
              </a:rPr>
              <a:t> </a:t>
            </a:r>
            <a:r>
              <a:rPr b="0" spc="-10" dirty="0">
                <a:latin typeface="Arial MT"/>
                <a:cs typeface="Arial MT"/>
              </a:rPr>
              <a:t>network</a:t>
            </a:r>
            <a:r>
              <a:rPr b="0" spc="45" dirty="0">
                <a:latin typeface="Arial MT"/>
                <a:cs typeface="Arial MT"/>
              </a:rPr>
              <a:t> </a:t>
            </a:r>
            <a:r>
              <a:rPr b="0" spc="-5" dirty="0">
                <a:latin typeface="Arial MT"/>
                <a:cs typeface="Arial MT"/>
              </a:rPr>
              <a:t>access </a:t>
            </a:r>
            <a:r>
              <a:rPr b="0" dirty="0">
                <a:latin typeface="Arial MT"/>
                <a:cs typeface="Arial MT"/>
              </a:rPr>
              <a:t> </a:t>
            </a:r>
            <a:r>
              <a:rPr b="0" spc="-5" dirty="0">
                <a:latin typeface="Arial MT"/>
                <a:cs typeface="Arial MT"/>
              </a:rPr>
              <a:t>control</a:t>
            </a:r>
            <a:r>
              <a:rPr b="0" dirty="0">
                <a:latin typeface="Arial MT"/>
                <a:cs typeface="Arial MT"/>
              </a:rPr>
              <a:t> to</a:t>
            </a:r>
            <a:r>
              <a:rPr b="0" spc="-15" dirty="0">
                <a:latin typeface="Arial MT"/>
                <a:cs typeface="Arial MT"/>
              </a:rPr>
              <a:t> </a:t>
            </a:r>
            <a:r>
              <a:rPr b="0" spc="-5" dirty="0">
                <a:latin typeface="Arial MT"/>
                <a:cs typeface="Arial MT"/>
              </a:rPr>
              <a:t>deter</a:t>
            </a:r>
            <a:r>
              <a:rPr b="0" spc="10" dirty="0">
                <a:latin typeface="Arial MT"/>
                <a:cs typeface="Arial MT"/>
              </a:rPr>
              <a:t> </a:t>
            </a:r>
            <a:r>
              <a:rPr b="0" spc="-5" dirty="0">
                <a:latin typeface="Arial MT"/>
                <a:cs typeface="Arial MT"/>
              </a:rPr>
              <a:t>unapproved</a:t>
            </a:r>
            <a:r>
              <a:rPr b="0" spc="10" dirty="0">
                <a:latin typeface="Arial MT"/>
                <a:cs typeface="Arial MT"/>
              </a:rPr>
              <a:t> </a:t>
            </a:r>
            <a:r>
              <a:rPr b="0" spc="-5" dirty="0">
                <a:latin typeface="Arial MT"/>
                <a:cs typeface="Arial MT"/>
              </a:rPr>
              <a:t>assets</a:t>
            </a:r>
            <a:r>
              <a:rPr b="0" spc="5" dirty="0">
                <a:latin typeface="Arial MT"/>
                <a:cs typeface="Arial MT"/>
              </a:rPr>
              <a:t> </a:t>
            </a:r>
            <a:r>
              <a:rPr b="0" spc="-5" dirty="0">
                <a:latin typeface="Arial MT"/>
                <a:cs typeface="Arial MT"/>
              </a:rPr>
              <a:t>being</a:t>
            </a:r>
            <a:r>
              <a:rPr b="0" dirty="0">
                <a:latin typeface="Arial MT"/>
                <a:cs typeface="Arial MT"/>
              </a:rPr>
              <a:t> </a:t>
            </a:r>
            <a:r>
              <a:rPr b="0" spc="-5" dirty="0">
                <a:latin typeface="Arial MT"/>
                <a:cs typeface="Arial MT"/>
              </a:rPr>
              <a:t>added </a:t>
            </a:r>
            <a:r>
              <a:rPr b="0" spc="-484" dirty="0">
                <a:latin typeface="Arial MT"/>
                <a:cs typeface="Arial MT"/>
              </a:rPr>
              <a:t> </a:t>
            </a:r>
            <a:r>
              <a:rPr b="0" dirty="0">
                <a:latin typeface="Arial MT"/>
                <a:cs typeface="Arial MT"/>
              </a:rPr>
              <a:t>to</a:t>
            </a:r>
            <a:r>
              <a:rPr b="0" spc="-5" dirty="0">
                <a:latin typeface="Arial MT"/>
                <a:cs typeface="Arial MT"/>
              </a:rPr>
              <a:t> the</a:t>
            </a:r>
            <a:r>
              <a:rPr b="0" spc="-10" dirty="0">
                <a:latin typeface="Arial MT"/>
                <a:cs typeface="Arial MT"/>
              </a:rPr>
              <a:t> network</a:t>
            </a:r>
          </a:p>
          <a:p>
            <a:pPr marL="241300" marR="5080" indent="-228600">
              <a:lnSpc>
                <a:spcPct val="79500"/>
              </a:lnSpc>
              <a:spcBef>
                <a:spcPts val="1005"/>
              </a:spcBef>
              <a:buChar char="•"/>
              <a:tabLst>
                <a:tab pos="240665" algn="l"/>
                <a:tab pos="241300" algn="l"/>
              </a:tabLst>
            </a:pPr>
            <a:r>
              <a:rPr b="0" spc="-5" dirty="0">
                <a:latin typeface="Arial MT"/>
                <a:cs typeface="Arial MT"/>
              </a:rPr>
              <a:t>Installing</a:t>
            </a:r>
            <a:r>
              <a:rPr b="0" spc="5" dirty="0">
                <a:latin typeface="Arial MT"/>
                <a:cs typeface="Arial MT"/>
              </a:rPr>
              <a:t> </a:t>
            </a:r>
            <a:r>
              <a:rPr b="0" spc="-5" dirty="0">
                <a:latin typeface="Arial MT"/>
                <a:cs typeface="Arial MT"/>
              </a:rPr>
              <a:t>an</a:t>
            </a:r>
            <a:r>
              <a:rPr b="0" spc="10" dirty="0">
                <a:latin typeface="Arial MT"/>
                <a:cs typeface="Arial MT"/>
              </a:rPr>
              <a:t> </a:t>
            </a:r>
            <a:r>
              <a:rPr b="0" spc="-5" dirty="0">
                <a:latin typeface="Arial MT"/>
                <a:cs typeface="Arial MT"/>
              </a:rPr>
              <a:t>intrusion</a:t>
            </a:r>
            <a:r>
              <a:rPr b="0" spc="10" dirty="0">
                <a:latin typeface="Arial MT"/>
                <a:cs typeface="Arial MT"/>
              </a:rPr>
              <a:t> </a:t>
            </a:r>
            <a:r>
              <a:rPr b="0" spc="-5" dirty="0">
                <a:latin typeface="Arial MT"/>
                <a:cs typeface="Arial MT"/>
              </a:rPr>
              <a:t>detection</a:t>
            </a:r>
            <a:r>
              <a:rPr b="0" spc="10" dirty="0">
                <a:latin typeface="Arial MT"/>
                <a:cs typeface="Arial MT"/>
              </a:rPr>
              <a:t> </a:t>
            </a:r>
            <a:r>
              <a:rPr b="0" spc="-5" dirty="0">
                <a:latin typeface="Arial MT"/>
                <a:cs typeface="Arial MT"/>
              </a:rPr>
              <a:t>system/intrusion </a:t>
            </a:r>
            <a:r>
              <a:rPr b="0" spc="-484" dirty="0">
                <a:latin typeface="Arial MT"/>
                <a:cs typeface="Arial MT"/>
              </a:rPr>
              <a:t> </a:t>
            </a:r>
            <a:r>
              <a:rPr b="0" spc="-5" dirty="0">
                <a:latin typeface="Arial MT"/>
                <a:cs typeface="Arial MT"/>
              </a:rPr>
              <a:t>prevention</a:t>
            </a:r>
            <a:r>
              <a:rPr b="0" spc="15" dirty="0">
                <a:latin typeface="Arial MT"/>
                <a:cs typeface="Arial MT"/>
              </a:rPr>
              <a:t> </a:t>
            </a:r>
            <a:r>
              <a:rPr b="0" spc="-5" dirty="0">
                <a:latin typeface="Arial MT"/>
                <a:cs typeface="Arial MT"/>
              </a:rPr>
              <a:t>system</a:t>
            </a:r>
            <a:r>
              <a:rPr b="0" dirty="0">
                <a:latin typeface="Arial MT"/>
                <a:cs typeface="Arial MT"/>
              </a:rPr>
              <a:t> (IDS/IPS)</a:t>
            </a:r>
            <a:r>
              <a:rPr b="0" spc="-20" dirty="0">
                <a:latin typeface="Arial MT"/>
                <a:cs typeface="Arial MT"/>
              </a:rPr>
              <a:t> </a:t>
            </a:r>
            <a:r>
              <a:rPr b="0" dirty="0">
                <a:latin typeface="Arial MT"/>
                <a:cs typeface="Arial MT"/>
              </a:rPr>
              <a:t>to</a:t>
            </a:r>
            <a:r>
              <a:rPr b="0" spc="-5" dirty="0">
                <a:latin typeface="Arial MT"/>
                <a:cs typeface="Arial MT"/>
              </a:rPr>
              <a:t> monitor</a:t>
            </a:r>
            <a:r>
              <a:rPr b="0" spc="5" dirty="0">
                <a:latin typeface="Arial MT"/>
                <a:cs typeface="Arial MT"/>
              </a:rPr>
              <a:t> </a:t>
            </a:r>
            <a:r>
              <a:rPr b="0" dirty="0">
                <a:latin typeface="Arial MT"/>
                <a:cs typeface="Arial MT"/>
              </a:rPr>
              <a:t>for </a:t>
            </a:r>
            <a:r>
              <a:rPr b="0" spc="5" dirty="0">
                <a:latin typeface="Arial MT"/>
                <a:cs typeface="Arial MT"/>
              </a:rPr>
              <a:t> </a:t>
            </a:r>
            <a:r>
              <a:rPr b="0" spc="-5" dirty="0">
                <a:latin typeface="Arial MT"/>
                <a:cs typeface="Arial MT"/>
              </a:rPr>
              <a:t>malicious</a:t>
            </a:r>
            <a:r>
              <a:rPr b="0" spc="20" dirty="0">
                <a:latin typeface="Arial MT"/>
                <a:cs typeface="Arial MT"/>
              </a:rPr>
              <a:t> </a:t>
            </a:r>
            <a:r>
              <a:rPr b="0" spc="-5" dirty="0">
                <a:latin typeface="Arial MT"/>
                <a:cs typeface="Arial MT"/>
              </a:rPr>
              <a:t>activities</a:t>
            </a:r>
            <a:r>
              <a:rPr b="0" dirty="0">
                <a:latin typeface="Arial MT"/>
                <a:cs typeface="Arial MT"/>
              </a:rPr>
              <a:t> </a:t>
            </a:r>
            <a:r>
              <a:rPr b="0" spc="-10" dirty="0">
                <a:latin typeface="Arial MT"/>
                <a:cs typeface="Arial MT"/>
              </a:rPr>
              <a:t>or</a:t>
            </a:r>
            <a:r>
              <a:rPr b="0" dirty="0">
                <a:latin typeface="Arial MT"/>
                <a:cs typeface="Arial MT"/>
              </a:rPr>
              <a:t> </a:t>
            </a:r>
            <a:r>
              <a:rPr b="0" spc="-5" dirty="0">
                <a:latin typeface="Arial MT"/>
                <a:cs typeface="Arial MT"/>
              </a:rPr>
              <a:t>violations</a:t>
            </a:r>
            <a:r>
              <a:rPr b="0" spc="20" dirty="0">
                <a:latin typeface="Arial MT"/>
                <a:cs typeface="Arial MT"/>
              </a:rPr>
              <a:t> </a:t>
            </a:r>
            <a:r>
              <a:rPr b="0" dirty="0">
                <a:latin typeface="Arial MT"/>
                <a:cs typeface="Arial MT"/>
              </a:rPr>
              <a:t>of </a:t>
            </a:r>
            <a:r>
              <a:rPr b="0" spc="-5" dirty="0">
                <a:latin typeface="Arial MT"/>
                <a:cs typeface="Arial MT"/>
              </a:rPr>
              <a:t>policy</a:t>
            </a:r>
          </a:p>
        </p:txBody>
      </p:sp>
      <p:sp>
        <p:nvSpPr>
          <p:cNvPr id="4" name="object 4"/>
          <p:cNvSpPr txBox="1">
            <a:spLocks noGrp="1"/>
          </p:cNvSpPr>
          <p:nvPr>
            <p:ph sz="half" idx="3"/>
          </p:nvPr>
        </p:nvSpPr>
        <p:spPr>
          <a:prstGeom prst="rect">
            <a:avLst/>
          </a:prstGeom>
        </p:spPr>
        <p:txBody>
          <a:bodyPr vert="horz" wrap="square" lIns="0" tIns="111125" rIns="0" bIns="0" rtlCol="0">
            <a:spAutoFit/>
          </a:bodyPr>
          <a:lstStyle/>
          <a:p>
            <a:pPr marL="12700">
              <a:lnSpc>
                <a:spcPct val="100000"/>
              </a:lnSpc>
              <a:spcBef>
                <a:spcPts val="875"/>
              </a:spcBef>
            </a:pPr>
            <a:r>
              <a:rPr dirty="0"/>
              <a:t>Operational</a:t>
            </a:r>
          </a:p>
          <a:p>
            <a:pPr marL="241300" marR="5080" indent="-229235">
              <a:lnSpc>
                <a:spcPct val="90000"/>
              </a:lnSpc>
              <a:spcBef>
                <a:spcPts val="994"/>
              </a:spcBef>
              <a:buChar char="•"/>
              <a:tabLst>
                <a:tab pos="241300" algn="l"/>
                <a:tab pos="241935" algn="l"/>
              </a:tabLst>
            </a:pPr>
            <a:r>
              <a:rPr b="0" spc="-5" dirty="0">
                <a:latin typeface="Arial MT"/>
                <a:cs typeface="Arial MT"/>
              </a:rPr>
              <a:t>Implementing</a:t>
            </a:r>
            <a:r>
              <a:rPr b="0" spc="5" dirty="0">
                <a:latin typeface="Arial MT"/>
                <a:cs typeface="Arial MT"/>
              </a:rPr>
              <a:t> </a:t>
            </a:r>
            <a:r>
              <a:rPr b="0" spc="-5" dirty="0">
                <a:latin typeface="Arial MT"/>
                <a:cs typeface="Arial MT"/>
              </a:rPr>
              <a:t>delegation/separation</a:t>
            </a:r>
            <a:r>
              <a:rPr b="0" spc="30" dirty="0">
                <a:latin typeface="Arial MT"/>
                <a:cs typeface="Arial MT"/>
              </a:rPr>
              <a:t> </a:t>
            </a:r>
            <a:r>
              <a:rPr b="0" spc="-5" dirty="0">
                <a:latin typeface="Arial MT"/>
                <a:cs typeface="Arial MT"/>
              </a:rPr>
              <a:t>of</a:t>
            </a:r>
            <a:r>
              <a:rPr b="0" spc="-15" dirty="0">
                <a:latin typeface="Arial MT"/>
                <a:cs typeface="Arial MT"/>
              </a:rPr>
              <a:t> </a:t>
            </a:r>
            <a:r>
              <a:rPr b="0" spc="-5" dirty="0">
                <a:latin typeface="Arial MT"/>
                <a:cs typeface="Arial MT"/>
              </a:rPr>
              <a:t>duties </a:t>
            </a:r>
            <a:r>
              <a:rPr b="0" dirty="0">
                <a:latin typeface="Arial MT"/>
                <a:cs typeface="Arial MT"/>
              </a:rPr>
              <a:t> </a:t>
            </a:r>
            <a:r>
              <a:rPr b="0" spc="-5" dirty="0">
                <a:latin typeface="Arial MT"/>
                <a:cs typeface="Arial MT"/>
              </a:rPr>
              <a:t>procedures</a:t>
            </a:r>
            <a:r>
              <a:rPr b="0" spc="20" dirty="0">
                <a:latin typeface="Arial MT"/>
                <a:cs typeface="Arial MT"/>
              </a:rPr>
              <a:t> </a:t>
            </a:r>
            <a:r>
              <a:rPr b="0" dirty="0">
                <a:latin typeface="Arial MT"/>
                <a:cs typeface="Arial MT"/>
              </a:rPr>
              <a:t>to</a:t>
            </a:r>
            <a:r>
              <a:rPr b="0" spc="-15" dirty="0">
                <a:latin typeface="Arial MT"/>
                <a:cs typeface="Arial MT"/>
              </a:rPr>
              <a:t> </a:t>
            </a:r>
            <a:r>
              <a:rPr b="0" spc="-5" dirty="0">
                <a:latin typeface="Arial MT"/>
                <a:cs typeface="Arial MT"/>
              </a:rPr>
              <a:t>assure</a:t>
            </a:r>
            <a:r>
              <a:rPr b="0" dirty="0">
                <a:latin typeface="Arial MT"/>
                <a:cs typeface="Arial MT"/>
              </a:rPr>
              <a:t> </a:t>
            </a:r>
            <a:r>
              <a:rPr b="0" spc="-5" dirty="0">
                <a:latin typeface="Arial MT"/>
                <a:cs typeface="Arial MT"/>
              </a:rPr>
              <a:t>that</a:t>
            </a:r>
            <a:r>
              <a:rPr b="0" spc="5" dirty="0">
                <a:latin typeface="Arial MT"/>
                <a:cs typeface="Arial MT"/>
              </a:rPr>
              <a:t> </a:t>
            </a:r>
            <a:r>
              <a:rPr b="0" spc="-5" dirty="0">
                <a:latin typeface="Arial MT"/>
                <a:cs typeface="Arial MT"/>
              </a:rPr>
              <a:t>one person</a:t>
            </a:r>
            <a:r>
              <a:rPr b="0" dirty="0">
                <a:latin typeface="Arial MT"/>
                <a:cs typeface="Arial MT"/>
              </a:rPr>
              <a:t> </a:t>
            </a:r>
            <a:r>
              <a:rPr b="0" spc="-5" dirty="0">
                <a:latin typeface="Arial MT"/>
                <a:cs typeface="Arial MT"/>
              </a:rPr>
              <a:t>does</a:t>
            </a:r>
            <a:r>
              <a:rPr b="0" spc="5" dirty="0">
                <a:latin typeface="Arial MT"/>
                <a:cs typeface="Arial MT"/>
              </a:rPr>
              <a:t> </a:t>
            </a:r>
            <a:r>
              <a:rPr b="0" spc="-5" dirty="0">
                <a:latin typeface="Arial MT"/>
                <a:cs typeface="Arial MT"/>
              </a:rPr>
              <a:t>not </a:t>
            </a:r>
            <a:r>
              <a:rPr b="0" spc="-484" dirty="0">
                <a:latin typeface="Arial MT"/>
                <a:cs typeface="Arial MT"/>
              </a:rPr>
              <a:t> </a:t>
            </a:r>
            <a:r>
              <a:rPr b="0" spc="-5" dirty="0">
                <a:latin typeface="Arial MT"/>
                <a:cs typeface="Arial MT"/>
              </a:rPr>
              <a:t>have</a:t>
            </a:r>
            <a:r>
              <a:rPr b="0" dirty="0">
                <a:latin typeface="Arial MT"/>
                <a:cs typeface="Arial MT"/>
              </a:rPr>
              <a:t> the</a:t>
            </a:r>
            <a:r>
              <a:rPr b="0" spc="-10" dirty="0">
                <a:latin typeface="Arial MT"/>
                <a:cs typeface="Arial MT"/>
              </a:rPr>
              <a:t> </a:t>
            </a:r>
            <a:r>
              <a:rPr b="0" spc="-5" dirty="0">
                <a:latin typeface="Arial MT"/>
                <a:cs typeface="Arial MT"/>
              </a:rPr>
              <a:t>sole</a:t>
            </a:r>
            <a:r>
              <a:rPr b="0" spc="-10" dirty="0">
                <a:latin typeface="Arial MT"/>
                <a:cs typeface="Arial MT"/>
              </a:rPr>
              <a:t> </a:t>
            </a:r>
            <a:r>
              <a:rPr b="0" spc="-5" dirty="0">
                <a:latin typeface="Arial MT"/>
                <a:cs typeface="Arial MT"/>
              </a:rPr>
              <a:t>control</a:t>
            </a:r>
            <a:r>
              <a:rPr b="0" spc="5" dirty="0">
                <a:latin typeface="Arial MT"/>
                <a:cs typeface="Arial MT"/>
              </a:rPr>
              <a:t> </a:t>
            </a:r>
            <a:r>
              <a:rPr b="0" spc="-5" dirty="0">
                <a:latin typeface="Arial MT"/>
                <a:cs typeface="Arial MT"/>
              </a:rPr>
              <a:t>over</a:t>
            </a:r>
            <a:r>
              <a:rPr b="0" dirty="0">
                <a:latin typeface="Arial MT"/>
                <a:cs typeface="Arial MT"/>
              </a:rPr>
              <a:t> key</a:t>
            </a:r>
            <a:r>
              <a:rPr b="0" spc="-5" dirty="0">
                <a:latin typeface="Arial MT"/>
                <a:cs typeface="Arial MT"/>
              </a:rPr>
              <a:t> duties</a:t>
            </a:r>
          </a:p>
          <a:p>
            <a:pPr marL="241300" marR="348615" indent="-229235">
              <a:lnSpc>
                <a:spcPct val="90000"/>
              </a:lnSpc>
              <a:spcBef>
                <a:spcPts val="1010"/>
              </a:spcBef>
              <a:buChar char="•"/>
              <a:tabLst>
                <a:tab pos="241300" algn="l"/>
                <a:tab pos="241935" algn="l"/>
              </a:tabLst>
            </a:pPr>
            <a:r>
              <a:rPr b="0" spc="-5" dirty="0">
                <a:latin typeface="Arial MT"/>
                <a:cs typeface="Arial MT"/>
              </a:rPr>
              <a:t>Mandating</a:t>
            </a:r>
            <a:r>
              <a:rPr b="0" spc="20" dirty="0">
                <a:latin typeface="Arial MT"/>
                <a:cs typeface="Arial MT"/>
              </a:rPr>
              <a:t> </a:t>
            </a:r>
            <a:r>
              <a:rPr b="0" spc="-5" dirty="0">
                <a:latin typeface="Arial MT"/>
                <a:cs typeface="Arial MT"/>
              </a:rPr>
              <a:t>security</a:t>
            </a:r>
            <a:r>
              <a:rPr b="0" spc="5" dirty="0">
                <a:latin typeface="Arial MT"/>
                <a:cs typeface="Arial MT"/>
              </a:rPr>
              <a:t> </a:t>
            </a:r>
            <a:r>
              <a:rPr b="0" spc="-5" dirty="0">
                <a:latin typeface="Arial MT"/>
                <a:cs typeface="Arial MT"/>
              </a:rPr>
              <a:t>training</a:t>
            </a:r>
            <a:r>
              <a:rPr b="0" spc="15" dirty="0">
                <a:latin typeface="Arial MT"/>
                <a:cs typeface="Arial MT"/>
              </a:rPr>
              <a:t> </a:t>
            </a:r>
            <a:r>
              <a:rPr b="0" spc="-5" dirty="0">
                <a:latin typeface="Arial MT"/>
                <a:cs typeface="Arial MT"/>
              </a:rPr>
              <a:t>and</a:t>
            </a:r>
            <a:r>
              <a:rPr b="0" spc="10" dirty="0">
                <a:latin typeface="Arial MT"/>
                <a:cs typeface="Arial MT"/>
              </a:rPr>
              <a:t> </a:t>
            </a:r>
            <a:r>
              <a:rPr b="0" spc="-5" dirty="0">
                <a:latin typeface="Arial MT"/>
                <a:cs typeface="Arial MT"/>
              </a:rPr>
              <a:t>certification </a:t>
            </a:r>
            <a:r>
              <a:rPr b="0" spc="-484" dirty="0">
                <a:latin typeface="Arial MT"/>
                <a:cs typeface="Arial MT"/>
              </a:rPr>
              <a:t> </a:t>
            </a:r>
            <a:r>
              <a:rPr b="0" spc="-5" dirty="0">
                <a:latin typeface="Arial MT"/>
                <a:cs typeface="Arial MT"/>
              </a:rPr>
              <a:t>requirements</a:t>
            </a:r>
            <a:r>
              <a:rPr b="0" spc="20" dirty="0">
                <a:latin typeface="Arial MT"/>
                <a:cs typeface="Arial MT"/>
              </a:rPr>
              <a:t> </a:t>
            </a:r>
            <a:r>
              <a:rPr b="0" dirty="0">
                <a:latin typeface="Arial MT"/>
                <a:cs typeface="Arial MT"/>
              </a:rPr>
              <a:t>to</a:t>
            </a:r>
            <a:r>
              <a:rPr b="0" spc="-15" dirty="0">
                <a:latin typeface="Arial MT"/>
                <a:cs typeface="Arial MT"/>
              </a:rPr>
              <a:t> </a:t>
            </a:r>
            <a:r>
              <a:rPr b="0" spc="-5" dirty="0">
                <a:latin typeface="Arial MT"/>
                <a:cs typeface="Arial MT"/>
              </a:rPr>
              <a:t>increase</a:t>
            </a:r>
            <a:r>
              <a:rPr b="0" spc="15" dirty="0">
                <a:latin typeface="Arial MT"/>
                <a:cs typeface="Arial MT"/>
              </a:rPr>
              <a:t> </a:t>
            </a:r>
            <a:r>
              <a:rPr b="0" dirty="0">
                <a:latin typeface="Arial MT"/>
                <a:cs typeface="Arial MT"/>
              </a:rPr>
              <a:t>the</a:t>
            </a:r>
            <a:r>
              <a:rPr b="0" spc="-10" dirty="0">
                <a:latin typeface="Arial MT"/>
                <a:cs typeface="Arial MT"/>
              </a:rPr>
              <a:t> </a:t>
            </a:r>
            <a:r>
              <a:rPr b="0" spc="-5" dirty="0">
                <a:latin typeface="Arial MT"/>
                <a:cs typeface="Arial MT"/>
              </a:rPr>
              <a:t>baseline </a:t>
            </a:r>
            <a:r>
              <a:rPr b="0" dirty="0">
                <a:latin typeface="Arial MT"/>
                <a:cs typeface="Arial MT"/>
              </a:rPr>
              <a:t> </a:t>
            </a:r>
            <a:r>
              <a:rPr b="0" spc="-10" dirty="0">
                <a:latin typeface="Arial MT"/>
                <a:cs typeface="Arial MT"/>
              </a:rPr>
              <a:t>knowledge</a:t>
            </a:r>
            <a:r>
              <a:rPr b="0" spc="40" dirty="0">
                <a:latin typeface="Arial MT"/>
                <a:cs typeface="Arial MT"/>
              </a:rPr>
              <a:t> </a:t>
            </a:r>
            <a:r>
              <a:rPr b="0" dirty="0">
                <a:latin typeface="Arial MT"/>
                <a:cs typeface="Arial MT"/>
              </a:rPr>
              <a:t>of</a:t>
            </a:r>
            <a:r>
              <a:rPr b="0" spc="-5" dirty="0">
                <a:latin typeface="Arial MT"/>
                <a:cs typeface="Arial MT"/>
              </a:rPr>
              <a:t> </a:t>
            </a:r>
            <a:r>
              <a:rPr b="0" dirty="0">
                <a:latin typeface="Arial MT"/>
                <a:cs typeface="Arial MT"/>
              </a:rPr>
              <a:t>IT</a:t>
            </a:r>
            <a:r>
              <a:rPr b="0" spc="-45" dirty="0">
                <a:latin typeface="Arial MT"/>
                <a:cs typeface="Arial MT"/>
              </a:rPr>
              <a:t> </a:t>
            </a:r>
            <a:r>
              <a:rPr b="0" spc="-5" dirty="0">
                <a:latin typeface="Arial MT"/>
                <a:cs typeface="Arial MT"/>
              </a:rPr>
              <a:t>security-related</a:t>
            </a:r>
            <a:r>
              <a:rPr b="0" spc="40" dirty="0">
                <a:latin typeface="Arial MT"/>
                <a:cs typeface="Arial MT"/>
              </a:rPr>
              <a:t> </a:t>
            </a:r>
            <a:r>
              <a:rPr b="0" spc="-5" dirty="0">
                <a:latin typeface="Arial MT"/>
                <a:cs typeface="Arial MT"/>
              </a:rPr>
              <a:t>issues</a:t>
            </a:r>
            <a:r>
              <a:rPr b="0" spc="5" dirty="0">
                <a:latin typeface="Arial MT"/>
                <a:cs typeface="Arial MT"/>
              </a:rPr>
              <a:t> </a:t>
            </a:r>
            <a:r>
              <a:rPr b="0" spc="-5" dirty="0">
                <a:latin typeface="Arial MT"/>
                <a:cs typeface="Arial MT"/>
              </a:rPr>
              <a:t>and </a:t>
            </a:r>
            <a:r>
              <a:rPr b="0" spc="-484" dirty="0">
                <a:latin typeface="Arial MT"/>
                <a:cs typeface="Arial MT"/>
              </a:rPr>
              <a:t> </a:t>
            </a:r>
            <a:r>
              <a:rPr b="0" spc="-5" dirty="0">
                <a:latin typeface="Arial MT"/>
                <a:cs typeface="Arial MT"/>
              </a:rPr>
              <a:t>concepts</a:t>
            </a:r>
          </a:p>
          <a:p>
            <a:pPr marL="12700">
              <a:lnSpc>
                <a:spcPct val="100000"/>
              </a:lnSpc>
              <a:spcBef>
                <a:spcPts val="780"/>
              </a:spcBef>
            </a:pPr>
            <a:r>
              <a:rPr spc="-5" dirty="0"/>
              <a:t>Preparedness</a:t>
            </a:r>
          </a:p>
          <a:p>
            <a:pPr marL="241300" marR="34290" indent="-229235" algn="just">
              <a:lnSpc>
                <a:spcPct val="88900"/>
              </a:lnSpc>
              <a:spcBef>
                <a:spcPts val="1019"/>
              </a:spcBef>
              <a:buChar char="•"/>
              <a:tabLst>
                <a:tab pos="241935" algn="l"/>
              </a:tabLst>
            </a:pPr>
            <a:r>
              <a:rPr b="0" spc="-5" dirty="0">
                <a:latin typeface="Arial MT"/>
                <a:cs typeface="Arial MT"/>
              </a:rPr>
              <a:t>Executing a tabletop exercise </a:t>
            </a:r>
            <a:r>
              <a:rPr b="0" dirty="0">
                <a:latin typeface="Arial MT"/>
                <a:cs typeface="Arial MT"/>
              </a:rPr>
              <a:t>of </a:t>
            </a:r>
            <a:r>
              <a:rPr b="0" spc="-5" dirty="0">
                <a:latin typeface="Arial MT"/>
                <a:cs typeface="Arial MT"/>
              </a:rPr>
              <a:t>the Continuity </a:t>
            </a:r>
            <a:r>
              <a:rPr b="0" spc="-490" dirty="0">
                <a:latin typeface="Arial MT"/>
                <a:cs typeface="Arial MT"/>
              </a:rPr>
              <a:t> </a:t>
            </a:r>
            <a:r>
              <a:rPr b="0" dirty="0">
                <a:latin typeface="Arial MT"/>
                <a:cs typeface="Arial MT"/>
              </a:rPr>
              <a:t>of </a:t>
            </a:r>
            <a:r>
              <a:rPr b="0" spc="-5" dirty="0">
                <a:latin typeface="Arial MT"/>
                <a:cs typeface="Arial MT"/>
              </a:rPr>
              <a:t>Operations Plan </a:t>
            </a:r>
            <a:r>
              <a:rPr b="0" dirty="0">
                <a:latin typeface="Arial MT"/>
                <a:cs typeface="Arial MT"/>
              </a:rPr>
              <a:t>to test </a:t>
            </a:r>
            <a:r>
              <a:rPr b="0" spc="-5" dirty="0">
                <a:latin typeface="Arial MT"/>
                <a:cs typeface="Arial MT"/>
              </a:rPr>
              <a:t>its effectiveness and </a:t>
            </a:r>
            <a:r>
              <a:rPr b="0" spc="-490" dirty="0">
                <a:latin typeface="Arial MT"/>
                <a:cs typeface="Arial MT"/>
              </a:rPr>
              <a:t> </a:t>
            </a:r>
            <a:r>
              <a:rPr b="0" spc="-5" dirty="0">
                <a:latin typeface="Arial MT"/>
                <a:cs typeface="Arial MT"/>
              </a:rPr>
              <a:t>identify</a:t>
            </a:r>
            <a:r>
              <a:rPr b="0" spc="10" dirty="0">
                <a:latin typeface="Arial MT"/>
                <a:cs typeface="Arial MT"/>
              </a:rPr>
              <a:t> </a:t>
            </a:r>
            <a:r>
              <a:rPr b="0" spc="-5" dirty="0">
                <a:latin typeface="Arial MT"/>
                <a:cs typeface="Arial MT"/>
              </a:rPr>
              <a:t>gaps</a:t>
            </a:r>
            <a:r>
              <a:rPr b="0" dirty="0">
                <a:latin typeface="Arial MT"/>
                <a:cs typeface="Arial MT"/>
              </a:rPr>
              <a:t> </a:t>
            </a:r>
            <a:r>
              <a:rPr b="0" spc="-5" dirty="0">
                <a:latin typeface="Arial MT"/>
                <a:cs typeface="Arial MT"/>
              </a:rPr>
              <a:t>that</a:t>
            </a:r>
            <a:r>
              <a:rPr b="0" spc="5" dirty="0">
                <a:latin typeface="Arial MT"/>
                <a:cs typeface="Arial MT"/>
              </a:rPr>
              <a:t> </a:t>
            </a:r>
            <a:r>
              <a:rPr b="0" spc="-5" dirty="0">
                <a:latin typeface="Arial MT"/>
                <a:cs typeface="Arial MT"/>
              </a:rPr>
              <a:t>should</a:t>
            </a:r>
            <a:r>
              <a:rPr b="0" spc="5" dirty="0">
                <a:latin typeface="Arial MT"/>
                <a:cs typeface="Arial MT"/>
              </a:rPr>
              <a:t> </a:t>
            </a:r>
            <a:r>
              <a:rPr b="0" spc="-5" dirty="0">
                <a:latin typeface="Arial MT"/>
                <a:cs typeface="Arial MT"/>
              </a:rPr>
              <a:t>be</a:t>
            </a:r>
            <a:r>
              <a:rPr b="0" dirty="0">
                <a:latin typeface="Arial MT"/>
                <a:cs typeface="Arial MT"/>
              </a:rPr>
              <a:t> </a:t>
            </a:r>
            <a:r>
              <a:rPr b="0" spc="-5" dirty="0">
                <a:latin typeface="Arial MT"/>
                <a:cs typeface="Arial MT"/>
              </a:rPr>
              <a:t>addressed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74DA55-4C6A-7345-2848-5409551BE301}"/>
              </a:ext>
            </a:extLst>
          </p:cNvPr>
          <p:cNvSpPr txBox="1"/>
          <p:nvPr/>
        </p:nvSpPr>
        <p:spPr>
          <a:xfrm>
            <a:off x="673768" y="310442"/>
            <a:ext cx="7122695" cy="5247590"/>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Risk Transfer/Sharing</a:t>
            </a:r>
          </a:p>
          <a:p>
            <a:endParaRPr lang="en-US" sz="1100" dirty="0">
              <a:latin typeface="Courier New" panose="02070309020205020404" pitchFamily="49" charset="0"/>
            </a:endParaRP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The most common example of risk transfer is the </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purchasing of third-party insurance, which provides a guarantee of compensation or replacement should a loss occur. </a:t>
            </a:r>
          </a:p>
          <a:p>
            <a:pPr marL="800100" lvl="1" indent="-342900">
              <a:spcAft>
                <a:spcPts val="12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Partnerships and outsourcing agreements are also forms of risk transfer, </a:t>
            </a:r>
            <a:r>
              <a:rPr lang="en-US" sz="1600" dirty="0">
                <a:solidFill>
                  <a:srgbClr val="002060"/>
                </a:solidFill>
                <a:latin typeface="Berlin Sans FB" panose="020E0602020502020306" pitchFamily="34" charset="0"/>
              </a:rPr>
              <a:t>in which two or more organizations work together under an arrangement in which both risk of loss and potential for profit are divided among the participants</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Transferred risk, like all other risk, should be reviewed on a regular basis to ensure that it remains appropriate and adequate. </a:t>
            </a:r>
          </a:p>
          <a:p>
            <a:pPr marL="800100" lvl="1" indent="-342900">
              <a:spcAft>
                <a:spcPts val="1200"/>
              </a:spcAft>
              <a:buFont typeface="+mj-lt"/>
              <a:buAutoNum type="arabicPeriod"/>
            </a:pPr>
            <a:r>
              <a:rPr lang="en-US" sz="1600" dirty="0">
                <a:solidFill>
                  <a:srgbClr val="7030A0"/>
                </a:solidFill>
                <a:latin typeface="Berlin Sans FB" panose="020E0602020502020306" pitchFamily="34" charset="0"/>
              </a:rPr>
              <a:t>For example, an enterprise should ensure that the current amount of insurance is adequate to cover losses and that the enterprise is compliant with the terms and conditions of the coverage.</a:t>
            </a:r>
          </a:p>
          <a:p>
            <a:pPr marL="800100" lvl="1" indent="-342900">
              <a:spcAft>
                <a:spcPts val="1200"/>
              </a:spcAft>
              <a:buFont typeface="+mj-lt"/>
              <a:buAutoNum type="arabicPeriod"/>
            </a:pPr>
            <a:r>
              <a:rPr lang="en-US" sz="1600" dirty="0">
                <a:solidFill>
                  <a:srgbClr val="002060"/>
                </a:solidFill>
                <a:latin typeface="Berlin Sans FB" panose="020E0602020502020306" pitchFamily="34" charset="0"/>
              </a:rPr>
              <a:t> With regards to outsourcing arrangements, effective management includes regular reviews of security compliance reports or operational procedures to ensure that the outsourced services are being done according to contractual agreements. </a:t>
            </a:r>
          </a:p>
        </p:txBody>
      </p:sp>
    </p:spTree>
    <p:extLst>
      <p:ext uri="{BB962C8B-B14F-4D97-AF65-F5344CB8AC3E}">
        <p14:creationId xmlns:p14="http://schemas.microsoft.com/office/powerpoint/2010/main" val="2191551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15" dirty="0">
                <a:solidFill>
                  <a:srgbClr val="074891"/>
                </a:solidFill>
                <a:uFill>
                  <a:solidFill>
                    <a:srgbClr val="000000"/>
                  </a:solidFill>
                </a:uFill>
                <a:latin typeface="Calibri Light"/>
                <a:cs typeface="Calibri Light"/>
              </a:rPr>
              <a:t>Risk</a:t>
            </a:r>
            <a:r>
              <a:rPr sz="4400" u="heavy" spc="-125" dirty="0">
                <a:solidFill>
                  <a:srgbClr val="074891"/>
                </a:solidFill>
                <a:uFill>
                  <a:solidFill>
                    <a:srgbClr val="000000"/>
                  </a:solidFill>
                </a:uFill>
                <a:latin typeface="Calibri Light"/>
                <a:cs typeface="Calibri Light"/>
              </a:rPr>
              <a:t> </a:t>
            </a:r>
            <a:r>
              <a:rPr sz="4400" u="heavy" spc="-30" dirty="0">
                <a:solidFill>
                  <a:srgbClr val="074891"/>
                </a:solidFill>
                <a:uFill>
                  <a:solidFill>
                    <a:srgbClr val="000000"/>
                  </a:solidFill>
                </a:uFill>
                <a:latin typeface="Calibri Light"/>
                <a:cs typeface="Calibri Light"/>
              </a:rPr>
              <a:t>Sharing	</a:t>
            </a:r>
            <a:endParaRPr sz="4400">
              <a:latin typeface="Calibri Light"/>
              <a:cs typeface="Calibri Light"/>
            </a:endParaRPr>
          </a:p>
        </p:txBody>
      </p:sp>
      <p:sp>
        <p:nvSpPr>
          <p:cNvPr id="3" name="object 3"/>
          <p:cNvSpPr txBox="1"/>
          <p:nvPr/>
        </p:nvSpPr>
        <p:spPr>
          <a:xfrm>
            <a:off x="916939" y="1759966"/>
            <a:ext cx="10333990" cy="3429144"/>
          </a:xfrm>
          <a:prstGeom prst="rect">
            <a:avLst/>
          </a:prstGeom>
        </p:spPr>
        <p:txBody>
          <a:bodyPr vert="horz" wrap="square" lIns="0" tIns="93980" rIns="0" bIns="0" rtlCol="0">
            <a:spAutoFit/>
          </a:bodyPr>
          <a:lstStyle/>
          <a:p>
            <a:pPr marL="241300" indent="-229235">
              <a:lnSpc>
                <a:spcPts val="3329"/>
              </a:lnSpc>
              <a:spcBef>
                <a:spcPts val="350"/>
              </a:spcBef>
              <a:buFont typeface="Arial MT"/>
              <a:buChar char="•"/>
              <a:tabLst>
                <a:tab pos="241935" algn="l"/>
              </a:tabLst>
            </a:pPr>
            <a:r>
              <a:rPr sz="2800" spc="-5" dirty="0">
                <a:latin typeface="Calibri"/>
                <a:cs typeface="Calibri"/>
              </a:rPr>
              <a:t>Risk </a:t>
            </a:r>
            <a:r>
              <a:rPr sz="2800" spc="-10" dirty="0">
                <a:latin typeface="Calibri"/>
                <a:cs typeface="Calibri"/>
              </a:rPr>
              <a:t>sharing</a:t>
            </a:r>
            <a:r>
              <a:rPr sz="2800" spc="10" dirty="0">
                <a:latin typeface="Calibri"/>
                <a:cs typeface="Calibri"/>
              </a:rPr>
              <a:t> </a:t>
            </a:r>
            <a:r>
              <a:rPr sz="2800" spc="-10" dirty="0">
                <a:latin typeface="Calibri"/>
                <a:cs typeface="Calibri"/>
              </a:rPr>
              <a:t>can</a:t>
            </a:r>
            <a:r>
              <a:rPr sz="2800" dirty="0">
                <a:latin typeface="Calibri"/>
                <a:cs typeface="Calibri"/>
              </a:rPr>
              <a:t> </a:t>
            </a:r>
            <a:r>
              <a:rPr sz="2800" spc="-20" dirty="0">
                <a:latin typeface="Calibri"/>
                <a:cs typeface="Calibri"/>
              </a:rPr>
              <a:t>involve:</a:t>
            </a:r>
            <a:endParaRPr sz="2800" dirty="0">
              <a:latin typeface="Calibri"/>
              <a:cs typeface="Calibri"/>
            </a:endParaRPr>
          </a:p>
          <a:p>
            <a:pPr marL="698500" marR="81280" lvl="1" indent="-228600">
              <a:lnSpc>
                <a:spcPts val="2300"/>
              </a:lnSpc>
              <a:spcBef>
                <a:spcPts val="530"/>
              </a:spcBef>
              <a:buFont typeface="Arial MT"/>
              <a:buChar char="•"/>
              <a:tabLst>
                <a:tab pos="699135" algn="l"/>
              </a:tabLst>
            </a:pPr>
            <a:r>
              <a:rPr sz="2400" spc="-10" dirty="0">
                <a:latin typeface="Calibri"/>
                <a:cs typeface="Calibri"/>
              </a:rPr>
              <a:t>Outsourcing </a:t>
            </a:r>
            <a:r>
              <a:rPr sz="2400" spc="-5" dirty="0">
                <a:latin typeface="Calibri"/>
                <a:cs typeface="Calibri"/>
              </a:rPr>
              <a:t>of some </a:t>
            </a:r>
            <a:r>
              <a:rPr sz="2400" dirty="0">
                <a:latin typeface="Calibri"/>
                <a:cs typeface="Calibri"/>
              </a:rPr>
              <a:t>activities </a:t>
            </a:r>
            <a:r>
              <a:rPr sz="2400" spc="-15" dirty="0">
                <a:latin typeface="Calibri"/>
                <a:cs typeface="Calibri"/>
              </a:rPr>
              <a:t>to </a:t>
            </a:r>
            <a:r>
              <a:rPr sz="2400" dirty="0">
                <a:latin typeface="Calibri"/>
                <a:cs typeface="Calibri"/>
              </a:rPr>
              <a:t>a </a:t>
            </a:r>
            <a:r>
              <a:rPr sz="2400" spc="-10" dirty="0">
                <a:latin typeface="Calibri"/>
                <a:cs typeface="Calibri"/>
              </a:rPr>
              <a:t>third </a:t>
            </a:r>
            <a:r>
              <a:rPr sz="2400" spc="-5" dirty="0">
                <a:latin typeface="Calibri"/>
                <a:cs typeface="Calibri"/>
              </a:rPr>
              <a:t>party </a:t>
            </a:r>
            <a:r>
              <a:rPr sz="2400" spc="-15" dirty="0">
                <a:latin typeface="Calibri"/>
                <a:cs typeface="Calibri"/>
              </a:rPr>
              <a:t>to </a:t>
            </a:r>
            <a:r>
              <a:rPr sz="2400" spc="-5" dirty="0">
                <a:latin typeface="Calibri"/>
                <a:cs typeface="Calibri"/>
              </a:rPr>
              <a:t>reduce </a:t>
            </a:r>
            <a:r>
              <a:rPr sz="2400" dirty="0">
                <a:latin typeface="Calibri"/>
                <a:cs typeface="Calibri"/>
              </a:rPr>
              <a:t>the </a:t>
            </a:r>
            <a:r>
              <a:rPr sz="2400" spc="-5" dirty="0">
                <a:latin typeface="Calibri"/>
                <a:cs typeface="Calibri"/>
              </a:rPr>
              <a:t>financial </a:t>
            </a:r>
            <a:r>
              <a:rPr sz="2400" dirty="0">
                <a:latin typeface="Calibri"/>
                <a:cs typeface="Calibri"/>
              </a:rPr>
              <a:t>impacts </a:t>
            </a:r>
            <a:r>
              <a:rPr sz="2400" spc="-530" dirty="0">
                <a:latin typeface="Calibri"/>
                <a:cs typeface="Calibri"/>
              </a:rPr>
              <a:t> </a:t>
            </a:r>
            <a:r>
              <a:rPr sz="2400" spc="-5" dirty="0">
                <a:latin typeface="Calibri"/>
                <a:cs typeface="Calibri"/>
              </a:rPr>
              <a:t>of</a:t>
            </a:r>
            <a:r>
              <a:rPr sz="2400" spc="-15" dirty="0">
                <a:latin typeface="Calibri"/>
                <a:cs typeface="Calibri"/>
              </a:rPr>
              <a:t> </a:t>
            </a:r>
            <a:r>
              <a:rPr sz="2400" dirty="0">
                <a:latin typeface="Calibri"/>
                <a:cs typeface="Calibri"/>
              </a:rPr>
              <a:t>a</a:t>
            </a:r>
            <a:r>
              <a:rPr sz="2400" spc="-5" dirty="0">
                <a:latin typeface="Calibri"/>
                <a:cs typeface="Calibri"/>
              </a:rPr>
              <a:t> </a:t>
            </a:r>
            <a:r>
              <a:rPr sz="2400" dirty="0">
                <a:latin typeface="Calibri"/>
                <a:cs typeface="Calibri"/>
              </a:rPr>
              <a:t>risk</a:t>
            </a:r>
            <a:r>
              <a:rPr sz="2400" spc="-15" dirty="0">
                <a:latin typeface="Calibri"/>
                <a:cs typeface="Calibri"/>
              </a:rPr>
              <a:t> event</a:t>
            </a:r>
            <a:r>
              <a:rPr sz="2400" spc="5" dirty="0">
                <a:latin typeface="Calibri"/>
                <a:cs typeface="Calibri"/>
              </a:rPr>
              <a:t> </a:t>
            </a:r>
            <a:r>
              <a:rPr sz="2400" dirty="0">
                <a:latin typeface="Calibri"/>
                <a:cs typeface="Calibri"/>
              </a:rPr>
              <a:t>in </a:t>
            </a:r>
            <a:r>
              <a:rPr sz="2400" spc="-15" dirty="0">
                <a:latin typeface="Calibri"/>
                <a:cs typeface="Calibri"/>
              </a:rPr>
              <a:t>many</a:t>
            </a:r>
            <a:r>
              <a:rPr sz="2400" spc="-10" dirty="0">
                <a:latin typeface="Calibri"/>
                <a:cs typeface="Calibri"/>
              </a:rPr>
              <a:t> </a:t>
            </a:r>
            <a:r>
              <a:rPr sz="2400" spc="-5" dirty="0">
                <a:latin typeface="Calibri"/>
                <a:cs typeface="Calibri"/>
              </a:rPr>
              <a:t>cases.</a:t>
            </a:r>
            <a:endParaRPr sz="2400" dirty="0">
              <a:latin typeface="Calibri"/>
              <a:cs typeface="Calibri"/>
            </a:endParaRPr>
          </a:p>
          <a:p>
            <a:pPr marL="698500" marR="178435" lvl="1" indent="-228600">
              <a:lnSpc>
                <a:spcPts val="2310"/>
              </a:lnSpc>
              <a:spcBef>
                <a:spcPts val="505"/>
              </a:spcBef>
              <a:buFont typeface="Arial MT"/>
              <a:buChar char="•"/>
              <a:tabLst>
                <a:tab pos="699135" algn="l"/>
              </a:tabLst>
            </a:pPr>
            <a:r>
              <a:rPr sz="2400" spc="-5" dirty="0">
                <a:latin typeface="Calibri"/>
                <a:cs typeface="Calibri"/>
              </a:rPr>
              <a:t>Sharing</a:t>
            </a:r>
            <a:r>
              <a:rPr sz="2400" spc="-10" dirty="0">
                <a:latin typeface="Calibri"/>
                <a:cs typeface="Calibri"/>
              </a:rPr>
              <a:t> </a:t>
            </a:r>
            <a:r>
              <a:rPr sz="2400" spc="-15" dirty="0">
                <a:latin typeface="Calibri"/>
                <a:cs typeface="Calibri"/>
              </a:rPr>
              <a:t>off-site</a:t>
            </a:r>
            <a:r>
              <a:rPr sz="2400" spc="15" dirty="0">
                <a:latin typeface="Calibri"/>
                <a:cs typeface="Calibri"/>
              </a:rPr>
              <a:t> </a:t>
            </a:r>
            <a:r>
              <a:rPr sz="2400" spc="-10" dirty="0">
                <a:latin typeface="Calibri"/>
                <a:cs typeface="Calibri"/>
              </a:rPr>
              <a:t>(co-location)</a:t>
            </a:r>
            <a:r>
              <a:rPr sz="2400" spc="-5" dirty="0">
                <a:latin typeface="Calibri"/>
                <a:cs typeface="Calibri"/>
              </a:rPr>
              <a:t> assets</a:t>
            </a:r>
            <a:r>
              <a:rPr sz="2400" spc="-15" dirty="0">
                <a:latin typeface="Calibri"/>
                <a:cs typeface="Calibri"/>
              </a:rPr>
              <a:t> </a:t>
            </a:r>
            <a:r>
              <a:rPr sz="2400" dirty="0">
                <a:latin typeface="Calibri"/>
                <a:cs typeface="Calibri"/>
              </a:rPr>
              <a:t>and</a:t>
            </a:r>
            <a:r>
              <a:rPr sz="2400" spc="5" dirty="0">
                <a:latin typeface="Calibri"/>
                <a:cs typeface="Calibri"/>
              </a:rPr>
              <a:t> </a:t>
            </a:r>
            <a:r>
              <a:rPr sz="2400" spc="-15" dirty="0">
                <a:latin typeface="Calibri"/>
                <a:cs typeface="Calibri"/>
              </a:rPr>
              <a:t>contractual</a:t>
            </a:r>
            <a:r>
              <a:rPr sz="2400" spc="-25" dirty="0">
                <a:latin typeface="Calibri"/>
                <a:cs typeface="Calibri"/>
              </a:rPr>
              <a:t> </a:t>
            </a:r>
            <a:r>
              <a:rPr sz="2400" spc="-10" dirty="0">
                <a:latin typeface="Calibri"/>
                <a:cs typeface="Calibri"/>
              </a:rPr>
              <a:t>obligations</a:t>
            </a:r>
            <a:r>
              <a:rPr sz="2400" spc="-5" dirty="0">
                <a:latin typeface="Calibri"/>
                <a:cs typeface="Calibri"/>
              </a:rPr>
              <a:t> </a:t>
            </a:r>
            <a:r>
              <a:rPr sz="2400" dirty="0">
                <a:latin typeface="Calibri"/>
                <a:cs typeface="Calibri"/>
              </a:rPr>
              <a:t>with</a:t>
            </a:r>
            <a:r>
              <a:rPr sz="2400" spc="10" dirty="0">
                <a:latin typeface="Calibri"/>
                <a:cs typeface="Calibri"/>
              </a:rPr>
              <a:t> </a:t>
            </a:r>
            <a:r>
              <a:rPr sz="2400" spc="-5" dirty="0">
                <a:latin typeface="Calibri"/>
                <a:cs typeface="Calibri"/>
              </a:rPr>
              <a:t>other </a:t>
            </a:r>
            <a:r>
              <a:rPr sz="2400" dirty="0">
                <a:latin typeface="Calibri"/>
                <a:cs typeface="Calibri"/>
              </a:rPr>
              <a:t> </a:t>
            </a:r>
            <a:r>
              <a:rPr sz="2400" spc="-5" dirty="0">
                <a:latin typeface="Calibri"/>
                <a:cs typeface="Calibri"/>
              </a:rPr>
              <a:t>entities</a:t>
            </a:r>
            <a:r>
              <a:rPr sz="2400" spc="-15" dirty="0">
                <a:latin typeface="Calibri"/>
                <a:cs typeface="Calibri"/>
              </a:rPr>
              <a:t> </a:t>
            </a:r>
            <a:r>
              <a:rPr sz="2400" dirty="0">
                <a:latin typeface="Calibri"/>
                <a:cs typeface="Calibri"/>
              </a:rPr>
              <a:t>is</a:t>
            </a:r>
            <a:r>
              <a:rPr sz="2400" spc="5" dirty="0">
                <a:latin typeface="Calibri"/>
                <a:cs typeface="Calibri"/>
              </a:rPr>
              <a:t> </a:t>
            </a:r>
            <a:r>
              <a:rPr sz="2400" spc="-10" dirty="0">
                <a:latin typeface="Calibri"/>
                <a:cs typeface="Calibri"/>
              </a:rPr>
              <a:t>one</a:t>
            </a:r>
            <a:r>
              <a:rPr sz="2400" dirty="0">
                <a:latin typeface="Calibri"/>
                <a:cs typeface="Calibri"/>
              </a:rPr>
              <a:t> </a:t>
            </a:r>
            <a:r>
              <a:rPr sz="2400" spc="-30" dirty="0">
                <a:latin typeface="Calibri"/>
                <a:cs typeface="Calibri"/>
              </a:rPr>
              <a:t>way</a:t>
            </a:r>
            <a:r>
              <a:rPr sz="2400" dirty="0">
                <a:latin typeface="Calibri"/>
                <a:cs typeface="Calibri"/>
              </a:rPr>
              <a:t> </a:t>
            </a:r>
            <a:r>
              <a:rPr sz="2400" spc="-10" dirty="0">
                <a:latin typeface="Calibri"/>
                <a:cs typeface="Calibri"/>
              </a:rPr>
              <a:t>that</a:t>
            </a:r>
            <a:r>
              <a:rPr sz="2400" spc="5" dirty="0">
                <a:latin typeface="Calibri"/>
                <a:cs typeface="Calibri"/>
              </a:rPr>
              <a:t> </a:t>
            </a:r>
            <a:r>
              <a:rPr sz="2400" spc="-15" dirty="0">
                <a:latin typeface="Calibri"/>
                <a:cs typeface="Calibri"/>
              </a:rPr>
              <a:t>organizations</a:t>
            </a:r>
            <a:r>
              <a:rPr sz="2400" spc="-20" dirty="0">
                <a:latin typeface="Calibri"/>
                <a:cs typeface="Calibri"/>
              </a:rPr>
              <a:t> </a:t>
            </a:r>
            <a:r>
              <a:rPr sz="2400" spc="-5" dirty="0">
                <a:latin typeface="Calibri"/>
                <a:cs typeface="Calibri"/>
              </a:rPr>
              <a:t>implement</a:t>
            </a:r>
            <a:r>
              <a:rPr sz="2400" spc="-10" dirty="0">
                <a:latin typeface="Calibri"/>
                <a:cs typeface="Calibri"/>
              </a:rPr>
              <a:t> </a:t>
            </a:r>
            <a:r>
              <a:rPr sz="2400" dirty="0">
                <a:latin typeface="Calibri"/>
                <a:cs typeface="Calibri"/>
              </a:rPr>
              <a:t>risk</a:t>
            </a:r>
            <a:r>
              <a:rPr sz="2400" spc="-15" dirty="0">
                <a:latin typeface="Calibri"/>
                <a:cs typeface="Calibri"/>
              </a:rPr>
              <a:t> </a:t>
            </a:r>
            <a:r>
              <a:rPr sz="2400" spc="-5" dirty="0">
                <a:latin typeface="Calibri"/>
                <a:cs typeface="Calibri"/>
              </a:rPr>
              <a:t>sharing;</a:t>
            </a:r>
            <a:r>
              <a:rPr sz="2400" spc="-15" dirty="0">
                <a:latin typeface="Calibri"/>
                <a:cs typeface="Calibri"/>
              </a:rPr>
              <a:t> </a:t>
            </a:r>
            <a:r>
              <a:rPr sz="2400" dirty="0">
                <a:latin typeface="Calibri"/>
                <a:cs typeface="Calibri"/>
              </a:rPr>
              <a:t>a</a:t>
            </a:r>
            <a:r>
              <a:rPr sz="2400" spc="-5" dirty="0">
                <a:latin typeface="Calibri"/>
                <a:cs typeface="Calibri"/>
              </a:rPr>
              <a:t> </a:t>
            </a:r>
            <a:r>
              <a:rPr sz="2400" dirty="0">
                <a:latin typeface="Calibri"/>
                <a:cs typeface="Calibri"/>
              </a:rPr>
              <a:t>cloud</a:t>
            </a:r>
            <a:r>
              <a:rPr sz="2400" spc="-5" dirty="0">
                <a:latin typeface="Calibri"/>
                <a:cs typeface="Calibri"/>
              </a:rPr>
              <a:t> </a:t>
            </a:r>
            <a:r>
              <a:rPr sz="2400" dirty="0">
                <a:latin typeface="Calibri"/>
                <a:cs typeface="Calibri"/>
              </a:rPr>
              <a:t>service </a:t>
            </a:r>
            <a:r>
              <a:rPr sz="2400" spc="-530" dirty="0">
                <a:latin typeface="Calibri"/>
                <a:cs typeface="Calibri"/>
              </a:rPr>
              <a:t> </a:t>
            </a:r>
            <a:r>
              <a:rPr sz="2400" spc="-10" dirty="0">
                <a:latin typeface="Calibri"/>
                <a:cs typeface="Calibri"/>
              </a:rPr>
              <a:t>provider</a:t>
            </a:r>
            <a:r>
              <a:rPr sz="2400" spc="-5" dirty="0">
                <a:latin typeface="Calibri"/>
                <a:cs typeface="Calibri"/>
              </a:rPr>
              <a:t> </a:t>
            </a:r>
            <a:r>
              <a:rPr sz="2400" spc="-10" dirty="0">
                <a:latin typeface="Calibri"/>
                <a:cs typeface="Calibri"/>
              </a:rPr>
              <a:t>can</a:t>
            </a:r>
            <a:r>
              <a:rPr sz="2400" spc="-5" dirty="0">
                <a:latin typeface="Calibri"/>
                <a:cs typeface="Calibri"/>
              </a:rPr>
              <a:t> be used </a:t>
            </a:r>
            <a:r>
              <a:rPr sz="2400" dirty="0">
                <a:latin typeface="Calibri"/>
                <a:cs typeface="Calibri"/>
              </a:rPr>
              <a:t>within this</a:t>
            </a:r>
            <a:r>
              <a:rPr sz="2400" spc="-20" dirty="0">
                <a:latin typeface="Calibri"/>
                <a:cs typeface="Calibri"/>
              </a:rPr>
              <a:t> </a:t>
            </a:r>
            <a:r>
              <a:rPr sz="2400" spc="-5" dirty="0">
                <a:latin typeface="Calibri"/>
                <a:cs typeface="Calibri"/>
              </a:rPr>
              <a:t>scenario.</a:t>
            </a:r>
            <a:endParaRPr sz="2400" dirty="0">
              <a:latin typeface="Calibri"/>
              <a:cs typeface="Calibri"/>
            </a:endParaRPr>
          </a:p>
          <a:p>
            <a:pPr marL="698500" marR="1021715" lvl="1" indent="-228600">
              <a:lnSpc>
                <a:spcPts val="2300"/>
              </a:lnSpc>
              <a:spcBef>
                <a:spcPts val="484"/>
              </a:spcBef>
              <a:buFont typeface="Arial MT"/>
              <a:buChar char="•"/>
              <a:tabLst>
                <a:tab pos="699135" algn="l"/>
              </a:tabLst>
            </a:pPr>
            <a:r>
              <a:rPr sz="2400" spc="-5" dirty="0">
                <a:latin typeface="Calibri"/>
                <a:cs typeface="Calibri"/>
              </a:rPr>
              <a:t>Cloud </a:t>
            </a:r>
            <a:r>
              <a:rPr sz="2400" spc="-10" dirty="0">
                <a:latin typeface="Calibri"/>
                <a:cs typeface="Calibri"/>
              </a:rPr>
              <a:t>provider </a:t>
            </a:r>
            <a:r>
              <a:rPr sz="2400" spc="-5" dirty="0">
                <a:latin typeface="Calibri"/>
                <a:cs typeface="Calibri"/>
              </a:rPr>
              <a:t>might be </a:t>
            </a:r>
            <a:r>
              <a:rPr sz="2400" spc="-10" dirty="0">
                <a:latin typeface="Calibri"/>
                <a:cs typeface="Calibri"/>
              </a:rPr>
              <a:t>contractually </a:t>
            </a:r>
            <a:r>
              <a:rPr sz="2400" spc="-15" dirty="0">
                <a:latin typeface="Calibri"/>
                <a:cs typeface="Calibri"/>
              </a:rPr>
              <a:t>obligated to </a:t>
            </a:r>
            <a:r>
              <a:rPr sz="2400" dirty="0">
                <a:latin typeface="Calibri"/>
                <a:cs typeface="Calibri"/>
              </a:rPr>
              <a:t>assume </a:t>
            </a:r>
            <a:r>
              <a:rPr sz="2400" spc="-5" dirty="0">
                <a:latin typeface="Calibri"/>
                <a:cs typeface="Calibri"/>
              </a:rPr>
              <a:t>part of </a:t>
            </a:r>
            <a:r>
              <a:rPr sz="2400" dirty="0">
                <a:latin typeface="Calibri"/>
                <a:cs typeface="Calibri"/>
              </a:rPr>
              <a:t>the </a:t>
            </a:r>
            <a:r>
              <a:rPr sz="2400" spc="-530" dirty="0">
                <a:latin typeface="Calibri"/>
                <a:cs typeface="Calibri"/>
              </a:rPr>
              <a:t> </a:t>
            </a:r>
            <a:r>
              <a:rPr sz="2400" spc="-5" dirty="0">
                <a:latin typeface="Calibri"/>
                <a:cs typeface="Calibri"/>
              </a:rPr>
              <a:t>financial</a:t>
            </a:r>
            <a:r>
              <a:rPr sz="2400" spc="-15" dirty="0">
                <a:latin typeface="Calibri"/>
                <a:cs typeface="Calibri"/>
              </a:rPr>
              <a:t> </a:t>
            </a:r>
            <a:r>
              <a:rPr sz="2400" dirty="0">
                <a:latin typeface="Calibri"/>
                <a:cs typeface="Calibri"/>
              </a:rPr>
              <a:t>impact</a:t>
            </a:r>
            <a:r>
              <a:rPr sz="2400" spc="-30" dirty="0">
                <a:latin typeface="Calibri"/>
                <a:cs typeface="Calibri"/>
              </a:rPr>
              <a:t> </a:t>
            </a:r>
            <a:r>
              <a:rPr sz="2400" dirty="0">
                <a:latin typeface="Calibri"/>
                <a:cs typeface="Calibri"/>
              </a:rPr>
              <a:t>in the </a:t>
            </a:r>
            <a:r>
              <a:rPr sz="2400" spc="-15" dirty="0">
                <a:latin typeface="Calibri"/>
                <a:cs typeface="Calibri"/>
              </a:rPr>
              <a:t>event</a:t>
            </a:r>
            <a:r>
              <a:rPr sz="2400" dirty="0">
                <a:latin typeface="Calibri"/>
                <a:cs typeface="Calibri"/>
              </a:rPr>
              <a:t> </a:t>
            </a:r>
            <a:r>
              <a:rPr sz="2400" spc="-5" dirty="0">
                <a:latin typeface="Calibri"/>
                <a:cs typeface="Calibri"/>
              </a:rPr>
              <a:t>of</a:t>
            </a:r>
            <a:r>
              <a:rPr sz="2400" dirty="0">
                <a:latin typeface="Calibri"/>
                <a:cs typeface="Calibri"/>
              </a:rPr>
              <a:t> a</a:t>
            </a:r>
            <a:r>
              <a:rPr sz="2400" spc="-15" dirty="0">
                <a:latin typeface="Calibri"/>
                <a:cs typeface="Calibri"/>
              </a:rPr>
              <a:t> </a:t>
            </a:r>
            <a:r>
              <a:rPr sz="2400" spc="-5" dirty="0">
                <a:latin typeface="Calibri"/>
                <a:cs typeface="Calibri"/>
              </a:rPr>
              <a:t>breach.</a:t>
            </a:r>
            <a:endParaRPr sz="2400" dirty="0">
              <a:latin typeface="Calibri"/>
              <a:cs typeface="Calibri"/>
            </a:endParaRPr>
          </a:p>
          <a:p>
            <a:pPr marL="698500" lvl="1" indent="-229235">
              <a:lnSpc>
                <a:spcPts val="2545"/>
              </a:lnSpc>
              <a:buFont typeface="Arial MT"/>
              <a:buChar char="•"/>
              <a:tabLst>
                <a:tab pos="699135" algn="l"/>
              </a:tabLst>
            </a:pPr>
            <a:r>
              <a:rPr sz="2400" spc="-5" dirty="0">
                <a:latin typeface="Calibri"/>
                <a:cs typeface="Calibri"/>
              </a:rPr>
              <a:t>Use</a:t>
            </a:r>
            <a:r>
              <a:rPr sz="2400" dirty="0">
                <a:latin typeface="Calibri"/>
                <a:cs typeface="Calibri"/>
              </a:rPr>
              <a:t> </a:t>
            </a:r>
            <a:r>
              <a:rPr sz="2400" spc="-5" dirty="0">
                <a:latin typeface="Calibri"/>
                <a:cs typeface="Calibri"/>
              </a:rPr>
              <a:t>of</a:t>
            </a:r>
            <a:r>
              <a:rPr sz="2400" spc="-10" dirty="0">
                <a:latin typeface="Calibri"/>
                <a:cs typeface="Calibri"/>
              </a:rPr>
              <a:t> </a:t>
            </a:r>
            <a:r>
              <a:rPr sz="2400" dirty="0">
                <a:latin typeface="Calibri"/>
                <a:cs typeface="Calibri"/>
              </a:rPr>
              <a:t>an </a:t>
            </a:r>
            <a:r>
              <a:rPr sz="2400" spc="-10" dirty="0">
                <a:latin typeface="Calibri"/>
                <a:cs typeface="Calibri"/>
              </a:rPr>
              <a:t>insurance</a:t>
            </a:r>
            <a:r>
              <a:rPr sz="2400" spc="10" dirty="0">
                <a:latin typeface="Calibri"/>
                <a:cs typeface="Calibri"/>
              </a:rPr>
              <a:t> </a:t>
            </a:r>
            <a:r>
              <a:rPr sz="2400" dirty="0">
                <a:latin typeface="Calibri"/>
                <a:cs typeface="Calibri"/>
              </a:rPr>
              <a:t>service</a:t>
            </a:r>
            <a:r>
              <a:rPr sz="2400" spc="-15" dirty="0">
                <a:latin typeface="Calibri"/>
                <a:cs typeface="Calibri"/>
              </a:rPr>
              <a:t> to</a:t>
            </a:r>
            <a:r>
              <a:rPr sz="2400" spc="-10" dirty="0">
                <a:latin typeface="Calibri"/>
                <a:cs typeface="Calibri"/>
              </a:rPr>
              <a:t> </a:t>
            </a:r>
            <a:r>
              <a:rPr sz="2400" spc="-15" dirty="0">
                <a:latin typeface="Calibri"/>
                <a:cs typeface="Calibri"/>
              </a:rPr>
              <a:t>cover</a:t>
            </a:r>
            <a:r>
              <a:rPr sz="2400" spc="5" dirty="0">
                <a:latin typeface="Calibri"/>
                <a:cs typeface="Calibri"/>
              </a:rPr>
              <a:t> </a:t>
            </a:r>
            <a:r>
              <a:rPr sz="2400" dirty="0">
                <a:latin typeface="Calibri"/>
                <a:cs typeface="Calibri"/>
              </a:rPr>
              <a:t>the </a:t>
            </a:r>
            <a:r>
              <a:rPr sz="2400" spc="-5" dirty="0">
                <a:latin typeface="Calibri"/>
                <a:cs typeface="Calibri"/>
              </a:rPr>
              <a:t>financial</a:t>
            </a:r>
            <a:r>
              <a:rPr sz="2400" spc="-10" dirty="0">
                <a:latin typeface="Calibri"/>
                <a:cs typeface="Calibri"/>
              </a:rPr>
              <a:t> </a:t>
            </a:r>
            <a:r>
              <a:rPr sz="2400" dirty="0">
                <a:latin typeface="Calibri"/>
                <a:cs typeface="Calibri"/>
              </a:rPr>
              <a:t>impacts</a:t>
            </a:r>
            <a:r>
              <a:rPr sz="2400" spc="-25" dirty="0">
                <a:latin typeface="Calibri"/>
                <a:cs typeface="Calibri"/>
              </a:rPr>
              <a:t> </a:t>
            </a:r>
            <a:r>
              <a:rPr sz="2400" spc="-10" dirty="0">
                <a:latin typeface="Calibri"/>
                <a:cs typeface="Calibri"/>
              </a:rPr>
              <a:t>(at</a:t>
            </a:r>
            <a:r>
              <a:rPr sz="2400" spc="-15" dirty="0">
                <a:latin typeface="Calibri"/>
                <a:cs typeface="Calibri"/>
              </a:rPr>
              <a:t> </a:t>
            </a:r>
            <a:r>
              <a:rPr sz="2400" spc="-5" dirty="0">
                <a:latin typeface="Calibri"/>
                <a:cs typeface="Calibri"/>
              </a:rPr>
              <a:t>least</a:t>
            </a:r>
            <a:r>
              <a:rPr sz="2400" spc="-20" dirty="0">
                <a:latin typeface="Calibri"/>
                <a:cs typeface="Calibri"/>
              </a:rPr>
              <a:t> </a:t>
            </a:r>
            <a:r>
              <a:rPr sz="2400" spc="-5" dirty="0">
                <a:latin typeface="Calibri"/>
                <a:cs typeface="Calibri"/>
              </a:rPr>
              <a:t>partially)</a:t>
            </a:r>
            <a:r>
              <a:rPr sz="2400" spc="-20" dirty="0">
                <a:latin typeface="Calibri"/>
                <a:cs typeface="Calibri"/>
              </a:rPr>
              <a:t> </a:t>
            </a:r>
            <a:r>
              <a:rPr sz="2400" spc="-5" dirty="0">
                <a:latin typeface="Calibri"/>
                <a:cs typeface="Calibri"/>
              </a:rPr>
              <a:t>of</a:t>
            </a:r>
            <a:endParaRPr sz="2400" dirty="0">
              <a:latin typeface="Calibri"/>
              <a:cs typeface="Calibri"/>
            </a:endParaRPr>
          </a:p>
          <a:p>
            <a:pPr marL="698500">
              <a:lnSpc>
                <a:spcPts val="2595"/>
              </a:lnSpc>
            </a:pPr>
            <a:r>
              <a:rPr sz="2400" dirty="0">
                <a:latin typeface="Calibri"/>
                <a:cs typeface="Calibri"/>
              </a:rPr>
              <a:t>a</a:t>
            </a:r>
            <a:r>
              <a:rPr sz="2400" spc="-50" dirty="0">
                <a:latin typeface="Calibri"/>
                <a:cs typeface="Calibri"/>
              </a:rPr>
              <a:t> </a:t>
            </a:r>
            <a:r>
              <a:rPr sz="2400" spc="-5" dirty="0">
                <a:latin typeface="Calibri"/>
                <a:cs typeface="Calibri"/>
              </a:rPr>
              <a:t>breach.</a:t>
            </a:r>
            <a:endParaRPr sz="24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A7FCCE-118D-4718-A02D-678F82E1C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 y="27432"/>
            <a:ext cx="12153900" cy="6297168"/>
          </a:xfrm>
          <a:prstGeom prst="rect">
            <a:avLst/>
          </a:prstGeom>
        </p:spPr>
      </p:pic>
    </p:spTree>
    <p:extLst>
      <p:ext uri="{BB962C8B-B14F-4D97-AF65-F5344CB8AC3E}">
        <p14:creationId xmlns:p14="http://schemas.microsoft.com/office/powerpoint/2010/main" val="399050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429CBA-D96C-FE76-3412-88E30A1BBB1A}"/>
              </a:ext>
            </a:extLst>
          </p:cNvPr>
          <p:cNvSpPr txBox="1"/>
          <p:nvPr/>
        </p:nvSpPr>
        <p:spPr>
          <a:xfrm>
            <a:off x="1203157" y="980866"/>
            <a:ext cx="8678779" cy="5001369"/>
          </a:xfrm>
          <a:prstGeom prst="rect">
            <a:avLst/>
          </a:prstGeom>
          <a:noFill/>
        </p:spPr>
        <p:txBody>
          <a:bodyPr wrap="square">
            <a:spAutoFit/>
          </a:bodyPr>
          <a:lstStyle/>
          <a:p>
            <a:pPr marL="342900" indent="-342900">
              <a:buFont typeface="Wingdings" panose="05000000000000000000" pitchFamily="2" charset="2"/>
              <a:buChar char="q"/>
            </a:pPr>
            <a:r>
              <a:rPr lang="en-US" sz="1600" dirty="0">
                <a:solidFill>
                  <a:srgbClr val="002060"/>
                </a:solidFill>
                <a:latin typeface="Berlin Sans FB" panose="020E0602020502020306" pitchFamily="34" charset="0"/>
              </a:rPr>
              <a:t>Risk avoidance is the choice that remains when no other response is adequate, meaning the following are true:</a:t>
            </a:r>
          </a:p>
          <a:p>
            <a:pPr marL="800100" lvl="1" indent="-342900">
              <a:spcAft>
                <a:spcPts val="600"/>
              </a:spcAft>
              <a:buFont typeface="Wingdings" panose="05000000000000000000" pitchFamily="2" charset="2"/>
              <a:buChar char="§"/>
            </a:pPr>
            <a:r>
              <a:rPr lang="en-US" sz="1600" dirty="0">
                <a:solidFill>
                  <a:srgbClr val="002060"/>
                </a:solidFill>
                <a:latin typeface="Berlin Sans FB" panose="020E0602020502020306" pitchFamily="34" charset="0"/>
              </a:rPr>
              <a:t>The current exposure level is consider unacceptable by management.</a:t>
            </a:r>
          </a:p>
          <a:p>
            <a:pPr marL="800100" lvl="1" indent="-342900">
              <a:spcAft>
                <a:spcPts val="600"/>
              </a:spcAft>
              <a:buFont typeface="Wingdings" panose="05000000000000000000" pitchFamily="2" charset="2"/>
              <a:buChar char="§"/>
            </a:pPr>
            <a:r>
              <a:rPr lang="en-US" sz="1600" dirty="0">
                <a:solidFill>
                  <a:srgbClr val="002060"/>
                </a:solidFill>
                <a:latin typeface="Berlin Sans FB" panose="020E0602020502020306" pitchFamily="34" charset="0"/>
              </a:rPr>
              <a:t>Mitigation or transfer that would bring the risk in line with acceptable levels </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would cost more than the benefits that the enterprise derives from the activities.</a:t>
            </a:r>
          </a:p>
          <a:p>
            <a:pPr marL="800100" lvl="1" indent="-342900">
              <a:spcAft>
                <a:spcPts val="600"/>
              </a:spcAft>
              <a:buFont typeface="Wingdings" panose="05000000000000000000" pitchFamily="2" charset="2"/>
              <a:buChar char="§"/>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Risk avoidance is the option taken when, after controls have been  considered, the level of risk is still not acceptable.</a:t>
            </a:r>
          </a:p>
          <a:p>
            <a:pPr marL="800100" lvl="1" indent="-342900">
              <a:spcAft>
                <a:spcPts val="600"/>
              </a:spcAft>
              <a:buFont typeface="Wingdings" panose="05000000000000000000" pitchFamily="2" charset="2"/>
              <a:buChar char="§"/>
            </a:pPr>
            <a:endParaRPr lang="en-US" sz="1600" dirty="0">
              <a:solidFill>
                <a:srgbClr val="7030A0"/>
              </a:solidFill>
              <a:effectLst>
                <a:outerShdw blurRad="38100" dist="38100" dir="2700000" algn="tl">
                  <a:srgbClr val="000000">
                    <a:alpha val="43137"/>
                  </a:srgbClr>
                </a:outerShdw>
              </a:effectLst>
              <a:latin typeface="Berlin Sans FB" panose="020E0602020502020306" pitchFamily="34" charset="0"/>
            </a:endParaRPr>
          </a:p>
          <a:p>
            <a:pPr marL="342900" indent="-342900">
              <a:buFont typeface="+mj-lt"/>
              <a:buAutoNum type="arabicPeriod"/>
            </a:pPr>
            <a:endParaRPr lang="en-US" sz="1600" dirty="0">
              <a:solidFill>
                <a:srgbClr val="002060"/>
              </a:solidFill>
              <a:latin typeface="Berlin Sans FB" panose="020E0602020502020306" pitchFamily="34" charset="0"/>
            </a:endParaRPr>
          </a:p>
          <a:p>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Some examples of risk avoidance include:</a:t>
            </a:r>
          </a:p>
          <a:p>
            <a:pPr marL="342900" indent="-342900">
              <a:spcAft>
                <a:spcPts val="600"/>
              </a:spcAft>
              <a:buFont typeface="+mj-lt"/>
              <a:buAutoNum type="arabicPeriod"/>
            </a:pPr>
            <a:endParaRPr lang="en-US" sz="1600" dirty="0">
              <a:solidFill>
                <a:srgbClr val="002060"/>
              </a:solidFill>
              <a:latin typeface="Berlin Sans FB" panose="020E0602020502020306" pitchFamily="34"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Relocating a data center away from a region with  significant natural hazards</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Evacuating staff from a work area in which there is substantial civil unrest or threat of war</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Declining a project whose business case shows a substantial likelihood of failure</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Rejecting a partnership agreement in which potential losses are allocated to the enterprise.</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Deciding not to use proprietary technology or software from a vendor because it has only recently begun operations or faces uncertain future prospects</a:t>
            </a:r>
          </a:p>
        </p:txBody>
      </p:sp>
      <p:sp>
        <p:nvSpPr>
          <p:cNvPr id="5" name="TextBox 4">
            <a:extLst>
              <a:ext uri="{FF2B5EF4-FFF2-40B4-BE49-F238E27FC236}">
                <a16:creationId xmlns:a16="http://schemas.microsoft.com/office/drawing/2014/main" id="{05466DBA-6D01-390C-F390-FC080D55A8C4}"/>
              </a:ext>
            </a:extLst>
          </p:cNvPr>
          <p:cNvSpPr txBox="1"/>
          <p:nvPr/>
        </p:nvSpPr>
        <p:spPr>
          <a:xfrm>
            <a:off x="906379" y="316649"/>
            <a:ext cx="6096000" cy="523220"/>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Risk Avoidance</a:t>
            </a:r>
          </a:p>
        </p:txBody>
      </p:sp>
    </p:spTree>
    <p:extLst>
      <p:ext uri="{BB962C8B-B14F-4D97-AF65-F5344CB8AC3E}">
        <p14:creationId xmlns:p14="http://schemas.microsoft.com/office/powerpoint/2010/main" val="1783121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251EDA-F3A9-4952-AEF1-7ACAEB2E22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 y="15240"/>
            <a:ext cx="12192000" cy="6309360"/>
          </a:xfrm>
          <a:prstGeom prst="rect">
            <a:avLst/>
          </a:prstGeom>
        </p:spPr>
      </p:pic>
    </p:spTree>
    <p:extLst>
      <p:ext uri="{BB962C8B-B14F-4D97-AF65-F5344CB8AC3E}">
        <p14:creationId xmlns:p14="http://schemas.microsoft.com/office/powerpoint/2010/main" val="1693080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03AE33-F9DC-47C8-B521-8472106053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 y="0"/>
            <a:ext cx="12192000" cy="6296025"/>
          </a:xfrm>
          <a:prstGeom prst="rect">
            <a:avLst/>
          </a:prstGeom>
        </p:spPr>
      </p:pic>
    </p:spTree>
    <p:extLst>
      <p:ext uri="{BB962C8B-B14F-4D97-AF65-F5344CB8AC3E}">
        <p14:creationId xmlns:p14="http://schemas.microsoft.com/office/powerpoint/2010/main" val="5434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C58B4-90F5-4323-875B-B977E347C2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 y="0"/>
            <a:ext cx="12192000" cy="6400800"/>
          </a:xfrm>
          <a:prstGeom prst="rect">
            <a:avLst/>
          </a:prstGeom>
        </p:spPr>
      </p:pic>
    </p:spTree>
    <p:extLst>
      <p:ext uri="{BB962C8B-B14F-4D97-AF65-F5344CB8AC3E}">
        <p14:creationId xmlns:p14="http://schemas.microsoft.com/office/powerpoint/2010/main" val="799004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6EA8FD-31E5-4421-9E3B-6DA141A08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315075"/>
          </a:xfrm>
          <a:prstGeom prst="rect">
            <a:avLst/>
          </a:prstGeom>
        </p:spPr>
      </p:pic>
    </p:spTree>
    <p:extLst>
      <p:ext uri="{BB962C8B-B14F-4D97-AF65-F5344CB8AC3E}">
        <p14:creationId xmlns:p14="http://schemas.microsoft.com/office/powerpoint/2010/main" val="810875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832474-CA5D-B077-5DF7-5C1841E5CF2D}"/>
              </a:ext>
            </a:extLst>
          </p:cNvPr>
          <p:cNvSpPr txBox="1"/>
          <p:nvPr/>
        </p:nvSpPr>
        <p:spPr>
          <a:xfrm>
            <a:off x="761999" y="0"/>
            <a:ext cx="9865895" cy="5863144"/>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Choosing a Risk Response</a:t>
            </a:r>
          </a:p>
          <a:p>
            <a:endParaRPr lang="en-US" sz="1100" dirty="0">
              <a:latin typeface="Courier New" panose="02070309020205020404" pitchFamily="49" charset="0"/>
            </a:endParaRPr>
          </a:p>
          <a:p>
            <a:pPr marL="342900" indent="-342900">
              <a:buFont typeface="Wingdings" panose="05000000000000000000" pitchFamily="2" charset="2"/>
              <a:buChar char="q"/>
            </a:pPr>
            <a:r>
              <a:rPr lang="en-US" sz="1600" dirty="0">
                <a:solidFill>
                  <a:srgbClr val="002060"/>
                </a:solidFill>
                <a:latin typeface="Berlin Sans FB" panose="020E0602020502020306" pitchFamily="34" charset="0"/>
              </a:rPr>
              <a:t>In some cases, the decision to pursue a particular risk response may not be immediately obvious. </a:t>
            </a:r>
          </a:p>
          <a:p>
            <a:pPr marL="342900" indent="-342900">
              <a:buFont typeface="Wingdings" panose="05000000000000000000" pitchFamily="2" charset="2"/>
              <a:buChar char="q"/>
            </a:pPr>
            <a:r>
              <a:rPr lang="en-US" sz="1600" dirty="0">
                <a:solidFill>
                  <a:srgbClr val="002060"/>
                </a:solidFill>
                <a:latin typeface="Berlin Sans FB" panose="020E0602020502020306" pitchFamily="34" charset="0"/>
              </a:rPr>
              <a:t>In such cases, the best risk response is typically determined based on analysis which will consider server factors including:</a:t>
            </a:r>
          </a:p>
          <a:p>
            <a:pPr marL="1257300" lvl="2" indent="-342900">
              <a:buFont typeface="+mj-lt"/>
              <a:buAutoNum type="arabicPeriod"/>
            </a:pPr>
            <a:r>
              <a:rPr lang="en-US" sz="1600" dirty="0">
                <a:solidFill>
                  <a:srgbClr val="002060"/>
                </a:solidFill>
                <a:latin typeface="Berlin Sans FB" panose="020E0602020502020306" pitchFamily="34" charset="0"/>
              </a:rPr>
              <a:t>Priority of the risk as indicated in the risk assessment report</a:t>
            </a:r>
          </a:p>
          <a:p>
            <a:pPr marL="1257300" lvl="2" indent="-342900">
              <a:buFont typeface="+mj-lt"/>
              <a:buAutoNum type="arabicPeriod"/>
            </a:pPr>
            <a:r>
              <a:rPr lang="en-US" sz="1600" dirty="0">
                <a:solidFill>
                  <a:srgbClr val="002060"/>
                </a:solidFill>
                <a:latin typeface="Berlin Sans FB" panose="020E0602020502020306" pitchFamily="34" charset="0"/>
              </a:rPr>
              <a:t>Complexity of recommended controls in cases involving mitigation</a:t>
            </a:r>
          </a:p>
          <a:p>
            <a:pPr marL="1257300" lvl="2" indent="-342900">
              <a:buFont typeface="+mj-lt"/>
              <a:buAutoNum type="arabicPeriod"/>
            </a:pPr>
            <a:r>
              <a:rPr lang="en-US" sz="1600" dirty="0">
                <a:solidFill>
                  <a:srgbClr val="002060"/>
                </a:solidFill>
                <a:latin typeface="Berlin Sans FB" panose="020E0602020502020306" pitchFamily="34" charset="0"/>
              </a:rPr>
              <a:t>Alternatives that are suggested through further analysis</a:t>
            </a:r>
          </a:p>
          <a:p>
            <a:pPr marL="1257300" lvl="2" indent="-342900">
              <a:buFont typeface="+mj-lt"/>
              <a:buAutoNum type="arabicPeriod"/>
            </a:pPr>
            <a:r>
              <a:rPr lang="en-US" sz="1600" dirty="0">
                <a:solidFill>
                  <a:srgbClr val="002060"/>
                </a:solidFill>
                <a:latin typeface="Berlin Sans FB" panose="020E0602020502020306" pitchFamily="34" charset="0"/>
              </a:rPr>
              <a:t>Cost of the various response options, including:</a:t>
            </a:r>
          </a:p>
          <a:p>
            <a:pPr marL="2171700" lvl="4" indent="-342900">
              <a:buFont typeface="Wingdings" panose="05000000000000000000" pitchFamily="2" charset="2"/>
              <a:buChar char="§"/>
            </a:pPr>
            <a:r>
              <a:rPr lang="en-US" sz="1400" dirty="0">
                <a:solidFill>
                  <a:srgbClr val="002060"/>
                </a:solidFill>
                <a:latin typeface="Berlin Sans FB" panose="020E0602020502020306" pitchFamily="34" charset="0"/>
              </a:rPr>
              <a:t>= Acquisition cost</a:t>
            </a:r>
          </a:p>
          <a:p>
            <a:pPr marL="2171700" lvl="4" indent="-342900">
              <a:buFont typeface="Wingdings" panose="05000000000000000000" pitchFamily="2" charset="2"/>
              <a:buChar char="§"/>
            </a:pPr>
            <a:r>
              <a:rPr lang="en-US" sz="1400" dirty="0">
                <a:solidFill>
                  <a:srgbClr val="002060"/>
                </a:solidFill>
                <a:latin typeface="Berlin Sans FB" panose="020E0602020502020306" pitchFamily="34" charset="0"/>
              </a:rPr>
              <a:t>= Training cost</a:t>
            </a:r>
          </a:p>
          <a:p>
            <a:pPr marL="2171700" lvl="4" indent="-342900">
              <a:buFont typeface="Wingdings" panose="05000000000000000000" pitchFamily="2" charset="2"/>
              <a:buChar char="§"/>
            </a:pPr>
            <a:r>
              <a:rPr lang="en-US" sz="1400" dirty="0">
                <a:solidFill>
                  <a:srgbClr val="002060"/>
                </a:solidFill>
                <a:latin typeface="Berlin Sans FB" panose="020E0602020502020306" pitchFamily="34" charset="0"/>
              </a:rPr>
              <a:t>= Impact of productivity</a:t>
            </a:r>
          </a:p>
          <a:p>
            <a:pPr marL="2171700" lvl="4" indent="-342900">
              <a:buFont typeface="Wingdings" panose="05000000000000000000" pitchFamily="2" charset="2"/>
              <a:buChar char="§"/>
            </a:pPr>
            <a:r>
              <a:rPr lang="en-US" sz="1400" dirty="0">
                <a:solidFill>
                  <a:srgbClr val="002060"/>
                </a:solidFill>
                <a:latin typeface="Berlin Sans FB" panose="020E0602020502020306" pitchFamily="34" charset="0"/>
              </a:rPr>
              <a:t>= Maintenance and licensing costs</a:t>
            </a:r>
          </a:p>
          <a:p>
            <a:pPr marL="1257300" lvl="2" indent="-342900">
              <a:buFont typeface="+mj-lt"/>
              <a:buAutoNum type="arabicPeriod"/>
            </a:pPr>
            <a:r>
              <a:rPr lang="en-US" sz="1600" dirty="0">
                <a:solidFill>
                  <a:srgbClr val="002060"/>
                </a:solidFill>
                <a:latin typeface="Berlin Sans FB" panose="020E0602020502020306" pitchFamily="34" charset="0"/>
              </a:rPr>
              <a:t>Management decision based on:</a:t>
            </a:r>
          </a:p>
          <a:p>
            <a:pPr marL="2171700" lvl="4" indent="-342900">
              <a:buFont typeface="Wingdings" panose="05000000000000000000" pitchFamily="2" charset="2"/>
              <a:buChar char="§"/>
            </a:pPr>
            <a:r>
              <a:rPr lang="en-US" sz="1400" dirty="0">
                <a:solidFill>
                  <a:srgbClr val="002060"/>
                </a:solidFill>
                <a:latin typeface="Berlin Sans FB" panose="020E0602020502020306" pitchFamily="34" charset="0"/>
              </a:rPr>
              <a:t>= Financial objectives</a:t>
            </a:r>
          </a:p>
          <a:p>
            <a:pPr marL="2171700" lvl="4" indent="-342900">
              <a:buFont typeface="Wingdings" panose="05000000000000000000" pitchFamily="2" charset="2"/>
              <a:buChar char="§"/>
            </a:pPr>
            <a:r>
              <a:rPr lang="en-US" sz="1400" dirty="0">
                <a:solidFill>
                  <a:srgbClr val="002060"/>
                </a:solidFill>
                <a:latin typeface="Berlin Sans FB" panose="020E0602020502020306" pitchFamily="34" charset="0"/>
              </a:rPr>
              <a:t>= Tolerance and variability of loss</a:t>
            </a:r>
          </a:p>
          <a:p>
            <a:pPr marL="2171700" lvl="4" indent="-342900">
              <a:buFont typeface="Wingdings" panose="05000000000000000000" pitchFamily="2" charset="2"/>
              <a:buChar char="§"/>
            </a:pPr>
            <a:r>
              <a:rPr lang="en-US" sz="1400" dirty="0">
                <a:solidFill>
                  <a:srgbClr val="002060"/>
                </a:solidFill>
                <a:latin typeface="Berlin Sans FB" panose="020E0602020502020306" pitchFamily="34" charset="0"/>
              </a:rPr>
              <a:t>= Relative importance</a:t>
            </a:r>
          </a:p>
          <a:p>
            <a:pPr marL="2171700" lvl="4" indent="-342900">
              <a:buFont typeface="Wingdings" panose="05000000000000000000" pitchFamily="2" charset="2"/>
              <a:buChar char="§"/>
            </a:pPr>
            <a:r>
              <a:rPr lang="en-US" sz="1400" dirty="0">
                <a:solidFill>
                  <a:srgbClr val="002060"/>
                </a:solidFill>
                <a:latin typeface="Berlin Sans FB" panose="020E0602020502020306" pitchFamily="34" charset="0"/>
              </a:rPr>
              <a:t>= Risk tolerance and risk appetite</a:t>
            </a:r>
          </a:p>
          <a:p>
            <a:pPr marL="1257300" lvl="2" indent="-342900">
              <a:buFont typeface="+mj-lt"/>
              <a:buAutoNum type="arabicPeriod"/>
            </a:pPr>
            <a:r>
              <a:rPr lang="en-US" sz="1600" dirty="0">
                <a:solidFill>
                  <a:srgbClr val="002060"/>
                </a:solidFill>
                <a:latin typeface="Berlin Sans FB" panose="020E0602020502020306" pitchFamily="34" charset="0"/>
              </a:rPr>
              <a:t>Requirements for compliance with regulations or legislation</a:t>
            </a:r>
          </a:p>
          <a:p>
            <a:pPr marL="1257300" lvl="2" indent="-342900">
              <a:buFont typeface="+mj-lt"/>
              <a:buAutoNum type="arabicPeriod"/>
            </a:pPr>
            <a:r>
              <a:rPr lang="en-US" sz="1600" dirty="0">
                <a:solidFill>
                  <a:srgbClr val="002060"/>
                </a:solidFill>
                <a:latin typeface="Berlin Sans FB" panose="020E0602020502020306" pitchFamily="34" charset="0"/>
              </a:rPr>
              <a:t>Alignment of the response option with organizational strategy</a:t>
            </a:r>
          </a:p>
          <a:p>
            <a:pPr marL="1257300" lvl="2" indent="-342900">
              <a:buFont typeface="+mj-lt"/>
              <a:buAutoNum type="arabicPeriod"/>
            </a:pPr>
            <a:r>
              <a:rPr lang="en-US" sz="1600" dirty="0">
                <a:solidFill>
                  <a:srgbClr val="002060"/>
                </a:solidFill>
                <a:latin typeface="Berlin Sans FB" panose="020E0602020502020306" pitchFamily="34" charset="0"/>
              </a:rPr>
              <a:t>Possibility of integrating the response with other initiatives</a:t>
            </a:r>
          </a:p>
          <a:p>
            <a:pPr marL="1257300" lvl="2" indent="-342900">
              <a:buFont typeface="+mj-lt"/>
              <a:buAutoNum type="arabicPeriod"/>
            </a:pPr>
            <a:r>
              <a:rPr lang="en-US" sz="1600" dirty="0">
                <a:solidFill>
                  <a:srgbClr val="002060"/>
                </a:solidFill>
                <a:latin typeface="Berlin Sans FB" panose="020E0602020502020306" pitchFamily="34" charset="0"/>
              </a:rPr>
              <a:t>Organizational culture </a:t>
            </a:r>
          </a:p>
          <a:p>
            <a:pPr marL="1257300" lvl="2" indent="-342900">
              <a:buFont typeface="+mj-lt"/>
              <a:buAutoNum type="arabicPeriod"/>
            </a:pPr>
            <a:r>
              <a:rPr lang="en-US" sz="1600" dirty="0">
                <a:solidFill>
                  <a:srgbClr val="002060"/>
                </a:solidFill>
                <a:latin typeface="Berlin Sans FB" panose="020E0602020502020306" pitchFamily="34" charset="0"/>
              </a:rPr>
              <a:t>Time, resources and budget available for the response</a:t>
            </a:r>
          </a:p>
          <a:p>
            <a:pPr marL="1257300" lvl="2" indent="-342900">
              <a:buFont typeface="+mj-lt"/>
              <a:buAutoNum type="arabicPeriod"/>
            </a:pPr>
            <a:r>
              <a:rPr lang="en-US" sz="1600" dirty="0">
                <a:solidFill>
                  <a:srgbClr val="002060"/>
                </a:solidFill>
                <a:latin typeface="Berlin Sans FB" panose="020E0602020502020306" pitchFamily="34" charset="0"/>
              </a:rPr>
              <a:t>Environmental and market conditions and evolution</a:t>
            </a:r>
          </a:p>
        </p:txBody>
      </p:sp>
    </p:spTree>
    <p:extLst>
      <p:ext uri="{BB962C8B-B14F-4D97-AF65-F5344CB8AC3E}">
        <p14:creationId xmlns:p14="http://schemas.microsoft.com/office/powerpoint/2010/main" val="1133498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15" dirty="0">
                <a:solidFill>
                  <a:srgbClr val="074891"/>
                </a:solidFill>
                <a:uFill>
                  <a:solidFill>
                    <a:srgbClr val="000000"/>
                  </a:solidFill>
                </a:uFill>
                <a:latin typeface="Calibri Light"/>
                <a:cs typeface="Calibri Light"/>
              </a:rPr>
              <a:t>Risk</a:t>
            </a:r>
            <a:r>
              <a:rPr sz="4400" u="heavy" spc="-110" dirty="0">
                <a:solidFill>
                  <a:srgbClr val="074891"/>
                </a:solidFill>
                <a:uFill>
                  <a:solidFill>
                    <a:srgbClr val="000000"/>
                  </a:solidFill>
                </a:uFill>
                <a:latin typeface="Calibri Light"/>
                <a:cs typeface="Calibri Light"/>
              </a:rPr>
              <a:t> </a:t>
            </a:r>
            <a:r>
              <a:rPr sz="4400" u="heavy" spc="-45" dirty="0">
                <a:solidFill>
                  <a:srgbClr val="074891"/>
                </a:solidFill>
                <a:uFill>
                  <a:solidFill>
                    <a:srgbClr val="000000"/>
                  </a:solidFill>
                </a:uFill>
                <a:latin typeface="Calibri Light"/>
                <a:cs typeface="Calibri Light"/>
              </a:rPr>
              <a:t>Response</a:t>
            </a:r>
            <a:r>
              <a:rPr sz="4400" u="heavy" spc="-100" dirty="0">
                <a:solidFill>
                  <a:srgbClr val="074891"/>
                </a:solidFill>
                <a:uFill>
                  <a:solidFill>
                    <a:srgbClr val="000000"/>
                  </a:solidFill>
                </a:uFill>
                <a:latin typeface="Calibri Light"/>
                <a:cs typeface="Calibri Light"/>
              </a:rPr>
              <a:t> </a:t>
            </a:r>
            <a:r>
              <a:rPr sz="4400" u="heavy" spc="-65" dirty="0">
                <a:solidFill>
                  <a:srgbClr val="074891"/>
                </a:solidFill>
                <a:uFill>
                  <a:solidFill>
                    <a:srgbClr val="000000"/>
                  </a:solidFill>
                </a:uFill>
                <a:latin typeface="Calibri Light"/>
                <a:cs typeface="Calibri Light"/>
              </a:rPr>
              <a:t>Parameters	</a:t>
            </a:r>
            <a:endParaRPr sz="4400">
              <a:latin typeface="Calibri Light"/>
              <a:cs typeface="Calibri Light"/>
            </a:endParaRPr>
          </a:p>
        </p:txBody>
      </p:sp>
      <p:sp>
        <p:nvSpPr>
          <p:cNvPr id="3" name="object 3"/>
          <p:cNvSpPr txBox="1"/>
          <p:nvPr/>
        </p:nvSpPr>
        <p:spPr>
          <a:xfrm>
            <a:off x="1081062" y="1738785"/>
            <a:ext cx="9289953" cy="3743269"/>
          </a:xfrm>
          <a:prstGeom prst="rect">
            <a:avLst/>
          </a:prstGeom>
        </p:spPr>
        <p:txBody>
          <a:bodyPr vert="horz" wrap="square" lIns="0" tIns="54610" rIns="0" bIns="0" rtlCol="0">
            <a:spAutoFit/>
          </a:bodyPr>
          <a:lstStyle/>
          <a:p>
            <a:pPr marL="241300" marR="5080" indent="-229235">
              <a:lnSpc>
                <a:spcPct val="90000"/>
              </a:lnSpc>
              <a:spcBef>
                <a:spcPts val="430"/>
              </a:spcBef>
              <a:buFont typeface="Arial MT"/>
              <a:buChar char="•"/>
              <a:tabLst>
                <a:tab pos="241935" algn="l"/>
              </a:tabLst>
            </a:pPr>
            <a:r>
              <a:rPr sz="2400" b="1" i="1" spc="-10" dirty="0">
                <a:latin typeface="Calibri"/>
                <a:cs typeface="Calibri"/>
              </a:rPr>
              <a:t>Cost</a:t>
            </a:r>
            <a:r>
              <a:rPr sz="2400" b="1" i="1" dirty="0">
                <a:latin typeface="Calibri"/>
                <a:cs typeface="Calibri"/>
              </a:rPr>
              <a:t> </a:t>
            </a:r>
            <a:r>
              <a:rPr sz="2400" spc="-5" dirty="0">
                <a:latin typeface="Calibri"/>
                <a:cs typeface="Calibri"/>
              </a:rPr>
              <a:t>is</a:t>
            </a:r>
            <a:r>
              <a:rPr sz="2400" spc="5" dirty="0">
                <a:latin typeface="Calibri"/>
                <a:cs typeface="Calibri"/>
              </a:rPr>
              <a:t> </a:t>
            </a:r>
            <a:r>
              <a:rPr sz="2400" spc="-10" dirty="0">
                <a:latin typeface="Calibri"/>
                <a:cs typeface="Calibri"/>
              </a:rPr>
              <a:t>not</a:t>
            </a:r>
            <a:r>
              <a:rPr sz="2400" spc="20" dirty="0">
                <a:latin typeface="Calibri"/>
                <a:cs typeface="Calibri"/>
              </a:rPr>
              <a:t> </a:t>
            </a:r>
            <a:r>
              <a:rPr sz="2400" spc="-10" dirty="0">
                <a:latin typeface="Calibri"/>
                <a:cs typeface="Calibri"/>
              </a:rPr>
              <a:t>only</a:t>
            </a:r>
            <a:r>
              <a:rPr sz="2400" spc="5" dirty="0">
                <a:latin typeface="Calibri"/>
                <a:cs typeface="Calibri"/>
              </a:rPr>
              <a:t> </a:t>
            </a:r>
            <a:r>
              <a:rPr sz="2400" spc="-5" dirty="0">
                <a:latin typeface="Calibri"/>
                <a:cs typeface="Calibri"/>
              </a:rPr>
              <a:t>the</a:t>
            </a:r>
            <a:r>
              <a:rPr sz="2400" spc="10" dirty="0">
                <a:latin typeface="Calibri"/>
                <a:cs typeface="Calibri"/>
              </a:rPr>
              <a:t> </a:t>
            </a:r>
            <a:r>
              <a:rPr sz="2400" spc="-5" dirty="0">
                <a:latin typeface="Calibri"/>
                <a:cs typeface="Calibri"/>
              </a:rPr>
              <a:t>financial</a:t>
            </a:r>
            <a:r>
              <a:rPr sz="2400" spc="15" dirty="0">
                <a:latin typeface="Calibri"/>
                <a:cs typeface="Calibri"/>
              </a:rPr>
              <a:t> </a:t>
            </a:r>
            <a:r>
              <a:rPr sz="2400" spc="-10" dirty="0">
                <a:latin typeface="Calibri"/>
                <a:cs typeface="Calibri"/>
              </a:rPr>
              <a:t>impacts</a:t>
            </a:r>
            <a:r>
              <a:rPr sz="2400" spc="25" dirty="0">
                <a:latin typeface="Calibri"/>
                <a:cs typeface="Calibri"/>
              </a:rPr>
              <a:t> </a:t>
            </a:r>
            <a:r>
              <a:rPr sz="2400" spc="-5" dirty="0">
                <a:latin typeface="Calibri"/>
                <a:cs typeface="Calibri"/>
              </a:rPr>
              <a:t>of</a:t>
            </a:r>
            <a:r>
              <a:rPr sz="2400" dirty="0">
                <a:latin typeface="Calibri"/>
                <a:cs typeface="Calibri"/>
              </a:rPr>
              <a:t> </a:t>
            </a:r>
            <a:r>
              <a:rPr sz="2400" spc="-20" dirty="0">
                <a:latin typeface="Calibri"/>
                <a:cs typeface="Calibri"/>
              </a:rPr>
              <a:t>any</a:t>
            </a:r>
            <a:r>
              <a:rPr sz="2400" spc="5" dirty="0">
                <a:latin typeface="Calibri"/>
                <a:cs typeface="Calibri"/>
              </a:rPr>
              <a:t> </a:t>
            </a:r>
            <a:r>
              <a:rPr sz="2400" spc="-10" dirty="0">
                <a:latin typeface="Calibri"/>
                <a:cs typeface="Calibri"/>
              </a:rPr>
              <a:t>decision</a:t>
            </a:r>
            <a:r>
              <a:rPr sz="2400" spc="25" dirty="0">
                <a:latin typeface="Calibri"/>
                <a:cs typeface="Calibri"/>
              </a:rPr>
              <a:t> </a:t>
            </a:r>
            <a:r>
              <a:rPr sz="2400" spc="-10" dirty="0">
                <a:latin typeface="Calibri"/>
                <a:cs typeface="Calibri"/>
              </a:rPr>
              <a:t>but</a:t>
            </a:r>
            <a:r>
              <a:rPr sz="2400" spc="15" dirty="0">
                <a:latin typeface="Calibri"/>
                <a:cs typeface="Calibri"/>
              </a:rPr>
              <a:t> </a:t>
            </a:r>
            <a:r>
              <a:rPr sz="2400" spc="-5" dirty="0">
                <a:latin typeface="Calibri"/>
                <a:cs typeface="Calibri"/>
              </a:rPr>
              <a:t>also</a:t>
            </a:r>
            <a:r>
              <a:rPr sz="2400" dirty="0">
                <a:latin typeface="Calibri"/>
                <a:cs typeface="Calibri"/>
              </a:rPr>
              <a:t> </a:t>
            </a:r>
            <a:r>
              <a:rPr sz="2400" spc="-10" dirty="0">
                <a:latin typeface="Calibri"/>
                <a:cs typeface="Calibri"/>
              </a:rPr>
              <a:t>other </a:t>
            </a:r>
            <a:r>
              <a:rPr sz="2400" spc="-5" dirty="0">
                <a:latin typeface="Calibri"/>
                <a:cs typeface="Calibri"/>
              </a:rPr>
              <a:t> aspects</a:t>
            </a:r>
            <a:r>
              <a:rPr sz="2400" spc="15" dirty="0">
                <a:latin typeface="Calibri"/>
                <a:cs typeface="Calibri"/>
              </a:rPr>
              <a:t> </a:t>
            </a:r>
            <a:r>
              <a:rPr sz="2400" spc="-5" dirty="0">
                <a:latin typeface="Calibri"/>
                <a:cs typeface="Calibri"/>
              </a:rPr>
              <a:t>such</a:t>
            </a:r>
            <a:r>
              <a:rPr sz="2400" spc="15" dirty="0">
                <a:latin typeface="Calibri"/>
                <a:cs typeface="Calibri"/>
              </a:rPr>
              <a:t> </a:t>
            </a:r>
            <a:r>
              <a:rPr sz="2400" spc="-5" dirty="0">
                <a:latin typeface="Calibri"/>
                <a:cs typeface="Calibri"/>
              </a:rPr>
              <a:t>as:</a:t>
            </a:r>
            <a:r>
              <a:rPr sz="2400" spc="25" dirty="0">
                <a:latin typeface="Calibri"/>
                <a:cs typeface="Calibri"/>
              </a:rPr>
              <a:t> </a:t>
            </a:r>
            <a:r>
              <a:rPr sz="2400" i="1" spc="-5" dirty="0">
                <a:latin typeface="Calibri"/>
                <a:cs typeface="Calibri"/>
              </a:rPr>
              <a:t>loss</a:t>
            </a:r>
            <a:r>
              <a:rPr sz="2400" i="1" dirty="0">
                <a:latin typeface="Calibri"/>
                <a:cs typeface="Calibri"/>
              </a:rPr>
              <a:t> </a:t>
            </a:r>
            <a:r>
              <a:rPr sz="2400" i="1" spc="-5" dirty="0">
                <a:latin typeface="Calibri"/>
                <a:cs typeface="Calibri"/>
              </a:rPr>
              <a:t>of</a:t>
            </a:r>
            <a:r>
              <a:rPr sz="2400" i="1" dirty="0">
                <a:latin typeface="Calibri"/>
                <a:cs typeface="Calibri"/>
              </a:rPr>
              <a:t> </a:t>
            </a:r>
            <a:r>
              <a:rPr sz="2400" i="1" spc="-5" dirty="0">
                <a:latin typeface="Calibri"/>
                <a:cs typeface="Calibri"/>
              </a:rPr>
              <a:t>goodwill,</a:t>
            </a:r>
            <a:r>
              <a:rPr sz="2400" i="1" spc="-15" dirty="0">
                <a:latin typeface="Calibri"/>
                <a:cs typeface="Calibri"/>
              </a:rPr>
              <a:t> </a:t>
            </a:r>
            <a:r>
              <a:rPr sz="2400" i="1" spc="-5" dirty="0">
                <a:latin typeface="Calibri"/>
                <a:cs typeface="Calibri"/>
              </a:rPr>
              <a:t>loss</a:t>
            </a:r>
            <a:r>
              <a:rPr sz="2400" i="1" dirty="0">
                <a:latin typeface="Calibri"/>
                <a:cs typeface="Calibri"/>
              </a:rPr>
              <a:t> </a:t>
            </a:r>
            <a:r>
              <a:rPr sz="2400" i="1" spc="-5" dirty="0">
                <a:latin typeface="Calibri"/>
                <a:cs typeface="Calibri"/>
              </a:rPr>
              <a:t>of</a:t>
            </a:r>
            <a:r>
              <a:rPr sz="2400" i="1" dirty="0">
                <a:latin typeface="Calibri"/>
                <a:cs typeface="Calibri"/>
              </a:rPr>
              <a:t> </a:t>
            </a:r>
            <a:r>
              <a:rPr sz="2400" i="1" spc="-5" dirty="0">
                <a:latin typeface="Calibri"/>
                <a:cs typeface="Calibri"/>
              </a:rPr>
              <a:t>brand </a:t>
            </a:r>
            <a:r>
              <a:rPr sz="2400" i="1" spc="-15" dirty="0">
                <a:latin typeface="Calibri"/>
                <a:cs typeface="Calibri"/>
              </a:rPr>
              <a:t>status,</a:t>
            </a:r>
            <a:r>
              <a:rPr sz="2400" i="1" spc="-5" dirty="0">
                <a:latin typeface="Calibri"/>
                <a:cs typeface="Calibri"/>
              </a:rPr>
              <a:t> </a:t>
            </a:r>
            <a:r>
              <a:rPr sz="2400" spc="-10" dirty="0">
                <a:latin typeface="Calibri"/>
                <a:cs typeface="Calibri"/>
              </a:rPr>
              <a:t>Consider</a:t>
            </a:r>
            <a:r>
              <a:rPr sz="2400" spc="15" dirty="0">
                <a:latin typeface="Calibri"/>
                <a:cs typeface="Calibri"/>
              </a:rPr>
              <a:t> </a:t>
            </a:r>
            <a:r>
              <a:rPr sz="2400" spc="-5" dirty="0">
                <a:latin typeface="Calibri"/>
                <a:cs typeface="Calibri"/>
              </a:rPr>
              <a:t>the</a:t>
            </a:r>
            <a:r>
              <a:rPr sz="2400" spc="10" dirty="0">
                <a:latin typeface="Calibri"/>
                <a:cs typeface="Calibri"/>
              </a:rPr>
              <a:t> </a:t>
            </a:r>
            <a:r>
              <a:rPr sz="2400" spc="-20" dirty="0">
                <a:latin typeface="Calibri"/>
                <a:cs typeface="Calibri"/>
              </a:rPr>
              <a:t>cost</a:t>
            </a:r>
            <a:r>
              <a:rPr sz="2400" spc="15" dirty="0">
                <a:latin typeface="Calibri"/>
                <a:cs typeface="Calibri"/>
              </a:rPr>
              <a:t> </a:t>
            </a:r>
            <a:r>
              <a:rPr sz="2400" spc="-20" dirty="0">
                <a:latin typeface="Calibri"/>
                <a:cs typeface="Calibri"/>
              </a:rPr>
              <a:t>to</a:t>
            </a:r>
            <a:r>
              <a:rPr sz="2400" dirty="0">
                <a:latin typeface="Calibri"/>
                <a:cs typeface="Calibri"/>
              </a:rPr>
              <a:t> </a:t>
            </a:r>
            <a:r>
              <a:rPr sz="2400" spc="-15" dirty="0">
                <a:latin typeface="Calibri"/>
                <a:cs typeface="Calibri"/>
              </a:rPr>
              <a:t>maintain</a:t>
            </a:r>
            <a:r>
              <a:rPr sz="2400" spc="20" dirty="0">
                <a:latin typeface="Calibri"/>
                <a:cs typeface="Calibri"/>
              </a:rPr>
              <a:t> </a:t>
            </a:r>
            <a:r>
              <a:rPr sz="2400" spc="-5" dirty="0">
                <a:latin typeface="Calibri"/>
                <a:cs typeface="Calibri"/>
              </a:rPr>
              <a:t>the</a:t>
            </a:r>
            <a:r>
              <a:rPr sz="2400" spc="10" dirty="0">
                <a:latin typeface="Calibri"/>
                <a:cs typeface="Calibri"/>
              </a:rPr>
              <a:t> </a:t>
            </a:r>
            <a:r>
              <a:rPr sz="2400" spc="-15" dirty="0">
                <a:latin typeface="Calibri"/>
                <a:cs typeface="Calibri"/>
              </a:rPr>
              <a:t>responsive </a:t>
            </a:r>
            <a:r>
              <a:rPr sz="2400" spc="-10" dirty="0">
                <a:latin typeface="Calibri"/>
                <a:cs typeface="Calibri"/>
              </a:rPr>
              <a:t> </a:t>
            </a:r>
            <a:r>
              <a:rPr sz="2400" spc="-15" dirty="0">
                <a:latin typeface="Calibri"/>
                <a:cs typeface="Calibri"/>
              </a:rPr>
              <a:t>mitigation</a:t>
            </a:r>
            <a:r>
              <a:rPr sz="2400" spc="-10" dirty="0">
                <a:latin typeface="Calibri"/>
                <a:cs typeface="Calibri"/>
              </a:rPr>
              <a:t> </a:t>
            </a:r>
            <a:r>
              <a:rPr sz="2400" spc="-15" dirty="0">
                <a:latin typeface="Calibri"/>
                <a:cs typeface="Calibri"/>
              </a:rPr>
              <a:t>over</a:t>
            </a:r>
            <a:r>
              <a:rPr sz="2400" dirty="0">
                <a:latin typeface="Calibri"/>
                <a:cs typeface="Calibri"/>
              </a:rPr>
              <a:t> </a:t>
            </a:r>
            <a:r>
              <a:rPr sz="2400" spc="-5" dirty="0">
                <a:latin typeface="Calibri"/>
                <a:cs typeface="Calibri"/>
              </a:rPr>
              <a:t>its</a:t>
            </a:r>
            <a:r>
              <a:rPr sz="2400" spc="5" dirty="0">
                <a:latin typeface="Calibri"/>
                <a:cs typeface="Calibri"/>
              </a:rPr>
              <a:t> </a:t>
            </a:r>
            <a:r>
              <a:rPr sz="2400" spc="-15" dirty="0">
                <a:latin typeface="Calibri"/>
                <a:cs typeface="Calibri"/>
              </a:rPr>
              <a:t>required</a:t>
            </a:r>
            <a:r>
              <a:rPr sz="2400" spc="30" dirty="0">
                <a:latin typeface="Calibri"/>
                <a:cs typeface="Calibri"/>
              </a:rPr>
              <a:t> </a:t>
            </a:r>
            <a:r>
              <a:rPr sz="2400" spc="-25" dirty="0">
                <a:latin typeface="Calibri"/>
                <a:cs typeface="Calibri"/>
              </a:rPr>
              <a:t>life</a:t>
            </a:r>
            <a:r>
              <a:rPr sz="2400" dirty="0">
                <a:latin typeface="Calibri"/>
                <a:cs typeface="Calibri"/>
              </a:rPr>
              <a:t> </a:t>
            </a:r>
            <a:r>
              <a:rPr sz="2400" spc="-10" dirty="0">
                <a:latin typeface="Calibri"/>
                <a:cs typeface="Calibri"/>
              </a:rPr>
              <a:t>span.</a:t>
            </a:r>
            <a:endParaRPr sz="2400" dirty="0">
              <a:latin typeface="Calibri"/>
              <a:cs typeface="Calibri"/>
            </a:endParaRPr>
          </a:p>
          <a:p>
            <a:pPr marL="241300" marR="463550" indent="-229235">
              <a:lnSpc>
                <a:spcPts val="3020"/>
              </a:lnSpc>
              <a:spcBef>
                <a:spcPts val="1055"/>
              </a:spcBef>
              <a:buFont typeface="Arial MT"/>
              <a:buChar char="•"/>
              <a:tabLst>
                <a:tab pos="241935" algn="l"/>
              </a:tabLst>
            </a:pPr>
            <a:r>
              <a:rPr sz="2400" b="1" i="1" spc="-5" dirty="0">
                <a:latin typeface="Calibri"/>
                <a:cs typeface="Calibri"/>
              </a:rPr>
              <a:t>Ability</a:t>
            </a:r>
            <a:r>
              <a:rPr sz="2400" b="1" i="1" spc="30" dirty="0">
                <a:latin typeface="Calibri"/>
                <a:cs typeface="Calibri"/>
              </a:rPr>
              <a:t> </a:t>
            </a:r>
            <a:r>
              <a:rPr sz="2400" spc="-10" dirty="0">
                <a:latin typeface="Calibri"/>
                <a:cs typeface="Calibri"/>
              </a:rPr>
              <a:t>(</a:t>
            </a:r>
            <a:r>
              <a:rPr sz="2400" i="1" spc="-10" dirty="0">
                <a:latin typeface="Calibri"/>
                <a:cs typeface="Calibri"/>
              </a:rPr>
              <a:t>capability</a:t>
            </a:r>
            <a:r>
              <a:rPr sz="2400" spc="-10" dirty="0">
                <a:latin typeface="Calibri"/>
                <a:cs typeface="Calibri"/>
              </a:rPr>
              <a:t>)</a:t>
            </a:r>
            <a:r>
              <a:rPr sz="2400" spc="5" dirty="0">
                <a:latin typeface="Calibri"/>
                <a:cs typeface="Calibri"/>
              </a:rPr>
              <a:t> </a:t>
            </a:r>
            <a:r>
              <a:rPr sz="2400" spc="-25" dirty="0">
                <a:latin typeface="Calibri"/>
                <a:cs typeface="Calibri"/>
              </a:rPr>
              <a:t>for</a:t>
            </a:r>
            <a:r>
              <a:rPr sz="2400" spc="5" dirty="0">
                <a:latin typeface="Calibri"/>
                <a:cs typeface="Calibri"/>
              </a:rPr>
              <a:t> </a:t>
            </a:r>
            <a:r>
              <a:rPr sz="2400" spc="-5" dirty="0">
                <a:latin typeface="Calibri"/>
                <a:cs typeface="Calibri"/>
              </a:rPr>
              <a:t>the</a:t>
            </a:r>
            <a:r>
              <a:rPr sz="2400" spc="20" dirty="0">
                <a:latin typeface="Calibri"/>
                <a:cs typeface="Calibri"/>
              </a:rPr>
              <a:t> </a:t>
            </a:r>
            <a:r>
              <a:rPr sz="2400" spc="-20" dirty="0">
                <a:latin typeface="Calibri"/>
                <a:cs typeface="Calibri"/>
              </a:rPr>
              <a:t>organization</a:t>
            </a:r>
            <a:r>
              <a:rPr sz="2400" dirty="0">
                <a:latin typeface="Calibri"/>
                <a:cs typeface="Calibri"/>
              </a:rPr>
              <a:t> </a:t>
            </a:r>
            <a:r>
              <a:rPr sz="2400" spc="-15" dirty="0">
                <a:latin typeface="Calibri"/>
                <a:cs typeface="Calibri"/>
              </a:rPr>
              <a:t>to</a:t>
            </a:r>
            <a:r>
              <a:rPr sz="2400" spc="10" dirty="0">
                <a:latin typeface="Calibri"/>
                <a:cs typeface="Calibri"/>
              </a:rPr>
              <a:t> </a:t>
            </a:r>
            <a:r>
              <a:rPr sz="2400" spc="-10" dirty="0">
                <a:latin typeface="Calibri"/>
                <a:cs typeface="Calibri"/>
              </a:rPr>
              <a:t>implement</a:t>
            </a:r>
            <a:r>
              <a:rPr sz="2400" spc="30" dirty="0">
                <a:latin typeface="Calibri"/>
                <a:cs typeface="Calibri"/>
              </a:rPr>
              <a:t> </a:t>
            </a:r>
            <a:r>
              <a:rPr sz="2400" spc="-5" dirty="0">
                <a:latin typeface="Calibri"/>
                <a:cs typeface="Calibri"/>
              </a:rPr>
              <a:t>the</a:t>
            </a:r>
            <a:r>
              <a:rPr sz="2400" spc="15" dirty="0">
                <a:latin typeface="Calibri"/>
                <a:cs typeface="Calibri"/>
              </a:rPr>
              <a:t> </a:t>
            </a:r>
            <a:r>
              <a:rPr sz="2400" spc="-10" dirty="0">
                <a:latin typeface="Calibri"/>
                <a:cs typeface="Calibri"/>
              </a:rPr>
              <a:t>response </a:t>
            </a:r>
            <a:r>
              <a:rPr sz="2400" spc="-620" dirty="0">
                <a:latin typeface="Calibri"/>
                <a:cs typeface="Calibri"/>
              </a:rPr>
              <a:t> </a:t>
            </a:r>
            <a:r>
              <a:rPr sz="2400" spc="-10" dirty="0">
                <a:latin typeface="Calibri"/>
                <a:cs typeface="Calibri"/>
              </a:rPr>
              <a:t>should</a:t>
            </a:r>
            <a:r>
              <a:rPr sz="2400" spc="30" dirty="0">
                <a:latin typeface="Calibri"/>
                <a:cs typeface="Calibri"/>
              </a:rPr>
              <a:t> </a:t>
            </a:r>
            <a:r>
              <a:rPr sz="2400" spc="-5" dirty="0">
                <a:latin typeface="Calibri"/>
                <a:cs typeface="Calibri"/>
              </a:rPr>
              <a:t>also be </a:t>
            </a:r>
            <a:r>
              <a:rPr sz="2400" spc="-15" dirty="0">
                <a:latin typeface="Calibri"/>
                <a:cs typeface="Calibri"/>
              </a:rPr>
              <a:t>considered.</a:t>
            </a:r>
            <a:endParaRPr sz="2400" dirty="0">
              <a:latin typeface="Calibri"/>
              <a:cs typeface="Calibri"/>
            </a:endParaRPr>
          </a:p>
          <a:p>
            <a:pPr marL="241300" marR="1369695" indent="-229235">
              <a:lnSpc>
                <a:spcPts val="3020"/>
              </a:lnSpc>
              <a:spcBef>
                <a:spcPts val="1010"/>
              </a:spcBef>
              <a:buFont typeface="Arial MT"/>
              <a:buChar char="•"/>
              <a:tabLst>
                <a:tab pos="241935" algn="l"/>
              </a:tabLst>
            </a:pPr>
            <a:r>
              <a:rPr sz="2400" b="1" i="1" spc="-15" dirty="0">
                <a:latin typeface="Calibri"/>
                <a:cs typeface="Calibri"/>
              </a:rPr>
              <a:t>Effectiveness</a:t>
            </a:r>
            <a:r>
              <a:rPr sz="2400" i="1" spc="-15" dirty="0">
                <a:latin typeface="Calibri"/>
                <a:cs typeface="Calibri"/>
              </a:rPr>
              <a:t>:</a:t>
            </a:r>
            <a:r>
              <a:rPr sz="2400" i="1" spc="25" dirty="0">
                <a:latin typeface="Calibri"/>
                <a:cs typeface="Calibri"/>
              </a:rPr>
              <a:t> </a:t>
            </a:r>
            <a:r>
              <a:rPr sz="2400" spc="-5" dirty="0">
                <a:latin typeface="Calibri"/>
                <a:cs typeface="Calibri"/>
              </a:rPr>
              <a:t>the</a:t>
            </a:r>
            <a:r>
              <a:rPr sz="2400" spc="5" dirty="0">
                <a:latin typeface="Calibri"/>
                <a:cs typeface="Calibri"/>
              </a:rPr>
              <a:t> </a:t>
            </a:r>
            <a:r>
              <a:rPr sz="2400" spc="-20" dirty="0">
                <a:latin typeface="Calibri"/>
                <a:cs typeface="Calibri"/>
              </a:rPr>
              <a:t>extent</a:t>
            </a:r>
            <a:r>
              <a:rPr sz="2400" spc="20" dirty="0">
                <a:latin typeface="Calibri"/>
                <a:cs typeface="Calibri"/>
              </a:rPr>
              <a:t> </a:t>
            </a:r>
            <a:r>
              <a:rPr sz="2400" spc="-20" dirty="0">
                <a:latin typeface="Calibri"/>
                <a:cs typeface="Calibri"/>
              </a:rPr>
              <a:t>to</a:t>
            </a:r>
            <a:r>
              <a:rPr sz="2400" spc="5" dirty="0">
                <a:latin typeface="Calibri"/>
                <a:cs typeface="Calibri"/>
              </a:rPr>
              <a:t> </a:t>
            </a:r>
            <a:r>
              <a:rPr sz="2400" spc="-5" dirty="0">
                <a:latin typeface="Calibri"/>
                <a:cs typeface="Calibri"/>
              </a:rPr>
              <a:t>which</a:t>
            </a:r>
            <a:r>
              <a:rPr sz="2400" spc="35" dirty="0">
                <a:latin typeface="Calibri"/>
                <a:cs typeface="Calibri"/>
              </a:rPr>
              <a:t> </a:t>
            </a:r>
            <a:r>
              <a:rPr sz="2400" spc="-5" dirty="0">
                <a:latin typeface="Calibri"/>
                <a:cs typeface="Calibri"/>
              </a:rPr>
              <a:t>the</a:t>
            </a:r>
            <a:r>
              <a:rPr sz="2400" spc="20" dirty="0">
                <a:latin typeface="Calibri"/>
                <a:cs typeface="Calibri"/>
              </a:rPr>
              <a:t> </a:t>
            </a:r>
            <a:r>
              <a:rPr sz="2400" spc="-10" dirty="0">
                <a:latin typeface="Calibri"/>
                <a:cs typeface="Calibri"/>
              </a:rPr>
              <a:t>response</a:t>
            </a:r>
            <a:r>
              <a:rPr sz="2400" spc="50" dirty="0">
                <a:latin typeface="Calibri"/>
                <a:cs typeface="Calibri"/>
              </a:rPr>
              <a:t> </a:t>
            </a:r>
            <a:r>
              <a:rPr sz="2400" spc="-10" dirty="0">
                <a:latin typeface="Calibri"/>
                <a:cs typeface="Calibri"/>
              </a:rPr>
              <a:t>reduces</a:t>
            </a:r>
            <a:r>
              <a:rPr sz="2400" spc="30" dirty="0">
                <a:latin typeface="Calibri"/>
                <a:cs typeface="Calibri"/>
              </a:rPr>
              <a:t> </a:t>
            </a:r>
            <a:r>
              <a:rPr sz="2400" spc="-5" dirty="0">
                <a:latin typeface="Calibri"/>
                <a:cs typeface="Calibri"/>
              </a:rPr>
              <a:t>the </a:t>
            </a:r>
            <a:r>
              <a:rPr sz="2400" spc="-620" dirty="0">
                <a:latin typeface="Calibri"/>
                <a:cs typeface="Calibri"/>
              </a:rPr>
              <a:t> </a:t>
            </a:r>
            <a:r>
              <a:rPr sz="2400" spc="-15" dirty="0">
                <a:latin typeface="Calibri"/>
                <a:cs typeface="Calibri"/>
              </a:rPr>
              <a:t>likelihood</a:t>
            </a:r>
            <a:r>
              <a:rPr sz="2400" spc="15" dirty="0">
                <a:latin typeface="Calibri"/>
                <a:cs typeface="Calibri"/>
              </a:rPr>
              <a:t> </a:t>
            </a:r>
            <a:r>
              <a:rPr sz="2400" spc="-5" dirty="0">
                <a:latin typeface="Calibri"/>
                <a:cs typeface="Calibri"/>
              </a:rPr>
              <a:t>or</a:t>
            </a:r>
            <a:r>
              <a:rPr sz="2400" dirty="0">
                <a:latin typeface="Calibri"/>
                <a:cs typeface="Calibri"/>
              </a:rPr>
              <a:t> </a:t>
            </a:r>
            <a:r>
              <a:rPr sz="2400" spc="-5" dirty="0">
                <a:latin typeface="Calibri"/>
                <a:cs typeface="Calibri"/>
              </a:rPr>
              <a:t>the</a:t>
            </a:r>
            <a:r>
              <a:rPr sz="2400" spc="15" dirty="0">
                <a:latin typeface="Calibri"/>
                <a:cs typeface="Calibri"/>
              </a:rPr>
              <a:t> </a:t>
            </a:r>
            <a:r>
              <a:rPr sz="2400" spc="-10" dirty="0">
                <a:latin typeface="Calibri"/>
                <a:cs typeface="Calibri"/>
              </a:rPr>
              <a:t>impact</a:t>
            </a:r>
            <a:r>
              <a:rPr sz="2400" spc="20" dirty="0">
                <a:latin typeface="Calibri"/>
                <a:cs typeface="Calibri"/>
              </a:rPr>
              <a:t> </a:t>
            </a:r>
            <a:r>
              <a:rPr sz="2400" spc="-5" dirty="0">
                <a:latin typeface="Calibri"/>
                <a:cs typeface="Calibri"/>
              </a:rPr>
              <a:t>of</a:t>
            </a:r>
            <a:r>
              <a:rPr sz="2400" dirty="0">
                <a:latin typeface="Calibri"/>
                <a:cs typeface="Calibri"/>
              </a:rPr>
              <a:t> </a:t>
            </a:r>
            <a:r>
              <a:rPr sz="2400" spc="-5" dirty="0">
                <a:latin typeface="Calibri"/>
                <a:cs typeface="Calibri"/>
              </a:rPr>
              <a:t>the</a:t>
            </a:r>
            <a:r>
              <a:rPr sz="2400" spc="15" dirty="0">
                <a:latin typeface="Calibri"/>
                <a:cs typeface="Calibri"/>
              </a:rPr>
              <a:t> </a:t>
            </a:r>
            <a:r>
              <a:rPr sz="2400" spc="-10" dirty="0">
                <a:latin typeface="Calibri"/>
                <a:cs typeface="Calibri"/>
              </a:rPr>
              <a:t>risk</a:t>
            </a:r>
            <a:r>
              <a:rPr sz="2400" spc="10" dirty="0">
                <a:latin typeface="Calibri"/>
                <a:cs typeface="Calibri"/>
              </a:rPr>
              <a:t> </a:t>
            </a:r>
            <a:r>
              <a:rPr sz="2400" spc="-20" dirty="0">
                <a:latin typeface="Calibri"/>
                <a:cs typeface="Calibri"/>
              </a:rPr>
              <a:t>event</a:t>
            </a:r>
            <a:r>
              <a:rPr sz="2400" dirty="0">
                <a:latin typeface="Calibri"/>
                <a:cs typeface="Calibri"/>
              </a:rPr>
              <a:t> </a:t>
            </a:r>
            <a:r>
              <a:rPr sz="2400" spc="-15" dirty="0">
                <a:latin typeface="Calibri"/>
                <a:cs typeface="Calibri"/>
              </a:rPr>
              <a:t>to</a:t>
            </a:r>
            <a:r>
              <a:rPr sz="2400" dirty="0">
                <a:latin typeface="Calibri"/>
                <a:cs typeface="Calibri"/>
              </a:rPr>
              <a:t> </a:t>
            </a:r>
            <a:r>
              <a:rPr sz="2400" spc="-5" dirty="0">
                <a:latin typeface="Calibri"/>
                <a:cs typeface="Calibri"/>
              </a:rPr>
              <a:t>the</a:t>
            </a:r>
            <a:r>
              <a:rPr sz="2400" spc="15" dirty="0">
                <a:latin typeface="Calibri"/>
                <a:cs typeface="Calibri"/>
              </a:rPr>
              <a:t> </a:t>
            </a:r>
            <a:r>
              <a:rPr sz="2400" spc="-20" dirty="0">
                <a:latin typeface="Calibri"/>
                <a:cs typeface="Calibri"/>
              </a:rPr>
              <a:t>organization</a:t>
            </a:r>
            <a:endParaRPr sz="2400" dirty="0">
              <a:latin typeface="Calibri"/>
              <a:cs typeface="Calibri"/>
            </a:endParaRPr>
          </a:p>
          <a:p>
            <a:pPr marL="241300" marR="1166495" indent="-229235">
              <a:lnSpc>
                <a:spcPts val="3030"/>
              </a:lnSpc>
              <a:spcBef>
                <a:spcPts val="994"/>
              </a:spcBef>
              <a:buFont typeface="Arial MT"/>
              <a:buChar char="•"/>
              <a:tabLst>
                <a:tab pos="241935" algn="l"/>
              </a:tabLst>
            </a:pPr>
            <a:r>
              <a:rPr sz="2400" b="1" i="1" spc="-10" dirty="0">
                <a:latin typeface="Calibri"/>
                <a:cs typeface="Calibri"/>
              </a:rPr>
              <a:t>Efficiency</a:t>
            </a:r>
            <a:r>
              <a:rPr sz="2400" i="1" spc="-10" dirty="0">
                <a:latin typeface="Calibri"/>
                <a:cs typeface="Calibri"/>
              </a:rPr>
              <a:t>:</a:t>
            </a:r>
            <a:r>
              <a:rPr sz="2400" i="1" dirty="0">
                <a:latin typeface="Calibri"/>
                <a:cs typeface="Calibri"/>
              </a:rPr>
              <a:t> </a:t>
            </a:r>
            <a:r>
              <a:rPr sz="2400" i="1" spc="-5" dirty="0">
                <a:latin typeface="Calibri"/>
                <a:cs typeface="Calibri"/>
              </a:rPr>
              <a:t>t</a:t>
            </a:r>
            <a:r>
              <a:rPr sz="2400" spc="-5" dirty="0">
                <a:latin typeface="Calibri"/>
                <a:cs typeface="Calibri"/>
              </a:rPr>
              <a:t>he</a:t>
            </a:r>
            <a:r>
              <a:rPr sz="2400" dirty="0">
                <a:latin typeface="Calibri"/>
                <a:cs typeface="Calibri"/>
              </a:rPr>
              <a:t> </a:t>
            </a:r>
            <a:r>
              <a:rPr sz="2400" spc="-5" dirty="0">
                <a:latin typeface="Calibri"/>
                <a:cs typeface="Calibri"/>
              </a:rPr>
              <a:t>ability</a:t>
            </a:r>
            <a:r>
              <a:rPr sz="2400" spc="5" dirty="0">
                <a:latin typeface="Calibri"/>
                <a:cs typeface="Calibri"/>
              </a:rPr>
              <a:t> </a:t>
            </a:r>
            <a:r>
              <a:rPr sz="2400" spc="-25" dirty="0">
                <a:latin typeface="Calibri"/>
                <a:cs typeface="Calibri"/>
              </a:rPr>
              <a:t>for</a:t>
            </a:r>
            <a:r>
              <a:rPr sz="2400" spc="-5" dirty="0">
                <a:latin typeface="Calibri"/>
                <a:cs typeface="Calibri"/>
              </a:rPr>
              <a:t> a risk</a:t>
            </a:r>
            <a:r>
              <a:rPr sz="2400" spc="5" dirty="0">
                <a:latin typeface="Calibri"/>
                <a:cs typeface="Calibri"/>
              </a:rPr>
              <a:t> </a:t>
            </a:r>
            <a:r>
              <a:rPr sz="2400" spc="-10" dirty="0">
                <a:latin typeface="Calibri"/>
                <a:cs typeface="Calibri"/>
              </a:rPr>
              <a:t>response</a:t>
            </a:r>
            <a:r>
              <a:rPr sz="2400" spc="30" dirty="0">
                <a:latin typeface="Calibri"/>
                <a:cs typeface="Calibri"/>
              </a:rPr>
              <a:t> </a:t>
            </a:r>
            <a:r>
              <a:rPr sz="2400" spc="-20" dirty="0">
                <a:latin typeface="Calibri"/>
                <a:cs typeface="Calibri"/>
              </a:rPr>
              <a:t>to</a:t>
            </a:r>
            <a:r>
              <a:rPr sz="2400" spc="-5" dirty="0">
                <a:latin typeface="Calibri"/>
                <a:cs typeface="Calibri"/>
              </a:rPr>
              <a:t> </a:t>
            </a:r>
            <a:r>
              <a:rPr sz="2400" spc="-15" dirty="0">
                <a:latin typeface="Calibri"/>
                <a:cs typeface="Calibri"/>
              </a:rPr>
              <a:t>cover </a:t>
            </a:r>
            <a:r>
              <a:rPr sz="2400" spc="-5" dirty="0">
                <a:latin typeface="Calibri"/>
                <a:cs typeface="Calibri"/>
              </a:rPr>
              <a:t>one</a:t>
            </a:r>
            <a:r>
              <a:rPr sz="2400" spc="5" dirty="0">
                <a:latin typeface="Calibri"/>
                <a:cs typeface="Calibri"/>
              </a:rPr>
              <a:t> </a:t>
            </a:r>
            <a:r>
              <a:rPr sz="2400" spc="-5" dirty="0">
                <a:latin typeface="Calibri"/>
                <a:cs typeface="Calibri"/>
              </a:rPr>
              <a:t>or </a:t>
            </a:r>
            <a:r>
              <a:rPr sz="2400" spc="-15" dirty="0">
                <a:latin typeface="Calibri"/>
                <a:cs typeface="Calibri"/>
              </a:rPr>
              <a:t>more </a:t>
            </a:r>
            <a:r>
              <a:rPr sz="2400" spc="-615" dirty="0">
                <a:latin typeface="Calibri"/>
                <a:cs typeface="Calibri"/>
              </a:rPr>
              <a:t> </a:t>
            </a:r>
            <a:r>
              <a:rPr sz="2400" spc="-10" dirty="0">
                <a:latin typeface="Calibri"/>
                <a:cs typeface="Calibri"/>
              </a:rPr>
              <a:t>objectives</a:t>
            </a:r>
            <a:r>
              <a:rPr sz="2400" spc="10" dirty="0">
                <a:latin typeface="Calibri"/>
                <a:cs typeface="Calibri"/>
              </a:rPr>
              <a:t> </a:t>
            </a:r>
            <a:r>
              <a:rPr sz="2400" spc="-10" dirty="0">
                <a:latin typeface="Calibri"/>
                <a:cs typeface="Calibri"/>
              </a:rPr>
              <a:t>that</a:t>
            </a:r>
            <a:r>
              <a:rPr sz="2400" spc="10" dirty="0">
                <a:latin typeface="Calibri"/>
                <a:cs typeface="Calibri"/>
              </a:rPr>
              <a:t> </a:t>
            </a:r>
            <a:r>
              <a:rPr sz="2400" spc="-10" dirty="0">
                <a:latin typeface="Calibri"/>
                <a:cs typeface="Calibri"/>
              </a:rPr>
              <a:t>our</a:t>
            </a:r>
            <a:r>
              <a:rPr sz="2400" spc="10" dirty="0">
                <a:latin typeface="Calibri"/>
                <a:cs typeface="Calibri"/>
              </a:rPr>
              <a:t> </a:t>
            </a:r>
            <a:r>
              <a:rPr sz="2400" spc="-20" dirty="0">
                <a:latin typeface="Calibri"/>
                <a:cs typeface="Calibri"/>
              </a:rPr>
              <a:t>organization</a:t>
            </a:r>
            <a:r>
              <a:rPr sz="2400" spc="-10" dirty="0">
                <a:latin typeface="Calibri"/>
                <a:cs typeface="Calibri"/>
              </a:rPr>
              <a:t> sets</a:t>
            </a:r>
            <a:r>
              <a:rPr sz="2400" spc="15" dirty="0">
                <a:latin typeface="Calibri"/>
                <a:cs typeface="Calibri"/>
              </a:rPr>
              <a:t> </a:t>
            </a:r>
            <a:r>
              <a:rPr sz="2400" spc="-5" dirty="0">
                <a:latin typeface="Calibri"/>
                <a:cs typeface="Calibri"/>
              </a:rPr>
              <a:t>in</a:t>
            </a:r>
            <a:r>
              <a:rPr sz="2400" dirty="0">
                <a:latin typeface="Calibri"/>
                <a:cs typeface="Calibri"/>
              </a:rPr>
              <a:t> </a:t>
            </a:r>
            <a:r>
              <a:rPr sz="2400" spc="-25" dirty="0">
                <a:latin typeface="Calibri"/>
                <a:cs typeface="Calibri"/>
              </a:rPr>
              <a:t>front</a:t>
            </a:r>
            <a:r>
              <a:rPr sz="2400" spc="15" dirty="0">
                <a:latin typeface="Calibri"/>
                <a:cs typeface="Calibri"/>
              </a:rPr>
              <a:t> </a:t>
            </a:r>
            <a:r>
              <a:rPr sz="2400" spc="-5" dirty="0">
                <a:latin typeface="Calibri"/>
                <a:cs typeface="Calibri"/>
              </a:rPr>
              <a:t>of them.</a:t>
            </a:r>
            <a:endParaRPr sz="2400" dirty="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0E4689-39A7-2AE5-4C19-470DD7C34672}"/>
              </a:ext>
            </a:extLst>
          </p:cNvPr>
          <p:cNvSpPr txBox="1"/>
          <p:nvPr/>
        </p:nvSpPr>
        <p:spPr>
          <a:xfrm>
            <a:off x="1074822" y="258901"/>
            <a:ext cx="7154778" cy="5801588"/>
          </a:xfrm>
          <a:prstGeom prst="rect">
            <a:avLst/>
          </a:prstGeom>
          <a:noFill/>
        </p:spPr>
        <p:txBody>
          <a:bodyPr wrap="square">
            <a:spAutoFit/>
          </a:bodyPr>
          <a:lstStyle/>
          <a:p>
            <a:pPr marL="342900" indent="-342900">
              <a:spcAft>
                <a:spcPts val="600"/>
              </a:spcAft>
              <a:buFont typeface="+mj-lt"/>
              <a:buAutoNum type="arabicPeriod"/>
            </a:pPr>
            <a:r>
              <a:rPr lang="en-US" sz="1600" dirty="0">
                <a:solidFill>
                  <a:srgbClr val="002060"/>
                </a:solidFill>
                <a:latin typeface="Berlin Sans FB" panose="020E0602020502020306" pitchFamily="34" charset="0"/>
              </a:rPr>
              <a:t>The selection of the appropriate response is often based primarily on the value obtained for the cost. </a:t>
            </a:r>
          </a:p>
          <a:p>
            <a:pPr marL="342900"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Specific responses to risk are typically recommended in business cases, which document the problems and one or more options as well as providing detailed analyses on which management may base decisions. </a:t>
            </a:r>
          </a:p>
          <a:p>
            <a:pPr marL="342900" indent="-342900">
              <a:spcAft>
                <a:spcPts val="600"/>
              </a:spcAft>
              <a:buFont typeface="+mj-lt"/>
              <a:buAutoNum type="arabicPeriod"/>
            </a:pPr>
            <a:r>
              <a:rPr lang="en-US" sz="1600" dirty="0">
                <a:solidFill>
                  <a:srgbClr val="002060"/>
                </a:solidFill>
                <a:latin typeface="Berlin Sans FB" panose="020E0602020502020306" pitchFamily="34" charset="0"/>
              </a:rPr>
              <a:t>Beyond being common and useful tools for decision support, business cases also serve as operational tools against which to evaluate and support investments throughout their life cycles. </a:t>
            </a:r>
          </a:p>
          <a:p>
            <a:pPr marL="342900" indent="-342900">
              <a:spcAft>
                <a:spcPts val="600"/>
              </a:spcAft>
              <a:buFont typeface="+mj-lt"/>
              <a:buAutoNum type="arabicPeriod"/>
            </a:pPr>
            <a:r>
              <a:rPr lang="en-US" sz="1600" dirty="0">
                <a:solidFill>
                  <a:srgbClr val="002060"/>
                </a:solidFill>
                <a:latin typeface="Berlin Sans FB" panose="020E0602020502020306" pitchFamily="34" charset="0"/>
              </a:rPr>
              <a:t>The risk practitioner may find it helpful to conduct a cost-benefit analysis for each alternative to estimate its likely value to the organization relative to the immediate expense. </a:t>
            </a:r>
          </a:p>
          <a:p>
            <a:pPr marL="342900"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Another option is to calculate return on investment (ROI), which can make it easier to see how much time would pass before the enterprise would recoup the cost through savings or increased revenue.</a:t>
            </a:r>
          </a:p>
          <a:p>
            <a:pPr marL="342900"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Risk responses should be documented in the risk register with clear accountability and time frames for completion. </a:t>
            </a:r>
          </a:p>
          <a:p>
            <a:pPr marL="342900" indent="-342900">
              <a:spcAft>
                <a:spcPts val="600"/>
              </a:spcAft>
              <a:buFont typeface="+mj-lt"/>
              <a:buAutoNum type="arabicPeriod"/>
            </a:pPr>
            <a:r>
              <a:rPr lang="en-US" sz="1600" dirty="0">
                <a:solidFill>
                  <a:srgbClr val="0070C0"/>
                </a:solidFill>
                <a:latin typeface="Berlin Sans FB" panose="020E0602020502020306" pitchFamily="34" charset="0"/>
              </a:rPr>
              <a:t>Many risk responses cannot be implemented instantly, and a plan of action and milestones (POA&amp;M) can be useful as a means of identifying a basis for tracking progress and setting times of review up the point of completion.</a:t>
            </a:r>
          </a:p>
          <a:p>
            <a:pPr marL="342900" indent="-342900">
              <a:spcAft>
                <a:spcPts val="600"/>
              </a:spcAft>
              <a:buFont typeface="+mj-lt"/>
              <a:buAutoNum type="arabicPeriod"/>
            </a:pPr>
            <a:r>
              <a:rPr lang="en-US" sz="1600" dirty="0">
                <a:solidFill>
                  <a:srgbClr val="002060"/>
                </a:solidFill>
                <a:latin typeface="Berlin Sans FB" panose="020E0602020502020306" pitchFamily="34" charset="0"/>
              </a:rPr>
              <a:t> Risk practitioners should ensure that these reviews are completed and that planned mitigations are not superseded or abandoned to competing priorities.</a:t>
            </a:r>
          </a:p>
        </p:txBody>
      </p:sp>
    </p:spTree>
    <p:extLst>
      <p:ext uri="{BB962C8B-B14F-4D97-AF65-F5344CB8AC3E}">
        <p14:creationId xmlns:p14="http://schemas.microsoft.com/office/powerpoint/2010/main" val="2132348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30" dirty="0">
                <a:solidFill>
                  <a:srgbClr val="074891"/>
                </a:solidFill>
                <a:uFill>
                  <a:solidFill>
                    <a:srgbClr val="000000"/>
                  </a:solidFill>
                </a:uFill>
                <a:latin typeface="Calibri Light"/>
                <a:cs typeface="Calibri Light"/>
              </a:rPr>
              <a:t>Prioritizing</a:t>
            </a:r>
            <a:r>
              <a:rPr sz="4400" u="heavy" spc="-110" dirty="0">
                <a:solidFill>
                  <a:srgbClr val="074891"/>
                </a:solidFill>
                <a:uFill>
                  <a:solidFill>
                    <a:srgbClr val="000000"/>
                  </a:solidFill>
                </a:uFill>
                <a:latin typeface="Calibri Light"/>
                <a:cs typeface="Calibri Light"/>
              </a:rPr>
              <a:t> </a:t>
            </a:r>
            <a:r>
              <a:rPr sz="4400" u="heavy" spc="-20" dirty="0">
                <a:solidFill>
                  <a:srgbClr val="074891"/>
                </a:solidFill>
                <a:uFill>
                  <a:solidFill>
                    <a:srgbClr val="000000"/>
                  </a:solidFill>
                </a:uFill>
                <a:latin typeface="Calibri Light"/>
                <a:cs typeface="Calibri Light"/>
              </a:rPr>
              <a:t>Risk</a:t>
            </a:r>
            <a:r>
              <a:rPr sz="4400" u="heavy" spc="-95" dirty="0">
                <a:solidFill>
                  <a:srgbClr val="074891"/>
                </a:solidFill>
                <a:uFill>
                  <a:solidFill>
                    <a:srgbClr val="000000"/>
                  </a:solidFill>
                </a:uFill>
                <a:latin typeface="Calibri Light"/>
                <a:cs typeface="Calibri Light"/>
              </a:rPr>
              <a:t> </a:t>
            </a:r>
            <a:r>
              <a:rPr sz="4400" u="heavy" spc="-45" dirty="0">
                <a:solidFill>
                  <a:srgbClr val="074891"/>
                </a:solidFill>
                <a:uFill>
                  <a:solidFill>
                    <a:srgbClr val="000000"/>
                  </a:solidFill>
                </a:uFill>
                <a:latin typeface="Calibri Light"/>
                <a:cs typeface="Calibri Light"/>
              </a:rPr>
              <a:t>Responses	</a:t>
            </a:r>
            <a:endParaRPr sz="4400">
              <a:latin typeface="Calibri Light"/>
              <a:cs typeface="Calibri Light"/>
            </a:endParaRPr>
          </a:p>
        </p:txBody>
      </p:sp>
      <p:sp>
        <p:nvSpPr>
          <p:cNvPr id="3" name="object 3"/>
          <p:cNvSpPr txBox="1"/>
          <p:nvPr/>
        </p:nvSpPr>
        <p:spPr>
          <a:xfrm>
            <a:off x="916939" y="1773682"/>
            <a:ext cx="7088505" cy="4284980"/>
          </a:xfrm>
          <a:prstGeom prst="rect">
            <a:avLst/>
          </a:prstGeom>
        </p:spPr>
        <p:txBody>
          <a:bodyPr vert="horz" wrap="square" lIns="0" tIns="83820" rIns="0" bIns="0" rtlCol="0">
            <a:spAutoFit/>
          </a:bodyPr>
          <a:lstStyle/>
          <a:p>
            <a:pPr marL="241300" marR="135890" indent="-229235">
              <a:lnSpc>
                <a:spcPts val="2300"/>
              </a:lnSpc>
              <a:spcBef>
                <a:spcPts val="660"/>
              </a:spcBef>
              <a:buFont typeface="Arial MT"/>
              <a:buChar char="•"/>
              <a:tabLst>
                <a:tab pos="241935" algn="l"/>
              </a:tabLst>
            </a:pPr>
            <a:r>
              <a:rPr sz="2400" spc="-10" dirty="0">
                <a:latin typeface="Calibri"/>
                <a:cs typeface="Calibri"/>
              </a:rPr>
              <a:t>There</a:t>
            </a:r>
            <a:r>
              <a:rPr sz="2400" spc="10" dirty="0">
                <a:latin typeface="Calibri"/>
                <a:cs typeface="Calibri"/>
              </a:rPr>
              <a:t> </a:t>
            </a:r>
            <a:r>
              <a:rPr sz="2400" spc="-15" dirty="0">
                <a:latin typeface="Calibri"/>
                <a:cs typeface="Calibri"/>
              </a:rPr>
              <a:t>are</a:t>
            </a:r>
            <a:r>
              <a:rPr sz="2400" dirty="0">
                <a:latin typeface="Calibri"/>
                <a:cs typeface="Calibri"/>
              </a:rPr>
              <a:t> </a:t>
            </a:r>
            <a:r>
              <a:rPr sz="2400" spc="-10" dirty="0">
                <a:latin typeface="Calibri"/>
                <a:cs typeface="Calibri"/>
              </a:rPr>
              <a:t>three</a:t>
            </a:r>
            <a:r>
              <a:rPr sz="2400" spc="5" dirty="0">
                <a:latin typeface="Calibri"/>
                <a:cs typeface="Calibri"/>
              </a:rPr>
              <a:t> </a:t>
            </a:r>
            <a:r>
              <a:rPr sz="2400" spc="-10" dirty="0">
                <a:latin typeface="Calibri"/>
                <a:cs typeface="Calibri"/>
              </a:rPr>
              <a:t>prioritization</a:t>
            </a:r>
            <a:r>
              <a:rPr sz="2400" spc="-35" dirty="0">
                <a:latin typeface="Calibri"/>
                <a:cs typeface="Calibri"/>
              </a:rPr>
              <a:t> </a:t>
            </a:r>
            <a:r>
              <a:rPr sz="2400" spc="-5" dirty="0">
                <a:latin typeface="Calibri"/>
                <a:cs typeface="Calibri"/>
              </a:rPr>
              <a:t>options </a:t>
            </a:r>
            <a:r>
              <a:rPr sz="2400" spc="-10" dirty="0">
                <a:latin typeface="Calibri"/>
                <a:cs typeface="Calibri"/>
              </a:rPr>
              <a:t>that</a:t>
            </a:r>
            <a:r>
              <a:rPr sz="2400" spc="-15" dirty="0">
                <a:latin typeface="Calibri"/>
                <a:cs typeface="Calibri"/>
              </a:rPr>
              <a:t> </a:t>
            </a:r>
            <a:r>
              <a:rPr sz="2400" spc="-10" dirty="0">
                <a:latin typeface="Calibri"/>
                <a:cs typeface="Calibri"/>
              </a:rPr>
              <a:t>you </a:t>
            </a:r>
            <a:r>
              <a:rPr sz="2400" spc="-5" dirty="0">
                <a:latin typeface="Calibri"/>
                <a:cs typeface="Calibri"/>
              </a:rPr>
              <a:t>need </a:t>
            </a:r>
            <a:r>
              <a:rPr sz="2400" spc="-15" dirty="0">
                <a:latin typeface="Calibri"/>
                <a:cs typeface="Calibri"/>
              </a:rPr>
              <a:t>to </a:t>
            </a:r>
            <a:r>
              <a:rPr sz="2400" spc="-525" dirty="0">
                <a:latin typeface="Calibri"/>
                <a:cs typeface="Calibri"/>
              </a:rPr>
              <a:t> </a:t>
            </a:r>
            <a:r>
              <a:rPr sz="2400" spc="-5" dirty="0">
                <a:latin typeface="Calibri"/>
                <a:cs typeface="Calibri"/>
              </a:rPr>
              <a:t>be</a:t>
            </a:r>
            <a:r>
              <a:rPr sz="2400" spc="-10" dirty="0">
                <a:latin typeface="Calibri"/>
                <a:cs typeface="Calibri"/>
              </a:rPr>
              <a:t> </a:t>
            </a:r>
            <a:r>
              <a:rPr sz="2400" spc="-15" dirty="0">
                <a:latin typeface="Calibri"/>
                <a:cs typeface="Calibri"/>
              </a:rPr>
              <a:t>aware</a:t>
            </a:r>
            <a:r>
              <a:rPr sz="2400" spc="-10" dirty="0">
                <a:latin typeface="Calibri"/>
                <a:cs typeface="Calibri"/>
              </a:rPr>
              <a:t> </a:t>
            </a:r>
            <a:r>
              <a:rPr sz="2400" spc="-5" dirty="0">
                <a:latin typeface="Calibri"/>
                <a:cs typeface="Calibri"/>
              </a:rPr>
              <a:t>of:</a:t>
            </a:r>
            <a:endParaRPr sz="2400" dirty="0">
              <a:latin typeface="Calibri"/>
              <a:cs typeface="Calibri"/>
            </a:endParaRPr>
          </a:p>
          <a:p>
            <a:pPr marL="527685" marR="5080" indent="-515620">
              <a:lnSpc>
                <a:spcPct val="80000"/>
              </a:lnSpc>
              <a:spcBef>
                <a:spcPts val="1019"/>
              </a:spcBef>
              <a:buAutoNum type="arabicPeriod"/>
              <a:tabLst>
                <a:tab pos="527685" algn="l"/>
                <a:tab pos="528320" algn="l"/>
              </a:tabLst>
            </a:pPr>
            <a:r>
              <a:rPr sz="2400" b="1" spc="-5" dirty="0">
                <a:latin typeface="Calibri"/>
                <a:cs typeface="Calibri"/>
              </a:rPr>
              <a:t>Quick Wins</a:t>
            </a:r>
            <a:r>
              <a:rPr sz="2400" spc="-5" dirty="0">
                <a:latin typeface="Calibri"/>
                <a:cs typeface="Calibri"/>
              </a:rPr>
              <a:t>: </a:t>
            </a:r>
            <a:r>
              <a:rPr sz="2400" dirty="0">
                <a:latin typeface="Calibri"/>
                <a:cs typeface="Calibri"/>
              </a:rPr>
              <a:t>Quick wins </a:t>
            </a:r>
            <a:r>
              <a:rPr sz="2400" spc="-15" dirty="0">
                <a:latin typeface="Calibri"/>
                <a:cs typeface="Calibri"/>
              </a:rPr>
              <a:t>are </a:t>
            </a:r>
            <a:r>
              <a:rPr sz="2400" dirty="0">
                <a:latin typeface="Calibri"/>
                <a:cs typeface="Calibri"/>
              </a:rPr>
              <a:t>actions </a:t>
            </a:r>
            <a:r>
              <a:rPr sz="2400" spc="-10" dirty="0">
                <a:latin typeface="Calibri"/>
                <a:cs typeface="Calibri"/>
              </a:rPr>
              <a:t>that can </a:t>
            </a:r>
            <a:r>
              <a:rPr sz="2400" spc="-5" dirty="0">
                <a:latin typeface="Calibri"/>
                <a:cs typeface="Calibri"/>
              </a:rPr>
              <a:t>be </a:t>
            </a:r>
            <a:r>
              <a:rPr sz="2400" spc="-20" dirty="0">
                <a:latin typeface="Calibri"/>
                <a:cs typeface="Calibri"/>
              </a:rPr>
              <a:t>taken </a:t>
            </a:r>
            <a:r>
              <a:rPr sz="2400" spc="-530" dirty="0">
                <a:latin typeface="Calibri"/>
                <a:cs typeface="Calibri"/>
              </a:rPr>
              <a:t> </a:t>
            </a:r>
            <a:r>
              <a:rPr sz="2400" spc="-10" dirty="0">
                <a:latin typeface="Calibri"/>
                <a:cs typeface="Calibri"/>
              </a:rPr>
              <a:t>that </a:t>
            </a:r>
            <a:r>
              <a:rPr sz="2400" spc="-5" dirty="0">
                <a:latin typeface="Calibri"/>
                <a:cs typeface="Calibri"/>
              </a:rPr>
              <a:t>really </a:t>
            </a:r>
            <a:r>
              <a:rPr sz="2400" spc="-15" dirty="0">
                <a:latin typeface="Calibri"/>
                <a:cs typeface="Calibri"/>
              </a:rPr>
              <a:t>are </a:t>
            </a:r>
            <a:r>
              <a:rPr sz="2400" spc="-5" dirty="0">
                <a:latin typeface="Calibri"/>
                <a:cs typeface="Calibri"/>
              </a:rPr>
              <a:t>winners, </a:t>
            </a:r>
            <a:r>
              <a:rPr sz="2400" spc="-20" dirty="0">
                <a:latin typeface="Calibri"/>
                <a:cs typeface="Calibri"/>
              </a:rPr>
              <a:t>for </a:t>
            </a:r>
            <a:r>
              <a:rPr sz="2400" dirty="0">
                <a:latin typeface="Calibri"/>
                <a:cs typeface="Calibri"/>
              </a:rPr>
              <a:t>which </a:t>
            </a:r>
            <a:r>
              <a:rPr sz="2400" spc="-10" dirty="0">
                <a:latin typeface="Calibri"/>
                <a:cs typeface="Calibri"/>
              </a:rPr>
              <a:t>you </a:t>
            </a:r>
            <a:r>
              <a:rPr sz="2400" spc="-15" dirty="0">
                <a:latin typeface="Calibri"/>
                <a:cs typeface="Calibri"/>
              </a:rPr>
              <a:t>are </a:t>
            </a:r>
            <a:r>
              <a:rPr sz="2400" dirty="0">
                <a:latin typeface="Calibri"/>
                <a:cs typeface="Calibri"/>
              </a:rPr>
              <a:t>looking </a:t>
            </a:r>
            <a:r>
              <a:rPr sz="2400" spc="-15" dirty="0">
                <a:latin typeface="Calibri"/>
                <a:cs typeface="Calibri"/>
              </a:rPr>
              <a:t>to </a:t>
            </a:r>
            <a:r>
              <a:rPr sz="2400" spc="-10" dirty="0">
                <a:latin typeface="Calibri"/>
                <a:cs typeface="Calibri"/>
              </a:rPr>
              <a:t> </a:t>
            </a:r>
            <a:r>
              <a:rPr sz="2400" spc="-5" dirty="0">
                <a:latin typeface="Calibri"/>
                <a:cs typeface="Calibri"/>
              </a:rPr>
              <a:t>select </a:t>
            </a:r>
            <a:r>
              <a:rPr sz="2400" dirty="0">
                <a:latin typeface="Calibri"/>
                <a:cs typeface="Calibri"/>
              </a:rPr>
              <a:t>risk </a:t>
            </a:r>
            <a:r>
              <a:rPr sz="2400" spc="-5" dirty="0">
                <a:latin typeface="Calibri"/>
                <a:cs typeface="Calibri"/>
              </a:rPr>
              <a:t>responses that </a:t>
            </a:r>
            <a:r>
              <a:rPr sz="2400" spc="-15" dirty="0">
                <a:latin typeface="Calibri"/>
                <a:cs typeface="Calibri"/>
              </a:rPr>
              <a:t>are </a:t>
            </a:r>
            <a:r>
              <a:rPr sz="2400" spc="-5" dirty="0">
                <a:latin typeface="Calibri"/>
                <a:cs typeface="Calibri"/>
              </a:rPr>
              <a:t>high </a:t>
            </a:r>
            <a:r>
              <a:rPr sz="2400" spc="-20" dirty="0">
                <a:latin typeface="Calibri"/>
                <a:cs typeface="Calibri"/>
              </a:rPr>
              <a:t>reward </a:t>
            </a:r>
            <a:r>
              <a:rPr sz="2400" dirty="0">
                <a:latin typeface="Calibri"/>
                <a:cs typeface="Calibri"/>
              </a:rPr>
              <a:t>and </a:t>
            </a:r>
            <a:r>
              <a:rPr sz="2400" spc="-10" dirty="0">
                <a:latin typeface="Calibri"/>
                <a:cs typeface="Calibri"/>
              </a:rPr>
              <a:t>low </a:t>
            </a:r>
            <a:r>
              <a:rPr sz="2400" spc="-5" dirty="0">
                <a:latin typeface="Calibri"/>
                <a:cs typeface="Calibri"/>
              </a:rPr>
              <a:t> </a:t>
            </a:r>
            <a:r>
              <a:rPr sz="2400" spc="-15" dirty="0">
                <a:latin typeface="Calibri"/>
                <a:cs typeface="Calibri"/>
              </a:rPr>
              <a:t>cost</a:t>
            </a:r>
            <a:r>
              <a:rPr sz="2400" spc="-20" dirty="0">
                <a:latin typeface="Calibri"/>
                <a:cs typeface="Calibri"/>
              </a:rPr>
              <a:t> </a:t>
            </a:r>
            <a:r>
              <a:rPr sz="2400" dirty="0">
                <a:latin typeface="Calibri"/>
                <a:cs typeface="Calibri"/>
              </a:rPr>
              <a:t>and</a:t>
            </a:r>
            <a:r>
              <a:rPr sz="2400" spc="-5" dirty="0">
                <a:latin typeface="Calibri"/>
                <a:cs typeface="Calibri"/>
              </a:rPr>
              <a:t> </a:t>
            </a:r>
            <a:r>
              <a:rPr sz="2400" spc="-10" dirty="0">
                <a:latin typeface="Calibri"/>
                <a:cs typeface="Calibri"/>
              </a:rPr>
              <a:t>that</a:t>
            </a:r>
            <a:r>
              <a:rPr sz="2400" spc="-5" dirty="0">
                <a:latin typeface="Calibri"/>
                <a:cs typeface="Calibri"/>
              </a:rPr>
              <a:t> </a:t>
            </a:r>
            <a:r>
              <a:rPr sz="2400" spc="-15" dirty="0">
                <a:latin typeface="Calibri"/>
                <a:cs typeface="Calibri"/>
              </a:rPr>
              <a:t>are </a:t>
            </a:r>
            <a:r>
              <a:rPr sz="2400" spc="-5" dirty="0">
                <a:latin typeface="Calibri"/>
                <a:cs typeface="Calibri"/>
              </a:rPr>
              <a:t>both</a:t>
            </a:r>
            <a:r>
              <a:rPr sz="2400" spc="-10" dirty="0">
                <a:latin typeface="Calibri"/>
                <a:cs typeface="Calibri"/>
              </a:rPr>
              <a:t> </a:t>
            </a:r>
            <a:r>
              <a:rPr sz="2400" spc="-15" dirty="0">
                <a:latin typeface="Calibri"/>
                <a:cs typeface="Calibri"/>
              </a:rPr>
              <a:t>effective</a:t>
            </a:r>
            <a:r>
              <a:rPr sz="2400" spc="5" dirty="0">
                <a:latin typeface="Calibri"/>
                <a:cs typeface="Calibri"/>
              </a:rPr>
              <a:t> </a:t>
            </a:r>
            <a:r>
              <a:rPr sz="2400" dirty="0">
                <a:latin typeface="Calibri"/>
                <a:cs typeface="Calibri"/>
              </a:rPr>
              <a:t>and</a:t>
            </a:r>
            <a:r>
              <a:rPr sz="2400" spc="-5" dirty="0">
                <a:latin typeface="Calibri"/>
                <a:cs typeface="Calibri"/>
              </a:rPr>
              <a:t> </a:t>
            </a:r>
            <a:r>
              <a:rPr sz="2400" spc="-10" dirty="0">
                <a:latin typeface="Calibri"/>
                <a:cs typeface="Calibri"/>
              </a:rPr>
              <a:t>efficient.</a:t>
            </a:r>
            <a:endParaRPr sz="2400" dirty="0">
              <a:latin typeface="Calibri"/>
              <a:cs typeface="Calibri"/>
            </a:endParaRPr>
          </a:p>
          <a:p>
            <a:pPr marL="527685" marR="122555" indent="-515620">
              <a:lnSpc>
                <a:spcPct val="80000"/>
              </a:lnSpc>
              <a:spcBef>
                <a:spcPts val="1005"/>
              </a:spcBef>
              <a:buAutoNum type="arabicPeriod"/>
              <a:tabLst>
                <a:tab pos="527685" algn="l"/>
                <a:tab pos="528320" algn="l"/>
              </a:tabLst>
            </a:pPr>
            <a:r>
              <a:rPr sz="2400" b="1" spc="-5" dirty="0">
                <a:latin typeface="Calibri"/>
                <a:cs typeface="Calibri"/>
              </a:rPr>
              <a:t>Business </a:t>
            </a:r>
            <a:r>
              <a:rPr sz="2400" b="1" dirty="0">
                <a:latin typeface="Calibri"/>
                <a:cs typeface="Calibri"/>
              </a:rPr>
              <a:t>Cases</a:t>
            </a:r>
            <a:r>
              <a:rPr sz="2400" dirty="0">
                <a:latin typeface="Calibri"/>
                <a:cs typeface="Calibri"/>
              </a:rPr>
              <a:t>: </a:t>
            </a:r>
            <a:r>
              <a:rPr sz="2400" spc="-20" dirty="0">
                <a:latin typeface="Calibri"/>
                <a:cs typeface="Calibri"/>
              </a:rPr>
              <a:t>for </a:t>
            </a:r>
            <a:r>
              <a:rPr sz="2400" dirty="0">
                <a:latin typeface="Calibri"/>
                <a:cs typeface="Calibri"/>
              </a:rPr>
              <a:t>a </a:t>
            </a:r>
            <a:r>
              <a:rPr sz="2400" spc="-5" dirty="0">
                <a:latin typeface="Calibri"/>
                <a:cs typeface="Calibri"/>
              </a:rPr>
              <a:t>particular </a:t>
            </a:r>
            <a:r>
              <a:rPr sz="2400" dirty="0">
                <a:latin typeface="Calibri"/>
                <a:cs typeface="Calibri"/>
              </a:rPr>
              <a:t>risk </a:t>
            </a:r>
            <a:r>
              <a:rPr sz="2400" spc="-5" dirty="0">
                <a:latin typeface="Calibri"/>
                <a:cs typeface="Calibri"/>
              </a:rPr>
              <a:t>response must </a:t>
            </a:r>
            <a:r>
              <a:rPr sz="2400" dirty="0">
                <a:latin typeface="Calibri"/>
                <a:cs typeface="Calibri"/>
              </a:rPr>
              <a:t> </a:t>
            </a:r>
            <a:r>
              <a:rPr sz="2400" spc="-5" dirty="0">
                <a:latin typeface="Calibri"/>
                <a:cs typeface="Calibri"/>
              </a:rPr>
              <a:t>be </a:t>
            </a:r>
            <a:r>
              <a:rPr sz="2400" dirty="0">
                <a:latin typeface="Calibri"/>
                <a:cs typeface="Calibri"/>
              </a:rPr>
              <a:t>made if the </a:t>
            </a:r>
            <a:r>
              <a:rPr sz="2400" spc="-5" dirty="0">
                <a:latin typeface="Calibri"/>
                <a:cs typeface="Calibri"/>
              </a:rPr>
              <a:t>response can’t be quickly or easily </a:t>
            </a:r>
            <a:r>
              <a:rPr sz="2400" dirty="0">
                <a:latin typeface="Calibri"/>
                <a:cs typeface="Calibri"/>
              </a:rPr>
              <a:t> </a:t>
            </a:r>
            <a:r>
              <a:rPr sz="2400" spc="-5" dirty="0">
                <a:latin typeface="Calibri"/>
                <a:cs typeface="Calibri"/>
              </a:rPr>
              <a:t>implemented </a:t>
            </a:r>
            <a:r>
              <a:rPr sz="2400" dirty="0">
                <a:latin typeface="Calibri"/>
                <a:cs typeface="Calibri"/>
              </a:rPr>
              <a:t>without a </a:t>
            </a:r>
            <a:r>
              <a:rPr sz="2400" spc="-10" dirty="0">
                <a:latin typeface="Calibri"/>
                <a:cs typeface="Calibri"/>
              </a:rPr>
              <a:t>significant </a:t>
            </a:r>
            <a:r>
              <a:rPr sz="2400" spc="-20" dirty="0">
                <a:latin typeface="Calibri"/>
                <a:cs typeface="Calibri"/>
              </a:rPr>
              <a:t>cost </a:t>
            </a:r>
            <a:r>
              <a:rPr sz="2400" spc="-5" dirty="0">
                <a:latin typeface="Calibri"/>
                <a:cs typeface="Calibri"/>
              </a:rPr>
              <a:t>or change </a:t>
            </a:r>
            <a:r>
              <a:rPr sz="2400" spc="-15" dirty="0">
                <a:latin typeface="Calibri"/>
                <a:cs typeface="Calibri"/>
              </a:rPr>
              <a:t>to </a:t>
            </a:r>
            <a:r>
              <a:rPr sz="2400" spc="-530" dirty="0">
                <a:latin typeface="Calibri"/>
                <a:cs typeface="Calibri"/>
              </a:rPr>
              <a:t> </a:t>
            </a:r>
            <a:r>
              <a:rPr sz="2400" dirty="0">
                <a:latin typeface="Calibri"/>
                <a:cs typeface="Calibri"/>
              </a:rPr>
              <a:t>the</a:t>
            </a:r>
            <a:r>
              <a:rPr sz="2400" spc="-5" dirty="0">
                <a:latin typeface="Calibri"/>
                <a:cs typeface="Calibri"/>
              </a:rPr>
              <a:t> </a:t>
            </a:r>
            <a:r>
              <a:rPr sz="2400" spc="-15" dirty="0">
                <a:latin typeface="Calibri"/>
                <a:cs typeface="Calibri"/>
              </a:rPr>
              <a:t>organization</a:t>
            </a:r>
            <a:r>
              <a:rPr sz="2400" spc="-20" dirty="0">
                <a:latin typeface="Calibri"/>
                <a:cs typeface="Calibri"/>
              </a:rPr>
              <a:t> </a:t>
            </a:r>
            <a:r>
              <a:rPr sz="2400" spc="-5" dirty="0">
                <a:latin typeface="Calibri"/>
                <a:cs typeface="Calibri"/>
              </a:rPr>
              <a:t>or </a:t>
            </a:r>
            <a:r>
              <a:rPr sz="2400" dirty="0">
                <a:latin typeface="Calibri"/>
                <a:cs typeface="Calibri"/>
              </a:rPr>
              <a:t>the </a:t>
            </a:r>
            <a:r>
              <a:rPr sz="2400" spc="-25" dirty="0">
                <a:latin typeface="Calibri"/>
                <a:cs typeface="Calibri"/>
              </a:rPr>
              <a:t>system</a:t>
            </a:r>
            <a:endParaRPr sz="2400" dirty="0">
              <a:latin typeface="Calibri"/>
              <a:cs typeface="Calibri"/>
            </a:endParaRPr>
          </a:p>
          <a:p>
            <a:pPr marL="527685" marR="67945" indent="-515620" algn="just">
              <a:lnSpc>
                <a:spcPct val="80000"/>
              </a:lnSpc>
              <a:spcBef>
                <a:spcPts val="1000"/>
              </a:spcBef>
              <a:buAutoNum type="arabicPeriod"/>
              <a:tabLst>
                <a:tab pos="528320" algn="l"/>
              </a:tabLst>
            </a:pPr>
            <a:r>
              <a:rPr sz="2400" b="1" spc="-15" dirty="0">
                <a:latin typeface="Calibri"/>
                <a:cs typeface="Calibri"/>
              </a:rPr>
              <a:t>Deferrals</a:t>
            </a:r>
            <a:r>
              <a:rPr lang="en-US" sz="2400" b="1" spc="-15" dirty="0">
                <a:latin typeface="Calibri"/>
                <a:cs typeface="Calibri"/>
              </a:rPr>
              <a:t> (delay)</a:t>
            </a:r>
            <a:r>
              <a:rPr sz="2400" spc="-15" dirty="0">
                <a:latin typeface="Calibri"/>
                <a:cs typeface="Calibri"/>
              </a:rPr>
              <a:t>: </a:t>
            </a:r>
            <a:r>
              <a:rPr sz="2400" dirty="0">
                <a:latin typeface="Calibri"/>
                <a:cs typeface="Calibri"/>
              </a:rPr>
              <a:t>is the choice when </a:t>
            </a:r>
            <a:r>
              <a:rPr sz="2400" spc="-10" dirty="0">
                <a:latin typeface="Calibri"/>
                <a:cs typeface="Calibri"/>
              </a:rPr>
              <a:t>you </a:t>
            </a:r>
            <a:r>
              <a:rPr sz="2400" spc="-20" dirty="0">
                <a:latin typeface="Calibri"/>
                <a:cs typeface="Calibri"/>
              </a:rPr>
              <a:t>have </a:t>
            </a:r>
            <a:r>
              <a:rPr sz="2400" dirty="0">
                <a:latin typeface="Calibri"/>
                <a:cs typeface="Calibri"/>
              </a:rPr>
              <a:t>a </a:t>
            </a:r>
            <a:r>
              <a:rPr sz="2400" spc="-5" dirty="0">
                <a:latin typeface="Calibri"/>
                <a:cs typeface="Calibri"/>
              </a:rPr>
              <a:t>high </a:t>
            </a:r>
            <a:r>
              <a:rPr sz="2400" spc="-20" dirty="0">
                <a:latin typeface="Calibri"/>
                <a:cs typeface="Calibri"/>
              </a:rPr>
              <a:t>cost </a:t>
            </a:r>
            <a:r>
              <a:rPr sz="2400" spc="-5" dirty="0">
                <a:latin typeface="Calibri"/>
                <a:cs typeface="Calibri"/>
              </a:rPr>
              <a:t>of </a:t>
            </a:r>
            <a:r>
              <a:rPr sz="2400" spc="-530" dirty="0">
                <a:latin typeface="Calibri"/>
                <a:cs typeface="Calibri"/>
              </a:rPr>
              <a:t> </a:t>
            </a:r>
            <a:r>
              <a:rPr sz="2400" spc="-10" dirty="0">
                <a:latin typeface="Calibri"/>
                <a:cs typeface="Calibri"/>
              </a:rPr>
              <a:t>response </a:t>
            </a:r>
            <a:r>
              <a:rPr sz="2400" spc="-5" dirty="0">
                <a:latin typeface="Calibri"/>
                <a:cs typeface="Calibri"/>
              </a:rPr>
              <a:t>associated </a:t>
            </a:r>
            <a:r>
              <a:rPr sz="2400" dirty="0">
                <a:latin typeface="Calibri"/>
                <a:cs typeface="Calibri"/>
              </a:rPr>
              <a:t>with a </a:t>
            </a:r>
            <a:r>
              <a:rPr sz="2400" spc="-10" dirty="0">
                <a:latin typeface="Calibri"/>
                <a:cs typeface="Calibri"/>
              </a:rPr>
              <a:t>low </a:t>
            </a:r>
            <a:r>
              <a:rPr sz="2400" dirty="0">
                <a:latin typeface="Calibri"/>
                <a:cs typeface="Calibri"/>
              </a:rPr>
              <a:t>risk, </a:t>
            </a:r>
            <a:r>
              <a:rPr sz="2400" spc="-10" dirty="0">
                <a:latin typeface="Calibri"/>
                <a:cs typeface="Calibri"/>
              </a:rPr>
              <a:t>one where even </a:t>
            </a:r>
            <a:r>
              <a:rPr sz="2400" spc="-530" dirty="0">
                <a:latin typeface="Calibri"/>
                <a:cs typeface="Calibri"/>
              </a:rPr>
              <a:t> </a:t>
            </a:r>
            <a:r>
              <a:rPr sz="2400" dirty="0">
                <a:latin typeface="Calibri"/>
                <a:cs typeface="Calibri"/>
              </a:rPr>
              <a:t>a</a:t>
            </a:r>
            <a:r>
              <a:rPr sz="2400" spc="-10" dirty="0">
                <a:latin typeface="Calibri"/>
                <a:cs typeface="Calibri"/>
              </a:rPr>
              <a:t> </a:t>
            </a:r>
            <a:r>
              <a:rPr sz="2400" spc="-5" dirty="0">
                <a:latin typeface="Calibri"/>
                <a:cs typeface="Calibri"/>
              </a:rPr>
              <a:t>business </a:t>
            </a:r>
            <a:r>
              <a:rPr sz="2400" spc="-10" dirty="0">
                <a:latin typeface="Calibri"/>
                <a:cs typeface="Calibri"/>
              </a:rPr>
              <a:t>case</a:t>
            </a:r>
            <a:r>
              <a:rPr sz="2400" spc="-5" dirty="0">
                <a:latin typeface="Calibri"/>
                <a:cs typeface="Calibri"/>
              </a:rPr>
              <a:t> can’t</a:t>
            </a:r>
            <a:r>
              <a:rPr sz="2400" spc="-15" dirty="0">
                <a:latin typeface="Calibri"/>
                <a:cs typeface="Calibri"/>
              </a:rPr>
              <a:t> </a:t>
            </a:r>
            <a:r>
              <a:rPr sz="2400" spc="-5" dirty="0">
                <a:latin typeface="Calibri"/>
                <a:cs typeface="Calibri"/>
              </a:rPr>
              <a:t>be</a:t>
            </a:r>
            <a:r>
              <a:rPr sz="2400" spc="-10" dirty="0">
                <a:latin typeface="Calibri"/>
                <a:cs typeface="Calibri"/>
              </a:rPr>
              <a:t> </a:t>
            </a:r>
            <a:r>
              <a:rPr sz="2400" spc="-5" dirty="0">
                <a:latin typeface="Calibri"/>
                <a:cs typeface="Calibri"/>
              </a:rPr>
              <a:t>made</a:t>
            </a:r>
            <a:endParaRPr sz="2400" dirty="0">
              <a:latin typeface="Calibri"/>
              <a:cs typeface="Calibri"/>
            </a:endParaRPr>
          </a:p>
        </p:txBody>
      </p:sp>
      <p:pic>
        <p:nvPicPr>
          <p:cNvPr id="4" name="object 4"/>
          <p:cNvPicPr/>
          <p:nvPr/>
        </p:nvPicPr>
        <p:blipFill>
          <a:blip r:embed="rId2" cstate="print"/>
          <a:stretch>
            <a:fillRect/>
          </a:stretch>
        </p:blipFill>
        <p:spPr>
          <a:xfrm>
            <a:off x="7851647" y="2196083"/>
            <a:ext cx="4143755" cy="254355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8387715" cy="697230"/>
          </a:xfrm>
          <a:prstGeom prst="rect">
            <a:avLst/>
          </a:prstGeom>
        </p:spPr>
        <p:txBody>
          <a:bodyPr vert="horz" wrap="square" lIns="0" tIns="13335" rIns="0" bIns="0" rtlCol="0">
            <a:spAutoFit/>
          </a:bodyPr>
          <a:lstStyle/>
          <a:p>
            <a:pPr marL="12700">
              <a:lnSpc>
                <a:spcPct val="100000"/>
              </a:lnSpc>
              <a:spcBef>
                <a:spcPts val="105"/>
              </a:spcBef>
              <a:tabLst>
                <a:tab pos="8374380" algn="l"/>
              </a:tabLst>
            </a:pPr>
            <a:r>
              <a:rPr sz="4400" u="heavy" spc="-15" dirty="0">
                <a:solidFill>
                  <a:srgbClr val="074891"/>
                </a:solidFill>
                <a:uFill>
                  <a:solidFill>
                    <a:srgbClr val="000000"/>
                  </a:solidFill>
                </a:uFill>
                <a:latin typeface="Calibri Light"/>
                <a:cs typeface="Calibri Light"/>
              </a:rPr>
              <a:t>Risk</a:t>
            </a:r>
            <a:r>
              <a:rPr sz="4400" u="heavy" spc="-105" dirty="0">
                <a:solidFill>
                  <a:srgbClr val="074891"/>
                </a:solidFill>
                <a:uFill>
                  <a:solidFill>
                    <a:srgbClr val="000000"/>
                  </a:solidFill>
                </a:uFill>
                <a:latin typeface="Calibri Light"/>
                <a:cs typeface="Calibri Light"/>
              </a:rPr>
              <a:t> </a:t>
            </a:r>
            <a:r>
              <a:rPr sz="4400" u="heavy" spc="-45" dirty="0">
                <a:solidFill>
                  <a:srgbClr val="074891"/>
                </a:solidFill>
                <a:uFill>
                  <a:solidFill>
                    <a:srgbClr val="000000"/>
                  </a:solidFill>
                </a:uFill>
                <a:latin typeface="Calibri Light"/>
                <a:cs typeface="Calibri Light"/>
              </a:rPr>
              <a:t>Response</a:t>
            </a:r>
            <a:r>
              <a:rPr sz="4400" u="heavy" spc="-95" dirty="0">
                <a:solidFill>
                  <a:srgbClr val="074891"/>
                </a:solidFill>
                <a:uFill>
                  <a:solidFill>
                    <a:srgbClr val="000000"/>
                  </a:solidFill>
                </a:uFill>
                <a:latin typeface="Calibri Light"/>
                <a:cs typeface="Calibri Light"/>
              </a:rPr>
              <a:t> </a:t>
            </a:r>
            <a:r>
              <a:rPr sz="4400" u="heavy" spc="-25" dirty="0">
                <a:solidFill>
                  <a:srgbClr val="074891"/>
                </a:solidFill>
                <a:uFill>
                  <a:solidFill>
                    <a:srgbClr val="000000"/>
                  </a:solidFill>
                </a:uFill>
                <a:latin typeface="Calibri Light"/>
                <a:cs typeface="Calibri Light"/>
              </a:rPr>
              <a:t>Action</a:t>
            </a:r>
            <a:r>
              <a:rPr sz="4400" u="heavy" spc="-110" dirty="0">
                <a:solidFill>
                  <a:srgbClr val="074891"/>
                </a:solidFill>
                <a:uFill>
                  <a:solidFill>
                    <a:srgbClr val="000000"/>
                  </a:solidFill>
                </a:uFill>
                <a:latin typeface="Calibri Light"/>
                <a:cs typeface="Calibri Light"/>
              </a:rPr>
              <a:t> </a:t>
            </a:r>
            <a:r>
              <a:rPr sz="4400" u="heavy" spc="-25" dirty="0">
                <a:solidFill>
                  <a:srgbClr val="074891"/>
                </a:solidFill>
                <a:uFill>
                  <a:solidFill>
                    <a:srgbClr val="000000"/>
                  </a:solidFill>
                </a:uFill>
                <a:latin typeface="Calibri Light"/>
                <a:cs typeface="Calibri Light"/>
              </a:rPr>
              <a:t>Plans	</a:t>
            </a:r>
            <a:endParaRPr sz="4400">
              <a:latin typeface="Calibri Light"/>
              <a:cs typeface="Calibri Light"/>
            </a:endParaRPr>
          </a:p>
        </p:txBody>
      </p:sp>
      <p:sp>
        <p:nvSpPr>
          <p:cNvPr id="3" name="object 3"/>
          <p:cNvSpPr txBox="1"/>
          <p:nvPr/>
        </p:nvSpPr>
        <p:spPr>
          <a:xfrm>
            <a:off x="916939" y="1793493"/>
            <a:ext cx="8977338" cy="3806427"/>
          </a:xfrm>
          <a:prstGeom prst="rect">
            <a:avLst/>
          </a:prstGeom>
        </p:spPr>
        <p:txBody>
          <a:bodyPr vert="horz" wrap="square" lIns="0" tIns="54610" rIns="0" bIns="0" rtlCol="0">
            <a:spAutoFit/>
          </a:bodyPr>
          <a:lstStyle/>
          <a:p>
            <a:pPr marL="241300" marR="634365" indent="-229235" algn="just">
              <a:lnSpc>
                <a:spcPct val="90000"/>
              </a:lnSpc>
              <a:spcBef>
                <a:spcPts val="430"/>
              </a:spcBef>
              <a:buFont typeface="Arial MT"/>
              <a:buChar char="•"/>
              <a:tabLst>
                <a:tab pos="241935" algn="l"/>
              </a:tabLst>
            </a:pPr>
            <a:r>
              <a:rPr sz="2400" b="1" spc="-5" dirty="0">
                <a:latin typeface="Calibri"/>
                <a:cs typeface="Calibri"/>
              </a:rPr>
              <a:t>Risk </a:t>
            </a:r>
            <a:r>
              <a:rPr sz="2400" b="1" spc="-15" dirty="0">
                <a:latin typeface="Calibri"/>
                <a:cs typeface="Calibri"/>
              </a:rPr>
              <a:t>Response </a:t>
            </a:r>
            <a:r>
              <a:rPr sz="2400" b="1" spc="-5" dirty="0">
                <a:latin typeface="Calibri"/>
                <a:cs typeface="Calibri"/>
              </a:rPr>
              <a:t>Action </a:t>
            </a:r>
            <a:r>
              <a:rPr sz="2400" b="1" spc="-10" dirty="0">
                <a:latin typeface="Calibri"/>
                <a:cs typeface="Calibri"/>
              </a:rPr>
              <a:t>Plan </a:t>
            </a:r>
            <a:r>
              <a:rPr sz="2400" spc="-15" dirty="0">
                <a:latin typeface="Calibri"/>
                <a:cs typeface="Calibri"/>
              </a:rPr>
              <a:t>lists </a:t>
            </a:r>
            <a:r>
              <a:rPr sz="2400" spc="-5" dirty="0">
                <a:latin typeface="Calibri"/>
                <a:cs typeface="Calibri"/>
              </a:rPr>
              <a:t>the </a:t>
            </a:r>
            <a:r>
              <a:rPr sz="2400" spc="-10" dirty="0">
                <a:latin typeface="Calibri"/>
                <a:cs typeface="Calibri"/>
              </a:rPr>
              <a:t>risk responses that </a:t>
            </a:r>
            <a:r>
              <a:rPr sz="2400" spc="-25" dirty="0">
                <a:latin typeface="Calibri"/>
                <a:cs typeface="Calibri"/>
              </a:rPr>
              <a:t>have </a:t>
            </a:r>
            <a:r>
              <a:rPr sz="2400" spc="-10" dirty="0">
                <a:latin typeface="Calibri"/>
                <a:cs typeface="Calibri"/>
              </a:rPr>
              <a:t>been </a:t>
            </a:r>
            <a:r>
              <a:rPr sz="2400" spc="-5" dirty="0">
                <a:latin typeface="Calibri"/>
                <a:cs typeface="Calibri"/>
              </a:rPr>
              <a:t> chosen and charts their </a:t>
            </a:r>
            <a:r>
              <a:rPr sz="2400" spc="-20" dirty="0">
                <a:latin typeface="Calibri"/>
                <a:cs typeface="Calibri"/>
              </a:rPr>
              <a:t>progress </a:t>
            </a:r>
            <a:r>
              <a:rPr sz="2400" spc="-5" dirty="0">
                <a:latin typeface="Calibri"/>
                <a:cs typeface="Calibri"/>
              </a:rPr>
              <a:t>and </a:t>
            </a:r>
            <a:r>
              <a:rPr sz="2400" spc="-10" dirty="0">
                <a:latin typeface="Calibri"/>
                <a:cs typeface="Calibri"/>
              </a:rPr>
              <a:t>associated timeline, </a:t>
            </a:r>
            <a:r>
              <a:rPr sz="2400" spc="-5" dirty="0">
                <a:latin typeface="Calibri"/>
                <a:cs typeface="Calibri"/>
              </a:rPr>
              <a:t>with an </a:t>
            </a:r>
            <a:r>
              <a:rPr sz="2400" spc="-620" dirty="0">
                <a:latin typeface="Calibri"/>
                <a:cs typeface="Calibri"/>
              </a:rPr>
              <a:t> </a:t>
            </a:r>
            <a:r>
              <a:rPr sz="2400" spc="-15" dirty="0">
                <a:latin typeface="Calibri"/>
                <a:cs typeface="Calibri"/>
              </a:rPr>
              <a:t>appropriate</a:t>
            </a:r>
            <a:r>
              <a:rPr sz="2400" spc="20" dirty="0">
                <a:latin typeface="Calibri"/>
                <a:cs typeface="Calibri"/>
              </a:rPr>
              <a:t> </a:t>
            </a:r>
            <a:r>
              <a:rPr sz="2400" spc="-5" dirty="0">
                <a:latin typeface="Calibri"/>
                <a:cs typeface="Calibri"/>
              </a:rPr>
              <a:t>action</a:t>
            </a:r>
            <a:r>
              <a:rPr sz="2400" spc="-10" dirty="0">
                <a:latin typeface="Calibri"/>
                <a:cs typeface="Calibri"/>
              </a:rPr>
              <a:t> </a:t>
            </a:r>
            <a:r>
              <a:rPr sz="2400" spc="-55" dirty="0">
                <a:latin typeface="Calibri"/>
                <a:cs typeface="Calibri"/>
              </a:rPr>
              <a:t>owner.</a:t>
            </a:r>
            <a:endParaRPr sz="2400" dirty="0">
              <a:latin typeface="Calibri"/>
              <a:cs typeface="Calibri"/>
            </a:endParaRPr>
          </a:p>
          <a:p>
            <a:pPr marL="241300" marR="661035" indent="-229235" algn="just">
              <a:lnSpc>
                <a:spcPts val="3020"/>
              </a:lnSpc>
              <a:spcBef>
                <a:spcPts val="1055"/>
              </a:spcBef>
              <a:buFont typeface="Arial MT"/>
              <a:buChar char="•"/>
              <a:tabLst>
                <a:tab pos="241935" algn="l"/>
              </a:tabLst>
            </a:pPr>
            <a:r>
              <a:rPr sz="2400" spc="-5" dirty="0">
                <a:latin typeface="Calibri"/>
                <a:cs typeface="Calibri"/>
              </a:rPr>
              <a:t>Risk </a:t>
            </a:r>
            <a:r>
              <a:rPr sz="2400" spc="-10" dirty="0">
                <a:latin typeface="Calibri"/>
                <a:cs typeface="Calibri"/>
              </a:rPr>
              <a:t>response </a:t>
            </a:r>
            <a:r>
              <a:rPr sz="2400" spc="-5" dirty="0">
                <a:latin typeface="Calibri"/>
                <a:cs typeface="Calibri"/>
              </a:rPr>
              <a:t>action </a:t>
            </a:r>
            <a:r>
              <a:rPr sz="2400" spc="-10" dirty="0">
                <a:latin typeface="Calibri"/>
                <a:cs typeface="Calibri"/>
              </a:rPr>
              <a:t>plans can </a:t>
            </a:r>
            <a:r>
              <a:rPr sz="2400" spc="-15" dirty="0">
                <a:latin typeface="Calibri"/>
                <a:cs typeface="Calibri"/>
              </a:rPr>
              <a:t>contain </a:t>
            </a:r>
            <a:r>
              <a:rPr sz="2400" spc="-20" dirty="0">
                <a:latin typeface="Calibri"/>
                <a:cs typeface="Calibri"/>
              </a:rPr>
              <a:t>any </a:t>
            </a:r>
            <a:r>
              <a:rPr sz="2400" spc="-10" dirty="0">
                <a:latin typeface="Calibri"/>
                <a:cs typeface="Calibri"/>
              </a:rPr>
              <a:t>number </a:t>
            </a:r>
            <a:r>
              <a:rPr sz="2400" spc="-5" dirty="0">
                <a:latin typeface="Calibri"/>
                <a:cs typeface="Calibri"/>
              </a:rPr>
              <a:t>of </a:t>
            </a:r>
            <a:r>
              <a:rPr sz="2400" spc="-20" dirty="0">
                <a:latin typeface="Calibri"/>
                <a:cs typeface="Calibri"/>
              </a:rPr>
              <a:t>data </a:t>
            </a:r>
            <a:r>
              <a:rPr sz="2400" spc="-10" dirty="0">
                <a:latin typeface="Calibri"/>
                <a:cs typeface="Calibri"/>
              </a:rPr>
              <a:t>points </a:t>
            </a:r>
            <a:r>
              <a:rPr sz="2400" spc="-620" dirty="0">
                <a:latin typeface="Calibri"/>
                <a:cs typeface="Calibri"/>
              </a:rPr>
              <a:t> </a:t>
            </a:r>
            <a:r>
              <a:rPr sz="2400" spc="-10" dirty="0">
                <a:latin typeface="Calibri"/>
                <a:cs typeface="Calibri"/>
              </a:rPr>
              <a:t>inside</a:t>
            </a:r>
            <a:r>
              <a:rPr sz="2400" spc="25" dirty="0">
                <a:latin typeface="Calibri"/>
                <a:cs typeface="Calibri"/>
              </a:rPr>
              <a:t> </a:t>
            </a:r>
            <a:r>
              <a:rPr sz="2400" spc="-5" dirty="0">
                <a:latin typeface="Calibri"/>
                <a:cs typeface="Calibri"/>
              </a:rPr>
              <a:t>of them,</a:t>
            </a:r>
            <a:r>
              <a:rPr sz="2400" spc="20" dirty="0">
                <a:latin typeface="Calibri"/>
                <a:cs typeface="Calibri"/>
              </a:rPr>
              <a:t> </a:t>
            </a:r>
            <a:r>
              <a:rPr sz="2400" spc="-10" dirty="0">
                <a:latin typeface="Calibri"/>
                <a:cs typeface="Calibri"/>
              </a:rPr>
              <a:t>but</a:t>
            </a:r>
            <a:r>
              <a:rPr sz="2400" spc="10" dirty="0">
                <a:latin typeface="Calibri"/>
                <a:cs typeface="Calibri"/>
              </a:rPr>
              <a:t> </a:t>
            </a:r>
            <a:r>
              <a:rPr sz="2400" spc="-15" dirty="0">
                <a:latin typeface="Calibri"/>
                <a:cs typeface="Calibri"/>
              </a:rPr>
              <a:t>at</a:t>
            </a:r>
            <a:r>
              <a:rPr sz="2400" spc="-5" dirty="0">
                <a:latin typeface="Calibri"/>
                <a:cs typeface="Calibri"/>
              </a:rPr>
              <a:t> a </a:t>
            </a:r>
            <a:r>
              <a:rPr sz="2400" spc="-10" dirty="0">
                <a:latin typeface="Calibri"/>
                <a:cs typeface="Calibri"/>
              </a:rPr>
              <a:t>minimum,</a:t>
            </a:r>
            <a:r>
              <a:rPr sz="2400" spc="35" dirty="0">
                <a:latin typeface="Calibri"/>
                <a:cs typeface="Calibri"/>
              </a:rPr>
              <a:t> </a:t>
            </a:r>
            <a:r>
              <a:rPr sz="2400" spc="-10" dirty="0">
                <a:latin typeface="Calibri"/>
                <a:cs typeface="Calibri"/>
              </a:rPr>
              <a:t>they</a:t>
            </a:r>
            <a:r>
              <a:rPr sz="2400" spc="5" dirty="0">
                <a:latin typeface="Calibri"/>
                <a:cs typeface="Calibri"/>
              </a:rPr>
              <a:t> </a:t>
            </a:r>
            <a:r>
              <a:rPr sz="2400" spc="-10" dirty="0">
                <a:latin typeface="Calibri"/>
                <a:cs typeface="Calibri"/>
              </a:rPr>
              <a:t>should</a:t>
            </a:r>
            <a:r>
              <a:rPr sz="2400" spc="30" dirty="0">
                <a:latin typeface="Calibri"/>
                <a:cs typeface="Calibri"/>
              </a:rPr>
              <a:t> </a:t>
            </a:r>
            <a:r>
              <a:rPr sz="2400" spc="-15" dirty="0">
                <a:latin typeface="Calibri"/>
                <a:cs typeface="Calibri"/>
              </a:rPr>
              <a:t>list</a:t>
            </a:r>
            <a:endParaRPr sz="2400" dirty="0">
              <a:latin typeface="Calibri"/>
              <a:cs typeface="Calibri"/>
            </a:endParaRPr>
          </a:p>
          <a:p>
            <a:pPr marL="698500" lvl="1" indent="-229235" algn="just">
              <a:lnSpc>
                <a:spcPts val="2735"/>
              </a:lnSpc>
              <a:spcBef>
                <a:spcPts val="195"/>
              </a:spcBef>
              <a:buFont typeface="Arial MT"/>
              <a:buChar char="•"/>
              <a:tabLst>
                <a:tab pos="699135" algn="l"/>
              </a:tabLst>
            </a:pPr>
            <a:r>
              <a:rPr sz="2000" spc="-5" dirty="0">
                <a:latin typeface="Calibri"/>
                <a:cs typeface="Calibri"/>
              </a:rPr>
              <a:t>The</a:t>
            </a:r>
            <a:r>
              <a:rPr sz="2000" spc="5" dirty="0">
                <a:latin typeface="Calibri"/>
                <a:cs typeface="Calibri"/>
              </a:rPr>
              <a:t> </a:t>
            </a:r>
            <a:r>
              <a:rPr sz="2000" spc="-10" dirty="0">
                <a:latin typeface="Calibri"/>
                <a:cs typeface="Calibri"/>
              </a:rPr>
              <a:t>prioritized</a:t>
            </a:r>
            <a:r>
              <a:rPr sz="2000" spc="-15" dirty="0">
                <a:latin typeface="Calibri"/>
                <a:cs typeface="Calibri"/>
              </a:rPr>
              <a:t> </a:t>
            </a:r>
            <a:r>
              <a:rPr sz="2000" dirty="0">
                <a:latin typeface="Calibri"/>
                <a:cs typeface="Calibri"/>
              </a:rPr>
              <a:t>risk</a:t>
            </a:r>
            <a:r>
              <a:rPr sz="2000" spc="-25" dirty="0">
                <a:latin typeface="Calibri"/>
                <a:cs typeface="Calibri"/>
              </a:rPr>
              <a:t> </a:t>
            </a:r>
            <a:r>
              <a:rPr sz="2000" spc="-5" dirty="0">
                <a:latin typeface="Calibri"/>
                <a:cs typeface="Calibri"/>
              </a:rPr>
              <a:t>responses, </a:t>
            </a:r>
            <a:r>
              <a:rPr sz="2000" dirty="0">
                <a:latin typeface="Calibri"/>
                <a:cs typeface="Calibri"/>
              </a:rPr>
              <a:t>their</a:t>
            </a:r>
            <a:r>
              <a:rPr sz="2000" spc="-15" dirty="0">
                <a:latin typeface="Calibri"/>
                <a:cs typeface="Calibri"/>
              </a:rPr>
              <a:t> </a:t>
            </a:r>
            <a:r>
              <a:rPr sz="2000" spc="-5" dirty="0">
                <a:latin typeface="Calibri"/>
                <a:cs typeface="Calibri"/>
              </a:rPr>
              <a:t>associated</a:t>
            </a:r>
            <a:r>
              <a:rPr sz="2000" spc="-15" dirty="0">
                <a:latin typeface="Calibri"/>
                <a:cs typeface="Calibri"/>
              </a:rPr>
              <a:t> </a:t>
            </a:r>
            <a:r>
              <a:rPr sz="2000" spc="-10" dirty="0">
                <a:latin typeface="Calibri"/>
                <a:cs typeface="Calibri"/>
              </a:rPr>
              <a:t>costs, </a:t>
            </a:r>
            <a:r>
              <a:rPr sz="2000" dirty="0">
                <a:latin typeface="Calibri"/>
                <a:cs typeface="Calibri"/>
              </a:rPr>
              <a:t>a</a:t>
            </a:r>
            <a:r>
              <a:rPr sz="2000" spc="-20" dirty="0">
                <a:latin typeface="Calibri"/>
                <a:cs typeface="Calibri"/>
              </a:rPr>
              <a:t> </a:t>
            </a:r>
            <a:r>
              <a:rPr sz="2000" dirty="0">
                <a:latin typeface="Calibri"/>
                <a:cs typeface="Calibri"/>
              </a:rPr>
              <a:t>timeline</a:t>
            </a:r>
            <a:r>
              <a:rPr sz="2000" spc="-20" dirty="0">
                <a:latin typeface="Calibri"/>
                <a:cs typeface="Calibri"/>
              </a:rPr>
              <a:t> for</a:t>
            </a:r>
            <a:r>
              <a:rPr sz="2000" spc="-15" dirty="0">
                <a:latin typeface="Calibri"/>
                <a:cs typeface="Calibri"/>
              </a:rPr>
              <a:t> </a:t>
            </a:r>
            <a:r>
              <a:rPr sz="2000" dirty="0">
                <a:latin typeface="Calibri"/>
                <a:cs typeface="Calibri"/>
              </a:rPr>
              <a:t>their</a:t>
            </a:r>
          </a:p>
          <a:p>
            <a:pPr marL="698500" algn="just">
              <a:lnSpc>
                <a:spcPts val="2735"/>
              </a:lnSpc>
            </a:pPr>
            <a:r>
              <a:rPr sz="2000" spc="-5" dirty="0">
                <a:latin typeface="Calibri"/>
                <a:cs typeface="Calibri"/>
              </a:rPr>
              <a:t>implementation,</a:t>
            </a:r>
            <a:r>
              <a:rPr sz="2000" spc="-40"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associated</a:t>
            </a:r>
            <a:r>
              <a:rPr sz="2000" spc="-25" dirty="0">
                <a:latin typeface="Calibri"/>
                <a:cs typeface="Calibri"/>
              </a:rPr>
              <a:t> </a:t>
            </a:r>
            <a:r>
              <a:rPr sz="2000" spc="-15" dirty="0">
                <a:latin typeface="Calibri"/>
                <a:cs typeface="Calibri"/>
              </a:rPr>
              <a:t>cost,</a:t>
            </a:r>
            <a:r>
              <a:rPr sz="2000" spc="-5" dirty="0">
                <a:latin typeface="Calibri"/>
                <a:cs typeface="Calibri"/>
              </a:rPr>
              <a:t> </a:t>
            </a:r>
            <a:r>
              <a:rPr sz="2000" dirty="0">
                <a:latin typeface="Calibri"/>
                <a:cs typeface="Calibri"/>
              </a:rPr>
              <a:t>and</a:t>
            </a:r>
            <a:r>
              <a:rPr sz="2000" spc="-10" dirty="0">
                <a:latin typeface="Calibri"/>
                <a:cs typeface="Calibri"/>
              </a:rPr>
              <a:t> </a:t>
            </a:r>
            <a:r>
              <a:rPr sz="2000" dirty="0">
                <a:latin typeface="Calibri"/>
                <a:cs typeface="Calibri"/>
              </a:rPr>
              <a:t>the</a:t>
            </a:r>
            <a:r>
              <a:rPr sz="2000" spc="-20" dirty="0">
                <a:latin typeface="Calibri"/>
                <a:cs typeface="Calibri"/>
              </a:rPr>
              <a:t> </a:t>
            </a:r>
            <a:r>
              <a:rPr sz="2000" spc="-5" dirty="0">
                <a:latin typeface="Calibri"/>
                <a:cs typeface="Calibri"/>
              </a:rPr>
              <a:t>owner of</a:t>
            </a:r>
            <a:r>
              <a:rPr sz="2000" dirty="0">
                <a:latin typeface="Calibri"/>
                <a:cs typeface="Calibri"/>
              </a:rPr>
              <a:t> the</a:t>
            </a:r>
            <a:r>
              <a:rPr sz="2000" spc="-15" dirty="0">
                <a:latin typeface="Calibri"/>
                <a:cs typeface="Calibri"/>
              </a:rPr>
              <a:t> </a:t>
            </a:r>
            <a:r>
              <a:rPr sz="2000" dirty="0">
                <a:latin typeface="Calibri"/>
                <a:cs typeface="Calibri"/>
              </a:rPr>
              <a:t>risk</a:t>
            </a:r>
            <a:r>
              <a:rPr sz="2000" spc="-5" dirty="0">
                <a:latin typeface="Calibri"/>
                <a:cs typeface="Calibri"/>
              </a:rPr>
              <a:t> response.</a:t>
            </a:r>
            <a:endParaRPr sz="2000" dirty="0">
              <a:latin typeface="Calibri"/>
              <a:cs typeface="Calibri"/>
            </a:endParaRPr>
          </a:p>
          <a:p>
            <a:pPr marL="241300" marR="5080" indent="-229235">
              <a:lnSpc>
                <a:spcPct val="90000"/>
              </a:lnSpc>
              <a:spcBef>
                <a:spcPts val="980"/>
              </a:spcBef>
              <a:buFont typeface="Arial MT"/>
              <a:buChar char="•"/>
              <a:tabLst>
                <a:tab pos="241935" algn="l"/>
              </a:tabLst>
            </a:pPr>
            <a:r>
              <a:rPr sz="2400" spc="-10" dirty="0">
                <a:latin typeface="Calibri"/>
                <a:cs typeface="Calibri"/>
              </a:rPr>
              <a:t>The</a:t>
            </a:r>
            <a:r>
              <a:rPr sz="2400" spc="-5" dirty="0">
                <a:latin typeface="Calibri"/>
                <a:cs typeface="Calibri"/>
              </a:rPr>
              <a:t> </a:t>
            </a:r>
            <a:r>
              <a:rPr sz="2400" spc="-10" dirty="0">
                <a:latin typeface="Calibri"/>
                <a:cs typeface="Calibri"/>
              </a:rPr>
              <a:t>plan</a:t>
            </a:r>
            <a:r>
              <a:rPr sz="2400" spc="20" dirty="0">
                <a:latin typeface="Calibri"/>
                <a:cs typeface="Calibri"/>
              </a:rPr>
              <a:t> </a:t>
            </a:r>
            <a:r>
              <a:rPr sz="2400" spc="-10" dirty="0">
                <a:latin typeface="Calibri"/>
                <a:cs typeface="Calibri"/>
              </a:rPr>
              <a:t>should</a:t>
            </a:r>
            <a:r>
              <a:rPr sz="2400" spc="30" dirty="0">
                <a:latin typeface="Calibri"/>
                <a:cs typeface="Calibri"/>
              </a:rPr>
              <a:t> </a:t>
            </a:r>
            <a:r>
              <a:rPr sz="2400" spc="-5" dirty="0">
                <a:latin typeface="Calibri"/>
                <a:cs typeface="Calibri"/>
              </a:rPr>
              <a:t>be</a:t>
            </a:r>
            <a:r>
              <a:rPr sz="2400" spc="10" dirty="0">
                <a:latin typeface="Calibri"/>
                <a:cs typeface="Calibri"/>
              </a:rPr>
              <a:t> </a:t>
            </a:r>
            <a:r>
              <a:rPr sz="2400" spc="-15" dirty="0">
                <a:latin typeface="Calibri"/>
                <a:cs typeface="Calibri"/>
              </a:rPr>
              <a:t>formally</a:t>
            </a:r>
            <a:r>
              <a:rPr sz="2400" spc="5" dirty="0">
                <a:latin typeface="Calibri"/>
                <a:cs typeface="Calibri"/>
              </a:rPr>
              <a:t> </a:t>
            </a:r>
            <a:r>
              <a:rPr sz="2400" spc="-10" dirty="0">
                <a:latin typeface="Calibri"/>
                <a:cs typeface="Calibri"/>
              </a:rPr>
              <a:t>accepted</a:t>
            </a:r>
            <a:r>
              <a:rPr sz="2400" spc="5" dirty="0">
                <a:latin typeface="Calibri"/>
                <a:cs typeface="Calibri"/>
              </a:rPr>
              <a:t> </a:t>
            </a:r>
            <a:r>
              <a:rPr sz="2400" spc="-15" dirty="0">
                <a:latin typeface="Calibri"/>
                <a:cs typeface="Calibri"/>
              </a:rPr>
              <a:t>by</a:t>
            </a:r>
            <a:r>
              <a:rPr sz="2400" spc="5" dirty="0">
                <a:latin typeface="Calibri"/>
                <a:cs typeface="Calibri"/>
              </a:rPr>
              <a:t> </a:t>
            </a:r>
            <a:r>
              <a:rPr sz="2400" spc="-10" dirty="0">
                <a:latin typeface="Calibri"/>
                <a:cs typeface="Calibri"/>
              </a:rPr>
              <a:t>senior</a:t>
            </a:r>
            <a:r>
              <a:rPr sz="2400" spc="25" dirty="0">
                <a:latin typeface="Calibri"/>
                <a:cs typeface="Calibri"/>
              </a:rPr>
              <a:t> </a:t>
            </a:r>
            <a:r>
              <a:rPr sz="2400" spc="-10" dirty="0">
                <a:latin typeface="Calibri"/>
                <a:cs typeface="Calibri"/>
              </a:rPr>
              <a:t>leadership,</a:t>
            </a:r>
            <a:r>
              <a:rPr sz="2400" spc="25" dirty="0">
                <a:latin typeface="Calibri"/>
                <a:cs typeface="Calibri"/>
              </a:rPr>
              <a:t> </a:t>
            </a:r>
            <a:r>
              <a:rPr sz="2400" spc="-15" dirty="0">
                <a:latin typeface="Calibri"/>
                <a:cs typeface="Calibri"/>
              </a:rPr>
              <a:t>monitored </a:t>
            </a:r>
            <a:r>
              <a:rPr sz="2400" spc="-615" dirty="0">
                <a:latin typeface="Calibri"/>
                <a:cs typeface="Calibri"/>
              </a:rPr>
              <a:t> </a:t>
            </a:r>
            <a:r>
              <a:rPr sz="2400" spc="-30" dirty="0">
                <a:latin typeface="Calibri"/>
                <a:cs typeface="Calibri"/>
              </a:rPr>
              <a:t>continuously,</a:t>
            </a:r>
            <a:r>
              <a:rPr sz="2400" spc="60" dirty="0">
                <a:latin typeface="Calibri"/>
                <a:cs typeface="Calibri"/>
              </a:rPr>
              <a:t> </a:t>
            </a:r>
            <a:r>
              <a:rPr sz="2400" spc="-5" dirty="0">
                <a:latin typeface="Calibri"/>
                <a:cs typeface="Calibri"/>
              </a:rPr>
              <a:t>and</a:t>
            </a:r>
            <a:r>
              <a:rPr sz="2400" spc="25" dirty="0">
                <a:latin typeface="Calibri"/>
                <a:cs typeface="Calibri"/>
              </a:rPr>
              <a:t> </a:t>
            </a:r>
            <a:r>
              <a:rPr sz="2400" spc="-15" dirty="0">
                <a:latin typeface="Calibri"/>
                <a:cs typeface="Calibri"/>
              </a:rPr>
              <a:t>reviewed</a:t>
            </a:r>
            <a:r>
              <a:rPr sz="2400" dirty="0">
                <a:latin typeface="Calibri"/>
                <a:cs typeface="Calibri"/>
              </a:rPr>
              <a:t> </a:t>
            </a:r>
            <a:r>
              <a:rPr sz="2400" spc="-10" dirty="0">
                <a:latin typeface="Calibri"/>
                <a:cs typeface="Calibri"/>
              </a:rPr>
              <a:t>regularly</a:t>
            </a:r>
            <a:r>
              <a:rPr sz="2400" spc="5" dirty="0">
                <a:latin typeface="Calibri"/>
                <a:cs typeface="Calibri"/>
              </a:rPr>
              <a:t> </a:t>
            </a:r>
            <a:r>
              <a:rPr sz="2400" spc="-20" dirty="0">
                <a:latin typeface="Calibri"/>
                <a:cs typeface="Calibri"/>
              </a:rPr>
              <a:t>to</a:t>
            </a:r>
            <a:r>
              <a:rPr sz="2400" spc="-5" dirty="0">
                <a:latin typeface="Calibri"/>
                <a:cs typeface="Calibri"/>
              </a:rPr>
              <a:t> </a:t>
            </a:r>
            <a:r>
              <a:rPr sz="2400" spc="-10" dirty="0">
                <a:latin typeface="Calibri"/>
                <a:cs typeface="Calibri"/>
              </a:rPr>
              <a:t>ensure</a:t>
            </a:r>
            <a:r>
              <a:rPr sz="2400" spc="30" dirty="0">
                <a:latin typeface="Calibri"/>
                <a:cs typeface="Calibri"/>
              </a:rPr>
              <a:t> </a:t>
            </a:r>
            <a:r>
              <a:rPr sz="2400" spc="-5" dirty="0">
                <a:latin typeface="Calibri"/>
                <a:cs typeface="Calibri"/>
              </a:rPr>
              <a:t>it</a:t>
            </a:r>
            <a:r>
              <a:rPr sz="2400" dirty="0">
                <a:latin typeface="Calibri"/>
                <a:cs typeface="Calibri"/>
              </a:rPr>
              <a:t> </a:t>
            </a:r>
            <a:r>
              <a:rPr sz="2400" spc="-10" dirty="0">
                <a:latin typeface="Calibri"/>
                <a:cs typeface="Calibri"/>
              </a:rPr>
              <a:t>does</a:t>
            </a:r>
            <a:r>
              <a:rPr sz="2400" spc="20" dirty="0">
                <a:latin typeface="Calibri"/>
                <a:cs typeface="Calibri"/>
              </a:rPr>
              <a:t> </a:t>
            </a:r>
            <a:r>
              <a:rPr sz="2400" spc="-10" dirty="0">
                <a:latin typeface="Calibri"/>
                <a:cs typeface="Calibri"/>
              </a:rPr>
              <a:t>not</a:t>
            </a:r>
            <a:r>
              <a:rPr sz="2400" spc="5" dirty="0">
                <a:latin typeface="Calibri"/>
                <a:cs typeface="Calibri"/>
              </a:rPr>
              <a:t> </a:t>
            </a:r>
            <a:r>
              <a:rPr sz="2400" spc="-15" dirty="0">
                <a:latin typeface="Calibri"/>
                <a:cs typeface="Calibri"/>
              </a:rPr>
              <a:t>deviate </a:t>
            </a:r>
            <a:r>
              <a:rPr sz="2400" spc="-10" dirty="0">
                <a:latin typeface="Calibri"/>
                <a:cs typeface="Calibri"/>
              </a:rPr>
              <a:t> </a:t>
            </a:r>
            <a:r>
              <a:rPr sz="2400" spc="-20" dirty="0">
                <a:latin typeface="Calibri"/>
                <a:cs typeface="Calibri"/>
              </a:rPr>
              <a:t>from</a:t>
            </a:r>
            <a:r>
              <a:rPr sz="2400" spc="5" dirty="0">
                <a:latin typeface="Calibri"/>
                <a:cs typeface="Calibri"/>
              </a:rPr>
              <a:t> </a:t>
            </a:r>
            <a:r>
              <a:rPr sz="2400" spc="-5" dirty="0">
                <a:latin typeface="Calibri"/>
                <a:cs typeface="Calibri"/>
              </a:rPr>
              <a:t>a </a:t>
            </a:r>
            <a:r>
              <a:rPr sz="2400" spc="-10" dirty="0">
                <a:latin typeface="Calibri"/>
                <a:cs typeface="Calibri"/>
              </a:rPr>
              <a:t>risk</a:t>
            </a:r>
            <a:r>
              <a:rPr sz="2400" spc="20" dirty="0">
                <a:latin typeface="Calibri"/>
                <a:cs typeface="Calibri"/>
              </a:rPr>
              <a:t> </a:t>
            </a:r>
            <a:r>
              <a:rPr sz="2400" spc="-5" dirty="0">
                <a:latin typeface="Calibri"/>
                <a:cs typeface="Calibri"/>
              </a:rPr>
              <a:t>or </a:t>
            </a:r>
            <a:r>
              <a:rPr sz="2400" spc="-10" dirty="0">
                <a:latin typeface="Calibri"/>
                <a:cs typeface="Calibri"/>
              </a:rPr>
              <a:t>response</a:t>
            </a:r>
            <a:r>
              <a:rPr sz="2400" spc="25" dirty="0">
                <a:latin typeface="Calibri"/>
                <a:cs typeface="Calibri"/>
              </a:rPr>
              <a:t> </a:t>
            </a:r>
            <a:r>
              <a:rPr sz="2400" spc="-15" dirty="0">
                <a:latin typeface="Calibri"/>
                <a:cs typeface="Calibri"/>
              </a:rPr>
              <a:t>perspective.</a:t>
            </a:r>
            <a:endParaRPr sz="24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36B374-0EA3-BC64-FAAE-6AB358796A40}"/>
              </a:ext>
            </a:extLst>
          </p:cNvPr>
          <p:cNvSpPr txBox="1"/>
          <p:nvPr/>
        </p:nvSpPr>
        <p:spPr>
          <a:xfrm>
            <a:off x="729916" y="140329"/>
            <a:ext cx="7178842" cy="6155531"/>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Third-party Risk Management</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Not all risk arises from within an enterprise. </a:t>
            </a: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Outsourcing is a form of risk transfer, but reliance on a third-party provider also creates exposure.</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The risk practitioner should take care to address risk that arises when an organization outsources business functions, supportive services, IT services and data management. </a:t>
            </a:r>
          </a:p>
          <a:p>
            <a:pPr marL="800100" lvl="1" indent="-342900">
              <a:spcAft>
                <a:spcPts val="600"/>
              </a:spcAft>
              <a:buFont typeface="+mj-lt"/>
              <a:buAutoNum type="arabicPeriod"/>
            </a:pPr>
            <a:r>
              <a:rPr lang="en-US" sz="1600" dirty="0">
                <a:solidFill>
                  <a:srgbClr val="C00000"/>
                </a:solidFill>
                <a:effectLst>
                  <a:outerShdw blurRad="38100" dist="38100" dir="2700000" algn="tl">
                    <a:srgbClr val="000000">
                      <a:alpha val="43137"/>
                    </a:srgbClr>
                  </a:outerShdw>
                </a:effectLst>
                <a:latin typeface="Berlin Sans FB" panose="020E0602020502020306" pitchFamily="34" charset="0"/>
              </a:rPr>
              <a:t>Typically, ownership of data and business processes remains with the outsourcing enterprise, not the contracted service provider.</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 This relationship can create legal liability that may be difficult for the outsourcing enterprise to manage, because outsourcing by its very nature places most of the day-to-day operations, staff and procedures within the scope of the contract outside of the enterprise direct control.</a:t>
            </a: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 The risk can be mitigated to a certain extent by the inclusion of carefully worded that require the vendor to repay the losses suffered due to legal/regulatory violations on the service-provider side.</a:t>
            </a: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The relationship between an outsourcing provider and the enterprise is defined by a contract.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Legal requirements written into contracts should address the jurisdiction for any complaints or disagreements with the provider, and regulations in the host country regarding disclosure to law</a:t>
            </a:r>
          </a:p>
        </p:txBody>
      </p:sp>
    </p:spTree>
    <p:extLst>
      <p:ext uri="{BB962C8B-B14F-4D97-AF65-F5344CB8AC3E}">
        <p14:creationId xmlns:p14="http://schemas.microsoft.com/office/powerpoint/2010/main" val="3698186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ACD43B-BA64-49C2-C720-83A96D1F94F3}"/>
              </a:ext>
            </a:extLst>
          </p:cNvPr>
          <p:cNvSpPr txBox="1"/>
          <p:nvPr/>
        </p:nvSpPr>
        <p:spPr>
          <a:xfrm>
            <a:off x="649705" y="597456"/>
            <a:ext cx="10411326" cy="2831544"/>
          </a:xfrm>
          <a:prstGeom prst="rect">
            <a:avLst/>
          </a:prstGeom>
          <a:noFill/>
        </p:spPr>
        <p:txBody>
          <a:bodyPr wrap="square">
            <a:spAutoFit/>
          </a:bodyPr>
          <a:lstStyle/>
          <a:p>
            <a:r>
              <a:rPr lang="en-US" sz="2000" dirty="0">
                <a:solidFill>
                  <a:srgbClr val="7030A0"/>
                </a:solidFill>
                <a:effectLst>
                  <a:outerShdw blurRad="38100" dist="38100" dir="2700000" algn="tl">
                    <a:srgbClr val="000000">
                      <a:alpha val="43137"/>
                    </a:srgbClr>
                  </a:outerShdw>
                </a:effectLst>
                <a:latin typeface="Berlin Sans FB" panose="020E0602020502020306" pitchFamily="34" charset="0"/>
              </a:rPr>
              <a:t>Concerns that should be considered in relation to the risk of using an outsourced supplier include</a:t>
            </a:r>
            <a:r>
              <a:rPr lang="en-US" sz="1600" dirty="0">
                <a:solidFill>
                  <a:srgbClr val="002060"/>
                </a:solidFill>
                <a:latin typeface="Berlin Sans FB" panose="020E0602020502020306" pitchFamily="34" charset="0"/>
              </a:rPr>
              <a:t>:</a:t>
            </a:r>
          </a:p>
          <a:p>
            <a:endParaRPr lang="en-US" sz="1600" dirty="0">
              <a:solidFill>
                <a:srgbClr val="002060"/>
              </a:solidFill>
              <a:latin typeface="Berlin Sans FB" panose="020E0602020502020306" pitchFamily="34" charset="0"/>
            </a:endParaRPr>
          </a:p>
          <a:p>
            <a:pPr marL="685800" lvl="1" indent="-228600">
              <a:spcAft>
                <a:spcPts val="600"/>
              </a:spcAft>
              <a:buFont typeface="+mj-lt"/>
              <a:buAutoNum type="arabicPeriod"/>
            </a:pPr>
            <a:r>
              <a:rPr lang="en-US" sz="1600" dirty="0">
                <a:solidFill>
                  <a:srgbClr val="002060"/>
                </a:solidFill>
                <a:latin typeface="Berlin Sans FB" panose="020E0602020502020306" pitchFamily="34" charset="0"/>
              </a:rPr>
              <a:t>Hiring and training practices of the supplier</a:t>
            </a:r>
          </a:p>
          <a:p>
            <a:pPr marL="685800" lvl="1" indent="-228600">
              <a:spcAft>
                <a:spcPts val="600"/>
              </a:spcAft>
              <a:buFont typeface="+mj-lt"/>
              <a:buAutoNum type="arabicPeriod"/>
            </a:pPr>
            <a:r>
              <a:rPr lang="en-US" sz="1600" dirty="0">
                <a:solidFill>
                  <a:srgbClr val="002060"/>
                </a:solidFill>
                <a:latin typeface="Berlin Sans FB" panose="020E0602020502020306" pitchFamily="34" charset="0"/>
              </a:rPr>
              <a:t>Reporting and correlation between the outsourcing enterprise and supplier</a:t>
            </a:r>
          </a:p>
          <a:p>
            <a:pPr marL="685800" lvl="1" indent="-228600">
              <a:spcAft>
                <a:spcPts val="600"/>
              </a:spcAft>
              <a:buFont typeface="+mj-lt"/>
              <a:buAutoNum type="arabicPeriod"/>
            </a:pPr>
            <a:r>
              <a:rPr lang="en-US" sz="1600" dirty="0">
                <a:solidFill>
                  <a:srgbClr val="002060"/>
                </a:solidFill>
                <a:latin typeface="Berlin Sans FB" panose="020E0602020502020306" pitchFamily="34" charset="0"/>
              </a:rPr>
              <a:t>Time to notify and respond to any incidents</a:t>
            </a:r>
          </a:p>
          <a:p>
            <a:pPr marL="685800" lvl="1" indent="-228600">
              <a:spcAft>
                <a:spcPts val="600"/>
              </a:spcAft>
              <a:buFont typeface="+mj-lt"/>
              <a:buAutoNum type="arabicPeriod"/>
            </a:pPr>
            <a:r>
              <a:rPr lang="en-US" sz="1600" dirty="0">
                <a:solidFill>
                  <a:srgbClr val="002060"/>
                </a:solidFill>
                <a:latin typeface="Berlin Sans FB" panose="020E0602020502020306" pitchFamily="34" charset="0"/>
              </a:rPr>
              <a:t>Liability for noncompliance with terms of the contract</a:t>
            </a:r>
          </a:p>
          <a:p>
            <a:pPr marL="685800" lvl="1" indent="-228600">
              <a:spcAft>
                <a:spcPts val="600"/>
              </a:spcAft>
              <a:buFont typeface="+mj-lt"/>
              <a:buAutoNum type="arabicPeriod"/>
            </a:pPr>
            <a:r>
              <a:rPr lang="en-US" sz="1600" dirty="0">
                <a:solidFill>
                  <a:srgbClr val="002060"/>
                </a:solidFill>
                <a:latin typeface="Berlin Sans FB" panose="020E0602020502020306" pitchFamily="34" charset="0"/>
              </a:rPr>
              <a:t>Nondisclosure of data or business practices</a:t>
            </a:r>
          </a:p>
          <a:p>
            <a:pPr marL="685800" lvl="1" indent="-228600">
              <a:spcAft>
                <a:spcPts val="600"/>
              </a:spcAft>
              <a:buFont typeface="+mj-lt"/>
              <a:buAutoNum type="arabicPeriod"/>
            </a:pPr>
            <a:r>
              <a:rPr lang="en-US" sz="1600" dirty="0">
                <a:solidFill>
                  <a:srgbClr val="002060"/>
                </a:solidFill>
                <a:latin typeface="Berlin Sans FB" panose="020E0602020502020306" pitchFamily="34" charset="0"/>
              </a:rPr>
              <a:t>Responding to requests from law enforcement</a:t>
            </a:r>
          </a:p>
          <a:p>
            <a:pPr marL="685800" lvl="1" indent="-228600">
              <a:spcAft>
                <a:spcPts val="600"/>
              </a:spcAft>
              <a:buFont typeface="+mj-lt"/>
              <a:buAutoNum type="arabicPeriod"/>
            </a:pPr>
            <a:r>
              <a:rPr lang="en-US" sz="1600" dirty="0">
                <a:solidFill>
                  <a:srgbClr val="002060"/>
                </a:solidFill>
                <a:latin typeface="Berlin Sans FB" panose="020E0602020502020306" pitchFamily="34" charset="0"/>
              </a:rPr>
              <a:t>Length of contract and terms for dissolution/termination of contract</a:t>
            </a:r>
          </a:p>
        </p:txBody>
      </p:sp>
      <p:sp>
        <p:nvSpPr>
          <p:cNvPr id="5" name="TextBox 4">
            <a:extLst>
              <a:ext uri="{FF2B5EF4-FFF2-40B4-BE49-F238E27FC236}">
                <a16:creationId xmlns:a16="http://schemas.microsoft.com/office/drawing/2014/main" id="{4D2E1FFF-A534-747E-065F-7D4CFC271E2A}"/>
              </a:ext>
            </a:extLst>
          </p:cNvPr>
          <p:cNvSpPr txBox="1"/>
          <p:nvPr/>
        </p:nvSpPr>
        <p:spPr>
          <a:xfrm>
            <a:off x="1900989" y="3717758"/>
            <a:ext cx="7523748" cy="2154436"/>
          </a:xfrm>
          <a:prstGeom prst="rect">
            <a:avLst/>
          </a:prstGeom>
          <a:noFill/>
        </p:spPr>
        <p:txBody>
          <a:bodyPr wrap="square">
            <a:spAutoFit/>
          </a:bodyPr>
          <a:lstStyle/>
          <a:p>
            <a:endParaRPr lang="en-US" sz="1600" dirty="0">
              <a:solidFill>
                <a:srgbClr val="C00000"/>
              </a:solidFill>
              <a:effectLst>
                <a:outerShdw blurRad="38100" dist="38100" dir="2700000" algn="tl">
                  <a:srgbClr val="000000">
                    <a:alpha val="43137"/>
                  </a:srgbClr>
                </a:outerShdw>
              </a:effectLst>
              <a:latin typeface="Berlin Sans FB" panose="020E0602020502020306" pitchFamily="34" charset="0"/>
            </a:endParaRPr>
          </a:p>
          <a:p>
            <a:pPr marL="285750" indent="-285750">
              <a:buFont typeface="Wingdings" panose="05000000000000000000" pitchFamily="2" charset="2"/>
              <a:buChar char="q"/>
            </a:pPr>
            <a:r>
              <a:rPr lang="en-US" sz="1600" dirty="0">
                <a:solidFill>
                  <a:srgbClr val="C00000"/>
                </a:solidFill>
                <a:effectLst>
                  <a:outerShdw blurRad="38100" dist="38100" dir="2700000" algn="tl">
                    <a:srgbClr val="000000">
                      <a:alpha val="43137"/>
                    </a:srgbClr>
                  </a:outerShdw>
                </a:effectLst>
                <a:latin typeface="Berlin Sans FB" panose="020E0602020502020306" pitchFamily="34" charset="0"/>
              </a:rPr>
              <a:t>The risk practitioner should take steps to ensure any provider of outsourced services used by the enterprise is compliant with the organization’s defined requirements or at a minimum generally accepted good practices</a:t>
            </a:r>
            <a:r>
              <a:rPr lang="en-US" dirty="0">
                <a:solidFill>
                  <a:srgbClr val="C00000"/>
                </a:solidFill>
                <a:effectLst>
                  <a:outerShdw blurRad="38100" dist="38100" dir="2700000" algn="tl">
                    <a:srgbClr val="000000">
                      <a:alpha val="43137"/>
                    </a:srgbClr>
                  </a:outerShdw>
                </a:effectLst>
                <a:latin typeface="Courier New" panose="02070309020205020404" pitchFamily="49" charset="0"/>
              </a:rPr>
              <a:t> .</a:t>
            </a:r>
          </a:p>
          <a:p>
            <a:pPr marL="285750" indent="-285750">
              <a:buFont typeface="Wingdings" panose="05000000000000000000" pitchFamily="2" charset="2"/>
              <a:buChar char="q"/>
            </a:pPr>
            <a:endParaRPr lang="en-US" sz="1800" dirty="0">
              <a:solidFill>
                <a:srgbClr val="002060"/>
              </a:solidFill>
              <a:latin typeface="Courier New" panose="02070309020205020404" pitchFamily="49" charset="0"/>
            </a:endParaRPr>
          </a:p>
          <a:p>
            <a:pPr marL="285750" indent="-285750">
              <a:buFont typeface="Wingdings" panose="05000000000000000000" pitchFamily="2" charset="2"/>
              <a:buChar char="q"/>
            </a:pPr>
            <a:r>
              <a:rPr lang="en-US" sz="1600" dirty="0">
                <a:solidFill>
                  <a:srgbClr val="C00000"/>
                </a:solidFill>
                <a:effectLst>
                  <a:outerShdw blurRad="38100" dist="38100" dir="2700000" algn="tl">
                    <a:srgbClr val="000000">
                      <a:alpha val="43137"/>
                    </a:srgbClr>
                  </a:outerShdw>
                </a:effectLst>
                <a:latin typeface="Berlin Sans FB" panose="020E0602020502020306" pitchFamily="34" charset="0"/>
              </a:rPr>
              <a:t>The risk practitioner should understand the variety of cloud computing models and capabilities which the organization may desire to pursue.</a:t>
            </a:r>
          </a:p>
          <a:p>
            <a:endParaRPr lang="en-US" dirty="0"/>
          </a:p>
        </p:txBody>
      </p:sp>
    </p:spTree>
    <p:extLst>
      <p:ext uri="{BB962C8B-B14F-4D97-AF65-F5344CB8AC3E}">
        <p14:creationId xmlns:p14="http://schemas.microsoft.com/office/powerpoint/2010/main" val="473434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DD47EB-7ADD-A1FC-3687-63F8E29B4134}"/>
              </a:ext>
            </a:extLst>
          </p:cNvPr>
          <p:cNvSpPr txBox="1"/>
          <p:nvPr/>
        </p:nvSpPr>
        <p:spPr>
          <a:xfrm>
            <a:off x="1084074" y="0"/>
            <a:ext cx="9560479" cy="7094250"/>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Issue, Finding and Exception Management</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Variation from the norm or desired outcome represents uncertainty and is therefore a source of risk. </a:t>
            </a:r>
          </a:p>
          <a:p>
            <a:pPr marL="1257300" lvl="2" indent="-342900">
              <a:spcAft>
                <a:spcPts val="600"/>
              </a:spcAft>
              <a:buFont typeface="Wingdings" panose="05000000000000000000" pitchFamily="2" charset="2"/>
              <a:buChar char="q"/>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issue management is the process by which organizations manage problems, or issues. That is, how they identify the issues and respond appropriately.</a:t>
            </a:r>
          </a:p>
          <a:p>
            <a:pPr lvl="4"/>
            <a:r>
              <a:rPr lang="en-US" sz="1400" dirty="0">
                <a:solidFill>
                  <a:srgbClr val="002060"/>
                </a:solidFill>
                <a:latin typeface="Berlin Sans FB" panose="020E0602020502020306" pitchFamily="34" charset="0"/>
              </a:rPr>
              <a:t>examples are:</a:t>
            </a:r>
          </a:p>
          <a:p>
            <a:pPr marL="2114550" lvl="4" indent="-285750">
              <a:buFont typeface="Wingdings" panose="05000000000000000000" pitchFamily="2" charset="2"/>
              <a:buChar char="§"/>
            </a:pPr>
            <a:r>
              <a:rPr lang="en-US" sz="1400" dirty="0">
                <a:solidFill>
                  <a:srgbClr val="002060"/>
                </a:solidFill>
                <a:latin typeface="Berlin Sans FB" panose="020E0602020502020306" pitchFamily="34" charset="0"/>
              </a:rPr>
              <a:t>Poor quality products such as malfunctioning software</a:t>
            </a:r>
          </a:p>
          <a:p>
            <a:pPr marL="2114550" lvl="4" indent="-285750">
              <a:buFont typeface="Wingdings" panose="05000000000000000000" pitchFamily="2" charset="2"/>
              <a:buChar char="§"/>
            </a:pPr>
            <a:r>
              <a:rPr lang="en-US" sz="1400" dirty="0">
                <a:solidFill>
                  <a:srgbClr val="002060"/>
                </a:solidFill>
                <a:latin typeface="Berlin Sans FB" panose="020E0602020502020306" pitchFamily="34" charset="0"/>
              </a:rPr>
              <a:t>Team members who lack skills and knowledge</a:t>
            </a:r>
          </a:p>
          <a:p>
            <a:pPr marL="2114550" lvl="4" indent="-285750">
              <a:buFont typeface="Wingdings" panose="05000000000000000000" pitchFamily="2" charset="2"/>
              <a:buChar char="§"/>
            </a:pPr>
            <a:r>
              <a:rPr lang="en-US" sz="1400" dirty="0">
                <a:solidFill>
                  <a:srgbClr val="002060"/>
                </a:solidFill>
                <a:latin typeface="Berlin Sans FB" panose="020E0602020502020306" pitchFamily="34" charset="0"/>
              </a:rPr>
              <a:t>Projects or activities for which there is no budget</a:t>
            </a:r>
          </a:p>
          <a:p>
            <a:pPr marL="2114550" lvl="4" indent="-285750">
              <a:buFont typeface="Wingdings" panose="05000000000000000000" pitchFamily="2" charset="2"/>
              <a:buChar char="§"/>
            </a:pPr>
            <a:r>
              <a:rPr lang="en-US" sz="1400" dirty="0">
                <a:solidFill>
                  <a:srgbClr val="002060"/>
                </a:solidFill>
                <a:latin typeface="Berlin Sans FB" panose="020E0602020502020306" pitchFamily="34" charset="0"/>
              </a:rPr>
              <a:t>Disturbed communication such as language barriers or lack of communication in the group</a:t>
            </a:r>
          </a:p>
          <a:p>
            <a:pPr marL="2114550" lvl="4" indent="-285750">
              <a:buFont typeface="Wingdings" panose="05000000000000000000" pitchFamily="2" charset="2"/>
              <a:buChar char="§"/>
            </a:pPr>
            <a:r>
              <a:rPr lang="en-US" sz="1400" dirty="0">
                <a:solidFill>
                  <a:srgbClr val="002060"/>
                </a:solidFill>
                <a:latin typeface="Berlin Sans FB" panose="020E0602020502020306" pitchFamily="34" charset="0"/>
              </a:rPr>
              <a:t>Delivery problems</a:t>
            </a:r>
          </a:p>
          <a:p>
            <a:pPr marL="1200150" lvl="2" indent="-285750">
              <a:spcAft>
                <a:spcPts val="600"/>
              </a:spcAft>
              <a:buFont typeface="Wingdings" panose="05000000000000000000" pitchFamily="2" charset="2"/>
              <a:buChar char="q"/>
            </a:pPr>
            <a:endParaRPr lang="en-US" sz="1600" dirty="0">
              <a:solidFill>
                <a:srgbClr val="0070C0"/>
              </a:solidFill>
              <a:effectLst>
                <a:outerShdw blurRad="38100" dist="38100" dir="2700000" algn="tl">
                  <a:srgbClr val="000000">
                    <a:alpha val="43137"/>
                  </a:srgbClr>
                </a:outerShdw>
              </a:effectLst>
              <a:latin typeface="Berlin Sans FB" panose="020E0602020502020306" pitchFamily="34" charset="0"/>
            </a:endParaRPr>
          </a:p>
          <a:p>
            <a:pPr marL="1257300" lvl="2" indent="-342900">
              <a:spcAft>
                <a:spcPts val="600"/>
              </a:spcAft>
              <a:buFont typeface="Wingdings" panose="05000000000000000000" pitchFamily="2" charset="2"/>
              <a:buChar char="q"/>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The first step in successful issue management is to determine what the problem is. There can be multiple factors involved, such as employee concerns, communication breakdowns, improper tools, or technical difficulties. Defining the problem first helps you create a plan to resolve it promptly and efficiently.</a:t>
            </a:r>
          </a:p>
          <a:p>
            <a:pPr marL="1257300" lvl="2" indent="-342900">
              <a:spcAft>
                <a:spcPts val="600"/>
              </a:spcAft>
              <a:buFont typeface="Wingdings" panose="05000000000000000000" pitchFamily="2" charset="2"/>
              <a:buChar char="q"/>
            </a:pPr>
            <a:endParaRPr lang="en-US" sz="1600" dirty="0">
              <a:solidFill>
                <a:srgbClr val="0070C0"/>
              </a:solidFill>
              <a:effectLst>
                <a:outerShdw blurRad="38100" dist="38100" dir="2700000" algn="tl">
                  <a:srgbClr val="000000">
                    <a:alpha val="43137"/>
                  </a:srgbClr>
                </a:outerShdw>
              </a:effectLst>
              <a:latin typeface="Berlin Sans FB" panose="020E0602020502020306" pitchFamily="34" charset="0"/>
            </a:endParaRP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Enterprises can manage this risk by applying strong procedures to areas of variation, including formal approaches to configuration, release, exception, issue  and change using configuration management, release management, exception Management , issue Management and  change management </a:t>
            </a:r>
          </a:p>
          <a:p>
            <a:pPr marL="800100" lvl="1" indent="-342900">
              <a:spcAft>
                <a:spcPts val="600"/>
              </a:spcAft>
              <a:buFont typeface="+mj-lt"/>
              <a:buAutoNum type="arabicPeriod"/>
            </a:pPr>
            <a:r>
              <a:rPr lang="en-US" sz="1400" dirty="0">
                <a:solidFill>
                  <a:srgbClr val="002060"/>
                </a:solidFill>
                <a:effectLst>
                  <a:outerShdw blurRad="38100" dist="38100" dir="2700000" algn="tl">
                    <a:srgbClr val="000000">
                      <a:alpha val="43137"/>
                    </a:srgbClr>
                  </a:outerShdw>
                </a:effectLst>
                <a:latin typeface="Berlin Sans FB" panose="020E0602020502020306" pitchFamily="34" charset="0"/>
              </a:rPr>
              <a:t>In most cases, responses will involve changes, which should go through the change management process </a:t>
            </a:r>
          </a:p>
          <a:p>
            <a:pPr marL="800100" lvl="1" indent="-342900">
              <a:spcAft>
                <a:spcPts val="600"/>
              </a:spcAft>
              <a:buFont typeface="+mj-lt"/>
              <a:buAutoNum type="arabicPeriod"/>
            </a:pPr>
            <a:r>
              <a:rPr lang="en-US" sz="1400" dirty="0">
                <a:solidFill>
                  <a:srgbClr val="002060"/>
                </a:solidFill>
                <a:effectLst>
                  <a:outerShdw blurRad="38100" dist="38100" dir="2700000" algn="tl">
                    <a:srgbClr val="000000">
                      <a:alpha val="43137"/>
                    </a:srgbClr>
                  </a:outerShdw>
                </a:effectLst>
                <a:latin typeface="Berlin Sans FB" panose="020E0602020502020306" pitchFamily="34" charset="0"/>
              </a:rPr>
              <a:t>Addressed issues and findings should then be monitored to ensure that the timely actions produced the anticipated results and identify any new issues that may arise as a result of the changes made.</a:t>
            </a:r>
          </a:p>
          <a:p>
            <a:pPr marL="800100" lvl="1" indent="-342900">
              <a:spcAft>
                <a:spcPts val="600"/>
              </a:spcAft>
              <a:buFont typeface="+mj-lt"/>
              <a:buAutoNum type="arabicPeriod"/>
            </a:pPr>
            <a:endParaRPr lang="en-US" sz="1400" dirty="0">
              <a:solidFill>
                <a:srgbClr val="7030A0"/>
              </a:solidFill>
              <a:effectLst>
                <a:outerShdw blurRad="38100" dist="38100" dir="2700000" algn="tl">
                  <a:srgbClr val="000000">
                    <a:alpha val="43137"/>
                  </a:srgbClr>
                </a:outerShdw>
              </a:effectLst>
              <a:latin typeface="Berlin Sans FB" panose="020E0602020502020306" pitchFamily="34" charset="0"/>
            </a:endParaRPr>
          </a:p>
          <a:p>
            <a:endParaRPr lang="en-US" sz="2800" dirty="0">
              <a:solidFill>
                <a:srgbClr val="C00000"/>
              </a:solidFill>
              <a:latin typeface="Berlin Sans FB Demi" panose="020E0802020502020306" pitchFamily="34" charset="0"/>
            </a:endParaRPr>
          </a:p>
          <a:p>
            <a:endParaRPr lang="en-US" sz="1100" dirty="0">
              <a:latin typeface="Courier New" panose="02070309020205020404" pitchFamily="49" charset="0"/>
            </a:endParaRPr>
          </a:p>
        </p:txBody>
      </p:sp>
    </p:spTree>
    <p:extLst>
      <p:ext uri="{BB962C8B-B14F-4D97-AF65-F5344CB8AC3E}">
        <p14:creationId xmlns:p14="http://schemas.microsoft.com/office/powerpoint/2010/main" val="955170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534D3F-7997-46CB-BCEB-E73C93841A5F}"/>
              </a:ext>
            </a:extLst>
          </p:cNvPr>
          <p:cNvPicPr>
            <a:picLocks noChangeAspect="1"/>
          </p:cNvPicPr>
          <p:nvPr/>
        </p:nvPicPr>
        <p:blipFill rotWithShape="1">
          <a:blip r:embed="rId2">
            <a:extLst>
              <a:ext uri="{28A0092B-C50C-407E-A947-70E740481C1C}">
                <a14:useLocalDpi xmlns:a14="http://schemas.microsoft.com/office/drawing/2010/main" val="0"/>
              </a:ext>
            </a:extLst>
          </a:blip>
          <a:srcRect t="16134"/>
          <a:stretch/>
        </p:blipFill>
        <p:spPr>
          <a:xfrm>
            <a:off x="220784" y="2550528"/>
            <a:ext cx="5239657" cy="3639229"/>
          </a:xfrm>
          <a:prstGeom prst="rect">
            <a:avLst/>
          </a:prstGeom>
        </p:spPr>
      </p:pic>
      <p:pic>
        <p:nvPicPr>
          <p:cNvPr id="6" name="Picture 5">
            <a:extLst>
              <a:ext uri="{FF2B5EF4-FFF2-40B4-BE49-F238E27FC236}">
                <a16:creationId xmlns:a16="http://schemas.microsoft.com/office/drawing/2014/main" id="{2C935DF8-6082-46AC-BED0-7A28E8B73099}"/>
              </a:ext>
            </a:extLst>
          </p:cNvPr>
          <p:cNvPicPr>
            <a:picLocks noChangeAspect="1"/>
          </p:cNvPicPr>
          <p:nvPr/>
        </p:nvPicPr>
        <p:blipFill rotWithShape="1">
          <a:blip r:embed="rId3">
            <a:extLst>
              <a:ext uri="{28A0092B-C50C-407E-A947-70E740481C1C}">
                <a14:useLocalDpi xmlns:a14="http://schemas.microsoft.com/office/drawing/2010/main" val="0"/>
              </a:ext>
            </a:extLst>
          </a:blip>
          <a:srcRect l="5260" r="5278"/>
          <a:stretch/>
        </p:blipFill>
        <p:spPr>
          <a:xfrm>
            <a:off x="6235569" y="2036441"/>
            <a:ext cx="5589108" cy="4247737"/>
          </a:xfrm>
          <a:prstGeom prst="rect">
            <a:avLst/>
          </a:prstGeom>
        </p:spPr>
      </p:pic>
      <p:sp>
        <p:nvSpPr>
          <p:cNvPr id="3" name="TextBox 2">
            <a:extLst>
              <a:ext uri="{FF2B5EF4-FFF2-40B4-BE49-F238E27FC236}">
                <a16:creationId xmlns:a16="http://schemas.microsoft.com/office/drawing/2014/main" id="{9DD4C885-D663-D792-89D5-10BC2972C591}"/>
              </a:ext>
            </a:extLst>
          </p:cNvPr>
          <p:cNvSpPr txBox="1"/>
          <p:nvPr/>
        </p:nvSpPr>
        <p:spPr>
          <a:xfrm>
            <a:off x="220784" y="87201"/>
            <a:ext cx="9509370" cy="2400657"/>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Configuration Management</a:t>
            </a:r>
          </a:p>
          <a:p>
            <a:pPr marL="800100" lvl="1" indent="-342900">
              <a:buFont typeface="+mj-lt"/>
              <a:buAutoNum type="arabicPeriod"/>
            </a:pPr>
            <a:endParaRPr lang="en-US" sz="1600" dirty="0">
              <a:solidFill>
                <a:srgbClr val="002060"/>
              </a:solidFill>
              <a:latin typeface="Berlin Sans FB" panose="020E0602020502020306" pitchFamily="34" charset="0"/>
            </a:endParaRP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Technical complexity and leading-edge technology use can be a key cause of information risk and scales with the size of an enterprise.</a:t>
            </a:r>
          </a:p>
          <a:p>
            <a:pPr marL="800100" lvl="1" indent="-342900">
              <a:spcAft>
                <a:spcPts val="600"/>
              </a:spcAft>
              <a:buFont typeface="+mj-lt"/>
              <a:buAutoNum type="arabicPeriod"/>
            </a:pPr>
            <a:r>
              <a:rPr lang="en-US" sz="1600" dirty="0">
                <a:solidFill>
                  <a:srgbClr val="C00000"/>
                </a:solidFill>
                <a:effectLst>
                  <a:outerShdw blurRad="38100" dist="38100" dir="2700000" algn="tl">
                    <a:srgbClr val="000000">
                      <a:alpha val="43137"/>
                    </a:srgbClr>
                  </a:outerShdw>
                </a:effectLst>
                <a:latin typeface="Berlin Sans FB" panose="020E0602020502020306" pitchFamily="34" charset="0"/>
              </a:rPr>
              <a:t>Standardizing system configurations can greatly reduce this complexity by simplifying planning, testing, implementation and maintenance activities. </a:t>
            </a:r>
          </a:p>
          <a:p>
            <a:pPr marL="800100" lvl="1" indent="-342900">
              <a:spcAft>
                <a:spcPts val="600"/>
              </a:spcAft>
              <a:buFont typeface="+mj-lt"/>
              <a:buAutoNum type="arabicPeriod"/>
            </a:pPr>
            <a:r>
              <a:rPr lang="en-US" sz="1600" dirty="0">
                <a:solidFill>
                  <a:srgbClr val="C00000"/>
                </a:solidFill>
                <a:effectLst>
                  <a:outerShdw blurRad="38100" dist="38100" dir="2700000" algn="tl">
                    <a:srgbClr val="000000">
                      <a:alpha val="43137"/>
                    </a:srgbClr>
                  </a:outerShdw>
                </a:effectLst>
                <a:latin typeface="Berlin Sans FB" panose="020E0602020502020306" pitchFamily="34" charset="0"/>
              </a:rPr>
              <a:t>The risk practitioner should first determine whether standard configurations have been established and approved and then verify their proper documentation. </a:t>
            </a:r>
          </a:p>
        </p:txBody>
      </p:sp>
    </p:spTree>
    <p:extLst>
      <p:ext uri="{BB962C8B-B14F-4D97-AF65-F5344CB8AC3E}">
        <p14:creationId xmlns:p14="http://schemas.microsoft.com/office/powerpoint/2010/main" val="16671832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368E11-389F-4538-B092-DB65C909B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425" y="101600"/>
            <a:ext cx="10185149" cy="6110514"/>
          </a:xfrm>
          <a:prstGeom prst="rect">
            <a:avLst/>
          </a:prstGeom>
        </p:spPr>
      </p:pic>
    </p:spTree>
    <p:extLst>
      <p:ext uri="{BB962C8B-B14F-4D97-AF65-F5344CB8AC3E}">
        <p14:creationId xmlns:p14="http://schemas.microsoft.com/office/powerpoint/2010/main" val="2886699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A5BE97A-5192-4534-ADA8-5B35DA5AAB9D}"/>
              </a:ext>
            </a:extLst>
          </p:cNvPr>
          <p:cNvPicPr>
            <a:picLocks noChangeAspect="1"/>
          </p:cNvPicPr>
          <p:nvPr/>
        </p:nvPicPr>
        <p:blipFill>
          <a:blip r:embed="rId2"/>
          <a:stretch>
            <a:fillRect/>
          </a:stretch>
        </p:blipFill>
        <p:spPr>
          <a:xfrm>
            <a:off x="4978400" y="791414"/>
            <a:ext cx="7088554" cy="4680063"/>
          </a:xfrm>
          <a:prstGeom prst="rect">
            <a:avLst/>
          </a:prstGeom>
        </p:spPr>
      </p:pic>
      <p:sp>
        <p:nvSpPr>
          <p:cNvPr id="4" name="TextBox 3">
            <a:extLst>
              <a:ext uri="{FF2B5EF4-FFF2-40B4-BE49-F238E27FC236}">
                <a16:creationId xmlns:a16="http://schemas.microsoft.com/office/drawing/2014/main" id="{562954BC-3EFC-4450-A244-810A96AD9A8F}"/>
              </a:ext>
            </a:extLst>
          </p:cNvPr>
          <p:cNvSpPr txBox="1"/>
          <p:nvPr/>
        </p:nvSpPr>
        <p:spPr>
          <a:xfrm>
            <a:off x="6095999" y="5612154"/>
            <a:ext cx="57166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IT asset life cycle management solution</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a:t>
            </a:r>
          </a:p>
        </p:txBody>
      </p:sp>
      <p:sp>
        <p:nvSpPr>
          <p:cNvPr id="5" name="TextBox 4">
            <a:extLst>
              <a:ext uri="{FF2B5EF4-FFF2-40B4-BE49-F238E27FC236}">
                <a16:creationId xmlns:a16="http://schemas.microsoft.com/office/drawing/2014/main" id="{2A4DC28F-4E07-BD2F-9A40-39DCAD51652D}"/>
              </a:ext>
            </a:extLst>
          </p:cNvPr>
          <p:cNvSpPr txBox="1"/>
          <p:nvPr/>
        </p:nvSpPr>
        <p:spPr>
          <a:xfrm>
            <a:off x="125046" y="45517"/>
            <a:ext cx="6838462" cy="16619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00000"/>
                </a:solidFill>
                <a:latin typeface="Berlin Sans FB Demi" panose="020E0802020502020306" pitchFamily="34" charset="0"/>
              </a:rPr>
              <a:t>Benefits of a good IT asset life cycle management solution:</a:t>
            </a:r>
          </a:p>
          <a:p>
            <a:pPr lvl="1">
              <a:buFont typeface="+mj-lt"/>
              <a:buAutoNum type="arabicPeriod"/>
              <a:defRPr/>
            </a:pPr>
            <a:r>
              <a:rPr kumimoji="0" lang="en-US" sz="14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Risk management has become an integral part of good asset management practice</a:t>
            </a:r>
          </a:p>
          <a:p>
            <a:pPr lvl="1">
              <a:buFont typeface="+mj-lt"/>
              <a:buAutoNum type="arabicPeriod"/>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a:ea typeface="+mn-ea"/>
                <a:cs typeface="+mn-cs"/>
              </a:rPr>
              <a:t>ITAM helps IT teams identify the assets and the threats they face.</a:t>
            </a:r>
          </a:p>
          <a:p>
            <a:pPr lvl="1">
              <a:buFont typeface="+mj-lt"/>
              <a:buAutoNum type="arabicPeriod"/>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a:ea typeface="+mn-ea"/>
                <a:cs typeface="+mn-cs"/>
              </a:rPr>
              <a:t>ITAM helps the IT team to manage the risks associated with threats</a:t>
            </a:r>
          </a:p>
          <a:p>
            <a:pPr lvl="1">
              <a:buFont typeface="+mj-lt"/>
              <a:buAutoNum type="arabicPeriod"/>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a:ea typeface="+mn-ea"/>
                <a:cs typeface="+mn-cs"/>
              </a:rPr>
              <a:t>Improve the quality of IT services</a:t>
            </a:r>
          </a:p>
          <a:p>
            <a:pPr lvl="1">
              <a:buFont typeface="+mj-lt"/>
              <a:buAutoNum type="arabicPeriod"/>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a:ea typeface="+mn-ea"/>
                <a:cs typeface="+mn-cs"/>
              </a:rPr>
              <a:t>Know the total cost of ownership of an asset</a:t>
            </a:r>
          </a:p>
          <a:p>
            <a:pPr lvl="1">
              <a:buFont typeface="+mj-lt"/>
              <a:buAutoNum type="arabicPeriod"/>
              <a:defRPr/>
            </a:pPr>
            <a:r>
              <a:rPr lang="en-US" sz="1400" dirty="0">
                <a:solidFill>
                  <a:srgbClr val="7030A0"/>
                </a:solidFill>
                <a:effectLst>
                  <a:outerShdw blurRad="38100" dist="38100" dir="2700000" algn="tl">
                    <a:srgbClr val="000000">
                      <a:alpha val="43137"/>
                    </a:srgbClr>
                  </a:outerShdw>
                </a:effectLst>
              </a:rPr>
              <a:t>The aging of assets is one of the main risks in the industry.</a:t>
            </a:r>
            <a:endPar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a:endParaRPr>
          </a:p>
        </p:txBody>
      </p:sp>
      <p:sp>
        <p:nvSpPr>
          <p:cNvPr id="7" name="TextBox 6">
            <a:extLst>
              <a:ext uri="{FF2B5EF4-FFF2-40B4-BE49-F238E27FC236}">
                <a16:creationId xmlns:a16="http://schemas.microsoft.com/office/drawing/2014/main" id="{9BC94F21-0215-1F96-0B19-5CD09F61AD5F}"/>
              </a:ext>
            </a:extLst>
          </p:cNvPr>
          <p:cNvSpPr txBox="1"/>
          <p:nvPr/>
        </p:nvSpPr>
        <p:spPr>
          <a:xfrm>
            <a:off x="304800" y="1949613"/>
            <a:ext cx="3837354" cy="3662541"/>
          </a:xfrm>
          <a:prstGeom prst="rect">
            <a:avLst/>
          </a:prstGeom>
          <a:noFill/>
        </p:spPr>
        <p:txBody>
          <a:bodyPr wrap="square">
            <a:spAutoFit/>
          </a:bodyPr>
          <a:lstStyle/>
          <a:p>
            <a:r>
              <a:rPr lang="en-US" sz="1600" b="1" dirty="0">
                <a:solidFill>
                  <a:srgbClr val="C00000"/>
                </a:solidFill>
                <a:latin typeface="Berlin Sans FB Demi" panose="020E0802020502020306" pitchFamily="34" charset="0"/>
              </a:rPr>
              <a:t>What to include in your asset inventory: </a:t>
            </a:r>
          </a:p>
          <a:p>
            <a:pPr>
              <a:buFont typeface="+mj-lt"/>
              <a:buAutoNum type="arabicPeriod"/>
            </a:pPr>
            <a:r>
              <a:rPr lang="en-US" sz="1600" b="1" dirty="0">
                <a:solidFill>
                  <a:srgbClr val="7030A0"/>
                </a:solidFill>
                <a:latin typeface="Berlin Sans FB Demi" panose="020E0802020502020306" pitchFamily="34" charset="0"/>
              </a:rPr>
              <a:t>Hardware </a:t>
            </a:r>
            <a:r>
              <a:rPr lang="en-US" dirty="0"/>
              <a:t>– </a:t>
            </a:r>
            <a:r>
              <a:rPr lang="en-US" sz="1200" dirty="0">
                <a:solidFill>
                  <a:srgbClr val="002060"/>
                </a:solidFill>
                <a:latin typeface="Calibri" panose="020F0502020204030204"/>
              </a:rPr>
              <a:t>e.g. laptops, servers, printers, but also mobile phones or USB memory sticks.</a:t>
            </a:r>
          </a:p>
          <a:p>
            <a:pPr>
              <a:buFont typeface="+mj-lt"/>
              <a:buAutoNum type="arabicPeriod"/>
            </a:pPr>
            <a:r>
              <a:rPr lang="en-US" sz="1600" b="1" dirty="0">
                <a:solidFill>
                  <a:srgbClr val="7030A0"/>
                </a:solidFill>
                <a:latin typeface="Berlin Sans FB Demi" panose="020E0802020502020306" pitchFamily="34" charset="0"/>
              </a:rPr>
              <a:t>Software </a:t>
            </a:r>
            <a:r>
              <a:rPr lang="en-US" dirty="0"/>
              <a:t>– </a:t>
            </a:r>
            <a:r>
              <a:rPr lang="en-US" sz="1200" dirty="0">
                <a:solidFill>
                  <a:srgbClr val="002060"/>
                </a:solidFill>
                <a:latin typeface="Calibri" panose="020F0502020204030204"/>
              </a:rPr>
              <a:t>not only the purchased software but developed software and freeware.</a:t>
            </a:r>
          </a:p>
          <a:p>
            <a:pPr>
              <a:buFont typeface="+mj-lt"/>
              <a:buAutoNum type="arabicPeriod"/>
            </a:pPr>
            <a:r>
              <a:rPr lang="en-US" sz="1600" b="1" dirty="0">
                <a:solidFill>
                  <a:srgbClr val="7030A0"/>
                </a:solidFill>
                <a:latin typeface="Berlin Sans FB Demi" panose="020E0802020502020306" pitchFamily="34" charset="0"/>
              </a:rPr>
              <a:t>Information</a:t>
            </a:r>
            <a:r>
              <a:rPr lang="en-US" dirty="0"/>
              <a:t> – </a:t>
            </a:r>
            <a:r>
              <a:rPr lang="en-US" sz="1200" dirty="0">
                <a:solidFill>
                  <a:srgbClr val="002060"/>
                </a:solidFill>
                <a:latin typeface="Calibri" panose="020F0502020204030204"/>
              </a:rPr>
              <a:t>not only in electronic media (databases, files in PDF, Word, Excel, and other formats) but also in paper and other forms.</a:t>
            </a:r>
          </a:p>
          <a:p>
            <a:pPr>
              <a:buFont typeface="+mj-lt"/>
              <a:buAutoNum type="arabicPeriod"/>
            </a:pPr>
            <a:r>
              <a:rPr lang="en-US" sz="1600" b="1" dirty="0">
                <a:solidFill>
                  <a:srgbClr val="7030A0"/>
                </a:solidFill>
                <a:latin typeface="Berlin Sans FB Demi" panose="020E0802020502020306" pitchFamily="34" charset="0"/>
              </a:rPr>
              <a:t>Infrastructure</a:t>
            </a:r>
            <a:r>
              <a:rPr lang="en-US" dirty="0"/>
              <a:t> – </a:t>
            </a:r>
            <a:r>
              <a:rPr lang="en-US" sz="1200" dirty="0">
                <a:solidFill>
                  <a:srgbClr val="002060"/>
                </a:solidFill>
                <a:latin typeface="Calibri" panose="020F0502020204030204"/>
              </a:rPr>
              <a:t>e.g. offices, electricity, air conditioning – because those assets can cause a lack of availability of information.</a:t>
            </a:r>
          </a:p>
          <a:p>
            <a:pPr>
              <a:buFont typeface="+mj-lt"/>
              <a:buAutoNum type="arabicPeriod"/>
            </a:pPr>
            <a:r>
              <a:rPr lang="en-US" sz="1600" b="1" dirty="0">
                <a:solidFill>
                  <a:srgbClr val="7030A0"/>
                </a:solidFill>
                <a:latin typeface="Berlin Sans FB Demi" panose="020E0802020502020306" pitchFamily="34" charset="0"/>
              </a:rPr>
              <a:t>People</a:t>
            </a:r>
            <a:r>
              <a:rPr lang="en-US" dirty="0"/>
              <a:t> </a:t>
            </a:r>
            <a:r>
              <a:rPr lang="en-US" sz="1200" dirty="0">
                <a:solidFill>
                  <a:srgbClr val="002060"/>
                </a:solidFill>
                <a:latin typeface="Calibri" panose="020F0502020204030204"/>
              </a:rPr>
              <a:t>are also considered assets because they also have lots of information in their heads, which is very often not available in other forms.</a:t>
            </a:r>
          </a:p>
          <a:p>
            <a:pPr>
              <a:buFont typeface="+mj-lt"/>
              <a:buAutoNum type="arabicPeriod"/>
            </a:pPr>
            <a:r>
              <a:rPr lang="en-US" sz="1600" b="1" dirty="0">
                <a:solidFill>
                  <a:srgbClr val="7030A0"/>
                </a:solidFill>
                <a:latin typeface="Berlin Sans FB Demi" panose="020E0802020502020306" pitchFamily="34" charset="0"/>
              </a:rPr>
              <a:t>Outsourced services </a:t>
            </a:r>
            <a:r>
              <a:rPr lang="en-US" dirty="0"/>
              <a:t>– </a:t>
            </a:r>
            <a:r>
              <a:rPr lang="en-US" sz="1200" dirty="0">
                <a:solidFill>
                  <a:srgbClr val="002060"/>
                </a:solidFill>
                <a:latin typeface="Calibri" panose="020F0502020204030204"/>
              </a:rPr>
              <a:t>e.g. IT services, legal services and also cloud-based services like Microsoft Office</a:t>
            </a:r>
          </a:p>
        </p:txBody>
      </p:sp>
    </p:spTree>
    <p:extLst>
      <p:ext uri="{BB962C8B-B14F-4D97-AF65-F5344CB8AC3E}">
        <p14:creationId xmlns:p14="http://schemas.microsoft.com/office/powerpoint/2010/main" val="17444024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4E29FB-CBB5-B053-BB02-95C058D9001D}"/>
              </a:ext>
            </a:extLst>
          </p:cNvPr>
          <p:cNvSpPr txBox="1"/>
          <p:nvPr/>
        </p:nvSpPr>
        <p:spPr>
          <a:xfrm>
            <a:off x="1560198" y="915505"/>
            <a:ext cx="6864787" cy="3585597"/>
          </a:xfrm>
          <a:prstGeom prst="rect">
            <a:avLst/>
          </a:prstGeom>
          <a:noFill/>
        </p:spPr>
        <p:txBody>
          <a:bodyPr wrap="square">
            <a:spAutoFit/>
          </a:bodyPr>
          <a:lstStyle/>
          <a:p>
            <a:endParaRPr lang="en-US" sz="1100" dirty="0">
              <a:latin typeface="Courier New" panose="02070309020205020404" pitchFamily="49" charset="0"/>
            </a:endParaRPr>
          </a:p>
          <a:p>
            <a:r>
              <a:rPr lang="en-US" sz="2800" dirty="0">
                <a:solidFill>
                  <a:srgbClr val="C00000"/>
                </a:solidFill>
                <a:latin typeface="Berlin Sans FB Demi" panose="020E0802020502020306" pitchFamily="34" charset="0"/>
              </a:rPr>
              <a:t>Exception Management</a:t>
            </a:r>
          </a:p>
          <a:p>
            <a:endParaRPr lang="en-US" sz="1100" dirty="0">
              <a:latin typeface="Courier New" panose="02070309020205020404" pitchFamily="49" charset="0"/>
            </a:endParaRPr>
          </a:p>
          <a:p>
            <a:pPr marL="342900" indent="-342900">
              <a:spcAft>
                <a:spcPts val="600"/>
              </a:spcAft>
              <a:buFont typeface="+mj-lt"/>
              <a:buAutoNum type="arabicPeriod"/>
            </a:pPr>
            <a:r>
              <a:rPr lang="en-US" dirty="0">
                <a:solidFill>
                  <a:srgbClr val="0070C0"/>
                </a:solidFill>
                <a:effectLst>
                  <a:outerShdw blurRad="38100" dist="38100" dir="2700000" algn="tl">
                    <a:srgbClr val="000000">
                      <a:alpha val="43137"/>
                    </a:srgbClr>
                  </a:outerShdw>
                </a:effectLst>
                <a:latin typeface="Berlin Sans FB" panose="020E0602020502020306" pitchFamily="34" charset="0"/>
              </a:rPr>
              <a:t>Policies and procedures exist to standardize decisions and behavior.</a:t>
            </a:r>
          </a:p>
          <a:p>
            <a:pPr marL="342900" indent="-342900">
              <a:spcAft>
                <a:spcPts val="600"/>
              </a:spcAft>
              <a:buFont typeface="+mj-lt"/>
              <a:buAutoNum type="arabicPeriod"/>
            </a:pPr>
            <a:r>
              <a:rPr lang="en-US" sz="1600" dirty="0">
                <a:solidFill>
                  <a:srgbClr val="002060"/>
                </a:solidFill>
                <a:latin typeface="Berlin Sans FB" panose="020E0602020502020306" pitchFamily="34" charset="0"/>
              </a:rPr>
              <a:t> However, enterprises may encounter circumstances where usual practices are unsuitable due to timely technical or administrative constraints. </a:t>
            </a:r>
          </a:p>
          <a:p>
            <a:pPr marL="342900" indent="-342900">
              <a:spcAft>
                <a:spcPts val="600"/>
              </a:spcAft>
              <a:buFont typeface="+mj-lt"/>
              <a:buAutoNum type="arabicPeriod"/>
            </a:pPr>
            <a:r>
              <a:rPr lang="en-US" sz="1600" dirty="0">
                <a:solidFill>
                  <a:srgbClr val="0070C0"/>
                </a:solidFill>
                <a:latin typeface="Berlin Sans FB" panose="020E0602020502020306" pitchFamily="34" charset="0"/>
              </a:rPr>
              <a:t>Any exception should be formally documented and approved by a senior manager or executive before it is acted upon. </a:t>
            </a:r>
          </a:p>
          <a:p>
            <a:pPr marL="342900" indent="-342900">
              <a:spcAft>
                <a:spcPts val="600"/>
              </a:spcAft>
              <a:buFont typeface="+mj-lt"/>
              <a:buAutoNum type="arabicPeriod"/>
            </a:pPr>
            <a:r>
              <a:rPr lang="en-US" sz="1600" dirty="0">
                <a:solidFill>
                  <a:srgbClr val="002060"/>
                </a:solidFill>
                <a:latin typeface="Berlin Sans FB" panose="020E0602020502020306" pitchFamily="34" charset="0"/>
              </a:rPr>
              <a:t>Every exception represents deviation from standards, and introduces complexity, which can create or obscure risk, Therefore, exceptions should be reviewed at least annually to ensure that they are still necessary, and any unnecessary exceptions should be removed.</a:t>
            </a:r>
          </a:p>
          <a:p>
            <a:endParaRPr lang="en-US" sz="1100" dirty="0">
              <a:latin typeface="Courier New" panose="02070309020205020404" pitchFamily="49" charset="0"/>
            </a:endParaRPr>
          </a:p>
        </p:txBody>
      </p:sp>
    </p:spTree>
    <p:extLst>
      <p:ext uri="{BB962C8B-B14F-4D97-AF65-F5344CB8AC3E}">
        <p14:creationId xmlns:p14="http://schemas.microsoft.com/office/powerpoint/2010/main" val="604759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B729F8-43FA-6257-71C4-936EDDC5F783}"/>
              </a:ext>
            </a:extLst>
          </p:cNvPr>
          <p:cNvSpPr txBox="1"/>
          <p:nvPr/>
        </p:nvSpPr>
        <p:spPr>
          <a:xfrm>
            <a:off x="1307432" y="193971"/>
            <a:ext cx="7700210" cy="5632311"/>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Change Management</a:t>
            </a:r>
          </a:p>
          <a:p>
            <a:endParaRPr lang="en-US" sz="1100" dirty="0">
              <a:latin typeface="Courier New" panose="02070309020205020404" pitchFamily="49" charset="0"/>
            </a:endParaRPr>
          </a:p>
          <a:p>
            <a:pPr marL="342900" indent="-342900">
              <a:spcAft>
                <a:spcPts val="600"/>
              </a:spcAft>
              <a:buFont typeface="Wingdings" panose="05000000000000000000" pitchFamily="2" charset="2"/>
              <a:buChar char="q"/>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Requests to change systems or configurations should be subject to formal review and approval by a dedicated committee. </a:t>
            </a:r>
          </a:p>
          <a:p>
            <a:pPr marL="342900" indent="-342900">
              <a:spcAft>
                <a:spcPts val="600"/>
              </a:spcAft>
              <a:buFont typeface="Wingdings" panose="05000000000000000000" pitchFamily="2" charset="2"/>
              <a:buChar char="q"/>
            </a:pPr>
            <a:r>
              <a:rPr lang="en-US" sz="1600" dirty="0">
                <a:solidFill>
                  <a:srgbClr val="002060"/>
                </a:solidFill>
                <a:latin typeface="Berlin Sans FB" panose="020E0602020502020306" pitchFamily="34" charset="0"/>
              </a:rPr>
              <a:t>Change tends to alter the risk profile of an enterprise, so effective risk management calls for change advisory boards (CABs) comprised of representatives from several business departments and responsible for overseeing all information systems operations and approving changes to those systems.</a:t>
            </a:r>
          </a:p>
          <a:p>
            <a:pPr marL="342900" indent="-342900">
              <a:spcAft>
                <a:spcPts val="600"/>
              </a:spcAft>
              <a:buFont typeface="Wingdings" panose="05000000000000000000" pitchFamily="2" charset="2"/>
              <a:buChar char="q"/>
            </a:pPr>
            <a:r>
              <a:rPr lang="en-US" dirty="0">
                <a:solidFill>
                  <a:srgbClr val="7030A0"/>
                </a:solidFill>
                <a:effectLst>
                  <a:outerShdw blurRad="38100" dist="38100" dir="2700000" algn="tl">
                    <a:srgbClr val="000000">
                      <a:alpha val="43137"/>
                    </a:srgbClr>
                  </a:outerShdw>
                </a:effectLst>
                <a:latin typeface="Berlin Sans FB" panose="020E0602020502020306" pitchFamily="34" charset="0"/>
              </a:rPr>
              <a:t>Under an effective change control model, changes are submitted for review by the CAB, which verifies that:</a:t>
            </a:r>
          </a:p>
          <a:p>
            <a:pPr marL="800100" lvl="1" indent="-342900">
              <a:spcAft>
                <a:spcPts val="600"/>
              </a:spcAft>
              <a:buFont typeface="+mj-lt"/>
              <a:buAutoNum type="arabicPeriod"/>
            </a:pPr>
            <a:r>
              <a:rPr lang="en-US" sz="1600" dirty="0">
                <a:solidFill>
                  <a:srgbClr val="C00000"/>
                </a:solidFill>
                <a:latin typeface="Berlin Sans FB" panose="020E0602020502020306" pitchFamily="34" charset="0"/>
              </a:rPr>
              <a:t>The change request does not unknowingly affect risk or security.</a:t>
            </a:r>
          </a:p>
          <a:p>
            <a:pPr marL="800100" lvl="1" indent="-342900">
              <a:spcAft>
                <a:spcPts val="600"/>
              </a:spcAft>
              <a:buFont typeface="+mj-lt"/>
              <a:buAutoNum type="arabicPeriod"/>
            </a:pPr>
            <a:r>
              <a:rPr lang="en-US" sz="1600" dirty="0">
                <a:solidFill>
                  <a:srgbClr val="C00000"/>
                </a:solidFill>
                <a:latin typeface="Berlin Sans FB" panose="020E0602020502020306" pitchFamily="34" charset="0"/>
              </a:rPr>
              <a:t>The change is formally requested, clearly justified, approved and documented.</a:t>
            </a:r>
          </a:p>
          <a:p>
            <a:pPr marL="800100" lvl="1" indent="-342900">
              <a:spcAft>
                <a:spcPts val="600"/>
              </a:spcAft>
              <a:buFont typeface="+mj-lt"/>
              <a:buAutoNum type="arabicPeriod"/>
            </a:pPr>
            <a:r>
              <a:rPr lang="en-US" sz="1600" dirty="0">
                <a:solidFill>
                  <a:srgbClr val="C00000"/>
                </a:solidFill>
                <a:latin typeface="Berlin Sans FB" panose="020E0602020502020306" pitchFamily="34" charset="0"/>
              </a:rPr>
              <a:t>The change is scheduled at a time convenient for the business and IT.</a:t>
            </a:r>
          </a:p>
          <a:p>
            <a:pPr marL="800100" lvl="1" indent="-342900">
              <a:spcAft>
                <a:spcPts val="600"/>
              </a:spcAft>
              <a:buFont typeface="+mj-lt"/>
              <a:buAutoNum type="arabicPeriod"/>
            </a:pPr>
            <a:r>
              <a:rPr lang="en-US" sz="1600" dirty="0">
                <a:solidFill>
                  <a:srgbClr val="C00000"/>
                </a:solidFill>
                <a:latin typeface="Berlin Sans FB" panose="020E0602020502020306" pitchFamily="34" charset="0"/>
              </a:rPr>
              <a:t>All stakeholders affected by the change are advised of the change.</a:t>
            </a:r>
          </a:p>
          <a:p>
            <a:pPr marL="800100" lvl="1" indent="-342900">
              <a:spcAft>
                <a:spcPts val="600"/>
              </a:spcAft>
              <a:buFont typeface="+mj-lt"/>
              <a:buAutoNum type="arabicPeriod"/>
            </a:pPr>
            <a:r>
              <a:rPr lang="en-US" sz="1600" dirty="0">
                <a:solidFill>
                  <a:srgbClr val="C00000"/>
                </a:solidFill>
                <a:latin typeface="Berlin Sans FB" panose="020E0602020502020306" pitchFamily="34" charset="0"/>
              </a:rPr>
              <a:t>The change request includes test, implementation and rollback plans.</a:t>
            </a:r>
          </a:p>
          <a:p>
            <a:pPr marL="800100" lvl="1" indent="-342900">
              <a:spcAft>
                <a:spcPts val="600"/>
              </a:spcAft>
              <a:buFont typeface="+mj-lt"/>
              <a:buAutoNum type="arabicPeriod"/>
            </a:pPr>
            <a:r>
              <a:rPr lang="en-US" sz="1600" dirty="0">
                <a:solidFill>
                  <a:srgbClr val="C00000"/>
                </a:solidFill>
                <a:latin typeface="Berlin Sans FB" panose="020E0602020502020306" pitchFamily="34" charset="0"/>
              </a:rPr>
              <a:t>The change will not compromise the enterprise's security baselines.</a:t>
            </a:r>
          </a:p>
          <a:p>
            <a:pPr marL="342900" indent="-342900">
              <a:buFont typeface="+mj-lt"/>
              <a:buAutoNum type="arabicPeriod"/>
            </a:pPr>
            <a:endParaRPr lang="en-US" sz="1600" dirty="0">
              <a:solidFill>
                <a:srgbClr val="002060"/>
              </a:solidFill>
              <a:latin typeface="Berlin Sans FB" panose="020E0602020502020306" pitchFamily="34" charset="0"/>
            </a:endParaRPr>
          </a:p>
          <a:p>
            <a:pPr marL="342900" indent="-342900">
              <a:buFont typeface="Wingdings" panose="05000000000000000000" pitchFamily="2" charset="2"/>
              <a:buChar char="q"/>
            </a:pPr>
            <a:r>
              <a:rPr lang="en-US" sz="1600" dirty="0">
                <a:solidFill>
                  <a:srgbClr val="002060"/>
                </a:solidFill>
                <a:latin typeface="Berlin Sans FB" panose="020E0602020502020306" pitchFamily="34" charset="0"/>
              </a:rPr>
              <a:t>The intention of this model is to provide a balance between allowing needed changes to occur and preserving system reliability and stability.</a:t>
            </a:r>
          </a:p>
        </p:txBody>
      </p:sp>
    </p:spTree>
    <p:extLst>
      <p:ext uri="{BB962C8B-B14F-4D97-AF65-F5344CB8AC3E}">
        <p14:creationId xmlns:p14="http://schemas.microsoft.com/office/powerpoint/2010/main" val="545996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BC2F2A-9CF5-48B2-9F35-BB36486B30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526" y="269206"/>
            <a:ext cx="11460948" cy="5842836"/>
          </a:xfrm>
          <a:prstGeom prst="rect">
            <a:avLst/>
          </a:prstGeom>
        </p:spPr>
      </p:pic>
    </p:spTree>
    <p:extLst>
      <p:ext uri="{BB962C8B-B14F-4D97-AF65-F5344CB8AC3E}">
        <p14:creationId xmlns:p14="http://schemas.microsoft.com/office/powerpoint/2010/main" val="28882465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AF2ADB-44B9-4328-864E-7E1394D3CDDD}"/>
              </a:ext>
            </a:extLst>
          </p:cNvPr>
          <p:cNvPicPr>
            <a:picLocks noChangeAspect="1"/>
          </p:cNvPicPr>
          <p:nvPr/>
        </p:nvPicPr>
        <p:blipFill rotWithShape="1">
          <a:blip r:embed="rId2"/>
          <a:srcRect t="1481" b="3809"/>
          <a:stretch/>
        </p:blipFill>
        <p:spPr>
          <a:xfrm>
            <a:off x="1331072" y="0"/>
            <a:ext cx="9529856" cy="6219371"/>
          </a:xfrm>
          <a:prstGeom prst="rect">
            <a:avLst/>
          </a:prstGeom>
        </p:spPr>
      </p:pic>
      <p:sp>
        <p:nvSpPr>
          <p:cNvPr id="5" name="TextBox 4">
            <a:extLst>
              <a:ext uri="{FF2B5EF4-FFF2-40B4-BE49-F238E27FC236}">
                <a16:creationId xmlns:a16="http://schemas.microsoft.com/office/drawing/2014/main" id="{92A2A8A7-D7FF-4476-833A-F1FEAC64D237}"/>
              </a:ext>
            </a:extLst>
          </p:cNvPr>
          <p:cNvSpPr txBox="1"/>
          <p:nvPr/>
        </p:nvSpPr>
        <p:spPr>
          <a:xfrm>
            <a:off x="4898570" y="2460564"/>
            <a:ext cx="4172857"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Lifecycle of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change request</a:t>
            </a:r>
            <a:endPar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p:txBody>
      </p:sp>
    </p:spTree>
    <p:extLst>
      <p:ext uri="{BB962C8B-B14F-4D97-AF65-F5344CB8AC3E}">
        <p14:creationId xmlns:p14="http://schemas.microsoft.com/office/powerpoint/2010/main" val="2947532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53D8B7-96FA-4326-9F9E-B4B1A9DCC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590" y="476502"/>
            <a:ext cx="10882819" cy="5603458"/>
          </a:xfrm>
          <a:prstGeom prst="rect">
            <a:avLst/>
          </a:prstGeom>
        </p:spPr>
      </p:pic>
    </p:spTree>
    <p:extLst>
      <p:ext uri="{BB962C8B-B14F-4D97-AF65-F5344CB8AC3E}">
        <p14:creationId xmlns:p14="http://schemas.microsoft.com/office/powerpoint/2010/main" val="1765454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50A00E-0B39-37DC-511C-6D998B4572C6}"/>
              </a:ext>
            </a:extLst>
          </p:cNvPr>
          <p:cNvSpPr txBox="1"/>
          <p:nvPr/>
        </p:nvSpPr>
        <p:spPr>
          <a:xfrm>
            <a:off x="874295" y="226890"/>
            <a:ext cx="8767010" cy="6017032"/>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Management of Emerging Risk</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Risk is fundamentally dynamic because it arises from uncertainty. </a:t>
            </a:r>
          </a:p>
          <a:p>
            <a:pPr marL="800100" lvl="1" indent="-342900">
              <a:spcAft>
                <a:spcPts val="600"/>
              </a:spcAft>
              <a:buFont typeface="+mj-lt"/>
              <a:buAutoNum type="arabicPeriod"/>
            </a:pPr>
            <a:r>
              <a:rPr lang="en-US" sz="1600" dirty="0">
                <a:solidFill>
                  <a:srgbClr val="C00000"/>
                </a:solidFill>
                <a:effectLst>
                  <a:outerShdw blurRad="38100" dist="38100" dir="2700000" algn="tl">
                    <a:srgbClr val="000000">
                      <a:alpha val="43137"/>
                    </a:srgbClr>
                  </a:outerShdw>
                </a:effectLst>
                <a:latin typeface="Berlin Sans FB" panose="020E0602020502020306" pitchFamily="34" charset="0"/>
              </a:rPr>
              <a:t>Even the most well-developed risk management program must operate on a continuous basis to be effective, because new areas of risk are always emerging. </a:t>
            </a:r>
          </a:p>
          <a:p>
            <a:pPr marL="800100" lvl="1" indent="-342900">
              <a:spcAft>
                <a:spcPts val="600"/>
              </a:spcAft>
              <a:buFont typeface="+mj-lt"/>
              <a:buAutoNum type="arabicPeriod"/>
            </a:pPr>
            <a:r>
              <a:rPr lang="en-US" sz="1600" dirty="0">
                <a:solidFill>
                  <a:srgbClr val="0070C0"/>
                </a:solidFill>
                <a:latin typeface="Berlin Sans FB" panose="020E0602020502020306" pitchFamily="34" charset="0"/>
              </a:rPr>
              <a:t>The deployment of new controls and introduction of new technologies both have the potential to contribute to emerging risk.</a:t>
            </a:r>
            <a:endParaRPr lang="en-US" sz="1100" dirty="0">
              <a:solidFill>
                <a:srgbClr val="0070C0"/>
              </a:solidFill>
              <a:latin typeface="Courier New" panose="02070309020205020404" pitchFamily="49" charset="0"/>
            </a:endParaRPr>
          </a:p>
          <a:p>
            <a:endParaRPr lang="en-US" sz="1100" dirty="0">
              <a:latin typeface="Courier New" panose="02070309020205020404" pitchFamily="49" charset="0"/>
            </a:endParaRPr>
          </a:p>
          <a:p>
            <a:r>
              <a:rPr lang="en-US" sz="2800" dirty="0">
                <a:solidFill>
                  <a:srgbClr val="C00000"/>
                </a:solidFill>
                <a:latin typeface="Berlin Sans FB Demi" panose="020E0802020502020306" pitchFamily="34" charset="0"/>
              </a:rPr>
              <a:t>Vulnerabilities Associated with New Controls</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Any changes that deal with controls should be carefully considered. This includes both the addition of new controls and modification of existing controls.</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 Beyond their intended benefit to the enterprise, new or updated controls may also introduce new vulnerabilities. </a:t>
            </a:r>
          </a:p>
          <a:p>
            <a:pPr marL="800100" lvl="1" indent="-342900">
              <a:spcAft>
                <a:spcPts val="600"/>
              </a:spcAft>
              <a:buFont typeface="+mj-lt"/>
              <a:buAutoNum type="arabicPeriod"/>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For example , an access control system that protects against unauthorized access may inadvertently deny access to legitimate users resulting in calls for technical assistance, delays in processing and user frustration.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Modified controls may also not perform as expected, potentially reducing their effectiveness.</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 Enterprises should coordinate with stakeholders on a proactive basis and perform rigorous user acceptance testing (UAT) under conditions as close to real-world use as possible prior to full implementation of any additions or changes to the control baseline.</a:t>
            </a:r>
          </a:p>
        </p:txBody>
      </p:sp>
    </p:spTree>
    <p:extLst>
      <p:ext uri="{BB962C8B-B14F-4D97-AF65-F5344CB8AC3E}">
        <p14:creationId xmlns:p14="http://schemas.microsoft.com/office/powerpoint/2010/main" val="1645172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72AF00-5B11-A7B1-7543-C7CCFCE7C965}"/>
              </a:ext>
            </a:extLst>
          </p:cNvPr>
          <p:cNvSpPr txBox="1"/>
          <p:nvPr/>
        </p:nvSpPr>
        <p:spPr>
          <a:xfrm>
            <a:off x="1042737" y="334758"/>
            <a:ext cx="7562002" cy="5447645"/>
          </a:xfrm>
          <a:prstGeom prst="rect">
            <a:avLst/>
          </a:prstGeom>
          <a:noFill/>
        </p:spPr>
        <p:txBody>
          <a:bodyPr wrap="square">
            <a:spAutoFit/>
          </a:bodyPr>
          <a:lstStyle/>
          <a:p>
            <a:r>
              <a:rPr lang="en-US" sz="2800" dirty="0">
                <a:solidFill>
                  <a:srgbClr val="C00000"/>
                </a:solidFill>
                <a:latin typeface="Berlin Sans FB Demi" panose="020E0802020502020306" pitchFamily="34" charset="0"/>
              </a:rPr>
              <a:t>Impact of Emerging Technologies on Design and Implementation of Controls</a:t>
            </a:r>
          </a:p>
          <a:p>
            <a:endParaRPr lang="en-US" sz="1100" dirty="0">
              <a:latin typeface="Courier New" panose="02070309020205020404" pitchFamily="49" charset="0"/>
            </a:endParaRP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Many enterprises take </a:t>
            </a: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a proactive approach to the adoption and use of new technologies </a:t>
            </a:r>
            <a:r>
              <a:rPr lang="en-US" sz="1600" dirty="0">
                <a:solidFill>
                  <a:srgbClr val="002060"/>
                </a:solidFill>
                <a:latin typeface="Berlin Sans FB" panose="020E0602020502020306" pitchFamily="34" charset="0"/>
              </a:rPr>
              <a:t>in an attempt to gain or maintain competitive advantage.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Managing risk in a highly dynamic environment requires the risk practitioner to be alert to the development of new technologies and proactive in assessing the risk of their incorporation into the enterprise. </a:t>
            </a:r>
          </a:p>
          <a:p>
            <a:pPr marL="800100" lvl="1" indent="-342900">
              <a:spcAft>
                <a:spcPts val="600"/>
              </a:spcAft>
              <a:buFont typeface="+mj-lt"/>
              <a:buAutoNum type="arabicPeriod"/>
            </a:pPr>
            <a:r>
              <a:rPr lang="en-US" sz="1600" dirty="0">
                <a:solidFill>
                  <a:srgbClr val="7030A0"/>
                </a:solidFill>
                <a:latin typeface="Berlin Sans FB" panose="020E0602020502020306" pitchFamily="34" charset="0"/>
              </a:rPr>
              <a:t>The risk practitioner may find it beneficial to use automated network scanners and other tools to detect unauthorized implementations of new devices or technologies that have not yet been reviewed and approved for use. </a:t>
            </a:r>
          </a:p>
          <a:p>
            <a:pPr marL="800100" lvl="1" indent="-342900">
              <a:spcAft>
                <a:spcPts val="600"/>
              </a:spcAft>
              <a:buFont typeface="+mj-lt"/>
              <a:buAutoNum type="arabicPeriod"/>
            </a:pPr>
            <a:r>
              <a:rPr lang="en-US" sz="1600" dirty="0">
                <a:solidFill>
                  <a:srgbClr val="002060"/>
                </a:solidFill>
                <a:latin typeface="Berlin Sans FB" panose="020E0602020502020306" pitchFamily="34" charset="0"/>
              </a:rPr>
              <a:t>Staff also should be made aware of the processes required to submit a new technology for consideration, and any exceptions to full evaluation should be documented and approved by management. </a:t>
            </a: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Emerging technologies can have significant effects on the design and implementation of controls, sometimes beneficial and other times detrimental</a:t>
            </a:r>
            <a:r>
              <a:rPr lang="en-US" sz="1600" dirty="0">
                <a:solidFill>
                  <a:srgbClr val="002060"/>
                </a:solidFill>
                <a:latin typeface="Berlin Sans FB" panose="020E0602020502020306" pitchFamily="34" charset="0"/>
              </a:rPr>
              <a:t>. </a:t>
            </a:r>
          </a:p>
          <a:p>
            <a:pPr marL="800100" lvl="1" indent="-342900">
              <a:spcAft>
                <a:spcPts val="600"/>
              </a:spcAft>
              <a:buFont typeface="+mj-lt"/>
              <a:buAutoNum type="arabicPeriod"/>
            </a:pPr>
            <a:r>
              <a:rPr lang="en-US" sz="1600" dirty="0">
                <a:solidFill>
                  <a:srgbClr val="7030A0"/>
                </a:solidFill>
                <a:effectLst>
                  <a:outerShdw blurRad="38100" dist="38100" dir="2700000" algn="tl">
                    <a:srgbClr val="000000">
                      <a:alpha val="43137"/>
                    </a:srgbClr>
                  </a:outerShdw>
                </a:effectLst>
                <a:latin typeface="Berlin Sans FB" panose="020E0602020502020306" pitchFamily="34" charset="0"/>
              </a:rPr>
              <a:t>Controls need to be designed and implemented in ways that are suited to addressing the threats, vulnerabilities, and impacts of this dynamic environment.</a:t>
            </a:r>
          </a:p>
        </p:txBody>
      </p:sp>
    </p:spTree>
    <p:extLst>
      <p:ext uri="{BB962C8B-B14F-4D97-AF65-F5344CB8AC3E}">
        <p14:creationId xmlns:p14="http://schemas.microsoft.com/office/powerpoint/2010/main" val="3836713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2613</TotalTime>
  <Words>4330</Words>
  <Application>Microsoft Office PowerPoint</Application>
  <PresentationFormat>Widescreen</PresentationFormat>
  <Paragraphs>275</Paragraphs>
  <Slides>44</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44</vt:i4>
      </vt:variant>
    </vt:vector>
  </HeadingPairs>
  <TitlesOfParts>
    <vt:vector size="55" baseType="lpstr">
      <vt:lpstr>Arial</vt:lpstr>
      <vt:lpstr>Arial MT</vt:lpstr>
      <vt:lpstr>Berlin Sans FB</vt:lpstr>
      <vt:lpstr>Berlin Sans FB Demi</vt:lpstr>
      <vt:lpstr>Calibri</vt:lpstr>
      <vt:lpstr>Calibri Light</vt:lpstr>
      <vt:lpstr>Courier New</vt:lpstr>
      <vt:lpstr>Symbol</vt:lpstr>
      <vt:lpstr>Wingdings</vt:lpstr>
      <vt:lpstr>Office Theme</vt:lpstr>
      <vt:lpstr>Retrospect</vt:lpstr>
      <vt:lpstr>PowerPoint Presentation</vt:lpstr>
      <vt:lpstr>PowerPoint Presentation</vt:lpstr>
      <vt:lpstr>PowerPoint Presentation</vt:lpstr>
      <vt:lpstr>PowerPoint Presentation</vt:lpstr>
      <vt:lpstr>Risk Response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of Controls </vt:lpstr>
      <vt:lpstr>PowerPoint Presentation</vt:lpstr>
      <vt:lpstr>Risk Sharing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Risk Response Parameters </vt:lpstr>
      <vt:lpstr>PowerPoint Presentation</vt:lpstr>
      <vt:lpstr>Prioritizing Risk Responses </vt:lpstr>
      <vt:lpstr>Risk Response Action Plans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34</cp:revision>
  <dcterms:created xsi:type="dcterms:W3CDTF">2022-11-04T14:28:36Z</dcterms:created>
  <dcterms:modified xsi:type="dcterms:W3CDTF">2023-06-20T21:08:00Z</dcterms:modified>
</cp:coreProperties>
</file>
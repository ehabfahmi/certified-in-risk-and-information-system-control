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531" r:id="rId2"/>
    <p:sldId id="532" r:id="rId3"/>
    <p:sldId id="1996" r:id="rId4"/>
    <p:sldId id="1964" r:id="rId5"/>
    <p:sldId id="1995" r:id="rId6"/>
    <p:sldId id="1994" r:id="rId7"/>
    <p:sldId id="1997" r:id="rId8"/>
    <p:sldId id="534" r:id="rId9"/>
    <p:sldId id="535" r:id="rId10"/>
    <p:sldId id="536" r:id="rId11"/>
    <p:sldId id="537" r:id="rId12"/>
    <p:sldId id="538" r:id="rId13"/>
    <p:sldId id="1998" r:id="rId14"/>
    <p:sldId id="1895" r:id="rId15"/>
    <p:sldId id="1982" r:id="rId16"/>
    <p:sldId id="1897" r:id="rId17"/>
    <p:sldId id="1978" r:id="rId18"/>
    <p:sldId id="1896" r:id="rId19"/>
    <p:sldId id="1759" r:id="rId20"/>
    <p:sldId id="1760" r:id="rId21"/>
    <p:sldId id="1761" r:id="rId22"/>
    <p:sldId id="283" r:id="rId23"/>
    <p:sldId id="284" r:id="rId24"/>
    <p:sldId id="285" r:id="rId25"/>
    <p:sldId id="286" r:id="rId26"/>
    <p:sldId id="287" r:id="rId27"/>
    <p:sldId id="290" r:id="rId28"/>
    <p:sldId id="291" r:id="rId29"/>
    <p:sldId id="292" r:id="rId30"/>
    <p:sldId id="293" r:id="rId31"/>
    <p:sldId id="294" r:id="rId32"/>
    <p:sldId id="295" r:id="rId33"/>
    <p:sldId id="296" r:id="rId34"/>
    <p:sldId id="297" r:id="rId35"/>
    <p:sldId id="29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3733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82276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701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83387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958804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798838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6/21/2023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630161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187943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90927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046937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845086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a:cs typeface="Calibri"/>
              </a:defRPr>
            </a:lvl1pPr>
          </a:lstStyle>
          <a:p>
            <a:endParaRPr/>
          </a:p>
        </p:txBody>
      </p:sp>
      <p:sp>
        <p:nvSpPr>
          <p:cNvPr id="3" name="Holder 3"/>
          <p:cNvSpPr>
            <a:spLocks noGrp="1"/>
          </p:cNvSpPr>
          <p:nvPr>
            <p:ph sz="half" idx="2"/>
          </p:nvPr>
        </p:nvSpPr>
        <p:spPr>
          <a:xfrm>
            <a:off x="439013" y="1726437"/>
            <a:ext cx="5100955" cy="4203700"/>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4" name="Holder 4"/>
          <p:cNvSpPr>
            <a:spLocks noGrp="1"/>
          </p:cNvSpPr>
          <p:nvPr>
            <p:ph sz="half" idx="3"/>
          </p:nvPr>
        </p:nvSpPr>
        <p:spPr>
          <a:xfrm>
            <a:off x="6270116" y="1851588"/>
            <a:ext cx="4989830" cy="3616325"/>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79664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6/21/2023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9095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cdn.softwaretestinghelp.com/wp-content/qa/uploads/2014/06/System-Testing-1.jpg"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32FDE-F584-2123-17F1-0E2BEBE8661D}"/>
              </a:ext>
            </a:extLst>
          </p:cNvPr>
          <p:cNvSpPr txBox="1"/>
          <p:nvPr/>
        </p:nvSpPr>
        <p:spPr>
          <a:xfrm>
            <a:off x="1396281" y="496232"/>
            <a:ext cx="7067782" cy="50013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B- Control Design and  Implementation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ourier New" panose="02070309020205020404" pitchFamily="49"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uLnTx/>
                <a:uFillTx/>
                <a:latin typeface="Berlin Sans FB" panose="020E0602020502020306" pitchFamily="34" charset="0"/>
                <a:ea typeface="+mn-ea"/>
                <a:cs typeface="+mn-cs"/>
              </a:rPr>
              <a:t>Selected controls should be tested in an environment distinct from the production environment before implementation. this test environment should mimic the production environment.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uLnTx/>
                <a:uFillTx/>
                <a:latin typeface="Berlin Sans FB" panose="020E0602020502020306" pitchFamily="34" charset="0"/>
                <a:ea typeface="+mn-ea"/>
                <a:cs typeface="+mn-cs"/>
              </a:rPr>
              <a:t>before, establishing such test environments tended to be extremely costly. Today, with virtualization and container technology, it may be relatively trivial to establish a testing environment, even as a temporary arrangement to evaluate specific capabilities.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Successful testing of new or enhanced controls is a necessary precondition before committing to a changeover(Go-live)  .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changeover process should be coordinated through formal change management.</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Implementation and testing should</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not </a:t>
            </a: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be limited to technical controls. </a:t>
            </a: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Administrative and physical controls</a:t>
            </a: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 require comparable levels of coordination, and evaluation before being fully implemented and relied upon to deliver intended outcomes. </a:t>
            </a:r>
          </a:p>
        </p:txBody>
      </p:sp>
    </p:spTree>
    <p:extLst>
      <p:ext uri="{BB962C8B-B14F-4D97-AF65-F5344CB8AC3E}">
        <p14:creationId xmlns:p14="http://schemas.microsoft.com/office/powerpoint/2010/main" val="3259812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25FE99-454E-0339-59F5-21165F62F36F}"/>
              </a:ext>
            </a:extLst>
          </p:cNvPr>
          <p:cNvSpPr txBox="1"/>
          <p:nvPr/>
        </p:nvSpPr>
        <p:spPr>
          <a:xfrm>
            <a:off x="1355558" y="1022392"/>
            <a:ext cx="7868653" cy="41549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Changeover (Go-live) Techniques</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After final tests have been conducted and change management has been coordinated, implementation begins as scheduled.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There are Four common changeover methods used to transition from one </a:t>
            </a: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system, technology, application or version </a:t>
            </a:r>
            <a:r>
              <a:rPr kumimoji="0" 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to </a:t>
            </a:r>
            <a:r>
              <a:rPr kumimoji="0" lang="en-US" sz="1800" b="0"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another</a:t>
            </a:r>
            <a:r>
              <a:rPr kumimoji="0" 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t>
            </a:r>
          </a:p>
          <a:p>
            <a:pPr marL="800100" marR="0" lvl="1"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Parallel</a:t>
            </a:r>
          </a:p>
          <a:p>
            <a:pPr marL="800100" marR="0" lvl="1"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Phased</a:t>
            </a:r>
          </a:p>
          <a:p>
            <a:pPr marL="800100" marR="0" lvl="1"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Pilot Running</a:t>
            </a:r>
          </a:p>
          <a:p>
            <a:pPr marL="800100" marR="0" lvl="1"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Direct/Abrupt (Sudden)</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Additionally, every changeover should</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account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for the possibility of a fallback (rollback) scenario. </a:t>
            </a:r>
          </a:p>
        </p:txBody>
      </p:sp>
    </p:spTree>
    <p:extLst>
      <p:ext uri="{BB962C8B-B14F-4D97-AF65-F5344CB8AC3E}">
        <p14:creationId xmlns:p14="http://schemas.microsoft.com/office/powerpoint/2010/main" val="299982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2E2CD2-CD62-83DE-E7C7-1C133111CF33}"/>
              </a:ext>
            </a:extLst>
          </p:cNvPr>
          <p:cNvPicPr>
            <a:picLocks noChangeAspect="1"/>
          </p:cNvPicPr>
          <p:nvPr/>
        </p:nvPicPr>
        <p:blipFill>
          <a:blip r:embed="rId2"/>
          <a:stretch>
            <a:fillRect/>
          </a:stretch>
        </p:blipFill>
        <p:spPr>
          <a:xfrm>
            <a:off x="1169525" y="453292"/>
            <a:ext cx="9852950" cy="5861539"/>
          </a:xfrm>
          <a:prstGeom prst="rect">
            <a:avLst/>
          </a:prstGeom>
        </p:spPr>
      </p:pic>
      <p:sp>
        <p:nvSpPr>
          <p:cNvPr id="5" name="TextBox 4">
            <a:extLst>
              <a:ext uri="{FF2B5EF4-FFF2-40B4-BE49-F238E27FC236}">
                <a16:creationId xmlns:a16="http://schemas.microsoft.com/office/drawing/2014/main" id="{F23D6DC7-A99F-980F-F122-2F4D0FDFC035}"/>
              </a:ext>
            </a:extLst>
          </p:cNvPr>
          <p:cNvSpPr txBox="1"/>
          <p:nvPr/>
        </p:nvSpPr>
        <p:spPr>
          <a:xfrm>
            <a:off x="586154" y="83960"/>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Parallel Changeover</a:t>
            </a:r>
          </a:p>
        </p:txBody>
      </p:sp>
    </p:spTree>
    <p:extLst>
      <p:ext uri="{BB962C8B-B14F-4D97-AF65-F5344CB8AC3E}">
        <p14:creationId xmlns:p14="http://schemas.microsoft.com/office/powerpoint/2010/main" val="3106801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24E8B8-4D86-4642-9740-C1A7217D171C}"/>
              </a:ext>
            </a:extLst>
          </p:cNvPr>
          <p:cNvSpPr txBox="1"/>
          <p:nvPr/>
        </p:nvSpPr>
        <p:spPr>
          <a:xfrm>
            <a:off x="352493" y="171164"/>
            <a:ext cx="5946707" cy="31085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Phased Changeover</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this approach the older system is broken into deliverable modules. Initially, the first module of the older system is phased out using the first module of the newer system.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Then, the second module of the older system is phased out, using the second module of the newer system, and so forth until reaching the last module.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Thus, the changeover from the older system to the newer system takes place in a preplanned, phased manner.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5" name="Picture 4">
            <a:extLst>
              <a:ext uri="{FF2B5EF4-FFF2-40B4-BE49-F238E27FC236}">
                <a16:creationId xmlns:a16="http://schemas.microsoft.com/office/drawing/2014/main" id="{C4205383-0E06-45BC-AD00-9B2EE3932911}"/>
              </a:ext>
            </a:extLst>
          </p:cNvPr>
          <p:cNvPicPr>
            <a:picLocks noChangeAspect="1"/>
          </p:cNvPicPr>
          <p:nvPr/>
        </p:nvPicPr>
        <p:blipFill>
          <a:blip r:embed="rId2"/>
          <a:stretch>
            <a:fillRect/>
          </a:stretch>
        </p:blipFill>
        <p:spPr>
          <a:xfrm>
            <a:off x="6955692" y="748380"/>
            <a:ext cx="4986215" cy="3065393"/>
          </a:xfrm>
          <a:prstGeom prst="rect">
            <a:avLst/>
          </a:prstGeom>
        </p:spPr>
      </p:pic>
      <p:sp>
        <p:nvSpPr>
          <p:cNvPr id="10" name="TextBox 9">
            <a:extLst>
              <a:ext uri="{FF2B5EF4-FFF2-40B4-BE49-F238E27FC236}">
                <a16:creationId xmlns:a16="http://schemas.microsoft.com/office/drawing/2014/main" id="{F5A804C2-45DD-4350-9D9C-C221A558483C}"/>
              </a:ext>
            </a:extLst>
          </p:cNvPr>
          <p:cNvSpPr txBox="1"/>
          <p:nvPr/>
        </p:nvSpPr>
        <p:spPr>
          <a:xfrm>
            <a:off x="7815385" y="171164"/>
            <a:ext cx="283314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Calibri" panose="020F0502020204030204"/>
                <a:ea typeface="+mn-ea"/>
                <a:cs typeface="+mn-cs"/>
              </a:rPr>
              <a:t>Phased changeover </a:t>
            </a:r>
          </a:p>
        </p:txBody>
      </p:sp>
      <p:pic>
        <p:nvPicPr>
          <p:cNvPr id="3" name="Picture 2">
            <a:extLst>
              <a:ext uri="{FF2B5EF4-FFF2-40B4-BE49-F238E27FC236}">
                <a16:creationId xmlns:a16="http://schemas.microsoft.com/office/drawing/2014/main" id="{EE76CA67-FEA4-CBA7-3F28-D89CCF3F2038}"/>
              </a:ext>
            </a:extLst>
          </p:cNvPr>
          <p:cNvPicPr>
            <a:picLocks noChangeAspect="1"/>
          </p:cNvPicPr>
          <p:nvPr/>
        </p:nvPicPr>
        <p:blipFill>
          <a:blip r:embed="rId3"/>
          <a:stretch>
            <a:fillRect/>
          </a:stretch>
        </p:blipFill>
        <p:spPr>
          <a:xfrm>
            <a:off x="660400" y="3061620"/>
            <a:ext cx="5916246" cy="3268899"/>
          </a:xfrm>
          <a:prstGeom prst="rect">
            <a:avLst/>
          </a:prstGeom>
        </p:spPr>
      </p:pic>
      <p:pic>
        <p:nvPicPr>
          <p:cNvPr id="7" name="Picture 6">
            <a:extLst>
              <a:ext uri="{FF2B5EF4-FFF2-40B4-BE49-F238E27FC236}">
                <a16:creationId xmlns:a16="http://schemas.microsoft.com/office/drawing/2014/main" id="{820E7348-85FF-EEA6-17A9-9C7D29092D1D}"/>
              </a:ext>
            </a:extLst>
          </p:cNvPr>
          <p:cNvPicPr>
            <a:picLocks noChangeAspect="1"/>
          </p:cNvPicPr>
          <p:nvPr/>
        </p:nvPicPr>
        <p:blipFill>
          <a:blip r:embed="rId4"/>
          <a:stretch>
            <a:fillRect/>
          </a:stretch>
        </p:blipFill>
        <p:spPr>
          <a:xfrm>
            <a:off x="6816408" y="4103076"/>
            <a:ext cx="5375592" cy="1680308"/>
          </a:xfrm>
          <a:prstGeom prst="rect">
            <a:avLst/>
          </a:prstGeom>
        </p:spPr>
      </p:pic>
    </p:spTree>
    <p:extLst>
      <p:ext uri="{BB962C8B-B14F-4D97-AF65-F5344CB8AC3E}">
        <p14:creationId xmlns:p14="http://schemas.microsoft.com/office/powerpoint/2010/main" val="3346216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30A985-7361-7872-FED6-97BD5F803E2F}"/>
              </a:ext>
            </a:extLst>
          </p:cNvPr>
          <p:cNvPicPr>
            <a:picLocks noChangeAspect="1"/>
          </p:cNvPicPr>
          <p:nvPr/>
        </p:nvPicPr>
        <p:blipFill>
          <a:blip r:embed="rId2"/>
          <a:stretch>
            <a:fillRect/>
          </a:stretch>
        </p:blipFill>
        <p:spPr>
          <a:xfrm>
            <a:off x="1470783" y="125047"/>
            <a:ext cx="9470755" cy="6197600"/>
          </a:xfrm>
          <a:prstGeom prst="rect">
            <a:avLst/>
          </a:prstGeom>
        </p:spPr>
      </p:pic>
      <p:sp>
        <p:nvSpPr>
          <p:cNvPr id="5" name="TextBox 4">
            <a:extLst>
              <a:ext uri="{FF2B5EF4-FFF2-40B4-BE49-F238E27FC236}">
                <a16:creationId xmlns:a16="http://schemas.microsoft.com/office/drawing/2014/main" id="{ED93B4F8-3B28-7491-3E8B-DCC1094A836A}"/>
              </a:ext>
            </a:extLst>
          </p:cNvPr>
          <p:cNvSpPr txBox="1"/>
          <p:nvPr/>
        </p:nvSpPr>
        <p:spPr>
          <a:xfrm>
            <a:off x="78154" y="125047"/>
            <a:ext cx="112690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C00000"/>
                </a:solidFill>
                <a:effectLst/>
                <a:uLnTx/>
                <a:uFillTx/>
                <a:latin typeface="Calibri" panose="020F0502020204030204"/>
                <a:ea typeface="+mn-ea"/>
                <a:cs typeface="+mn-cs"/>
              </a:rPr>
              <a:t>Pilot Running</a:t>
            </a:r>
          </a:p>
        </p:txBody>
      </p:sp>
    </p:spTree>
    <p:extLst>
      <p:ext uri="{BB962C8B-B14F-4D97-AF65-F5344CB8AC3E}">
        <p14:creationId xmlns:p14="http://schemas.microsoft.com/office/powerpoint/2010/main" val="288514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14BC17-01D0-0ECC-17CC-8CB6BA709EB2}"/>
              </a:ext>
            </a:extLst>
          </p:cNvPr>
          <p:cNvPicPr>
            <a:picLocks noChangeAspect="1"/>
          </p:cNvPicPr>
          <p:nvPr/>
        </p:nvPicPr>
        <p:blipFill>
          <a:blip r:embed="rId2"/>
          <a:stretch>
            <a:fillRect/>
          </a:stretch>
        </p:blipFill>
        <p:spPr>
          <a:xfrm>
            <a:off x="1175046" y="535553"/>
            <a:ext cx="9446062" cy="5786893"/>
          </a:xfrm>
          <a:prstGeom prst="rect">
            <a:avLst/>
          </a:prstGeom>
        </p:spPr>
      </p:pic>
      <p:sp>
        <p:nvSpPr>
          <p:cNvPr id="5" name="TextBox 4">
            <a:extLst>
              <a:ext uri="{FF2B5EF4-FFF2-40B4-BE49-F238E27FC236}">
                <a16:creationId xmlns:a16="http://schemas.microsoft.com/office/drawing/2014/main" id="{AA49ADA5-8665-6A54-82AD-78F6B82D5F9F}"/>
              </a:ext>
            </a:extLst>
          </p:cNvPr>
          <p:cNvSpPr txBox="1"/>
          <p:nvPr/>
        </p:nvSpPr>
        <p:spPr>
          <a:xfrm>
            <a:off x="422029" y="88873"/>
            <a:ext cx="550984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Direct/Abrupt (sudden) Changeover</a:t>
            </a:r>
          </a:p>
        </p:txBody>
      </p:sp>
    </p:spTree>
    <p:extLst>
      <p:ext uri="{BB962C8B-B14F-4D97-AF65-F5344CB8AC3E}">
        <p14:creationId xmlns:p14="http://schemas.microsoft.com/office/powerpoint/2010/main" val="44320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0328A6-C383-50D6-DBE4-4A2A964CD9DA}"/>
              </a:ext>
            </a:extLst>
          </p:cNvPr>
          <p:cNvPicPr>
            <a:picLocks noChangeAspect="1"/>
          </p:cNvPicPr>
          <p:nvPr/>
        </p:nvPicPr>
        <p:blipFill>
          <a:blip r:embed="rId2"/>
          <a:stretch>
            <a:fillRect/>
          </a:stretch>
        </p:blipFill>
        <p:spPr>
          <a:xfrm>
            <a:off x="409826" y="390769"/>
            <a:ext cx="6370504" cy="5830278"/>
          </a:xfrm>
          <a:prstGeom prst="rect">
            <a:avLst/>
          </a:prstGeom>
        </p:spPr>
      </p:pic>
      <p:pic>
        <p:nvPicPr>
          <p:cNvPr id="4" name="Picture 3">
            <a:extLst>
              <a:ext uri="{FF2B5EF4-FFF2-40B4-BE49-F238E27FC236}">
                <a16:creationId xmlns:a16="http://schemas.microsoft.com/office/drawing/2014/main" id="{CBC135FE-BCBB-5A01-852E-39100C2A9489}"/>
              </a:ext>
            </a:extLst>
          </p:cNvPr>
          <p:cNvPicPr>
            <a:picLocks noChangeAspect="1"/>
          </p:cNvPicPr>
          <p:nvPr/>
        </p:nvPicPr>
        <p:blipFill>
          <a:blip r:embed="rId3"/>
          <a:stretch>
            <a:fillRect/>
          </a:stretch>
        </p:blipFill>
        <p:spPr>
          <a:xfrm>
            <a:off x="6975442" y="1853881"/>
            <a:ext cx="4989911" cy="2904053"/>
          </a:xfrm>
          <a:prstGeom prst="rect">
            <a:avLst/>
          </a:prstGeom>
        </p:spPr>
      </p:pic>
    </p:spTree>
    <p:extLst>
      <p:ext uri="{BB962C8B-B14F-4D97-AF65-F5344CB8AC3E}">
        <p14:creationId xmlns:p14="http://schemas.microsoft.com/office/powerpoint/2010/main" val="2530821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068F94-407D-7454-BC7F-D36ACC25F87F}"/>
              </a:ext>
            </a:extLst>
          </p:cNvPr>
          <p:cNvSpPr txBox="1"/>
          <p:nvPr/>
        </p:nvSpPr>
        <p:spPr>
          <a:xfrm>
            <a:off x="1387641" y="1080210"/>
            <a:ext cx="6795067" cy="39395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Fallback (Rollback)</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any change scenario, whether it involves implementing a new system or making changes to an existing system, there is always a possibility that the change will not work as anticipated.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Regardless of the cause of failure, the project team should have a fallback plan so that it is possible to return to the pre-change status and resume normal processing.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procedures for this reversion should be developed and approved as carefully as the change plan and subjected to rigorous testing before the changeover is attempted.</a:t>
            </a:r>
          </a:p>
        </p:txBody>
      </p:sp>
    </p:spTree>
    <p:extLst>
      <p:ext uri="{BB962C8B-B14F-4D97-AF65-F5344CB8AC3E}">
        <p14:creationId xmlns:p14="http://schemas.microsoft.com/office/powerpoint/2010/main" val="231888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75AE27-F847-9CBC-23C3-126B6D7B0DEB}"/>
              </a:ext>
            </a:extLst>
          </p:cNvPr>
          <p:cNvSpPr txBox="1"/>
          <p:nvPr/>
        </p:nvSpPr>
        <p:spPr>
          <a:xfrm>
            <a:off x="786062" y="249285"/>
            <a:ext cx="8951907" cy="57554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Post-implementation Review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Whether an implementation project succeeds or fails, a timely post-implementation review offers the best opportunity to capture lessons learn so that they can be applied to future projects.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Some questions to ask during the review include the following:</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What went well during the project, and what could have been done better?</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Did the project bring the risk within acceptable risk levels?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Were all user requirements and business objectives met?</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If any inadequacies or deficiencies have been identified, how might these be addressed now?</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Were specified methodologies, standards and techniques followed? If not, why not?</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How does the final cost compare to estimates?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Were the project targets accomplished in terms and resources or were additional ones needed?</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considered a good practice to hold a post-implementation review as soon after completing an implementation project.</a:t>
            </a: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However, not all lessons associated with a given project may be immediately evident. A second, joint review by the implementation team and key stakeholders is often worthwhile after the project has been completed and changes have been in production for a sufficient time period to assess their effectiveness and value to the enterprise</a:t>
            </a:r>
            <a:r>
              <a:rPr kumimoji="0" lang="en-US" sz="11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ourier New" panose="02070309020205020404" pitchFamily="49" charset="0"/>
                <a:ea typeface="+mn-ea"/>
                <a:cs typeface="+mn-cs"/>
              </a:rPr>
              <a:t>. </a:t>
            </a:r>
          </a:p>
        </p:txBody>
      </p:sp>
    </p:spTree>
    <p:extLst>
      <p:ext uri="{BB962C8B-B14F-4D97-AF65-F5344CB8AC3E}">
        <p14:creationId xmlns:p14="http://schemas.microsoft.com/office/powerpoint/2010/main" val="2890059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7ACDFC-063B-6EE9-99D4-C9700D13F844}"/>
              </a:ext>
            </a:extLst>
          </p:cNvPr>
          <p:cNvSpPr txBox="1"/>
          <p:nvPr/>
        </p:nvSpPr>
        <p:spPr>
          <a:xfrm>
            <a:off x="1138989" y="198400"/>
            <a:ext cx="8285748" cy="54784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Documentation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plays a key role in ensuring that controls are properly set up, operated, maintained and evaluated, with results reported to management on a regular basis.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Control management procedures include:</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Proper installation</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Creation of policies and procedures to support operations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Implementation of change management procedures to ensure correct configuration</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Training of staff to monitor, manage and review controls</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Assignment of responsibility for monitoring and investigation</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Creation of a schedule for review and reporting</a:t>
            </a:r>
          </a:p>
          <a:p>
            <a:pPr marL="800100" marR="0" lvl="1" indent="-34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Measurement of initial key performance indicators (KPIs)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As risk responses are implemented, the risk practitioner should ensure that each mitigation project has been implemented according to the intent and design of the project architects and that any changes did not erode or diminish effectiveness. </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Each control should have its own documentation that includes justification for its implementation, accountable and responsible owners, and review and reporting schedules.</a:t>
            </a:r>
          </a:p>
        </p:txBody>
      </p:sp>
    </p:spTree>
    <p:extLst>
      <p:ext uri="{BB962C8B-B14F-4D97-AF65-F5344CB8AC3E}">
        <p14:creationId xmlns:p14="http://schemas.microsoft.com/office/powerpoint/2010/main" val="3124099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F7B06A-426A-C219-5E27-F0E42253D130}"/>
              </a:ext>
            </a:extLst>
          </p:cNvPr>
          <p:cNvSpPr txBox="1"/>
          <p:nvPr/>
        </p:nvSpPr>
        <p:spPr>
          <a:xfrm>
            <a:off x="1185057" y="666538"/>
            <a:ext cx="7747927" cy="46474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Testing and Effectiveness Evaluation</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Controls exist to mitigate risk. When improperly implemented, the opposite may occur; not only may a control fail to meet business requirements, poor implementation or functional inadequacy may result in a security breach.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rPr>
              <a:t>Control testing is an opportunity to uncover flaws early enough to prevent that failure and do so cost-effectively.</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 comprehensive testing program includes testing at as many levels </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includes testing at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unit/component, integration/system and end-user levels.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Progressive testing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begins with expectations and looks for flaws, while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regressive testing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works backward from known problems to identify causes.</a:t>
            </a:r>
          </a:p>
          <a:p>
            <a:pPr marL="800100" marR="0" lvl="1" indent="-3429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Both forms of testing are commonly used throughout the testing process. The risk practitioner may find regression testing to be useful in determining whether incidents have root causes in policy or standards.</a:t>
            </a:r>
          </a:p>
        </p:txBody>
      </p:sp>
    </p:spTree>
    <p:extLst>
      <p:ext uri="{BB962C8B-B14F-4D97-AF65-F5344CB8AC3E}">
        <p14:creationId xmlns:p14="http://schemas.microsoft.com/office/powerpoint/2010/main" val="1630706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10206D-FC86-7E32-006C-78B357C2AA34}"/>
              </a:ext>
            </a:extLst>
          </p:cNvPr>
          <p:cNvSpPr txBox="1"/>
          <p:nvPr/>
        </p:nvSpPr>
        <p:spPr>
          <a:xfrm>
            <a:off x="1339721" y="873852"/>
            <a:ext cx="8335725" cy="463203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Good Practices for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285750" indent="-285750">
              <a:spcAft>
                <a:spcPts val="1200"/>
              </a:spcAft>
              <a:buFont typeface="Wingdings" panose="05000000000000000000" pitchFamily="2" charset="2"/>
              <a:buChar char="q"/>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Effective testing typically considers specific considerations </a:t>
            </a: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for Environmental Separation , version control and code </a:t>
            </a:r>
            <a:r>
              <a:rPr lang="en-US" sz="1600" dirty="0">
                <a:solidFill>
                  <a:srgbClr val="0070C0"/>
                </a:solidFill>
                <a:latin typeface="Berlin Sans FB" panose="020E0602020502020306" pitchFamily="34" charset="0"/>
              </a:rPr>
              <a:t>Locking </a:t>
            </a:r>
          </a:p>
          <a:p>
            <a:pPr marL="742950" lvl="1" indent="-285750">
              <a:spcAft>
                <a:spcPts val="1200"/>
              </a:spcAft>
              <a:buFont typeface="Wingdings" panose="05000000000000000000" pitchFamily="2" charset="2"/>
              <a:buChar char="q"/>
              <a:defRPr/>
            </a:pPr>
            <a:r>
              <a:rPr kumimoji="0" lang="en-US" sz="20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Environmental Separation</a:t>
            </a:r>
          </a:p>
          <a:p>
            <a:pPr marL="1657350" marR="0" lvl="3"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As mentioned previously, development or testing environments should be separated from production areas to prevent the potential for cross-population of data or application code outside the approval process. </a:t>
            </a:r>
          </a:p>
          <a:p>
            <a:pPr marL="1657350" marR="0" lvl="3"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Depending on the enterprise, this separation may be done at the network level, may include physically separate workspaces, or may require entirely distinct teams of developers to be working on test and production systems. </a:t>
            </a:r>
          </a:p>
          <a:p>
            <a:pPr marL="1657350" marR="0" lvl="3"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understand the separation model used by the organization and the rationale for managing separation in that fashion to ensure that it is consistently applied in practice. </a:t>
            </a:r>
          </a:p>
          <a:p>
            <a:pPr marL="1657350" marR="0" lvl="3"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Wherever physical separation, logical separation or both are difficult, the enterprise should implement compensating controls comparable with the risk level.</a:t>
            </a:r>
          </a:p>
        </p:txBody>
      </p:sp>
    </p:spTree>
    <p:extLst>
      <p:ext uri="{BB962C8B-B14F-4D97-AF65-F5344CB8AC3E}">
        <p14:creationId xmlns:p14="http://schemas.microsoft.com/office/powerpoint/2010/main" val="4189762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58510D-ADB5-E7CD-9D8A-119BBC799874}"/>
              </a:ext>
            </a:extLst>
          </p:cNvPr>
          <p:cNvSpPr txBox="1"/>
          <p:nvPr/>
        </p:nvSpPr>
        <p:spPr>
          <a:xfrm>
            <a:off x="539261" y="397401"/>
            <a:ext cx="4603262" cy="46012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Version Control</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There is always risk that a change to a system will overwrite or bypass functionality previously implemented or changed in a system.</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Version  control refers to the assignment of specific version numbers or tracking mechanisms for each revision of a system, making it possible to distinguish between versions. </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Version control tracks the current iteration of something in development, checks for previous changes when a  new change is implemented and can be used to ensure that the correct source version is staged for a move to production use. </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take care to ensure that reports from content reviews (including code testing) and other testing apply to the correct versions  of components and systems</a:t>
            </a:r>
            <a:endPar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p:txBody>
      </p:sp>
      <p:sp>
        <p:nvSpPr>
          <p:cNvPr id="5" name="TextBox 4">
            <a:extLst>
              <a:ext uri="{FF2B5EF4-FFF2-40B4-BE49-F238E27FC236}">
                <a16:creationId xmlns:a16="http://schemas.microsoft.com/office/drawing/2014/main" id="{85523633-7481-D7F6-D742-4E0B2220F5A3}"/>
              </a:ext>
            </a:extLst>
          </p:cNvPr>
          <p:cNvSpPr txBox="1"/>
          <p:nvPr/>
        </p:nvSpPr>
        <p:spPr>
          <a:xfrm>
            <a:off x="5939693" y="1772909"/>
            <a:ext cx="5134708" cy="31547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Code Locking</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Part of the process of moving a new or modified system or application into production is to lock down the source code in order to ensure that it  cannot be modified or intentionally tampered with after it has been approved for final testing. </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Some organizations call this final  version gold code or locked code.</a:t>
            </a:r>
          </a:p>
          <a:p>
            <a:pPr marL="742950" marR="0" lvl="1"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 high-sensitivity environments, integrity-checking tools such as digital checksums may be used to validate  that no changes have been made since approval.</a:t>
            </a:r>
          </a:p>
        </p:txBody>
      </p:sp>
    </p:spTree>
    <p:extLst>
      <p:ext uri="{BB962C8B-B14F-4D97-AF65-F5344CB8AC3E}">
        <p14:creationId xmlns:p14="http://schemas.microsoft.com/office/powerpoint/2010/main" val="3832991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508A3E-AAE6-47D5-A0D2-909365B88EAA}"/>
              </a:ext>
            </a:extLst>
          </p:cNvPr>
          <p:cNvSpPr txBox="1"/>
          <p:nvPr/>
        </p:nvSpPr>
        <p:spPr>
          <a:xfrm>
            <a:off x="1266091" y="120402"/>
            <a:ext cx="8698524" cy="58169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TESTING CLASSIFICATIONS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Demi" panose="020E0802020502020306" pitchFamily="34" charset="0"/>
                <a:ea typeface="+mn-ea"/>
                <a:cs typeface="+mn-cs"/>
              </a:rPr>
              <a:t>The following tests relate to the approaches that can be performed based on the size and complexity of the modified system:</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 Unit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testing of an individual program or module. These tests ensure that the internal operation of the program performs according to specification.</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Interface or integration testing—</a:t>
            </a:r>
          </a:p>
          <a:p>
            <a:pPr marL="1714500" marR="0" lvl="3"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hardware or software test that evaluates the connection of two or more components that pass information from one area to another. </a:t>
            </a:r>
          </a:p>
          <a:p>
            <a:pPr marL="1714500" marR="0" lvl="3"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term “integration testing” is also used to refer to tests that verify and validate the functioning of the application under test with other systems, in which a set of data is transferred from one system to another.</a:t>
            </a: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System testing—</a:t>
            </a:r>
          </a:p>
          <a:p>
            <a:pPr marL="1714500" marR="0" lvl="3"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 series of tests designed to ensure that modified programs, objects, database schema, etc., which collectively constitute a new or modified system, function properly. </a:t>
            </a:r>
          </a:p>
          <a:p>
            <a:pPr marL="1714500" marR="0" lvl="3"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test procedures are often performed in a nonproduction test/development environment by software developers designated as a test team. </a:t>
            </a:r>
          </a:p>
          <a:p>
            <a:pPr marL="1714500" marR="0" lvl="3" indent="-342900" algn="l" defTabSz="914400" rtl="0" eaLnBrk="1" fontAlgn="auto" latinLnBrk="0" hangingPunct="1">
              <a:lnSpc>
                <a:spcPct val="100000"/>
              </a:lnSpc>
              <a:spcBef>
                <a:spcPts val="0"/>
              </a:spcBef>
              <a:spcAft>
                <a:spcPts val="0"/>
              </a:spcAft>
              <a:buClrTx/>
              <a:buSzTx/>
              <a:buFont typeface="+mj-lt"/>
              <a:buAutoNum type="alphaLcPeriod"/>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p:txBody>
      </p:sp>
    </p:spTree>
    <p:extLst>
      <p:ext uri="{BB962C8B-B14F-4D97-AF65-F5344CB8AC3E}">
        <p14:creationId xmlns:p14="http://schemas.microsoft.com/office/powerpoint/2010/main" val="1322275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ystem Testing 1">
            <a:hlinkClick r:id="rId2"/>
            <a:extLst>
              <a:ext uri="{FF2B5EF4-FFF2-40B4-BE49-F238E27FC236}">
                <a16:creationId xmlns:a16="http://schemas.microsoft.com/office/drawing/2014/main" id="{3D239A04-30FD-4920-BDFD-ACDB4A12C75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59429" y="1383493"/>
            <a:ext cx="5041265" cy="2934335"/>
          </a:xfrm>
          <a:prstGeom prst="rect">
            <a:avLst/>
          </a:prstGeom>
          <a:noFill/>
          <a:ln>
            <a:noFill/>
          </a:ln>
        </p:spPr>
      </p:pic>
      <p:sp>
        <p:nvSpPr>
          <p:cNvPr id="4" name="TextBox 3">
            <a:extLst>
              <a:ext uri="{FF2B5EF4-FFF2-40B4-BE49-F238E27FC236}">
                <a16:creationId xmlns:a16="http://schemas.microsoft.com/office/drawing/2014/main" id="{6EE44E26-B760-41BE-A2E5-6783A63327B0}"/>
              </a:ext>
            </a:extLst>
          </p:cNvPr>
          <p:cNvSpPr txBox="1"/>
          <p:nvPr/>
        </p:nvSpPr>
        <p:spPr>
          <a:xfrm>
            <a:off x="312616" y="311923"/>
            <a:ext cx="6357644" cy="5638531"/>
          </a:xfrm>
          <a:prstGeom prst="rect">
            <a:avLst/>
          </a:prstGeom>
          <a:noFill/>
        </p:spPr>
        <p:txBody>
          <a:bodyPr wrap="square">
            <a:spAutoFit/>
          </a:bodyPr>
          <a:lstStyle/>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is performed when Integration Testing is completed.</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is mainly a Black-box type testing. This testing evaluates the working of the system from a user point of view, with the help of a specification document. It does not require any internal knowledge of systems like the design or structure of the code.</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contains functional and non-functional areas of application/product.</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Focus criteria:</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It mainly focuses on the following:</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External interfaces</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Security</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Recovery</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Performance</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Operator and user’s smooth interaction with the system</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Install ability</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Documentation</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Usability</a:t>
            </a:r>
          </a:p>
          <a:p>
            <a:pPr marL="1257300" marR="0" lvl="2" indent="-342900" algn="l" defTabSz="914400" rtl="0" eaLnBrk="1" fontAlgn="auto" latinLnBrk="0" hangingPunct="1">
              <a:lnSpc>
                <a:spcPct val="107000"/>
              </a:lnSpc>
              <a:spcBef>
                <a:spcPts val="0"/>
              </a:spcBef>
              <a:spcAft>
                <a:spcPts val="0"/>
              </a:spcAft>
              <a:buClrTx/>
              <a:buSzTx/>
              <a:buFont typeface="+mj-lt"/>
              <a:buAutoNum type="alphaLcPeriod"/>
              <a:tabLst>
                <a:tab pos="457200" algn="l"/>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Load/Stress</a:t>
            </a:r>
          </a:p>
          <a:p>
            <a:pPr marL="457200" marR="0" lvl="1" indent="0" algn="l"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002060"/>
                </a:solidFill>
                <a:effectLst/>
                <a:uLnTx/>
                <a:uFillTx/>
                <a:latin typeface="Bell MT" panose="02020503060305020303" pitchFamily="18" charset="0"/>
                <a:ea typeface="Calibri" panose="020F0502020204030204" pitchFamily="34" charset="0"/>
                <a:cs typeface="Arial" panose="020B0604020202020204" pitchFamily="34" charset="0"/>
              </a:rPr>
              <a:t> </a:t>
            </a:r>
            <a:endParaRPr kumimoji="0" lang="en-US" sz="1200" b="0" i="0" u="none" strike="noStrike" kern="1200" cap="none" spc="0" normalizeH="0" baseline="0" noProof="0" dirty="0">
              <a:ln>
                <a:noFill/>
              </a:ln>
              <a:solidFill>
                <a:srgbClr val="000000"/>
              </a:solidFill>
              <a:effectLst/>
              <a:uLnTx/>
              <a:uFillTx/>
              <a:latin typeface="Bell MT" panose="02020503060305020303"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58887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C024CD-5DE2-4634-9F27-09633C268428}"/>
              </a:ext>
            </a:extLst>
          </p:cNvPr>
          <p:cNvSpPr txBox="1"/>
          <p:nvPr/>
        </p:nvSpPr>
        <p:spPr>
          <a:xfrm>
            <a:off x="70338" y="641073"/>
            <a:ext cx="9315939" cy="5386090"/>
          </a:xfrm>
          <a:prstGeom prst="rect">
            <a:avLst/>
          </a:prstGeom>
          <a:noFill/>
        </p:spPr>
        <p:txBody>
          <a:bodyPr wrap="square">
            <a:spAutoFit/>
          </a:bodyPr>
          <a:lstStyle/>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Recovery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—Checking the system’s ability to recover after a software or hardware failure</a:t>
            </a: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Security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—Making sure the modified/new system includes provisions for appropriate access controls and does not introduce any security holes that might compromise other systems</a:t>
            </a: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Load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—Testing an application with large quantities of data to evaluate its performance during peak hours</a:t>
            </a: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 Volume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—Studying the impact on the application by testing with an incremental volume of records to determine the maximum volume of records (data) the application can process</a:t>
            </a: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Stress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—Studying the impact on the application by testing with an incremental number of concurrent users/services on the application to determine the maximum number of concurrent users/services the application can process</a:t>
            </a: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171700" marR="0" lvl="4"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Performance testing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—Comparing the system’s performance to other equivalent systems using well-defined benchmarks</a:t>
            </a:r>
          </a:p>
        </p:txBody>
      </p:sp>
      <p:sp>
        <p:nvSpPr>
          <p:cNvPr id="5" name="TextBox 4">
            <a:extLst>
              <a:ext uri="{FF2B5EF4-FFF2-40B4-BE49-F238E27FC236}">
                <a16:creationId xmlns:a16="http://schemas.microsoft.com/office/drawing/2014/main" id="{193BAD0D-7147-41B1-A397-47DB7932E589}"/>
              </a:ext>
            </a:extLst>
          </p:cNvPr>
          <p:cNvSpPr txBox="1"/>
          <p:nvPr/>
        </p:nvSpPr>
        <p:spPr>
          <a:xfrm>
            <a:off x="187568" y="192169"/>
            <a:ext cx="9573289" cy="461665"/>
          </a:xfrm>
          <a:prstGeom prst="rect">
            <a:avLst/>
          </a:prstGeom>
          <a:noFill/>
        </p:spPr>
        <p:txBody>
          <a:bodyPr wrap="square">
            <a:spAutoFit/>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The following specific analyses may be carried out during </a:t>
            </a:r>
            <a:r>
              <a:rPr kumimoji="0" lang="en-US" sz="24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system testing</a:t>
            </a: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t>
            </a:r>
          </a:p>
        </p:txBody>
      </p:sp>
    </p:spTree>
    <p:extLst>
      <p:ext uri="{BB962C8B-B14F-4D97-AF65-F5344CB8AC3E}">
        <p14:creationId xmlns:p14="http://schemas.microsoft.com/office/powerpoint/2010/main" val="2848079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93D99E-CE51-4910-B0F4-2A4F94D7E235}"/>
              </a:ext>
            </a:extLst>
          </p:cNvPr>
          <p:cNvPicPr>
            <a:picLocks noChangeAspect="1"/>
          </p:cNvPicPr>
          <p:nvPr/>
        </p:nvPicPr>
        <p:blipFill rotWithShape="1">
          <a:blip r:embed="rId2">
            <a:extLst>
              <a:ext uri="{28A0092B-C50C-407E-A947-70E740481C1C}">
                <a14:useLocalDpi xmlns:a14="http://schemas.microsoft.com/office/drawing/2010/main" val="0"/>
              </a:ext>
            </a:extLst>
          </a:blip>
          <a:srcRect r="247" b="10417"/>
          <a:stretch/>
        </p:blipFill>
        <p:spPr>
          <a:xfrm>
            <a:off x="2078892" y="3187216"/>
            <a:ext cx="8128000" cy="3031738"/>
          </a:xfrm>
          <a:prstGeom prst="rect">
            <a:avLst/>
          </a:prstGeom>
        </p:spPr>
      </p:pic>
      <p:sp>
        <p:nvSpPr>
          <p:cNvPr id="7" name="TextBox 6">
            <a:extLst>
              <a:ext uri="{FF2B5EF4-FFF2-40B4-BE49-F238E27FC236}">
                <a16:creationId xmlns:a16="http://schemas.microsoft.com/office/drawing/2014/main" id="{498F9EF3-657D-41D7-B2C6-C5058F5D0BF2}"/>
              </a:ext>
            </a:extLst>
          </p:cNvPr>
          <p:cNvSpPr txBox="1"/>
          <p:nvPr/>
        </p:nvSpPr>
        <p:spPr>
          <a:xfrm>
            <a:off x="789354" y="368884"/>
            <a:ext cx="9417538" cy="2677656"/>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Difference between System Testing and System Integration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The main difference is:</a:t>
            </a:r>
          </a:p>
          <a:p>
            <a:pPr marL="2114550" marR="0" lvl="4"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System Testing looks after a single system’s integrity with relevant environment</a:t>
            </a:r>
          </a:p>
          <a:p>
            <a:pPr marL="1828800" marR="0" lvl="4"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114550" marR="0" lvl="4"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System Integration Testing looks after multiple systems’ integrity with each other, being in the same environment.</a:t>
            </a:r>
          </a:p>
          <a:p>
            <a:pPr marL="1828800" marR="0" lvl="4"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Thus, the system test is the beginning of real testing where you test a product as a whole and not a module/feature.</a:t>
            </a:r>
          </a:p>
        </p:txBody>
      </p:sp>
    </p:spTree>
    <p:extLst>
      <p:ext uri="{BB962C8B-B14F-4D97-AF65-F5344CB8AC3E}">
        <p14:creationId xmlns:p14="http://schemas.microsoft.com/office/powerpoint/2010/main" val="179486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B7719-F804-428C-82DC-940113E94AF7}"/>
              </a:ext>
            </a:extLst>
          </p:cNvPr>
          <p:cNvSpPr txBox="1"/>
          <p:nvPr/>
        </p:nvSpPr>
        <p:spPr>
          <a:xfrm>
            <a:off x="1359877" y="250092"/>
            <a:ext cx="8151446" cy="5509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Final acceptance testing—</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Final Acceptance testing occurs during the implementation phase.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Final acceptance testing has two major parts: </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quality assurance testing (QAT), focusing on technical aspects of the application</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UAT, focusing on functional aspects of the application.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QAT and UAT have different objectives and, therefore, should not be combined.</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QAT</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verifies that the application works as documented by testing the logical design and the technology itself. </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also ensures that the application meets the documented technical specifications and deliverables.</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QAT is performed primarily by the IT department. The participation of the end user is minimal and on request. </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QAT does not focus on functionality testing.</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UAT</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supports the process of ensuring that the system is production-ready and satisfies all documented requirements. </a:t>
            </a:r>
          </a:p>
          <a:p>
            <a:pPr marL="1200150"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Ideally, UAT should be performed in a secure testing or staging environment.</a:t>
            </a:r>
          </a:p>
        </p:txBody>
      </p:sp>
    </p:spTree>
    <p:extLst>
      <p:ext uri="{BB962C8B-B14F-4D97-AF65-F5344CB8AC3E}">
        <p14:creationId xmlns:p14="http://schemas.microsoft.com/office/powerpoint/2010/main" val="26020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E1EFF3-BD78-4815-9E19-EA3B7E8C8781}"/>
              </a:ext>
            </a:extLst>
          </p:cNvPr>
          <p:cNvPicPr>
            <a:picLocks noChangeAspect="1"/>
          </p:cNvPicPr>
          <p:nvPr/>
        </p:nvPicPr>
        <p:blipFill rotWithShape="1">
          <a:blip r:embed="rId2">
            <a:extLst>
              <a:ext uri="{28A0092B-C50C-407E-A947-70E740481C1C}">
                <a14:useLocalDpi xmlns:a14="http://schemas.microsoft.com/office/drawing/2010/main" val="0"/>
              </a:ext>
            </a:extLst>
          </a:blip>
          <a:srcRect l="4633"/>
          <a:stretch/>
        </p:blipFill>
        <p:spPr>
          <a:xfrm>
            <a:off x="1148862" y="394536"/>
            <a:ext cx="10399570" cy="5589170"/>
          </a:xfrm>
          <a:prstGeom prst="rect">
            <a:avLst/>
          </a:prstGeom>
        </p:spPr>
      </p:pic>
    </p:spTree>
    <p:extLst>
      <p:ext uri="{BB962C8B-B14F-4D97-AF65-F5344CB8AC3E}">
        <p14:creationId xmlns:p14="http://schemas.microsoft.com/office/powerpoint/2010/main" val="346848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8B509-0FD8-4D0C-A2F7-36E39DE20DFC}"/>
              </a:ext>
            </a:extLst>
          </p:cNvPr>
          <p:cNvPicPr>
            <a:picLocks noChangeAspect="1"/>
          </p:cNvPicPr>
          <p:nvPr/>
        </p:nvPicPr>
        <p:blipFill rotWithShape="1">
          <a:blip r:embed="rId2">
            <a:extLst>
              <a:ext uri="{28A0092B-C50C-407E-A947-70E740481C1C}">
                <a14:useLocalDpi xmlns:a14="http://schemas.microsoft.com/office/drawing/2010/main" val="0"/>
              </a:ext>
            </a:extLst>
          </a:blip>
          <a:srcRect l="4593"/>
          <a:stretch/>
        </p:blipFill>
        <p:spPr>
          <a:xfrm>
            <a:off x="1070707" y="455195"/>
            <a:ext cx="10558913" cy="5624763"/>
          </a:xfrm>
          <a:prstGeom prst="rect">
            <a:avLst/>
          </a:prstGeom>
        </p:spPr>
      </p:pic>
    </p:spTree>
    <p:extLst>
      <p:ext uri="{BB962C8B-B14F-4D97-AF65-F5344CB8AC3E}">
        <p14:creationId xmlns:p14="http://schemas.microsoft.com/office/powerpoint/2010/main" val="1941982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665D36-87A8-4A98-BCED-9D92DACA1C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11" y="466475"/>
            <a:ext cx="11122577" cy="5661610"/>
          </a:xfrm>
          <a:prstGeom prst="rect">
            <a:avLst/>
          </a:prstGeom>
        </p:spPr>
      </p:pic>
    </p:spTree>
    <p:extLst>
      <p:ext uri="{BB962C8B-B14F-4D97-AF65-F5344CB8AC3E}">
        <p14:creationId xmlns:p14="http://schemas.microsoft.com/office/powerpoint/2010/main" val="3251527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55077" y="390281"/>
            <a:ext cx="8388350" cy="69691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60" dirty="0">
                <a:solidFill>
                  <a:srgbClr val="074891"/>
                </a:solidFill>
                <a:uFill>
                  <a:solidFill>
                    <a:srgbClr val="000000"/>
                  </a:solidFill>
                </a:uFill>
                <a:latin typeface="Calibri Light"/>
                <a:cs typeface="Calibri Light"/>
              </a:rPr>
              <a:t>Effectiveness</a:t>
            </a:r>
            <a:r>
              <a:rPr sz="4400" spc="-60"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1775363" y="1267828"/>
            <a:ext cx="7759408" cy="3929922"/>
          </a:xfrm>
          <a:prstGeom prst="rect">
            <a:avLst/>
          </a:prstGeom>
        </p:spPr>
        <p:txBody>
          <a:bodyPr vert="horz" wrap="square" lIns="0" tIns="112395" rIns="0" bIns="0" rtlCol="0">
            <a:spAutoFit/>
          </a:bodyPr>
          <a:lstStyle/>
          <a:p>
            <a:pPr marL="354965" marR="39370" indent="-342900">
              <a:spcBef>
                <a:spcPts val="600"/>
              </a:spcBef>
              <a:spcAft>
                <a:spcPts val="600"/>
              </a:spcAft>
              <a:buFont typeface="Wingdings" panose="05000000000000000000" pitchFamily="2" charset="2"/>
              <a:buChar char="§"/>
              <a:tabLst>
                <a:tab pos="241935" algn="l"/>
              </a:tabLst>
            </a:pPr>
            <a:r>
              <a:rPr sz="1600" dirty="0">
                <a:solidFill>
                  <a:srgbClr val="0070C0"/>
                </a:solidFill>
                <a:latin typeface="Berlin Sans FB" panose="020E0602020502020306" pitchFamily="34" charset="0"/>
              </a:rPr>
              <a:t>The effectiveness of a control is determined by how well it fulfills its intended security function and protects assets. If a control is ineffective, it is not performing the intended  security function for which it was designed or implemented, or it’s not performing it to  the degree it needs to, leaving an asset vulnerable to threats and allowing an unacceptable level of risk to the asset or organization.</a:t>
            </a:r>
          </a:p>
          <a:p>
            <a:pPr marL="354965" marR="106680"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In these cases, control gaps must be closed (or reduced) by</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adding additional controls, or replacing the control.</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Control effectiveness may not necessarily be the fault of the system administrators or</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security professionals.</a:t>
            </a:r>
          </a:p>
          <a:p>
            <a:pPr marL="354965" marR="5080"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Sometimes ineffective controls can be traced back to poorly defined requirements from the SDLC or ISSE process.</a:t>
            </a:r>
          </a:p>
          <a:p>
            <a:pPr marL="354965" marR="16065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Measuring control effectiveness is closely related to the concepts of key risk indicators  (KRIs) and key performance indicators (KPIs), as well as security metrics.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51877" y="546324"/>
            <a:ext cx="8386763" cy="752129"/>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u="sng" spc="-50" dirty="0">
                <a:solidFill>
                  <a:srgbClr val="074891"/>
                </a:solidFill>
                <a:uFill>
                  <a:solidFill>
                    <a:srgbClr val="000000"/>
                  </a:solidFill>
                </a:uFill>
                <a:latin typeface="Calibri Light"/>
                <a:cs typeface="Calibri Light"/>
              </a:rPr>
              <a:t>Efficiency</a:t>
            </a:r>
            <a:r>
              <a:rPr sz="4400" spc="-50"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1536993" y="1479198"/>
            <a:ext cx="7403807" cy="3457357"/>
          </a:xfrm>
          <a:prstGeom prst="rect">
            <a:avLst/>
          </a:prstGeom>
        </p:spPr>
        <p:txBody>
          <a:bodyPr vert="horz" wrap="square" lIns="0" tIns="132080" rIns="0" bIns="0" rtlCol="0">
            <a:spAutoFit/>
          </a:bodyPr>
          <a:lstStyle/>
          <a:p>
            <a:pPr marL="354965" marR="556895" indent="-342900">
              <a:spcBef>
                <a:spcPts val="600"/>
              </a:spcBef>
              <a:spcAft>
                <a:spcPts val="600"/>
              </a:spcAft>
              <a:buFont typeface="Wingdings" panose="05000000000000000000" pitchFamily="2" charset="2"/>
              <a:buChar char="§"/>
              <a:tabLst>
                <a:tab pos="241935" algn="l"/>
              </a:tabLst>
            </a:pPr>
            <a:r>
              <a:rPr sz="1600" dirty="0">
                <a:solidFill>
                  <a:srgbClr val="0070C0"/>
                </a:solidFill>
                <a:latin typeface="Berlin Sans FB" panose="020E0602020502020306" pitchFamily="34" charset="0"/>
              </a:rPr>
              <a:t>Efficiency relates more to how well the control does in relation to other  factors, such as cost, maintainability, interoperability, and so on.</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Even if a control is effective at what it’s supposed to be doing, is it costing</a:t>
            </a:r>
            <a:r>
              <a:rPr lang="en-US" sz="1600" dirty="0">
                <a:solidFill>
                  <a:srgbClr val="002060"/>
                </a:solidFill>
                <a:latin typeface="Berlin Sans FB" panose="020E0602020502020306" pitchFamily="34" charset="0"/>
              </a:rPr>
              <a:t> too much to maintain it? Does it use up too many resources?</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In looking at efficiency, the organization must consider controls that are</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not only effective but reasonable to operate and maintain in terms of the</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value they add and the level of protection they afford consistent with the</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asset’s value.</a:t>
            </a:r>
          </a:p>
          <a:p>
            <a:pPr marL="354965" marR="40068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Process efficiency should also be a consideration in control selection and  use.</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A particular backup system, while effective, may require additional work</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processes or equipment to ensure its effectiveness or may add components  and complexity to the infrastructure.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58093" y="586765"/>
            <a:ext cx="8386763" cy="69691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65" dirty="0">
                <a:solidFill>
                  <a:srgbClr val="074891"/>
                </a:solidFill>
                <a:uFill>
                  <a:solidFill>
                    <a:srgbClr val="000000"/>
                  </a:solidFill>
                </a:uFill>
                <a:latin typeface="Calibri Light"/>
                <a:cs typeface="Calibri Light"/>
              </a:rPr>
              <a:t>Economy</a:t>
            </a:r>
            <a:r>
              <a:rPr sz="4400" u="sng" spc="-125" dirty="0">
                <a:solidFill>
                  <a:srgbClr val="074891"/>
                </a:solidFill>
                <a:uFill>
                  <a:solidFill>
                    <a:srgbClr val="000000"/>
                  </a:solidFill>
                </a:uFill>
                <a:latin typeface="Calibri Light"/>
                <a:cs typeface="Calibri Light"/>
              </a:rPr>
              <a:t> </a:t>
            </a:r>
            <a:r>
              <a:rPr sz="4400" u="sng" spc="-15" dirty="0">
                <a:solidFill>
                  <a:srgbClr val="074891"/>
                </a:solidFill>
                <a:uFill>
                  <a:solidFill>
                    <a:srgbClr val="000000"/>
                  </a:solidFill>
                </a:uFill>
                <a:latin typeface="Calibri Light"/>
                <a:cs typeface="Calibri Light"/>
              </a:rPr>
              <a:t>of</a:t>
            </a:r>
            <a:r>
              <a:rPr sz="4400" u="sng" spc="-70" dirty="0">
                <a:solidFill>
                  <a:srgbClr val="074891"/>
                </a:solidFill>
                <a:uFill>
                  <a:solidFill>
                    <a:srgbClr val="000000"/>
                  </a:solidFill>
                </a:uFill>
                <a:latin typeface="Calibri Light"/>
                <a:cs typeface="Calibri Light"/>
              </a:rPr>
              <a:t> </a:t>
            </a:r>
            <a:r>
              <a:rPr sz="4400" u="sng" spc="-20" dirty="0">
                <a:solidFill>
                  <a:srgbClr val="074891"/>
                </a:solidFill>
                <a:uFill>
                  <a:solidFill>
                    <a:srgbClr val="000000"/>
                  </a:solidFill>
                </a:uFill>
                <a:latin typeface="Calibri Light"/>
                <a:cs typeface="Calibri Light"/>
              </a:rPr>
              <a:t>Use</a:t>
            </a:r>
            <a:r>
              <a:rPr sz="4400" spc="-20"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2236004" y="1383107"/>
            <a:ext cx="7290950" cy="3970959"/>
          </a:xfrm>
          <a:prstGeom prst="rect">
            <a:avLst/>
          </a:prstGeom>
        </p:spPr>
        <p:txBody>
          <a:bodyPr vert="horz" wrap="square" lIns="0" tIns="92075" rIns="0" bIns="0" rtlCol="0">
            <a:spAutoFit/>
          </a:bodyPr>
          <a:lstStyle/>
          <a:p>
            <a:pPr marL="241300" marR="443230" indent="-229235">
              <a:spcBef>
                <a:spcPts val="600"/>
              </a:spcBef>
              <a:spcAft>
                <a:spcPts val="600"/>
              </a:spcAft>
              <a:buFont typeface="Arial MT"/>
              <a:buChar char="•"/>
              <a:tabLst>
                <a:tab pos="241935" algn="l"/>
              </a:tabLst>
            </a:pPr>
            <a:r>
              <a:rPr sz="2000" i="1" spc="-20" dirty="0">
                <a:solidFill>
                  <a:srgbClr val="7030A0"/>
                </a:solidFill>
                <a:effectLst>
                  <a:outerShdw blurRad="38100" dist="38100" dir="2700000" algn="tl">
                    <a:srgbClr val="000000">
                      <a:alpha val="43137"/>
                    </a:srgbClr>
                  </a:outerShdw>
                </a:effectLst>
                <a:latin typeface="Calibri"/>
                <a:cs typeface="Calibri"/>
              </a:rPr>
              <a:t>Economy</a:t>
            </a:r>
            <a:r>
              <a:rPr sz="2000" i="1" spc="10" dirty="0">
                <a:solidFill>
                  <a:srgbClr val="7030A0"/>
                </a:solidFill>
                <a:effectLst>
                  <a:outerShdw blurRad="38100" dist="38100" dir="2700000" algn="tl">
                    <a:srgbClr val="000000">
                      <a:alpha val="43137"/>
                    </a:srgbClr>
                  </a:outerShdw>
                </a:effectLst>
                <a:latin typeface="Calibri"/>
                <a:cs typeface="Calibri"/>
              </a:rPr>
              <a:t> </a:t>
            </a:r>
            <a:r>
              <a:rPr sz="2000" i="1" spc="-5" dirty="0">
                <a:solidFill>
                  <a:srgbClr val="7030A0"/>
                </a:solidFill>
                <a:effectLst>
                  <a:outerShdw blurRad="38100" dist="38100" dir="2700000" algn="tl">
                    <a:srgbClr val="000000">
                      <a:alpha val="43137"/>
                    </a:srgbClr>
                  </a:outerShdw>
                </a:effectLst>
                <a:latin typeface="Calibri"/>
                <a:cs typeface="Calibri"/>
              </a:rPr>
              <a:t>of</a:t>
            </a:r>
            <a:r>
              <a:rPr sz="2000" i="1" spc="5" dirty="0">
                <a:solidFill>
                  <a:srgbClr val="7030A0"/>
                </a:solidFill>
                <a:effectLst>
                  <a:outerShdw blurRad="38100" dist="38100" dir="2700000" algn="tl">
                    <a:srgbClr val="000000">
                      <a:alpha val="43137"/>
                    </a:srgbClr>
                  </a:outerShdw>
                </a:effectLst>
                <a:latin typeface="Calibri"/>
                <a:cs typeface="Calibri"/>
              </a:rPr>
              <a:t> </a:t>
            </a:r>
            <a:r>
              <a:rPr sz="2000" i="1" spc="-5" dirty="0">
                <a:solidFill>
                  <a:srgbClr val="7030A0"/>
                </a:solidFill>
                <a:effectLst>
                  <a:outerShdw blurRad="38100" dist="38100" dir="2700000" algn="tl">
                    <a:srgbClr val="000000">
                      <a:alpha val="43137"/>
                    </a:srgbClr>
                  </a:outerShdw>
                </a:effectLst>
                <a:latin typeface="Calibri"/>
                <a:cs typeface="Calibri"/>
              </a:rPr>
              <a:t>use </a:t>
            </a:r>
            <a:r>
              <a:rPr sz="2000" spc="-30" dirty="0">
                <a:solidFill>
                  <a:srgbClr val="7030A0"/>
                </a:solidFill>
                <a:effectLst>
                  <a:outerShdw blurRad="38100" dist="38100" dir="2700000" algn="tl">
                    <a:srgbClr val="000000">
                      <a:alpha val="43137"/>
                    </a:srgbClr>
                  </a:outerShdw>
                </a:effectLst>
                <a:latin typeface="Calibri"/>
                <a:cs typeface="Calibri"/>
              </a:rPr>
              <a:t>refers</a:t>
            </a:r>
            <a:r>
              <a:rPr sz="2000" spc="-20" dirty="0">
                <a:solidFill>
                  <a:srgbClr val="7030A0"/>
                </a:solidFill>
                <a:effectLst>
                  <a:outerShdw blurRad="38100" dist="38100" dir="2700000" algn="tl">
                    <a:srgbClr val="000000">
                      <a:alpha val="43137"/>
                    </a:srgbClr>
                  </a:outerShdw>
                </a:effectLst>
                <a:latin typeface="Calibri"/>
                <a:cs typeface="Calibri"/>
              </a:rPr>
              <a:t> </a:t>
            </a:r>
            <a:r>
              <a:rPr sz="2000" spc="-15" dirty="0">
                <a:solidFill>
                  <a:srgbClr val="7030A0"/>
                </a:solidFill>
                <a:effectLst>
                  <a:outerShdw blurRad="38100" dist="38100" dir="2700000" algn="tl">
                    <a:srgbClr val="000000">
                      <a:alpha val="43137"/>
                    </a:srgbClr>
                  </a:outerShdw>
                </a:effectLst>
                <a:latin typeface="Calibri"/>
                <a:cs typeface="Calibri"/>
              </a:rPr>
              <a:t>to</a:t>
            </a:r>
            <a:r>
              <a:rPr sz="2000" spc="5" dirty="0">
                <a:solidFill>
                  <a:srgbClr val="7030A0"/>
                </a:solidFill>
                <a:effectLst>
                  <a:outerShdw blurRad="38100" dist="38100" dir="2700000" algn="tl">
                    <a:srgbClr val="000000">
                      <a:alpha val="43137"/>
                    </a:srgbClr>
                  </a:outerShdw>
                </a:effectLst>
                <a:latin typeface="Calibri"/>
                <a:cs typeface="Calibri"/>
              </a:rPr>
              <a:t> </a:t>
            </a:r>
            <a:r>
              <a:rPr sz="2000" dirty="0">
                <a:solidFill>
                  <a:srgbClr val="7030A0"/>
                </a:solidFill>
                <a:effectLst>
                  <a:outerShdw blurRad="38100" dist="38100" dir="2700000" algn="tl">
                    <a:srgbClr val="000000">
                      <a:alpha val="43137"/>
                    </a:srgbClr>
                  </a:outerShdw>
                </a:effectLst>
                <a:latin typeface="Calibri"/>
                <a:cs typeface="Calibri"/>
              </a:rPr>
              <a:t>the</a:t>
            </a:r>
            <a:r>
              <a:rPr sz="2000" spc="5" dirty="0">
                <a:solidFill>
                  <a:srgbClr val="7030A0"/>
                </a:solidFill>
                <a:effectLst>
                  <a:outerShdw blurRad="38100" dist="38100" dir="2700000" algn="tl">
                    <a:srgbClr val="000000">
                      <a:alpha val="43137"/>
                    </a:srgbClr>
                  </a:outerShdw>
                </a:effectLst>
                <a:latin typeface="Calibri"/>
                <a:cs typeface="Calibri"/>
              </a:rPr>
              <a:t> </a:t>
            </a:r>
            <a:r>
              <a:rPr sz="2000" spc="-5" dirty="0">
                <a:solidFill>
                  <a:srgbClr val="7030A0"/>
                </a:solidFill>
                <a:effectLst>
                  <a:outerShdw blurRad="38100" dist="38100" dir="2700000" algn="tl">
                    <a:srgbClr val="000000">
                      <a:alpha val="43137"/>
                    </a:srgbClr>
                  </a:outerShdw>
                </a:effectLst>
                <a:latin typeface="Calibri"/>
                <a:cs typeface="Calibri"/>
              </a:rPr>
              <a:t>smart design</a:t>
            </a:r>
            <a:r>
              <a:rPr sz="2000" spc="-15" dirty="0">
                <a:solidFill>
                  <a:srgbClr val="7030A0"/>
                </a:solidFill>
                <a:effectLst>
                  <a:outerShdw blurRad="38100" dist="38100" dir="2700000" algn="tl">
                    <a:srgbClr val="000000">
                      <a:alpha val="43137"/>
                    </a:srgbClr>
                  </a:outerShdw>
                </a:effectLst>
                <a:latin typeface="Calibri"/>
                <a:cs typeface="Calibri"/>
              </a:rPr>
              <a:t> </a:t>
            </a:r>
            <a:r>
              <a:rPr sz="2000" dirty="0">
                <a:solidFill>
                  <a:srgbClr val="7030A0"/>
                </a:solidFill>
                <a:effectLst>
                  <a:outerShdw blurRad="38100" dist="38100" dir="2700000" algn="tl">
                    <a:srgbClr val="000000">
                      <a:alpha val="43137"/>
                    </a:srgbClr>
                  </a:outerShdw>
                </a:effectLst>
                <a:latin typeface="Calibri"/>
                <a:cs typeface="Calibri"/>
              </a:rPr>
              <a:t>and</a:t>
            </a:r>
            <a:r>
              <a:rPr sz="2000" spc="5" dirty="0">
                <a:solidFill>
                  <a:srgbClr val="7030A0"/>
                </a:solidFill>
                <a:effectLst>
                  <a:outerShdw blurRad="38100" dist="38100" dir="2700000" algn="tl">
                    <a:srgbClr val="000000">
                      <a:alpha val="43137"/>
                    </a:srgbClr>
                  </a:outerShdw>
                </a:effectLst>
                <a:latin typeface="Calibri"/>
                <a:cs typeface="Calibri"/>
              </a:rPr>
              <a:t> </a:t>
            </a:r>
            <a:r>
              <a:rPr sz="2000" spc="-5" dirty="0">
                <a:solidFill>
                  <a:srgbClr val="7030A0"/>
                </a:solidFill>
                <a:effectLst>
                  <a:outerShdw blurRad="38100" dist="38100" dir="2700000" algn="tl">
                    <a:srgbClr val="000000">
                      <a:alpha val="43137"/>
                    </a:srgbClr>
                  </a:outerShdw>
                </a:effectLst>
                <a:latin typeface="Calibri"/>
                <a:cs typeface="Calibri"/>
              </a:rPr>
              <a:t>employment</a:t>
            </a:r>
            <a:r>
              <a:rPr sz="2000" spc="-15" dirty="0">
                <a:solidFill>
                  <a:srgbClr val="7030A0"/>
                </a:solidFill>
                <a:effectLst>
                  <a:outerShdw blurRad="38100" dist="38100" dir="2700000" algn="tl">
                    <a:srgbClr val="000000">
                      <a:alpha val="43137"/>
                    </a:srgbClr>
                  </a:outerShdw>
                </a:effectLst>
                <a:latin typeface="Calibri"/>
                <a:cs typeface="Calibri"/>
              </a:rPr>
              <a:t> </a:t>
            </a:r>
            <a:r>
              <a:rPr sz="2000" spc="-5" dirty="0">
                <a:solidFill>
                  <a:srgbClr val="7030A0"/>
                </a:solidFill>
                <a:effectLst>
                  <a:outerShdw blurRad="38100" dist="38100" dir="2700000" algn="tl">
                    <a:srgbClr val="000000">
                      <a:alpha val="43137"/>
                    </a:srgbClr>
                  </a:outerShdw>
                </a:effectLst>
                <a:latin typeface="Calibri"/>
                <a:cs typeface="Calibri"/>
              </a:rPr>
              <a:t>of</a:t>
            </a:r>
            <a:r>
              <a:rPr sz="2000" spc="5" dirty="0">
                <a:solidFill>
                  <a:srgbClr val="7030A0"/>
                </a:solidFill>
                <a:effectLst>
                  <a:outerShdw blurRad="38100" dist="38100" dir="2700000" algn="tl">
                    <a:srgbClr val="000000">
                      <a:alpha val="43137"/>
                    </a:srgbClr>
                  </a:outerShdw>
                </a:effectLst>
                <a:latin typeface="Calibri"/>
                <a:cs typeface="Calibri"/>
              </a:rPr>
              <a:t> </a:t>
            </a:r>
            <a:r>
              <a:rPr sz="2000" spc="-15" dirty="0">
                <a:solidFill>
                  <a:srgbClr val="7030A0"/>
                </a:solidFill>
                <a:effectLst>
                  <a:outerShdw blurRad="38100" dist="38100" dir="2700000" algn="tl">
                    <a:srgbClr val="000000">
                      <a:alpha val="43137"/>
                    </a:srgbClr>
                  </a:outerShdw>
                </a:effectLst>
                <a:latin typeface="Calibri"/>
                <a:cs typeface="Calibri"/>
              </a:rPr>
              <a:t>controls </a:t>
            </a:r>
            <a:r>
              <a:rPr sz="2000" spc="-10" dirty="0">
                <a:solidFill>
                  <a:srgbClr val="7030A0"/>
                </a:solidFill>
                <a:effectLst>
                  <a:outerShdw blurRad="38100" dist="38100" dir="2700000" algn="tl">
                    <a:srgbClr val="000000">
                      <a:alpha val="43137"/>
                    </a:srgbClr>
                  </a:outerShdw>
                </a:effectLst>
                <a:latin typeface="Calibri"/>
                <a:cs typeface="Calibri"/>
              </a:rPr>
              <a:t> </a:t>
            </a:r>
            <a:r>
              <a:rPr sz="2000" spc="-5" dirty="0">
                <a:solidFill>
                  <a:srgbClr val="7030A0"/>
                </a:solidFill>
                <a:effectLst>
                  <a:outerShdw blurRad="38100" dist="38100" dir="2700000" algn="tl">
                    <a:srgbClr val="000000">
                      <a:alpha val="43137"/>
                    </a:srgbClr>
                  </a:outerShdw>
                </a:effectLst>
                <a:latin typeface="Calibri"/>
                <a:cs typeface="Calibri"/>
              </a:rPr>
              <a:t>such that </a:t>
            </a:r>
            <a:r>
              <a:rPr sz="2000" dirty="0">
                <a:solidFill>
                  <a:srgbClr val="7030A0"/>
                </a:solidFill>
                <a:effectLst>
                  <a:outerShdw blurRad="38100" dist="38100" dir="2700000" algn="tl">
                    <a:srgbClr val="000000">
                      <a:alpha val="43137"/>
                    </a:srgbClr>
                  </a:outerShdw>
                </a:effectLst>
                <a:latin typeface="Calibri"/>
                <a:cs typeface="Calibri"/>
              </a:rPr>
              <a:t>they </a:t>
            </a:r>
            <a:r>
              <a:rPr sz="2000" spc="-10" dirty="0">
                <a:solidFill>
                  <a:srgbClr val="7030A0"/>
                </a:solidFill>
                <a:effectLst>
                  <a:outerShdw blurRad="38100" dist="38100" dir="2700000" algn="tl">
                    <a:srgbClr val="000000">
                      <a:alpha val="43137"/>
                    </a:srgbClr>
                  </a:outerShdw>
                </a:effectLst>
                <a:latin typeface="Calibri"/>
                <a:cs typeface="Calibri"/>
              </a:rPr>
              <a:t>can </a:t>
            </a:r>
            <a:r>
              <a:rPr sz="2000" spc="-5" dirty="0">
                <a:solidFill>
                  <a:srgbClr val="7030A0"/>
                </a:solidFill>
                <a:effectLst>
                  <a:outerShdw blurRad="38100" dist="38100" dir="2700000" algn="tl">
                    <a:srgbClr val="000000">
                      <a:alpha val="43137"/>
                    </a:srgbClr>
                  </a:outerShdw>
                </a:effectLst>
                <a:latin typeface="Calibri"/>
                <a:cs typeface="Calibri"/>
              </a:rPr>
              <a:t>be used </a:t>
            </a:r>
            <a:r>
              <a:rPr sz="2000" spc="-15" dirty="0">
                <a:solidFill>
                  <a:srgbClr val="7030A0"/>
                </a:solidFill>
                <a:effectLst>
                  <a:outerShdw blurRad="38100" dist="38100" dir="2700000" algn="tl">
                    <a:srgbClr val="000000">
                      <a:alpha val="43137"/>
                    </a:srgbClr>
                  </a:outerShdw>
                </a:effectLst>
                <a:latin typeface="Calibri"/>
                <a:cs typeface="Calibri"/>
              </a:rPr>
              <a:t>to </a:t>
            </a:r>
            <a:r>
              <a:rPr sz="2000" spc="-10" dirty="0">
                <a:solidFill>
                  <a:srgbClr val="7030A0"/>
                </a:solidFill>
                <a:effectLst>
                  <a:outerShdw blurRad="38100" dist="38100" dir="2700000" algn="tl">
                    <a:srgbClr val="000000">
                      <a:alpha val="43137"/>
                    </a:srgbClr>
                  </a:outerShdw>
                </a:effectLst>
                <a:latin typeface="Calibri"/>
                <a:cs typeface="Calibri"/>
              </a:rPr>
              <a:t>protect </a:t>
            </a:r>
            <a:r>
              <a:rPr sz="2000" dirty="0">
                <a:solidFill>
                  <a:srgbClr val="7030A0"/>
                </a:solidFill>
                <a:effectLst>
                  <a:outerShdw blurRad="38100" dist="38100" dir="2700000" algn="tl">
                    <a:srgbClr val="000000">
                      <a:alpha val="43137"/>
                    </a:srgbClr>
                  </a:outerShdw>
                </a:effectLst>
                <a:latin typeface="Calibri"/>
                <a:cs typeface="Calibri"/>
              </a:rPr>
              <a:t>multiple assets </a:t>
            </a:r>
            <a:r>
              <a:rPr sz="2000" spc="-15" dirty="0">
                <a:solidFill>
                  <a:srgbClr val="7030A0"/>
                </a:solidFill>
                <a:effectLst>
                  <a:outerShdw blurRad="38100" dist="38100" dir="2700000" algn="tl">
                    <a:srgbClr val="000000">
                      <a:alpha val="43137"/>
                    </a:srgbClr>
                  </a:outerShdw>
                </a:effectLst>
                <a:latin typeface="Calibri"/>
                <a:cs typeface="Calibri"/>
              </a:rPr>
              <a:t>at </a:t>
            </a:r>
            <a:r>
              <a:rPr sz="2000" spc="-5" dirty="0">
                <a:solidFill>
                  <a:srgbClr val="7030A0"/>
                </a:solidFill>
                <a:effectLst>
                  <a:outerShdw blurRad="38100" dist="38100" dir="2700000" algn="tl">
                    <a:srgbClr val="000000">
                      <a:alpha val="43137"/>
                    </a:srgbClr>
                  </a:outerShdw>
                </a:effectLst>
                <a:latin typeface="Calibri"/>
                <a:cs typeface="Calibri"/>
              </a:rPr>
              <a:t>once or </a:t>
            </a:r>
            <a:r>
              <a:rPr sz="2000" spc="-10" dirty="0">
                <a:solidFill>
                  <a:srgbClr val="7030A0"/>
                </a:solidFill>
                <a:effectLst>
                  <a:outerShdw blurRad="38100" dist="38100" dir="2700000" algn="tl">
                    <a:srgbClr val="000000">
                      <a:alpha val="43137"/>
                    </a:srgbClr>
                  </a:outerShdw>
                </a:effectLst>
                <a:latin typeface="Calibri"/>
                <a:cs typeface="Calibri"/>
              </a:rPr>
              <a:t>provide </a:t>
            </a:r>
            <a:r>
              <a:rPr sz="2000" spc="-575" dirty="0">
                <a:solidFill>
                  <a:srgbClr val="7030A0"/>
                </a:solidFill>
                <a:effectLst>
                  <a:outerShdw blurRad="38100" dist="38100" dir="2700000" algn="tl">
                    <a:srgbClr val="000000">
                      <a:alpha val="43137"/>
                    </a:srgbClr>
                  </a:outerShdw>
                </a:effectLst>
                <a:latin typeface="Calibri"/>
                <a:cs typeface="Calibri"/>
              </a:rPr>
              <a:t> </a:t>
            </a:r>
            <a:r>
              <a:rPr sz="2000" dirty="0">
                <a:solidFill>
                  <a:srgbClr val="7030A0"/>
                </a:solidFill>
                <a:effectLst>
                  <a:outerShdw blurRad="38100" dist="38100" dir="2700000" algn="tl">
                    <a:srgbClr val="000000">
                      <a:alpha val="43137"/>
                    </a:srgbClr>
                  </a:outerShdw>
                </a:effectLst>
                <a:latin typeface="Calibri"/>
                <a:cs typeface="Calibri"/>
              </a:rPr>
              <a:t>multiple</a:t>
            </a:r>
            <a:r>
              <a:rPr sz="2000" spc="-35" dirty="0">
                <a:solidFill>
                  <a:srgbClr val="7030A0"/>
                </a:solidFill>
                <a:effectLst>
                  <a:outerShdw blurRad="38100" dist="38100" dir="2700000" algn="tl">
                    <a:srgbClr val="000000">
                      <a:alpha val="43137"/>
                    </a:srgbClr>
                  </a:outerShdw>
                </a:effectLst>
                <a:latin typeface="Calibri"/>
                <a:cs typeface="Calibri"/>
              </a:rPr>
              <a:t> </a:t>
            </a:r>
            <a:r>
              <a:rPr sz="2000" spc="-5" dirty="0">
                <a:solidFill>
                  <a:srgbClr val="7030A0"/>
                </a:solidFill>
                <a:effectLst>
                  <a:outerShdw blurRad="38100" dist="38100" dir="2700000" algn="tl">
                    <a:srgbClr val="000000">
                      <a:alpha val="43137"/>
                    </a:srgbClr>
                  </a:outerShdw>
                </a:effectLst>
                <a:latin typeface="Calibri"/>
                <a:cs typeface="Calibri"/>
              </a:rPr>
              <a:t>security</a:t>
            </a:r>
            <a:r>
              <a:rPr sz="2000" spc="-25" dirty="0">
                <a:solidFill>
                  <a:srgbClr val="7030A0"/>
                </a:solidFill>
                <a:effectLst>
                  <a:outerShdw blurRad="38100" dist="38100" dir="2700000" algn="tl">
                    <a:srgbClr val="000000">
                      <a:alpha val="43137"/>
                    </a:srgbClr>
                  </a:outerShdw>
                </a:effectLst>
                <a:latin typeface="Calibri"/>
                <a:cs typeface="Calibri"/>
              </a:rPr>
              <a:t> </a:t>
            </a:r>
            <a:r>
              <a:rPr sz="2000" spc="-5" dirty="0">
                <a:solidFill>
                  <a:srgbClr val="7030A0"/>
                </a:solidFill>
                <a:effectLst>
                  <a:outerShdw blurRad="38100" dist="38100" dir="2700000" algn="tl">
                    <a:srgbClr val="000000">
                      <a:alpha val="43137"/>
                    </a:srgbClr>
                  </a:outerShdw>
                </a:effectLst>
                <a:latin typeface="Calibri"/>
                <a:cs typeface="Calibri"/>
              </a:rPr>
              <a:t>functions.</a:t>
            </a:r>
            <a:endParaRPr sz="2000" dirty="0">
              <a:solidFill>
                <a:srgbClr val="7030A0"/>
              </a:solidFill>
              <a:effectLst>
                <a:outerShdw blurRad="38100" dist="38100" dir="2700000" algn="tl">
                  <a:srgbClr val="000000">
                    <a:alpha val="43137"/>
                  </a:srgbClr>
                </a:outerShdw>
              </a:effectLst>
              <a:latin typeface="Calibri"/>
              <a:cs typeface="Calibri"/>
            </a:endParaRPr>
          </a:p>
          <a:p>
            <a:pPr marL="354965" marR="11938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Controls that are used to protect only one single asset, or are single  function, tend to be not as useful because additional controls that provide  other functions and protect other assets are required.</a:t>
            </a:r>
          </a:p>
          <a:p>
            <a:pPr marL="354965" marR="508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Likewise, controls that are highly specialized in terms of function or level of  protection tend to be more expensive, require more training, and may  require more personnel or hours to manage and maintain</a:t>
            </a:r>
          </a:p>
          <a:p>
            <a:pPr marL="354965" marR="373380" indent="-34290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To achieve economy of use, you should examine different aspects of the  architecture, data sensitivity and protection requirements, and common  protection requirements of assets.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12800" y="554893"/>
            <a:ext cx="8386763" cy="69691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30" dirty="0">
                <a:solidFill>
                  <a:srgbClr val="074891"/>
                </a:solidFill>
                <a:uFill>
                  <a:solidFill>
                    <a:srgbClr val="000000"/>
                  </a:solidFill>
                </a:uFill>
                <a:latin typeface="Calibri Light"/>
                <a:cs typeface="Calibri Light"/>
              </a:rPr>
              <a:t>Meets</a:t>
            </a:r>
            <a:r>
              <a:rPr sz="4400" u="sng" spc="-110" dirty="0">
                <a:solidFill>
                  <a:srgbClr val="074891"/>
                </a:solidFill>
                <a:uFill>
                  <a:solidFill>
                    <a:srgbClr val="000000"/>
                  </a:solidFill>
                </a:uFill>
                <a:latin typeface="Calibri Light"/>
                <a:cs typeface="Calibri Light"/>
              </a:rPr>
              <a:t> </a:t>
            </a:r>
            <a:r>
              <a:rPr sz="4400" u="sng" spc="-35" dirty="0">
                <a:solidFill>
                  <a:srgbClr val="074891"/>
                </a:solidFill>
                <a:uFill>
                  <a:solidFill>
                    <a:srgbClr val="000000"/>
                  </a:solidFill>
                </a:uFill>
                <a:latin typeface="Calibri Light"/>
                <a:cs typeface="Calibri Light"/>
              </a:rPr>
              <a:t>Defined</a:t>
            </a:r>
            <a:r>
              <a:rPr sz="4400" u="sng" spc="-130" dirty="0">
                <a:solidFill>
                  <a:srgbClr val="074891"/>
                </a:solidFill>
                <a:uFill>
                  <a:solidFill>
                    <a:srgbClr val="000000"/>
                  </a:solidFill>
                </a:uFill>
                <a:latin typeface="Calibri Light"/>
                <a:cs typeface="Calibri Light"/>
              </a:rPr>
              <a:t> </a:t>
            </a:r>
            <a:r>
              <a:rPr sz="4400" u="sng" spc="-50" dirty="0">
                <a:solidFill>
                  <a:srgbClr val="074891"/>
                </a:solidFill>
                <a:uFill>
                  <a:solidFill>
                    <a:srgbClr val="000000"/>
                  </a:solidFill>
                </a:uFill>
                <a:latin typeface="Calibri Light"/>
                <a:cs typeface="Calibri Light"/>
              </a:rPr>
              <a:t>Requirements</a:t>
            </a:r>
            <a:r>
              <a:rPr sz="4400" spc="-50"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1794900" y="1824755"/>
            <a:ext cx="7404663" cy="1871025"/>
          </a:xfrm>
          <a:prstGeom prst="rect">
            <a:avLst/>
          </a:prstGeom>
        </p:spPr>
        <p:txBody>
          <a:bodyPr vert="horz" wrap="square" lIns="0" tIns="54610" rIns="0" bIns="0" rtlCol="0">
            <a:spAutoFit/>
          </a:bodyPr>
          <a:lstStyle/>
          <a:p>
            <a:pPr marL="354965" marR="753745"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In any event, if the control is not meeting the asset’s protection  requirements, either the control (or its implementation) or the  requirements are at fault.</a:t>
            </a:r>
          </a:p>
          <a:p>
            <a:pPr marL="354965" marR="508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This is why it’s so vitally important for the organization to implement  a solid SDLC and ISSE process, as well as to put careful consideration  into the selection of controls, including their design and  implementation.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90954" y="604471"/>
            <a:ext cx="8388350" cy="69691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50" dirty="0">
                <a:solidFill>
                  <a:srgbClr val="074891"/>
                </a:solidFill>
                <a:uFill>
                  <a:solidFill>
                    <a:srgbClr val="000000"/>
                  </a:solidFill>
                </a:uFill>
                <a:latin typeface="Calibri Light"/>
                <a:cs typeface="Calibri Light"/>
              </a:rPr>
              <a:t>Control</a:t>
            </a:r>
            <a:r>
              <a:rPr sz="4400" u="sng" spc="-90" dirty="0">
                <a:solidFill>
                  <a:srgbClr val="074891"/>
                </a:solidFill>
                <a:uFill>
                  <a:solidFill>
                    <a:srgbClr val="000000"/>
                  </a:solidFill>
                </a:uFill>
                <a:latin typeface="Calibri Light"/>
                <a:cs typeface="Calibri Light"/>
              </a:rPr>
              <a:t> </a:t>
            </a:r>
            <a:r>
              <a:rPr sz="4400" u="sng" spc="-50" dirty="0">
                <a:solidFill>
                  <a:srgbClr val="074891"/>
                </a:solidFill>
                <a:uFill>
                  <a:solidFill>
                    <a:srgbClr val="000000"/>
                  </a:solidFill>
                </a:uFill>
                <a:latin typeface="Calibri Light"/>
                <a:cs typeface="Calibri Light"/>
              </a:rPr>
              <a:t>Redundancy</a:t>
            </a:r>
            <a:r>
              <a:rPr sz="4400" spc="-50"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1917310" y="1627623"/>
            <a:ext cx="7242321" cy="2855910"/>
          </a:xfrm>
          <a:prstGeom prst="rect">
            <a:avLst/>
          </a:prstGeom>
        </p:spPr>
        <p:txBody>
          <a:bodyPr vert="horz" wrap="square" lIns="0" tIns="54610" rIns="0" bIns="0" rtlCol="0">
            <a:spAutoFit/>
          </a:bodyPr>
          <a:lstStyle/>
          <a:p>
            <a:pPr marL="354965" marR="210820" indent="-34290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Defense in depth principle actually encourages multiple, redundant  controls, implemented at different levels of the infrastructure or at  various points in the system or data processing cycle to provide  sustained protection.</a:t>
            </a:r>
          </a:p>
          <a:p>
            <a:pPr marL="354965" marR="508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Control redundancy should be looked at to provide effective  protection for an asset but still should be balanced with good design  principles.</a:t>
            </a:r>
          </a:p>
          <a:p>
            <a:pPr marL="354965" marR="508634"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Redundant controls that cover many systems at once and several  different types of data, or even serve different security functions  simultaneously, should be looked at and implemented.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53477" y="398585"/>
            <a:ext cx="8386763" cy="69691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30" dirty="0">
                <a:solidFill>
                  <a:srgbClr val="074891"/>
                </a:solidFill>
                <a:uFill>
                  <a:solidFill>
                    <a:srgbClr val="000000"/>
                  </a:solidFill>
                </a:uFill>
                <a:latin typeface="Calibri Light"/>
                <a:cs typeface="Calibri Light"/>
              </a:rPr>
              <a:t>Selecting</a:t>
            </a:r>
            <a:r>
              <a:rPr sz="4400" u="sng" spc="-105" dirty="0">
                <a:solidFill>
                  <a:srgbClr val="074891"/>
                </a:solidFill>
                <a:uFill>
                  <a:solidFill>
                    <a:srgbClr val="000000"/>
                  </a:solidFill>
                </a:uFill>
                <a:latin typeface="Calibri Light"/>
                <a:cs typeface="Calibri Light"/>
              </a:rPr>
              <a:t> </a:t>
            </a:r>
            <a:r>
              <a:rPr sz="4400" u="sng" spc="-15" dirty="0">
                <a:solidFill>
                  <a:srgbClr val="074891"/>
                </a:solidFill>
                <a:uFill>
                  <a:solidFill>
                    <a:srgbClr val="000000"/>
                  </a:solidFill>
                </a:uFill>
                <a:latin typeface="Calibri Light"/>
                <a:cs typeface="Calibri Light"/>
              </a:rPr>
              <a:t>the</a:t>
            </a:r>
            <a:r>
              <a:rPr sz="4400" u="sng" spc="-85" dirty="0">
                <a:solidFill>
                  <a:srgbClr val="074891"/>
                </a:solidFill>
                <a:uFill>
                  <a:solidFill>
                    <a:srgbClr val="000000"/>
                  </a:solidFill>
                </a:uFill>
                <a:latin typeface="Calibri Light"/>
                <a:cs typeface="Calibri Light"/>
              </a:rPr>
              <a:t> </a:t>
            </a:r>
            <a:r>
              <a:rPr sz="4400" u="sng" spc="-50" dirty="0">
                <a:solidFill>
                  <a:srgbClr val="074891"/>
                </a:solidFill>
                <a:uFill>
                  <a:solidFill>
                    <a:srgbClr val="000000"/>
                  </a:solidFill>
                </a:uFill>
                <a:latin typeface="Calibri Light"/>
                <a:cs typeface="Calibri Light"/>
              </a:rPr>
              <a:t>Control</a:t>
            </a:r>
            <a:r>
              <a:rPr sz="4400" u="sng" spc="-85" dirty="0">
                <a:solidFill>
                  <a:srgbClr val="074891"/>
                </a:solidFill>
                <a:uFill>
                  <a:solidFill>
                    <a:srgbClr val="000000"/>
                  </a:solidFill>
                </a:uFill>
                <a:latin typeface="Calibri Light"/>
                <a:cs typeface="Calibri Light"/>
              </a:rPr>
              <a:t> </a:t>
            </a:r>
            <a:r>
              <a:rPr sz="4400" u="sng" spc="-25" dirty="0">
                <a:solidFill>
                  <a:srgbClr val="074891"/>
                </a:solidFill>
                <a:uFill>
                  <a:solidFill>
                    <a:srgbClr val="000000"/>
                  </a:solidFill>
                </a:uFill>
                <a:latin typeface="Calibri Light"/>
                <a:cs typeface="Calibri Light"/>
              </a:rPr>
              <a:t>Baseline</a:t>
            </a:r>
            <a:r>
              <a:rPr sz="4400" spc="-25"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2120508" y="1246415"/>
            <a:ext cx="5788661" cy="3416320"/>
          </a:xfrm>
          <a:prstGeom prst="rect">
            <a:avLst/>
          </a:prstGeom>
        </p:spPr>
        <p:txBody>
          <a:bodyPr vert="horz" wrap="square" lIns="0" tIns="60960" rIns="0" bIns="0" rtlCol="0">
            <a:spAutoFit/>
          </a:bodyPr>
          <a:lstStyle/>
          <a:p>
            <a:pPr marL="354965" marR="835025" indent="-34290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A baseline is a selected set of controls that apply to a particular  security categorization</a:t>
            </a:r>
          </a:p>
          <a:p>
            <a:pPr marL="354965" marR="508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NIST defines three security baselines: </a:t>
            </a:r>
            <a:r>
              <a:rPr dirty="0">
                <a:solidFill>
                  <a:srgbClr val="0070C0"/>
                </a:solidFill>
                <a:latin typeface="Berlin Sans FB" panose="020E0602020502020306" pitchFamily="34" charset="0"/>
              </a:rPr>
              <a:t>High, Moderate, and Low</a:t>
            </a:r>
            <a:r>
              <a:rPr dirty="0">
                <a:solidFill>
                  <a:srgbClr val="002060"/>
                </a:solidFill>
                <a:latin typeface="Berlin Sans FB" panose="020E0602020502020306" pitchFamily="34" charset="0"/>
              </a:rPr>
              <a:t>. Each  baseline, starting with Low, offers a certain level of protection for the  data type in question. With progressively higher baselines, more  controls are added, or the depth of those controls is increased,  providing more protection.</a:t>
            </a:r>
          </a:p>
          <a:p>
            <a:pPr marL="354965" marR="11430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organizations aren’t strictly tied to these security baselines; they are  tailorable by the organization, based upon its unique security  requirements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031631" y="539262"/>
            <a:ext cx="8386763" cy="696913"/>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40" dirty="0">
                <a:solidFill>
                  <a:srgbClr val="074891"/>
                </a:solidFill>
                <a:uFill>
                  <a:solidFill>
                    <a:srgbClr val="000000"/>
                  </a:solidFill>
                </a:uFill>
                <a:latin typeface="Calibri Light"/>
                <a:cs typeface="Calibri Light"/>
              </a:rPr>
              <a:t>Implementing</a:t>
            </a:r>
            <a:r>
              <a:rPr sz="4400" u="sng" spc="-125" dirty="0">
                <a:solidFill>
                  <a:srgbClr val="074891"/>
                </a:solidFill>
                <a:uFill>
                  <a:solidFill>
                    <a:srgbClr val="000000"/>
                  </a:solidFill>
                </a:uFill>
                <a:latin typeface="Calibri Light"/>
                <a:cs typeface="Calibri Light"/>
              </a:rPr>
              <a:t> </a:t>
            </a:r>
            <a:r>
              <a:rPr sz="4400" u="sng" spc="-45" dirty="0">
                <a:solidFill>
                  <a:srgbClr val="074891"/>
                </a:solidFill>
                <a:uFill>
                  <a:solidFill>
                    <a:srgbClr val="000000"/>
                  </a:solidFill>
                </a:uFill>
                <a:latin typeface="Calibri Light"/>
                <a:cs typeface="Calibri Light"/>
              </a:rPr>
              <a:t>Controls</a:t>
            </a:r>
            <a:r>
              <a:rPr sz="4400" spc="-45"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1978097" y="1559032"/>
            <a:ext cx="6149904" cy="3016210"/>
          </a:xfrm>
          <a:prstGeom prst="rect">
            <a:avLst/>
          </a:prstGeom>
        </p:spPr>
        <p:txBody>
          <a:bodyPr vert="horz" wrap="square" lIns="0" tIns="60960" rIns="0" bIns="0" rtlCol="0">
            <a:spAutoFit/>
          </a:bodyPr>
          <a:lstStyle/>
          <a:p>
            <a:pPr marL="354965" marR="6604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Implementation of controls simply means that once the controls have  been approved and resourced by management, they are put in place.</a:t>
            </a:r>
          </a:p>
          <a:p>
            <a:pPr marL="812165" marR="210185" lvl="2" indent="-342900">
              <a:spcBef>
                <a:spcPts val="600"/>
              </a:spcBef>
              <a:spcAft>
                <a:spcPts val="600"/>
              </a:spcAft>
              <a:buFont typeface="Courier New" panose="02070309020205020404" pitchFamily="49" charset="0"/>
              <a:buChar char="o"/>
              <a:tabLst>
                <a:tab pos="241935" algn="l"/>
              </a:tabLst>
            </a:pPr>
            <a:r>
              <a:rPr dirty="0">
                <a:solidFill>
                  <a:srgbClr val="002060"/>
                </a:solidFill>
                <a:latin typeface="Berlin Sans FB" panose="020E0602020502020306" pitchFamily="34" charset="0"/>
              </a:rPr>
              <a:t>Often this means installing technical solutions (software, equipment, or new  configurations)</a:t>
            </a:r>
          </a:p>
          <a:p>
            <a:pPr marL="812165" marR="17145" lvl="2" indent="-342900">
              <a:spcBef>
                <a:spcPts val="600"/>
              </a:spcBef>
              <a:spcAft>
                <a:spcPts val="600"/>
              </a:spcAft>
              <a:buFont typeface="Courier New" panose="02070309020205020404" pitchFamily="49" charset="0"/>
              <a:buChar char="o"/>
              <a:tabLst>
                <a:tab pos="241935" algn="l"/>
              </a:tabLst>
            </a:pPr>
            <a:r>
              <a:rPr dirty="0">
                <a:solidFill>
                  <a:srgbClr val="002060"/>
                </a:solidFill>
                <a:latin typeface="Berlin Sans FB" panose="020E0602020502020306" pitchFamily="34" charset="0"/>
              </a:rPr>
              <a:t>it also may mean creating and implementing policies and other administrative  controls.</a:t>
            </a:r>
          </a:p>
          <a:p>
            <a:pPr marL="812165" marR="5080" lvl="2" indent="-342900">
              <a:spcBef>
                <a:spcPts val="600"/>
              </a:spcBef>
              <a:spcAft>
                <a:spcPts val="600"/>
              </a:spcAft>
              <a:buFont typeface="Courier New" panose="02070309020205020404" pitchFamily="49" charset="0"/>
              <a:buChar char="o"/>
              <a:tabLst>
                <a:tab pos="241935" algn="l"/>
              </a:tabLst>
            </a:pPr>
            <a:r>
              <a:rPr dirty="0">
                <a:solidFill>
                  <a:srgbClr val="002060"/>
                </a:solidFill>
                <a:latin typeface="Berlin Sans FB" panose="020E0602020502020306" pitchFamily="34" charset="0"/>
              </a:rPr>
              <a:t>It also may mean installing physical controls or implementing new or modified  processes.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61293" y="834292"/>
            <a:ext cx="8802688" cy="628650"/>
          </a:xfrm>
          <a:prstGeom prst="rect">
            <a:avLst/>
          </a:prstGeom>
        </p:spPr>
        <p:txBody>
          <a:bodyPr vert="horz" wrap="square" lIns="0" tIns="13335" rIns="0" bIns="0" rtlCol="0">
            <a:spAutoFit/>
          </a:bodyPr>
          <a:lstStyle/>
          <a:p>
            <a:pPr marL="12700">
              <a:lnSpc>
                <a:spcPct val="100000"/>
              </a:lnSpc>
              <a:spcBef>
                <a:spcPts val="105"/>
              </a:spcBef>
            </a:pPr>
            <a:r>
              <a:rPr sz="4000" u="sng" spc="-50" dirty="0">
                <a:solidFill>
                  <a:srgbClr val="074891"/>
                </a:solidFill>
                <a:uFill>
                  <a:solidFill>
                    <a:srgbClr val="000000"/>
                  </a:solidFill>
                </a:uFill>
                <a:latin typeface="Calibri Light"/>
                <a:cs typeface="Calibri Light"/>
              </a:rPr>
              <a:t>Evaluating</a:t>
            </a:r>
            <a:r>
              <a:rPr sz="4000" u="sng" spc="-95" dirty="0">
                <a:solidFill>
                  <a:srgbClr val="074891"/>
                </a:solidFill>
                <a:uFill>
                  <a:solidFill>
                    <a:srgbClr val="000000"/>
                  </a:solidFill>
                </a:uFill>
                <a:latin typeface="Calibri Light"/>
                <a:cs typeface="Calibri Light"/>
              </a:rPr>
              <a:t> </a:t>
            </a:r>
            <a:r>
              <a:rPr sz="4000" u="sng" spc="-30" dirty="0">
                <a:solidFill>
                  <a:srgbClr val="074891"/>
                </a:solidFill>
                <a:uFill>
                  <a:solidFill>
                    <a:srgbClr val="000000"/>
                  </a:solidFill>
                </a:uFill>
                <a:latin typeface="Calibri Light"/>
                <a:cs typeface="Calibri Light"/>
              </a:rPr>
              <a:t>Existing</a:t>
            </a:r>
            <a:r>
              <a:rPr sz="4000" u="sng" spc="-95" dirty="0">
                <a:solidFill>
                  <a:srgbClr val="074891"/>
                </a:solidFill>
                <a:uFill>
                  <a:solidFill>
                    <a:srgbClr val="000000"/>
                  </a:solidFill>
                </a:uFill>
                <a:latin typeface="Calibri Light"/>
                <a:cs typeface="Calibri Light"/>
              </a:rPr>
              <a:t> </a:t>
            </a:r>
            <a:r>
              <a:rPr sz="4000" u="sng" spc="-50" dirty="0">
                <a:solidFill>
                  <a:srgbClr val="074891"/>
                </a:solidFill>
                <a:uFill>
                  <a:solidFill>
                    <a:srgbClr val="000000"/>
                  </a:solidFill>
                </a:uFill>
                <a:latin typeface="Calibri Light"/>
                <a:cs typeface="Calibri Light"/>
              </a:rPr>
              <a:t>Control</a:t>
            </a:r>
            <a:r>
              <a:rPr sz="4000" u="sng" spc="-90" dirty="0">
                <a:solidFill>
                  <a:srgbClr val="074891"/>
                </a:solidFill>
                <a:uFill>
                  <a:solidFill>
                    <a:srgbClr val="000000"/>
                  </a:solidFill>
                </a:uFill>
                <a:latin typeface="Calibri Light"/>
                <a:cs typeface="Calibri Light"/>
              </a:rPr>
              <a:t> </a:t>
            </a:r>
            <a:r>
              <a:rPr sz="4000" u="sng" spc="-60" dirty="0">
                <a:solidFill>
                  <a:srgbClr val="074891"/>
                </a:solidFill>
                <a:uFill>
                  <a:solidFill>
                    <a:srgbClr val="000000"/>
                  </a:solidFill>
                </a:uFill>
                <a:latin typeface="Calibri Light"/>
                <a:cs typeface="Calibri Light"/>
              </a:rPr>
              <a:t>Effectivene</a:t>
            </a:r>
            <a:r>
              <a:rPr sz="4000" u="sng" spc="-60" dirty="0">
                <a:solidFill>
                  <a:srgbClr val="074891"/>
                </a:solidFill>
                <a:latin typeface="Calibri Light"/>
                <a:cs typeface="Calibri Light"/>
              </a:rPr>
              <a:t>ss</a:t>
            </a:r>
            <a:endParaRPr sz="4000" u="sng" dirty="0">
              <a:latin typeface="Calibri Light"/>
              <a:cs typeface="Calibri Light"/>
            </a:endParaRPr>
          </a:p>
        </p:txBody>
      </p:sp>
      <p:sp>
        <p:nvSpPr>
          <p:cNvPr id="3" name="object 3"/>
          <p:cNvSpPr txBox="1"/>
          <p:nvPr/>
        </p:nvSpPr>
        <p:spPr>
          <a:xfrm>
            <a:off x="1893862" y="2012324"/>
            <a:ext cx="7515861" cy="2031325"/>
          </a:xfrm>
          <a:prstGeom prst="rect">
            <a:avLst/>
          </a:prstGeom>
        </p:spPr>
        <p:txBody>
          <a:bodyPr vert="horz" wrap="square" lIns="0" tIns="60960" rIns="0" bIns="0" rtlCol="0">
            <a:spAutoFit/>
          </a:bodyPr>
          <a:lstStyle/>
          <a:p>
            <a:pPr marL="354965" marR="133477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There are several ways to determine control effectiveness;  </a:t>
            </a:r>
            <a:r>
              <a:rPr dirty="0">
                <a:solidFill>
                  <a:srgbClr val="0070C0"/>
                </a:solidFill>
                <a:effectLst>
                  <a:outerShdw blurRad="38100" dist="38100" dir="2700000" algn="tl">
                    <a:srgbClr val="000000">
                      <a:alpha val="43137"/>
                    </a:srgbClr>
                  </a:outerShdw>
                </a:effectLst>
                <a:latin typeface="Berlin Sans FB" panose="020E0602020502020306" pitchFamily="34" charset="0"/>
              </a:rPr>
              <a:t>performance monitoring and testing </a:t>
            </a:r>
            <a:r>
              <a:rPr dirty="0">
                <a:solidFill>
                  <a:srgbClr val="002060"/>
                </a:solidFill>
                <a:latin typeface="Berlin Sans FB" panose="020E0602020502020306" pitchFamily="34" charset="0"/>
              </a:rPr>
              <a:t>are the most common.</a:t>
            </a:r>
          </a:p>
          <a:p>
            <a:pPr marL="354965" marR="5080"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Performance monitoring usually takes the form of examining metrics  or data produced while the control is performing its normal function.</a:t>
            </a:r>
          </a:p>
          <a:p>
            <a:pPr marL="354965" marR="226695"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Testing is definitely a way to measure the effectiveness of security  controls, such as </a:t>
            </a:r>
            <a:r>
              <a:rPr dirty="0">
                <a:solidFill>
                  <a:srgbClr val="0070C0"/>
                </a:solidFill>
                <a:effectLst>
                  <a:outerShdw blurRad="38100" dist="38100" dir="2700000" algn="tl">
                    <a:srgbClr val="000000">
                      <a:alpha val="43137"/>
                    </a:srgbClr>
                  </a:outerShdw>
                </a:effectLst>
                <a:latin typeface="Berlin Sans FB" panose="020E0602020502020306" pitchFamily="34" charset="0"/>
              </a:rPr>
              <a:t>vulnerability assessments and penetration testing.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idx="4294967295"/>
          </p:nvPr>
        </p:nvSpPr>
        <p:spPr>
          <a:xfrm>
            <a:off x="672123" y="741607"/>
            <a:ext cx="10012363" cy="452437"/>
          </a:xfrm>
          <a:prstGeom prst="rect">
            <a:avLst/>
          </a:prstGeom>
        </p:spPr>
        <p:txBody>
          <a:bodyPr vert="horz" wrap="square" lIns="0" tIns="12065" rIns="0" bIns="0" rtlCol="0">
            <a:spAutoFit/>
          </a:bodyPr>
          <a:lstStyle/>
          <a:p>
            <a:pPr marL="12700">
              <a:lnSpc>
                <a:spcPct val="100000"/>
              </a:lnSpc>
              <a:spcBef>
                <a:spcPts val="95"/>
              </a:spcBef>
            </a:pPr>
            <a:r>
              <a:rPr sz="2800" b="1" u="sng" spc="-20" dirty="0">
                <a:solidFill>
                  <a:srgbClr val="074891"/>
                </a:solidFill>
                <a:latin typeface="Calibri Light"/>
                <a:cs typeface="Calibri Light"/>
              </a:rPr>
              <a:t>Adjusting</a:t>
            </a:r>
            <a:r>
              <a:rPr sz="2800" b="1" u="sng" spc="-60" dirty="0">
                <a:solidFill>
                  <a:srgbClr val="074891"/>
                </a:solidFill>
                <a:latin typeface="Calibri Light"/>
                <a:cs typeface="Calibri Light"/>
              </a:rPr>
              <a:t> </a:t>
            </a:r>
            <a:r>
              <a:rPr sz="2800" b="1" u="sng" spc="-25" dirty="0">
                <a:solidFill>
                  <a:srgbClr val="074891"/>
                </a:solidFill>
                <a:latin typeface="Calibri Light"/>
                <a:cs typeface="Calibri Light"/>
              </a:rPr>
              <a:t>Controls</a:t>
            </a:r>
            <a:r>
              <a:rPr sz="2800" b="1" u="sng" spc="-65" dirty="0">
                <a:solidFill>
                  <a:srgbClr val="074891"/>
                </a:solidFill>
                <a:latin typeface="Calibri Light"/>
                <a:cs typeface="Calibri Light"/>
              </a:rPr>
              <a:t> </a:t>
            </a:r>
            <a:r>
              <a:rPr sz="2800" b="1" u="sng" spc="-15" dirty="0">
                <a:solidFill>
                  <a:srgbClr val="074891"/>
                </a:solidFill>
                <a:latin typeface="Calibri Light"/>
                <a:cs typeface="Calibri Light"/>
              </a:rPr>
              <a:t>Based</a:t>
            </a:r>
            <a:r>
              <a:rPr sz="2800" b="1" u="sng" spc="-70" dirty="0">
                <a:solidFill>
                  <a:srgbClr val="074891"/>
                </a:solidFill>
                <a:latin typeface="Calibri Light"/>
                <a:cs typeface="Calibri Light"/>
              </a:rPr>
              <a:t> </a:t>
            </a:r>
            <a:r>
              <a:rPr sz="2800" b="1" u="sng" spc="-15" dirty="0">
                <a:solidFill>
                  <a:srgbClr val="074891"/>
                </a:solidFill>
                <a:latin typeface="Calibri Light"/>
                <a:cs typeface="Calibri Light"/>
              </a:rPr>
              <a:t>on</a:t>
            </a:r>
            <a:r>
              <a:rPr sz="2800" b="1" u="sng" spc="-35" dirty="0">
                <a:solidFill>
                  <a:srgbClr val="074891"/>
                </a:solidFill>
                <a:latin typeface="Calibri Light"/>
                <a:cs typeface="Calibri Light"/>
              </a:rPr>
              <a:t> </a:t>
            </a:r>
            <a:r>
              <a:rPr sz="2800" b="1" u="sng" spc="-25" dirty="0">
                <a:solidFill>
                  <a:srgbClr val="074891"/>
                </a:solidFill>
                <a:latin typeface="Calibri Light"/>
                <a:cs typeface="Calibri Light"/>
              </a:rPr>
              <a:t>Mitigation</a:t>
            </a:r>
            <a:r>
              <a:rPr sz="2800" b="1" u="sng" spc="-70" dirty="0">
                <a:solidFill>
                  <a:srgbClr val="074891"/>
                </a:solidFill>
                <a:latin typeface="Calibri Light"/>
                <a:cs typeface="Calibri Light"/>
              </a:rPr>
              <a:t> </a:t>
            </a:r>
            <a:r>
              <a:rPr sz="2800" b="1" u="sng" spc="-30" dirty="0">
                <a:solidFill>
                  <a:srgbClr val="074891"/>
                </a:solidFill>
                <a:latin typeface="Calibri Light"/>
                <a:cs typeface="Calibri Light"/>
              </a:rPr>
              <a:t>Requirements</a:t>
            </a:r>
            <a:r>
              <a:rPr sz="2800" b="1" u="sng" spc="-60" dirty="0">
                <a:solidFill>
                  <a:srgbClr val="074891"/>
                </a:solidFill>
                <a:latin typeface="Calibri Light"/>
                <a:cs typeface="Calibri Light"/>
              </a:rPr>
              <a:t> </a:t>
            </a:r>
            <a:r>
              <a:rPr sz="2800" b="1" u="sng" spc="-15" dirty="0">
                <a:solidFill>
                  <a:srgbClr val="074891"/>
                </a:solidFill>
                <a:latin typeface="Calibri Light"/>
                <a:cs typeface="Calibri Light"/>
              </a:rPr>
              <a:t>and</a:t>
            </a:r>
            <a:r>
              <a:rPr sz="2800" b="1" u="sng" spc="-70" dirty="0">
                <a:solidFill>
                  <a:srgbClr val="074891"/>
                </a:solidFill>
                <a:latin typeface="Calibri Light"/>
                <a:cs typeface="Calibri Light"/>
              </a:rPr>
              <a:t> </a:t>
            </a:r>
            <a:r>
              <a:rPr sz="2800" b="1" u="sng" spc="-30" dirty="0">
                <a:solidFill>
                  <a:srgbClr val="074891"/>
                </a:solidFill>
                <a:latin typeface="Calibri Light"/>
                <a:cs typeface="Calibri Light"/>
              </a:rPr>
              <a:t>Control</a:t>
            </a:r>
            <a:r>
              <a:rPr sz="2800" b="1" u="sng" spc="-50" dirty="0">
                <a:solidFill>
                  <a:srgbClr val="074891"/>
                </a:solidFill>
                <a:latin typeface="Calibri Light"/>
                <a:cs typeface="Calibri Light"/>
              </a:rPr>
              <a:t> </a:t>
            </a:r>
            <a:r>
              <a:rPr sz="2800" b="1" u="sng" spc="-20" dirty="0">
                <a:solidFill>
                  <a:srgbClr val="074891"/>
                </a:solidFill>
                <a:latin typeface="Calibri Light"/>
                <a:cs typeface="Calibri Light"/>
              </a:rPr>
              <a:t>Gaps</a:t>
            </a:r>
            <a:endParaRPr sz="2800" b="1" u="sng" dirty="0">
              <a:latin typeface="Calibri Light"/>
              <a:cs typeface="Calibri Light"/>
            </a:endParaRPr>
          </a:p>
        </p:txBody>
      </p:sp>
      <p:sp>
        <p:nvSpPr>
          <p:cNvPr id="4" name="object 4"/>
          <p:cNvSpPr txBox="1"/>
          <p:nvPr/>
        </p:nvSpPr>
        <p:spPr>
          <a:xfrm>
            <a:off x="1710004" y="1485180"/>
            <a:ext cx="8473442" cy="3639458"/>
          </a:xfrm>
          <a:prstGeom prst="rect">
            <a:avLst/>
          </a:prstGeom>
        </p:spPr>
        <p:txBody>
          <a:bodyPr vert="horz" wrap="square" lIns="0" tIns="99060" rIns="0" bIns="0" rtlCol="0">
            <a:spAutoFit/>
          </a:bodyPr>
          <a:lstStyle/>
          <a:p>
            <a:pPr marL="354965" indent="-34290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Control gaps must be closed, or at least reduced to an acceptable level.</a:t>
            </a:r>
          </a:p>
          <a:p>
            <a:pPr marL="354965" marR="5080" indent="-34290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The risk practitioner, in conjunction with management, will have to devise  a strategy, based on risk appetite, tolerance, protection requirements, and  resources, to close control gaps.</a:t>
            </a:r>
          </a:p>
          <a:p>
            <a:pPr marL="354965" marR="871219" indent="-342900">
              <a:spcBef>
                <a:spcPts val="600"/>
              </a:spcBef>
              <a:spcAft>
                <a:spcPts val="600"/>
              </a:spcAft>
              <a:buFont typeface="Wingdings" panose="05000000000000000000" pitchFamily="2" charset="2"/>
              <a:buChar char="§"/>
              <a:tabLst>
                <a:tab pos="241935" algn="l"/>
              </a:tabLst>
            </a:pPr>
            <a:r>
              <a:rPr dirty="0">
                <a:solidFill>
                  <a:srgbClr val="0070C0"/>
                </a:solidFill>
                <a:effectLst>
                  <a:outerShdw blurRad="38100" dist="38100" dir="2700000" algn="tl">
                    <a:srgbClr val="000000">
                      <a:alpha val="43137"/>
                    </a:srgbClr>
                  </a:outerShdw>
                </a:effectLst>
                <a:latin typeface="Berlin Sans FB" panose="020E0602020502020306" pitchFamily="34" charset="0"/>
              </a:rPr>
              <a:t>Adjusting controls to make up for gaps may require several different</a:t>
            </a:r>
            <a:r>
              <a:rPr lang="en-US" dirty="0">
                <a:solidFill>
                  <a:srgbClr val="0070C0"/>
                </a:solidFill>
                <a:effectLst>
                  <a:outerShdw blurRad="38100" dist="38100" dir="2700000" algn="tl">
                    <a:srgbClr val="000000">
                      <a:alpha val="43137"/>
                    </a:srgbClr>
                  </a:outerShdw>
                </a:effectLst>
                <a:latin typeface="Berlin Sans FB" panose="020E0602020502020306" pitchFamily="34" charset="0"/>
              </a:rPr>
              <a:t> </a:t>
            </a:r>
            <a:r>
              <a:rPr dirty="0">
                <a:solidFill>
                  <a:srgbClr val="0070C0"/>
                </a:solidFill>
                <a:effectLst>
                  <a:outerShdw blurRad="38100" dist="38100" dir="2700000" algn="tl">
                    <a:srgbClr val="000000">
                      <a:alpha val="43137"/>
                    </a:srgbClr>
                  </a:outerShdw>
                </a:effectLst>
                <a:latin typeface="Berlin Sans FB" panose="020E0602020502020306" pitchFamily="34" charset="0"/>
              </a:rPr>
              <a:t>actions.</a:t>
            </a:r>
          </a:p>
          <a:p>
            <a:pPr marL="812165" lvl="2" indent="-342900">
              <a:spcBef>
                <a:spcPts val="600"/>
              </a:spcBef>
              <a:spcAft>
                <a:spcPts val="600"/>
              </a:spcAft>
              <a:buFont typeface="Courier New" panose="02070309020205020404" pitchFamily="49" charset="0"/>
              <a:buChar char="o"/>
              <a:tabLst>
                <a:tab pos="241935" algn="l"/>
              </a:tabLst>
            </a:pPr>
            <a:r>
              <a:rPr dirty="0">
                <a:solidFill>
                  <a:srgbClr val="002060"/>
                </a:solidFill>
                <a:latin typeface="Berlin Sans FB" panose="020E0602020502020306" pitchFamily="34" charset="0"/>
              </a:rPr>
              <a:t>You’ll need to decide whether to simply reconfigure the control,</a:t>
            </a:r>
          </a:p>
          <a:p>
            <a:pPr marL="812165" lvl="2" indent="-342900">
              <a:spcBef>
                <a:spcPts val="600"/>
              </a:spcBef>
              <a:spcAft>
                <a:spcPts val="600"/>
              </a:spcAft>
              <a:buFont typeface="Courier New" panose="02070309020205020404" pitchFamily="49" charset="0"/>
              <a:buChar char="o"/>
              <a:tabLst>
                <a:tab pos="241935" algn="l"/>
              </a:tabLst>
            </a:pPr>
            <a:r>
              <a:rPr lang="en-US" dirty="0">
                <a:solidFill>
                  <a:srgbClr val="002060"/>
                </a:solidFill>
                <a:latin typeface="Berlin Sans FB" panose="020E0602020502020306" pitchFamily="34" charset="0"/>
              </a:rPr>
              <a:t>S</a:t>
            </a:r>
            <a:r>
              <a:rPr dirty="0">
                <a:solidFill>
                  <a:srgbClr val="002060"/>
                </a:solidFill>
                <a:latin typeface="Berlin Sans FB" panose="020E0602020502020306" pitchFamily="34" charset="0"/>
              </a:rPr>
              <a:t>upplement</a:t>
            </a:r>
            <a:r>
              <a:rPr lang="en-US" dirty="0">
                <a:solidFill>
                  <a:srgbClr val="002060"/>
                </a:solidFill>
                <a:latin typeface="Berlin Sans FB" panose="020E0602020502020306" pitchFamily="34" charset="0"/>
              </a:rPr>
              <a:t> </a:t>
            </a:r>
            <a:r>
              <a:rPr lang="en-US" dirty="0">
                <a:solidFill>
                  <a:srgbClr val="0070C0"/>
                </a:solidFill>
                <a:latin typeface="Berlin Sans FB" panose="020E0602020502020306" pitchFamily="34" charset="0"/>
              </a:rPr>
              <a:t>(add an extension)</a:t>
            </a:r>
            <a:r>
              <a:rPr dirty="0">
                <a:solidFill>
                  <a:srgbClr val="0070C0"/>
                </a:solidFill>
                <a:latin typeface="Berlin Sans FB" panose="020E0602020502020306" pitchFamily="34" charset="0"/>
              </a:rPr>
              <a:t> </a:t>
            </a:r>
            <a:r>
              <a:rPr dirty="0">
                <a:solidFill>
                  <a:srgbClr val="002060"/>
                </a:solidFill>
                <a:latin typeface="Berlin Sans FB" panose="020E0602020502020306" pitchFamily="34" charset="0"/>
              </a:rPr>
              <a:t>the control, or add new controls entirely.</a:t>
            </a:r>
          </a:p>
          <a:p>
            <a:pPr marL="812165" lvl="2" indent="-342900">
              <a:spcBef>
                <a:spcPts val="600"/>
              </a:spcBef>
              <a:spcAft>
                <a:spcPts val="600"/>
              </a:spcAft>
              <a:buFont typeface="Courier New" panose="02070309020205020404" pitchFamily="49" charset="0"/>
              <a:buChar char="o"/>
              <a:tabLst>
                <a:tab pos="241935" algn="l"/>
              </a:tabLst>
            </a:pPr>
            <a:r>
              <a:rPr dirty="0">
                <a:solidFill>
                  <a:srgbClr val="002060"/>
                </a:solidFill>
                <a:latin typeface="Berlin Sans FB" panose="020E0602020502020306" pitchFamily="34" charset="0"/>
              </a:rPr>
              <a:t>You may have to replace the existing control with a totally new one. In any case,</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whichever action you take, after you’ve adjusted the control, you should retest it to</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ensure that it meets the protection</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requirements for the asset in question.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79939" y="579194"/>
            <a:ext cx="8386763" cy="696912"/>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sng" spc="-40" dirty="0">
                <a:solidFill>
                  <a:srgbClr val="074891"/>
                </a:solidFill>
                <a:uFill>
                  <a:solidFill>
                    <a:srgbClr val="000000"/>
                  </a:solidFill>
                </a:uFill>
                <a:latin typeface="Calibri Light"/>
                <a:cs typeface="Calibri Light"/>
              </a:rPr>
              <a:t>Supplementing</a:t>
            </a:r>
            <a:r>
              <a:rPr sz="4400" u="sng" spc="-114" dirty="0">
                <a:solidFill>
                  <a:srgbClr val="074891"/>
                </a:solidFill>
                <a:uFill>
                  <a:solidFill>
                    <a:srgbClr val="000000"/>
                  </a:solidFill>
                </a:uFill>
                <a:latin typeface="Calibri Light"/>
                <a:cs typeface="Calibri Light"/>
              </a:rPr>
              <a:t> </a:t>
            </a:r>
            <a:r>
              <a:rPr sz="4400" u="sng" spc="-30" dirty="0">
                <a:solidFill>
                  <a:srgbClr val="074891"/>
                </a:solidFill>
                <a:uFill>
                  <a:solidFill>
                    <a:srgbClr val="000000"/>
                  </a:solidFill>
                </a:uFill>
                <a:latin typeface="Calibri Light"/>
                <a:cs typeface="Calibri Light"/>
              </a:rPr>
              <a:t>Existing</a:t>
            </a:r>
            <a:r>
              <a:rPr sz="4400" u="sng" spc="-110" dirty="0">
                <a:solidFill>
                  <a:srgbClr val="074891"/>
                </a:solidFill>
                <a:uFill>
                  <a:solidFill>
                    <a:srgbClr val="000000"/>
                  </a:solidFill>
                </a:uFill>
                <a:latin typeface="Calibri Light"/>
                <a:cs typeface="Calibri Light"/>
              </a:rPr>
              <a:t> </a:t>
            </a:r>
            <a:r>
              <a:rPr sz="4400" u="sng" spc="-45" dirty="0">
                <a:solidFill>
                  <a:srgbClr val="074891"/>
                </a:solidFill>
                <a:uFill>
                  <a:solidFill>
                    <a:srgbClr val="000000"/>
                  </a:solidFill>
                </a:uFill>
                <a:latin typeface="Calibri Light"/>
                <a:cs typeface="Calibri Light"/>
              </a:rPr>
              <a:t>Controls</a:t>
            </a:r>
            <a:r>
              <a:rPr sz="4400" spc="-45" dirty="0">
                <a:solidFill>
                  <a:srgbClr val="074891"/>
                </a:solidFill>
                <a:uFill>
                  <a:solidFill>
                    <a:srgbClr val="000000"/>
                  </a:solidFill>
                </a:uFill>
                <a:latin typeface="Calibri Light"/>
                <a:cs typeface="Calibri Light"/>
              </a:rPr>
              <a:t>	</a:t>
            </a:r>
            <a:endParaRPr sz="4400" dirty="0">
              <a:latin typeface="Calibri Light"/>
              <a:cs typeface="Calibri Light"/>
            </a:endParaRPr>
          </a:p>
        </p:txBody>
      </p:sp>
      <p:sp>
        <p:nvSpPr>
          <p:cNvPr id="3" name="object 3"/>
          <p:cNvSpPr txBox="1"/>
          <p:nvPr/>
        </p:nvSpPr>
        <p:spPr>
          <a:xfrm>
            <a:off x="2018909" y="1504926"/>
            <a:ext cx="6734321" cy="4076116"/>
          </a:xfrm>
          <a:prstGeom prst="rect">
            <a:avLst/>
          </a:prstGeom>
        </p:spPr>
        <p:txBody>
          <a:bodyPr vert="horz" wrap="square" lIns="0" tIns="13335" rIns="0" bIns="0" rtlCol="0">
            <a:spAutoFit/>
          </a:bodyPr>
          <a:lstStyle/>
          <a:p>
            <a:pPr marL="354965" indent="-34290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Supplementing existing controls is an action you can take when the control</a:t>
            </a:r>
            <a:r>
              <a:rPr lang="en-US" dirty="0">
                <a:solidFill>
                  <a:srgbClr val="0070C0"/>
                </a:solidFill>
                <a:latin typeface="Berlin Sans FB" panose="020E0602020502020306" pitchFamily="34" charset="0"/>
              </a:rPr>
              <a:t> </a:t>
            </a:r>
            <a:r>
              <a:rPr dirty="0">
                <a:solidFill>
                  <a:srgbClr val="0070C0"/>
                </a:solidFill>
                <a:latin typeface="Berlin Sans FB" panose="020E0602020502020306" pitchFamily="34" charset="0"/>
              </a:rPr>
              <a:t>already in place is doing somewhat of a good job, but maybe it’s not quite enough.</a:t>
            </a:r>
          </a:p>
          <a:p>
            <a:pPr marL="354965"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Perhaps there are new threats that weren’t originally considered when the</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control was implemented, or perhaps the control has become somewhat obsolete.</a:t>
            </a:r>
          </a:p>
          <a:p>
            <a:pPr marL="354965"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In any case, it may be more cost-effective simply to supplement an existing</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control by adding controls at other points in the infrastructure to offset the</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control gap or to temporarily add controls until a more permanent solution  can be found.</a:t>
            </a:r>
          </a:p>
          <a:p>
            <a:pPr marL="354965" indent="-34290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In any case, you’ll need to test and make sure that any changes you make</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to a control meet the security requirements you need, in addition to being  interoperable with the environment.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09881" y="140187"/>
            <a:ext cx="8388350" cy="630238"/>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000" u="sng" spc="-30" dirty="0">
                <a:solidFill>
                  <a:srgbClr val="074891"/>
                </a:solidFill>
                <a:uFill>
                  <a:solidFill>
                    <a:srgbClr val="000000"/>
                  </a:solidFill>
                </a:uFill>
                <a:latin typeface="Calibri Light"/>
                <a:cs typeface="Calibri Light"/>
              </a:rPr>
              <a:t>Adding</a:t>
            </a:r>
            <a:r>
              <a:rPr sz="4000" u="sng" spc="-110" dirty="0">
                <a:solidFill>
                  <a:srgbClr val="074891"/>
                </a:solidFill>
                <a:uFill>
                  <a:solidFill>
                    <a:srgbClr val="000000"/>
                  </a:solidFill>
                </a:uFill>
                <a:latin typeface="Calibri Light"/>
                <a:cs typeface="Calibri Light"/>
              </a:rPr>
              <a:t> </a:t>
            </a:r>
            <a:r>
              <a:rPr sz="4000" u="sng" spc="-35" dirty="0">
                <a:solidFill>
                  <a:srgbClr val="074891"/>
                </a:solidFill>
                <a:uFill>
                  <a:solidFill>
                    <a:srgbClr val="000000"/>
                  </a:solidFill>
                </a:uFill>
                <a:latin typeface="Calibri Light"/>
                <a:cs typeface="Calibri Light"/>
              </a:rPr>
              <a:t>New</a:t>
            </a:r>
            <a:r>
              <a:rPr sz="4000" u="sng" spc="-130" dirty="0">
                <a:solidFill>
                  <a:srgbClr val="074891"/>
                </a:solidFill>
                <a:uFill>
                  <a:solidFill>
                    <a:srgbClr val="000000"/>
                  </a:solidFill>
                </a:uFill>
                <a:latin typeface="Calibri Light"/>
                <a:cs typeface="Calibri Light"/>
              </a:rPr>
              <a:t> </a:t>
            </a:r>
            <a:r>
              <a:rPr sz="4000" u="sng" spc="-45" dirty="0">
                <a:solidFill>
                  <a:srgbClr val="074891"/>
                </a:solidFill>
                <a:uFill>
                  <a:solidFill>
                    <a:srgbClr val="000000"/>
                  </a:solidFill>
                </a:uFill>
                <a:latin typeface="Calibri Light"/>
                <a:cs typeface="Calibri Light"/>
              </a:rPr>
              <a:t>Controls</a:t>
            </a:r>
            <a:r>
              <a:rPr sz="4000" spc="-45" dirty="0">
                <a:solidFill>
                  <a:srgbClr val="074891"/>
                </a:solidFill>
                <a:uFill>
                  <a:solidFill>
                    <a:srgbClr val="000000"/>
                  </a:solidFill>
                </a:uFill>
                <a:latin typeface="Calibri Light"/>
                <a:cs typeface="Calibri Light"/>
              </a:rPr>
              <a:t>	</a:t>
            </a:r>
            <a:endParaRPr sz="4000" dirty="0">
              <a:latin typeface="Calibri Light"/>
              <a:cs typeface="Calibri Light"/>
            </a:endParaRPr>
          </a:p>
        </p:txBody>
      </p:sp>
      <p:sp>
        <p:nvSpPr>
          <p:cNvPr id="3" name="object 3"/>
          <p:cNvSpPr txBox="1"/>
          <p:nvPr/>
        </p:nvSpPr>
        <p:spPr>
          <a:xfrm>
            <a:off x="709881" y="770425"/>
            <a:ext cx="9637689" cy="5122556"/>
          </a:xfrm>
          <a:prstGeom prst="rect">
            <a:avLst/>
          </a:prstGeom>
        </p:spPr>
        <p:txBody>
          <a:bodyPr vert="horz" wrap="square" lIns="0" tIns="104775" rIns="0" bIns="0" rtlCol="0">
            <a:spAutoFit/>
          </a:bodyPr>
          <a:lstStyle/>
          <a:p>
            <a:pPr marL="354965" marR="132080" indent="-342900">
              <a:spcBef>
                <a:spcPts val="600"/>
              </a:spcBef>
              <a:spcAft>
                <a:spcPts val="600"/>
              </a:spcAft>
              <a:buFont typeface="Wingdings" panose="05000000000000000000" pitchFamily="2" charset="2"/>
              <a:buChar char="§"/>
              <a:tabLst>
                <a:tab pos="241935" algn="l"/>
              </a:tabLst>
            </a:pPr>
            <a:r>
              <a:rPr sz="1600" dirty="0">
                <a:solidFill>
                  <a:srgbClr val="0070C0"/>
                </a:solidFill>
                <a:latin typeface="Berlin Sans FB" panose="020E0602020502020306" pitchFamily="34" charset="0"/>
              </a:rPr>
              <a:t>Adding new controls could mean either implementing additional controls to mitigate the threats  or completely replacing an older or ineffective control with a new one.</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You could produce a new policy, replacing the old one, which modernizes your backup strategy</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and also requires you to upgrade to new equipment.</a:t>
            </a:r>
          </a:p>
          <a:p>
            <a:pPr marL="354965" marR="46545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The same applies to physical controls. When adding new controls, you have to consider a few  things.</a:t>
            </a:r>
          </a:p>
          <a:p>
            <a:pPr marL="812165" lvl="2" indent="-342900">
              <a:spcBef>
                <a:spcPts val="600"/>
              </a:spcBef>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make sure that the new control meets the security requirements you really need.</a:t>
            </a:r>
          </a:p>
          <a:p>
            <a:pPr marL="812165" marR="273685" lvl="2" indent="-342900">
              <a:spcBef>
                <a:spcPts val="600"/>
              </a:spcBef>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review the security requirements originally defined in your ISSE or SDLC requirements phase or to redefine  new requirements.</a:t>
            </a:r>
          </a:p>
          <a:p>
            <a:pPr marL="812165" lvl="2" indent="-342900">
              <a:spcBef>
                <a:spcPts val="600"/>
              </a:spcBef>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Consider interoperability . New controls, whether they are technical, administrative, or physical in nature,</a:t>
            </a:r>
          </a:p>
          <a:p>
            <a:pPr marL="812165" lvl="1" indent="-342900">
              <a:spcBef>
                <a:spcPts val="600"/>
              </a:spcBef>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have to be interoperable with existing infrastructure.</a:t>
            </a:r>
          </a:p>
          <a:p>
            <a:pPr marL="812165" lvl="2" indent="-342900">
              <a:spcBef>
                <a:spcPts val="600"/>
              </a:spcBef>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New security devices have to be able to communicate with older equipment.</a:t>
            </a:r>
          </a:p>
          <a:p>
            <a:pPr marL="812165" marR="5080" lvl="2" indent="-342900">
              <a:spcBef>
                <a:spcPts val="600"/>
              </a:spcBef>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The policies and procedures have to be compatible with existing ones and may require that existing processes  be slightly modified to accommodate them.</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Physical controls can be expensive to replace and may even require modifications to facilities to</a:t>
            </a:r>
            <a:r>
              <a:rPr lang="en-US" sz="1600" dirty="0">
                <a:solidFill>
                  <a:srgbClr val="002060"/>
                </a:solidFill>
                <a:latin typeface="Berlin Sans FB" panose="020E0602020502020306" pitchFamily="34" charset="0"/>
              </a:rPr>
              <a:t> </a:t>
            </a:r>
            <a:r>
              <a:rPr sz="1600" dirty="0">
                <a:solidFill>
                  <a:srgbClr val="002060"/>
                </a:solidFill>
                <a:latin typeface="Berlin Sans FB" panose="020E0602020502020306" pitchFamily="34" charset="0"/>
              </a:rPr>
              <a:t>implement new controls.</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After all, you should test the control to ensure that it gives you the protection you require.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101970" y="328246"/>
            <a:ext cx="8416925" cy="696913"/>
          </a:xfrm>
          <a:prstGeom prst="rect">
            <a:avLst/>
          </a:prstGeom>
        </p:spPr>
        <p:txBody>
          <a:bodyPr vert="horz" wrap="square" lIns="0" tIns="13335" rIns="0" bIns="0" rtlCol="0">
            <a:spAutoFit/>
          </a:bodyPr>
          <a:lstStyle/>
          <a:p>
            <a:pPr marL="12700">
              <a:lnSpc>
                <a:spcPct val="100000"/>
              </a:lnSpc>
              <a:spcBef>
                <a:spcPts val="105"/>
              </a:spcBef>
            </a:pPr>
            <a:r>
              <a:rPr sz="4400" u="sng" spc="-30" dirty="0">
                <a:solidFill>
                  <a:srgbClr val="074891"/>
                </a:solidFill>
                <a:uFill>
                  <a:solidFill>
                    <a:srgbClr val="000000"/>
                  </a:solidFill>
                </a:uFill>
                <a:latin typeface="Calibri Light"/>
                <a:cs typeface="Calibri Light"/>
              </a:rPr>
              <a:t>Managing</a:t>
            </a:r>
            <a:r>
              <a:rPr sz="4400" u="sng" spc="-105" dirty="0">
                <a:solidFill>
                  <a:srgbClr val="074891"/>
                </a:solidFill>
                <a:uFill>
                  <a:solidFill>
                    <a:srgbClr val="000000"/>
                  </a:solidFill>
                </a:uFill>
                <a:latin typeface="Calibri Light"/>
                <a:cs typeface="Calibri Light"/>
              </a:rPr>
              <a:t> </a:t>
            </a:r>
            <a:r>
              <a:rPr sz="4400" u="sng" spc="-50" dirty="0">
                <a:solidFill>
                  <a:srgbClr val="074891"/>
                </a:solidFill>
                <a:uFill>
                  <a:solidFill>
                    <a:srgbClr val="000000"/>
                  </a:solidFill>
                </a:uFill>
                <a:latin typeface="Calibri Light"/>
                <a:cs typeface="Calibri Light"/>
              </a:rPr>
              <a:t>Control</a:t>
            </a:r>
            <a:r>
              <a:rPr sz="4400" u="sng" spc="-100" dirty="0">
                <a:solidFill>
                  <a:srgbClr val="074891"/>
                </a:solidFill>
                <a:uFill>
                  <a:solidFill>
                    <a:srgbClr val="000000"/>
                  </a:solidFill>
                </a:uFill>
                <a:latin typeface="Calibri Light"/>
                <a:cs typeface="Calibri Light"/>
              </a:rPr>
              <a:t> </a:t>
            </a:r>
            <a:r>
              <a:rPr sz="4400" u="sng" spc="-45" dirty="0">
                <a:solidFill>
                  <a:srgbClr val="074891"/>
                </a:solidFill>
                <a:uFill>
                  <a:solidFill>
                    <a:srgbClr val="000000"/>
                  </a:solidFill>
                </a:uFill>
                <a:latin typeface="Calibri Light"/>
                <a:cs typeface="Calibri Light"/>
              </a:rPr>
              <a:t>Ownership</a:t>
            </a:r>
            <a:r>
              <a:rPr sz="4400" u="sng" spc="-114" dirty="0">
                <a:solidFill>
                  <a:srgbClr val="074891"/>
                </a:solidFill>
                <a:uFill>
                  <a:solidFill>
                    <a:srgbClr val="000000"/>
                  </a:solidFill>
                </a:uFill>
                <a:latin typeface="Calibri Light"/>
                <a:cs typeface="Calibri Light"/>
              </a:rPr>
              <a:t> </a:t>
            </a:r>
            <a:r>
              <a:rPr sz="4400" u="sng" spc="-20" dirty="0">
                <a:solidFill>
                  <a:srgbClr val="074891"/>
                </a:solidFill>
                <a:uFill>
                  <a:solidFill>
                    <a:srgbClr val="000000"/>
                  </a:solidFill>
                </a:uFill>
                <a:latin typeface="Calibri Light"/>
                <a:cs typeface="Calibri Light"/>
              </a:rPr>
              <a:t>and</a:t>
            </a:r>
            <a:r>
              <a:rPr sz="4400" u="sng" spc="-100" dirty="0">
                <a:solidFill>
                  <a:srgbClr val="074891"/>
                </a:solidFill>
                <a:uFill>
                  <a:solidFill>
                    <a:srgbClr val="000000"/>
                  </a:solidFill>
                </a:uFill>
                <a:latin typeface="Calibri Light"/>
                <a:cs typeface="Calibri Light"/>
              </a:rPr>
              <a:t> </a:t>
            </a:r>
            <a:r>
              <a:rPr sz="4400" u="sng" spc="-15" dirty="0">
                <a:solidFill>
                  <a:srgbClr val="074891"/>
                </a:solidFill>
                <a:uFill>
                  <a:solidFill>
                    <a:srgbClr val="000000"/>
                  </a:solidFill>
                </a:uFill>
                <a:latin typeface="Calibri Light"/>
                <a:cs typeface="Calibri Light"/>
              </a:rPr>
              <a:t>Risk</a:t>
            </a:r>
            <a:endParaRPr sz="4400" u="sng" dirty="0">
              <a:latin typeface="Calibri Light"/>
              <a:cs typeface="Calibri Light"/>
            </a:endParaRPr>
          </a:p>
        </p:txBody>
      </p:sp>
      <p:sp>
        <p:nvSpPr>
          <p:cNvPr id="3" name="object 3"/>
          <p:cNvSpPr txBox="1"/>
          <p:nvPr/>
        </p:nvSpPr>
        <p:spPr>
          <a:xfrm>
            <a:off x="1792263" y="1314318"/>
            <a:ext cx="8023617" cy="4229363"/>
          </a:xfrm>
          <a:prstGeom prst="rect">
            <a:avLst/>
          </a:prstGeom>
        </p:spPr>
        <p:txBody>
          <a:bodyPr vert="horz" wrap="square" lIns="0" tIns="12700" rIns="0" bIns="0" rtlCol="0">
            <a:spAutoFit/>
          </a:bodyPr>
          <a:lstStyle/>
          <a:p>
            <a:pPr marL="297815" indent="-285750" algn="just">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Control/risk ownership is an important part of an organization’s enterprise risk</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management process.</a:t>
            </a:r>
          </a:p>
          <a:p>
            <a:pPr marL="297815" marR="5080" indent="-285750" algn="just">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Ownership is important because the individuals who are able to make decisions  and allocate resources must also be held accountable for control operation and  risk management.</a:t>
            </a:r>
          </a:p>
          <a:p>
            <a:pPr marL="297815" marR="549910" indent="-285750">
              <a:spcBef>
                <a:spcPts val="600"/>
              </a:spcBef>
              <a:spcAft>
                <a:spcPts val="600"/>
              </a:spcAft>
              <a:buFont typeface="Wingdings" panose="05000000000000000000" pitchFamily="2" charset="2"/>
              <a:buChar char="§"/>
              <a:tabLst>
                <a:tab pos="241935" algn="l"/>
              </a:tabLst>
            </a:pPr>
            <a:r>
              <a:rPr dirty="0">
                <a:solidFill>
                  <a:srgbClr val="0070C0"/>
                </a:solidFill>
                <a:latin typeface="Berlin Sans FB" panose="020E0602020502020306" pitchFamily="34" charset="0"/>
              </a:rPr>
              <a:t>Without a formal control or risk owner, there may be no one to ensure that  controls are monitored for effectiveness and risk is adequately reduced.</a:t>
            </a:r>
          </a:p>
          <a:p>
            <a:pPr marL="297815" indent="-28575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In all aspects of control design and implementation, control owners must be</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identified and</a:t>
            </a:r>
            <a:r>
              <a:rPr lang="en-US" dirty="0">
                <a:solidFill>
                  <a:srgbClr val="002060"/>
                </a:solidFill>
                <a:latin typeface="Berlin Sans FB" panose="020E0602020502020306" pitchFamily="34" charset="0"/>
              </a:rPr>
              <a:t> </a:t>
            </a:r>
            <a:r>
              <a:rPr dirty="0">
                <a:solidFill>
                  <a:srgbClr val="002060"/>
                </a:solidFill>
                <a:latin typeface="Berlin Sans FB" panose="020E0602020502020306" pitchFamily="34" charset="0"/>
              </a:rPr>
              <a:t>included in this process since they will ultimately be responsible for their  operation and maintenance, as well as monitoring them for effectiveness.</a:t>
            </a:r>
          </a:p>
          <a:p>
            <a:pPr marL="297815" marR="547370" indent="-285750">
              <a:spcBef>
                <a:spcPts val="600"/>
              </a:spcBef>
              <a:spcAft>
                <a:spcPts val="600"/>
              </a:spcAft>
              <a:buFont typeface="Wingdings" panose="05000000000000000000" pitchFamily="2" charset="2"/>
              <a:buChar char="§"/>
              <a:tabLst>
                <a:tab pos="241935" algn="l"/>
              </a:tabLst>
            </a:pPr>
            <a:r>
              <a:rPr dirty="0">
                <a:solidFill>
                  <a:srgbClr val="002060"/>
                </a:solidFill>
                <a:latin typeface="Berlin Sans FB" panose="020E0602020502020306" pitchFamily="34" charset="0"/>
              </a:rPr>
              <a:t>While the control and risk owner may be a senior manager, it is also best to  ensure that the appropriate technical personnel familiar with the control  operations are consulted on best design and implementation practices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180123" y="90313"/>
            <a:ext cx="8691563" cy="62865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000" u="sng" spc="-40" dirty="0">
                <a:solidFill>
                  <a:srgbClr val="074891"/>
                </a:solidFill>
                <a:uFill>
                  <a:solidFill>
                    <a:srgbClr val="000000"/>
                  </a:solidFill>
                </a:uFill>
                <a:latin typeface="Calibri Light"/>
                <a:cs typeface="Calibri Light"/>
              </a:rPr>
              <a:t>Documenting</a:t>
            </a:r>
            <a:r>
              <a:rPr sz="4000" u="sng" spc="-125" dirty="0">
                <a:solidFill>
                  <a:srgbClr val="074891"/>
                </a:solidFill>
                <a:uFill>
                  <a:solidFill>
                    <a:srgbClr val="000000"/>
                  </a:solidFill>
                </a:uFill>
                <a:latin typeface="Calibri Light"/>
                <a:cs typeface="Calibri Light"/>
              </a:rPr>
              <a:t> </a:t>
            </a:r>
            <a:r>
              <a:rPr sz="4000" u="sng" spc="-45" dirty="0">
                <a:solidFill>
                  <a:srgbClr val="074891"/>
                </a:solidFill>
                <a:uFill>
                  <a:solidFill>
                    <a:srgbClr val="000000"/>
                  </a:solidFill>
                </a:uFill>
                <a:latin typeface="Calibri Light"/>
                <a:cs typeface="Calibri Light"/>
              </a:rPr>
              <a:t>Controls</a:t>
            </a:r>
            <a:r>
              <a:rPr sz="4000" spc="-45" dirty="0">
                <a:solidFill>
                  <a:srgbClr val="074891"/>
                </a:solidFill>
                <a:uFill>
                  <a:solidFill>
                    <a:srgbClr val="000000"/>
                  </a:solidFill>
                </a:uFill>
                <a:latin typeface="Calibri Light"/>
                <a:cs typeface="Calibri Light"/>
              </a:rPr>
              <a:t>	</a:t>
            </a:r>
            <a:endParaRPr sz="4000" dirty="0">
              <a:latin typeface="Calibri Light"/>
              <a:cs typeface="Calibri Light"/>
            </a:endParaRPr>
          </a:p>
        </p:txBody>
      </p:sp>
      <p:sp>
        <p:nvSpPr>
          <p:cNvPr id="3" name="object 3"/>
          <p:cNvSpPr txBox="1"/>
          <p:nvPr/>
        </p:nvSpPr>
        <p:spPr>
          <a:xfrm>
            <a:off x="1854786" y="703574"/>
            <a:ext cx="8109830" cy="5450851"/>
          </a:xfrm>
          <a:prstGeom prst="rect">
            <a:avLst/>
          </a:prstGeom>
        </p:spPr>
        <p:txBody>
          <a:bodyPr vert="horz" wrap="square" lIns="0" tIns="94615" rIns="0" bIns="0" rtlCol="0">
            <a:spAutoFit/>
          </a:bodyPr>
          <a:lstStyle/>
          <a:p>
            <a:pPr marL="354965" marR="278765" indent="-342900">
              <a:spcBef>
                <a:spcPts val="600"/>
              </a:spcBef>
              <a:spcAft>
                <a:spcPts val="600"/>
              </a:spcAft>
              <a:buFont typeface="Wingdings" panose="05000000000000000000" pitchFamily="2" charset="2"/>
              <a:buChar char="§"/>
              <a:tabLst>
                <a:tab pos="241935" algn="l"/>
              </a:tabLst>
            </a:pPr>
            <a:r>
              <a:rPr sz="1600" dirty="0">
                <a:solidFill>
                  <a:srgbClr val="0070C0"/>
                </a:solidFill>
                <a:latin typeface="Berlin Sans FB" panose="020E0602020502020306" pitchFamily="34" charset="0"/>
              </a:rPr>
              <a:t>Once controls have been implemented and determined to be efficient, be effective, and meet the original  (or new) security requirements, you must also make sure that they are well-documented, for several  reasons.</a:t>
            </a:r>
          </a:p>
          <a:p>
            <a:pPr marL="1269365" lvl="3" indent="-342900">
              <a:spcAft>
                <a:spcPts val="600"/>
              </a:spcAft>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Documentation helps to maintain the control history.</a:t>
            </a:r>
          </a:p>
          <a:p>
            <a:pPr marL="1269365" lvl="3" indent="-342900">
              <a:spcAft>
                <a:spcPts val="600"/>
              </a:spcAft>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Documentation serves as objective evidence of compliance when being audited.</a:t>
            </a:r>
          </a:p>
          <a:p>
            <a:pPr marL="1269365" lvl="3" indent="-342900">
              <a:spcAft>
                <a:spcPts val="600"/>
              </a:spcAft>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Documentation supports the risk assessment process.</a:t>
            </a:r>
          </a:p>
          <a:p>
            <a:pPr marL="1269365" lvl="3" indent="-342900">
              <a:spcAft>
                <a:spcPts val="600"/>
              </a:spcAft>
              <a:buFont typeface="Courier New" panose="02070309020205020404" pitchFamily="49" charset="0"/>
              <a:buChar char="o"/>
              <a:tabLst>
                <a:tab pos="241935" algn="l"/>
              </a:tabLst>
            </a:pPr>
            <a:r>
              <a:rPr sz="1600" dirty="0">
                <a:solidFill>
                  <a:srgbClr val="002060"/>
                </a:solidFill>
                <a:latin typeface="Berlin Sans FB" panose="020E0602020502020306" pitchFamily="34" charset="0"/>
              </a:rPr>
              <a:t>Documentation can help when you are troubleshooting issues with the controls or measuring control effectiveness.</a:t>
            </a:r>
          </a:p>
          <a:p>
            <a:pPr marL="354965" marR="34290" indent="-342900">
              <a:spcBef>
                <a:spcPts val="600"/>
              </a:spcBef>
              <a:spcAft>
                <a:spcPts val="600"/>
              </a:spcAft>
              <a:buFont typeface="Wingdings" panose="05000000000000000000" pitchFamily="2" charset="2"/>
              <a:buChar char="§"/>
              <a:tabLst>
                <a:tab pos="241935" algn="l"/>
              </a:tabLst>
            </a:pPr>
            <a:r>
              <a:rPr sz="1600" dirty="0">
                <a:solidFill>
                  <a:srgbClr val="0070C0"/>
                </a:solidFill>
                <a:latin typeface="Berlin Sans FB" panose="020E0602020502020306" pitchFamily="34" charset="0"/>
              </a:rPr>
              <a:t>Control owners are generally responsible for maintaining control documentation, but often they are assisted  in preparing and maintaining this documentation by technical personnel and risk management practitioners.</a:t>
            </a:r>
          </a:p>
          <a:p>
            <a:pPr marL="354965" indent="-342900">
              <a:spcBef>
                <a:spcPts val="600"/>
              </a:spcBef>
              <a:spcAft>
                <a:spcPts val="600"/>
              </a:spcAft>
              <a:buFont typeface="Wingdings" panose="05000000000000000000" pitchFamily="2" charset="2"/>
              <a:buChar char="§"/>
              <a:tabLst>
                <a:tab pos="241935" algn="l"/>
              </a:tabLst>
            </a:pPr>
            <a:r>
              <a:rPr sz="1600" dirty="0">
                <a:solidFill>
                  <a:srgbClr val="0070C0"/>
                </a:solidFill>
                <a:latin typeface="Berlin Sans FB" panose="020E0602020502020306" pitchFamily="34" charset="0"/>
              </a:rPr>
              <a:t>Control documentation includes configuration settings, architectural diagrams, control procedures, and, of</a:t>
            </a:r>
            <a:r>
              <a:rPr lang="en-US" sz="1600" dirty="0">
                <a:solidFill>
                  <a:srgbClr val="0070C0"/>
                </a:solidFill>
                <a:latin typeface="Berlin Sans FB" panose="020E0602020502020306" pitchFamily="34" charset="0"/>
              </a:rPr>
              <a:t> </a:t>
            </a:r>
            <a:r>
              <a:rPr sz="1600" dirty="0">
                <a:solidFill>
                  <a:srgbClr val="0070C0"/>
                </a:solidFill>
                <a:latin typeface="Berlin Sans FB" panose="020E0602020502020306" pitchFamily="34" charset="0"/>
              </a:rPr>
              <a:t>course, policies relating to particular controls.</a:t>
            </a:r>
          </a:p>
          <a:p>
            <a:pPr marL="354965" marR="48260"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Documentation should be consistent, be standardized, and clearly state how the control protects an asset. It  should also be mapped to a formally defined security requirement, for traceability purposes.</a:t>
            </a:r>
          </a:p>
          <a:p>
            <a:pPr marL="354965" marR="5080" indent="-342900">
              <a:spcBef>
                <a:spcPts val="600"/>
              </a:spcBef>
              <a:spcAft>
                <a:spcPts val="600"/>
              </a:spcAft>
              <a:buFont typeface="Wingdings" panose="05000000000000000000" pitchFamily="2" charset="2"/>
              <a:buChar char="§"/>
              <a:tabLst>
                <a:tab pos="241935" algn="l"/>
              </a:tabLst>
            </a:pPr>
            <a:r>
              <a:rPr sz="1600" dirty="0">
                <a:solidFill>
                  <a:srgbClr val="002060"/>
                </a:solidFill>
                <a:latin typeface="Berlin Sans FB" panose="020E0602020502020306" pitchFamily="34" charset="0"/>
              </a:rPr>
              <a:t>Control documentation is part of the greater risk documentation library, contributing to risk profiles, plans of  action and milestones, and risk registers.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5894" y="2996945"/>
            <a:ext cx="3215640" cy="939800"/>
          </a:xfrm>
          <a:prstGeom prst="rect">
            <a:avLst/>
          </a:prstGeom>
        </p:spPr>
        <p:txBody>
          <a:bodyPr vert="horz" wrap="square" lIns="0" tIns="12700" rIns="0" bIns="0" rtlCol="0">
            <a:spAutoFit/>
          </a:bodyPr>
          <a:lstStyle/>
          <a:p>
            <a:pPr marL="12700">
              <a:lnSpc>
                <a:spcPct val="100000"/>
              </a:lnSpc>
              <a:spcBef>
                <a:spcPts val="100"/>
              </a:spcBef>
            </a:pPr>
            <a:r>
              <a:rPr spc="-5" dirty="0"/>
              <a:t>Thank</a:t>
            </a:r>
            <a:r>
              <a:rPr spc="-80" dirty="0"/>
              <a:t> </a:t>
            </a:r>
            <a:r>
              <a:rPr spc="-35" dirty="0"/>
              <a:t>you</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otalTime>492</TotalTime>
  <Words>3595</Words>
  <Application>Microsoft Office PowerPoint</Application>
  <PresentationFormat>Widescreen</PresentationFormat>
  <Paragraphs>227</Paragraphs>
  <Slides>35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Arial MT</vt:lpstr>
      <vt:lpstr>Bell MT</vt:lpstr>
      <vt:lpstr>Berlin Sans FB</vt:lpstr>
      <vt:lpstr>Berlin Sans FB Demi</vt:lpstr>
      <vt:lpstr>Calibri</vt:lpstr>
      <vt:lpstr>Calibri Light</vt:lpstr>
      <vt:lpstr>Courier New</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Effectiveness </vt:lpstr>
      <vt:lpstr>Efficiency </vt:lpstr>
      <vt:lpstr>Economy of Use </vt:lpstr>
      <vt:lpstr>Meets Defined Requirements </vt:lpstr>
      <vt:lpstr>Control Redundancy </vt:lpstr>
      <vt:lpstr>Selecting the Control Baseline </vt:lpstr>
      <vt:lpstr>Implementing Controls </vt:lpstr>
      <vt:lpstr>Evaluating Existing Control Effectiveness</vt:lpstr>
      <vt:lpstr>Adjusting Controls Based on Mitigation Requirements and Control Gaps</vt:lpstr>
      <vt:lpstr>Supplementing Existing Controls </vt:lpstr>
      <vt:lpstr>Adding New Controls </vt:lpstr>
      <vt:lpstr>Managing Control Ownership and Risk</vt:lpstr>
      <vt:lpstr>Documenting Controls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10</cp:revision>
  <dcterms:created xsi:type="dcterms:W3CDTF">2023-05-31T16:11:13Z</dcterms:created>
  <dcterms:modified xsi:type="dcterms:W3CDTF">2023-06-20T23:00:49Z</dcterms:modified>
</cp:coreProperties>
</file>
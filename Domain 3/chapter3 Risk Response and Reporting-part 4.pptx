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539" r:id="rId3"/>
    <p:sldId id="540" r:id="rId4"/>
    <p:sldId id="551" r:id="rId5"/>
    <p:sldId id="553" r:id="rId6"/>
    <p:sldId id="554" r:id="rId7"/>
    <p:sldId id="2018" r:id="rId8"/>
    <p:sldId id="555" r:id="rId9"/>
    <p:sldId id="556" r:id="rId10"/>
    <p:sldId id="2030" r:id="rId11"/>
    <p:sldId id="2028" r:id="rId12"/>
    <p:sldId id="2029" r:id="rId13"/>
    <p:sldId id="2021" r:id="rId14"/>
    <p:sldId id="262" r:id="rId15"/>
    <p:sldId id="2022" r:id="rId16"/>
    <p:sldId id="259" r:id="rId17"/>
    <p:sldId id="263" r:id="rId18"/>
    <p:sldId id="264" r:id="rId19"/>
    <p:sldId id="265" r:id="rId20"/>
    <p:sldId id="2023" r:id="rId21"/>
    <p:sldId id="270" r:id="rId22"/>
    <p:sldId id="272" r:id="rId23"/>
    <p:sldId id="2024" r:id="rId24"/>
    <p:sldId id="2031" r:id="rId25"/>
    <p:sldId id="279" r:id="rId26"/>
    <p:sldId id="280" r:id="rId27"/>
    <p:sldId id="29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A2ED2-BDC6-4F30-A9CC-64E707C1345D}" type="datetimeFigureOut">
              <a:rPr lang="en-US" smtClean="0"/>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94E36C-8965-4770-96D2-B8E66C66E5F5}" type="slidenum">
              <a:rPr lang="en-US" smtClean="0"/>
              <a:t>‹#›</a:t>
            </a:fld>
            <a:endParaRPr lang="en-US"/>
          </a:p>
        </p:txBody>
      </p:sp>
    </p:spTree>
    <p:extLst>
      <p:ext uri="{BB962C8B-B14F-4D97-AF65-F5344CB8AC3E}">
        <p14:creationId xmlns:p14="http://schemas.microsoft.com/office/powerpoint/2010/main" val="2510829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2728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8033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812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292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49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755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392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F0A7DB-88E1-43C0-80EE-F70E8B8C78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173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8EA6-9304-AC17-76B3-F3FF3CEDA6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DC97D-37BD-1F19-264A-C03069752D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CF67A6-5EB1-A33E-B012-A79526A8F604}"/>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8DCBD0BE-6A0E-5153-DB1D-75C182898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386996-7CBD-6D17-224E-BCC676690B9C}"/>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2478280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91BD9-8203-A7C6-1881-4D33461F7B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F802CE-926D-8C70-4D25-D0BD9234F6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863AA-87DF-04EA-A2C9-7E6E07495845}"/>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2951FCDF-3D77-F48A-6D68-4ADBF4099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C2005-C888-D865-EC6D-D10CAB5741FB}"/>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1155009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9C773-CABE-923C-57C2-84EA972C89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652E5-584C-C3E4-1B63-37BE1B0FEB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9B9C8D-DD5F-A17F-5A58-CBE8A53520C7}"/>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21A9F11F-E95B-8A6E-9AF4-954D3FF6DB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98EEC-A7DE-3092-673B-5D074D01BAA9}"/>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2122303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47D7-915C-145F-8E53-2E5E8F57EC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14EEF8-0581-C3FC-A860-354879DE8D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4CDFD1-5240-CD81-1CA9-A5840EF502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001E8-93A1-7ED2-5991-417B018BF5C8}"/>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6" name="Footer Placeholder 5">
            <a:extLst>
              <a:ext uri="{FF2B5EF4-FFF2-40B4-BE49-F238E27FC236}">
                <a16:creationId xmlns:a16="http://schemas.microsoft.com/office/drawing/2014/main" id="{840A0E9A-359D-6209-ABA2-9FE463058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98DC6-0479-E43D-872B-389323C10881}"/>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3943978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1A8C-C55D-C2D1-214D-BBBDD5E7F0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0FA742-89A5-B6A2-A3E4-F464E8134D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84C1A7-07CB-322E-0A39-18837A6249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8D6861-760D-6323-F62B-06B75A1D37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146347-A29D-F078-0A6B-812AE19627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C15349-9EFE-5CD0-8241-182CD3D83BED}"/>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8" name="Footer Placeholder 7">
            <a:extLst>
              <a:ext uri="{FF2B5EF4-FFF2-40B4-BE49-F238E27FC236}">
                <a16:creationId xmlns:a16="http://schemas.microsoft.com/office/drawing/2014/main" id="{077DEBC3-96DA-4039-75DC-9473440C55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680BD7-9241-F892-2D89-B4971A60C33A}"/>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127962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1293-A062-37C6-630E-6CC3F22815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AE918A-FC0C-D164-500B-A34842A23A83}"/>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4" name="Footer Placeholder 3">
            <a:extLst>
              <a:ext uri="{FF2B5EF4-FFF2-40B4-BE49-F238E27FC236}">
                <a16:creationId xmlns:a16="http://schemas.microsoft.com/office/drawing/2014/main" id="{3B0E7C7A-F102-9D90-6410-E1F19E90E5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0188A2-175B-29DC-7110-B7B1A01A464B}"/>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143900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5E802E-6395-46A9-1481-05FFF8BCBB55}"/>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3" name="Footer Placeholder 2">
            <a:extLst>
              <a:ext uri="{FF2B5EF4-FFF2-40B4-BE49-F238E27FC236}">
                <a16:creationId xmlns:a16="http://schemas.microsoft.com/office/drawing/2014/main" id="{811E213E-4512-CD99-EBF0-18EA5A2BA5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EF653F-B4A1-CFF0-93D1-1466F61ECB00}"/>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395700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0488-C7D3-D1F4-A830-BFBFC70C7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E1FD04-40FC-2D09-A81A-E764D33DFC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21E2BE-1334-72DE-DBBE-09F1548ED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D07A59-924E-942D-8A62-BAFAFA86983F}"/>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6" name="Footer Placeholder 5">
            <a:extLst>
              <a:ext uri="{FF2B5EF4-FFF2-40B4-BE49-F238E27FC236}">
                <a16:creationId xmlns:a16="http://schemas.microsoft.com/office/drawing/2014/main" id="{5BB034C8-CB4B-FDE9-CD6D-8BAB0458A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AB746-363E-2235-EC6E-6A676CDBF9A9}"/>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1171317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E71E9-D544-6C0E-9F18-6DAA40D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69C0D6-2FA6-E71D-9EC2-ACB731464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2EB324-4DE0-E75F-2ED2-98390BC38E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A18912-9600-F46F-AF4E-E08ED50110F1}"/>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6" name="Footer Placeholder 5">
            <a:extLst>
              <a:ext uri="{FF2B5EF4-FFF2-40B4-BE49-F238E27FC236}">
                <a16:creationId xmlns:a16="http://schemas.microsoft.com/office/drawing/2014/main" id="{78348327-3ED5-0A6F-32EA-5AE47D1C97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E9F941-48BA-FEE5-2281-657F7EB3C550}"/>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1782703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8A01C-2A7A-E001-3ACC-8BE585AE74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04AD62-6EB1-4553-2E67-06AB73EB1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01E10-CC68-1C52-BE89-CAE18F8C54A7}"/>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0495706A-4A78-9FBE-4E99-DC2B1061E7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6E6DF-752B-4A82-B87F-D124E771399B}"/>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797235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C7CFF2-6DFD-ED25-4E3C-1335E75E6C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95DC58-AF5C-A68C-9E39-83FDCAED02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917BE-3827-931C-4B54-FDD21D999A53}"/>
              </a:ext>
            </a:extLst>
          </p:cNvPr>
          <p:cNvSpPr>
            <a:spLocks noGrp="1"/>
          </p:cNvSpPr>
          <p:nvPr>
            <p:ph type="dt" sz="half" idx="10"/>
          </p:nvPr>
        </p:nvSpPr>
        <p:spPr/>
        <p:txBody>
          <a:body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552B1E2B-DAF1-5110-27F3-CC9A464DDD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8A266-47CC-CB7B-A0E3-5FAEAEB78AE7}"/>
              </a:ext>
            </a:extLst>
          </p:cNvPr>
          <p:cNvSpPr>
            <a:spLocks noGrp="1"/>
          </p:cNvSpPr>
          <p:nvPr>
            <p:ph type="sldNum" sz="quarter" idx="12"/>
          </p:nvPr>
        </p:nvSpPr>
        <p:spPr/>
        <p:txBody>
          <a:bodyPr/>
          <a:lstStyle/>
          <a:p>
            <a:fld id="{1A8DD113-ACB4-4BA4-A64B-AC0C32F75EC9}" type="slidenum">
              <a:rPr lang="en-US" smtClean="0"/>
              <a:t>‹#›</a:t>
            </a:fld>
            <a:endParaRPr lang="en-US"/>
          </a:p>
        </p:txBody>
      </p:sp>
    </p:spTree>
    <p:extLst>
      <p:ext uri="{BB962C8B-B14F-4D97-AF65-F5344CB8AC3E}">
        <p14:creationId xmlns:p14="http://schemas.microsoft.com/office/powerpoint/2010/main" val="219546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290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211427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237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328641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173715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743436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2393086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3708218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226530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0817982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644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224D97-4B91-FDD9-3D66-C9FA7BB8BB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7EED30-E983-56F3-590E-0A55D564A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BA35E-0CB4-84FB-FDD8-615B76459C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3DB72B-9D9E-4B02-8C87-139D56F3F2F6}" type="datetimeFigureOut">
              <a:rPr lang="en-US" smtClean="0"/>
              <a:t>6/21/2023</a:t>
            </a:fld>
            <a:endParaRPr lang="en-US"/>
          </a:p>
        </p:txBody>
      </p:sp>
      <p:sp>
        <p:nvSpPr>
          <p:cNvPr id="5" name="Footer Placeholder 4">
            <a:extLst>
              <a:ext uri="{FF2B5EF4-FFF2-40B4-BE49-F238E27FC236}">
                <a16:creationId xmlns:a16="http://schemas.microsoft.com/office/drawing/2014/main" id="{965DCCA0-F880-C93F-EEF2-4C2ED4AD07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C8472D-7601-B5F7-2002-7F941D0FC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8DD113-ACB4-4BA4-A64B-AC0C32F75EC9}" type="slidenum">
              <a:rPr lang="en-US" smtClean="0"/>
              <a:t>‹#›</a:t>
            </a:fld>
            <a:endParaRPr lang="en-US"/>
          </a:p>
        </p:txBody>
      </p:sp>
    </p:spTree>
    <p:extLst>
      <p:ext uri="{BB962C8B-B14F-4D97-AF65-F5344CB8AC3E}">
        <p14:creationId xmlns:p14="http://schemas.microsoft.com/office/powerpoint/2010/main" val="2257622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6/21/2023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668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C64A4C-FB70-F1EF-C8C0-7025FBD99A4B}"/>
              </a:ext>
            </a:extLst>
          </p:cNvPr>
          <p:cNvSpPr txBox="1"/>
          <p:nvPr/>
        </p:nvSpPr>
        <p:spPr>
          <a:xfrm>
            <a:off x="1371600" y="1720840"/>
            <a:ext cx="7280031" cy="3754874"/>
          </a:xfrm>
          <a:prstGeom prst="rect">
            <a:avLst/>
          </a:prstGeom>
          <a:noFill/>
        </p:spPr>
        <p:txBody>
          <a:bodyPr wrap="square">
            <a:spAutoFit/>
          </a:bodyPr>
          <a:lstStyle/>
          <a:p>
            <a:pPr marL="342900" indent="-342900">
              <a:spcAft>
                <a:spcPts val="1200"/>
              </a:spcAft>
              <a:buFont typeface="+mj-lt"/>
              <a:buAutoNum type="arabicPeriod"/>
            </a:pPr>
            <a:r>
              <a:rPr lang="en-US" dirty="0">
                <a:solidFill>
                  <a:srgbClr val="0070C0"/>
                </a:solidFill>
                <a:latin typeface="Berlin Sans FB" panose="020E0602020502020306" pitchFamily="34" charset="0"/>
              </a:rPr>
              <a:t>Enterprises rely on monitoring and reporting functions to identify risk for assessment and response. </a:t>
            </a:r>
          </a:p>
          <a:p>
            <a:pPr marL="342900" indent="-342900">
              <a:spcAft>
                <a:spcPts val="1200"/>
              </a:spcAft>
              <a:buFont typeface="+mj-lt"/>
              <a:buAutoNum type="arabicPeriod"/>
            </a:pPr>
            <a:r>
              <a:rPr lang="en-US" dirty="0">
                <a:solidFill>
                  <a:srgbClr val="0070C0"/>
                </a:solidFill>
                <a:latin typeface="Berlin Sans FB" panose="020E0602020502020306" pitchFamily="34" charset="0"/>
              </a:rPr>
              <a:t>The risk practitioner can best manage risk when monitoring is broad enough to provide a reasonable view of the risk environment </a:t>
            </a:r>
          </a:p>
          <a:p>
            <a:pPr marL="342900" indent="-342900">
              <a:spcAft>
                <a:spcPts val="1200"/>
              </a:spcAft>
              <a:buFont typeface="+mj-lt"/>
              <a:buAutoNum type="arabicPeriod"/>
            </a:pPr>
            <a:r>
              <a:rPr lang="en-US" dirty="0">
                <a:solidFill>
                  <a:srgbClr val="002060"/>
                </a:solidFill>
                <a:latin typeface="Berlin Sans FB" panose="020E0602020502020306" pitchFamily="34" charset="0"/>
              </a:rPr>
              <a:t>Identification and use of key risk indicators (KRIs), performance (KPIs) and controls (KCIs) can greatly improve the process of monitoring. </a:t>
            </a:r>
          </a:p>
          <a:p>
            <a:pPr marL="342900" indent="-342900">
              <a:spcAft>
                <a:spcPts val="1200"/>
              </a:spcAft>
              <a:buFont typeface="+mj-lt"/>
              <a:buAutoNum type="arabicPeriod"/>
            </a:pPr>
            <a:r>
              <a:rPr lang="en-US" dirty="0">
                <a:solidFill>
                  <a:srgbClr val="0070C0"/>
                </a:solidFill>
                <a:latin typeface="Berlin Sans FB" panose="020E0602020502020306" pitchFamily="34" charset="0"/>
              </a:rPr>
              <a:t>In addition, periodic assessments and testing may also be necessary as a means of identifying new and emerging risk.</a:t>
            </a:r>
          </a:p>
          <a:p>
            <a:pPr marL="342900" indent="-342900">
              <a:spcAft>
                <a:spcPts val="1200"/>
              </a:spcAft>
              <a:buFont typeface="+mj-lt"/>
              <a:buAutoNum type="arabicPeriod"/>
            </a:pPr>
            <a:r>
              <a:rPr lang="en-US" dirty="0">
                <a:solidFill>
                  <a:srgbClr val="002060"/>
                </a:solidFill>
                <a:latin typeface="Berlin Sans FB" panose="020E0602020502020306" pitchFamily="34" charset="0"/>
              </a:rPr>
              <a:t>Because of the changing nature of risk and associated controls, continuous monitoring is an essential step of the risk management life </a:t>
            </a: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cycle as seen in figure 3.12.</a:t>
            </a:r>
          </a:p>
        </p:txBody>
      </p:sp>
      <p:sp>
        <p:nvSpPr>
          <p:cNvPr id="5" name="TextBox 4">
            <a:extLst>
              <a:ext uri="{FF2B5EF4-FFF2-40B4-BE49-F238E27FC236}">
                <a16:creationId xmlns:a16="http://schemas.microsoft.com/office/drawing/2014/main" id="{A0363486-5C41-7F60-EF54-C5326D9F14D4}"/>
              </a:ext>
            </a:extLst>
          </p:cNvPr>
          <p:cNvSpPr txBox="1"/>
          <p:nvPr/>
        </p:nvSpPr>
        <p:spPr>
          <a:xfrm>
            <a:off x="818147" y="787750"/>
            <a:ext cx="7756358" cy="800219"/>
          </a:xfrm>
          <a:prstGeom prst="rect">
            <a:avLst/>
          </a:prstGeom>
          <a:noFill/>
        </p:spPr>
        <p:txBody>
          <a:bodyPr wrap="square">
            <a:spAutoFit/>
          </a:bodyPr>
          <a:lstStyle/>
          <a:p>
            <a:endParaRPr lang="en-US" sz="1800" dirty="0">
              <a:latin typeface="Courier New" panose="02070309020205020404" pitchFamily="49" charset="0"/>
            </a:endParaRPr>
          </a:p>
          <a:p>
            <a:r>
              <a:rPr lang="en-US" sz="2800" dirty="0">
                <a:solidFill>
                  <a:srgbClr val="C00000"/>
                </a:solidFill>
                <a:latin typeface="Berlin Sans FB Demi" panose="020E0802020502020306" pitchFamily="34" charset="0"/>
              </a:rPr>
              <a:t>Part C: Risk Monitoring and Reporting</a:t>
            </a:r>
          </a:p>
        </p:txBody>
      </p:sp>
    </p:spTree>
    <p:extLst>
      <p:ext uri="{BB962C8B-B14F-4D97-AF65-F5344CB8AC3E}">
        <p14:creationId xmlns:p14="http://schemas.microsoft.com/office/powerpoint/2010/main" val="3310413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41938E-1D79-D547-F955-D76F98A75DDD}"/>
              </a:ext>
            </a:extLst>
          </p:cNvPr>
          <p:cNvPicPr>
            <a:picLocks noChangeAspect="1"/>
          </p:cNvPicPr>
          <p:nvPr/>
        </p:nvPicPr>
        <p:blipFill>
          <a:blip r:embed="rId2"/>
          <a:stretch>
            <a:fillRect/>
          </a:stretch>
        </p:blipFill>
        <p:spPr>
          <a:xfrm>
            <a:off x="419851" y="95250"/>
            <a:ext cx="11191875" cy="6057900"/>
          </a:xfrm>
          <a:prstGeom prst="rect">
            <a:avLst/>
          </a:prstGeom>
        </p:spPr>
      </p:pic>
    </p:spTree>
    <p:extLst>
      <p:ext uri="{BB962C8B-B14F-4D97-AF65-F5344CB8AC3E}">
        <p14:creationId xmlns:p14="http://schemas.microsoft.com/office/powerpoint/2010/main" val="1184719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E80B07-321E-7A7D-FBA8-B87824688B3B}"/>
              </a:ext>
            </a:extLst>
          </p:cNvPr>
          <p:cNvSpPr txBox="1"/>
          <p:nvPr/>
        </p:nvSpPr>
        <p:spPr>
          <a:xfrm>
            <a:off x="1434535" y="861438"/>
            <a:ext cx="7619999" cy="4508927"/>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and Control Monitoring Techniques</a:t>
            </a:r>
          </a:p>
          <a:p>
            <a:pPr>
              <a:spcAft>
                <a:spcPts val="1200"/>
              </a:spcAft>
            </a:pPr>
            <a:endParaRPr lang="en-US" sz="1100" dirty="0">
              <a:latin typeface="Courier New" panose="02070309020205020404" pitchFamily="49" charset="0"/>
            </a:endParaRPr>
          </a:p>
          <a:p>
            <a:pPr marL="742950" lvl="1" indent="-285750">
              <a:spcAft>
                <a:spcPts val="1200"/>
              </a:spcAft>
              <a:buFont typeface="Wingdings" panose="05000000000000000000" pitchFamily="2" charset="2"/>
              <a:buChar char="§"/>
            </a:pPr>
            <a:r>
              <a:rPr lang="en-US" sz="1600" dirty="0">
                <a:solidFill>
                  <a:srgbClr val="002060"/>
                </a:solidFill>
                <a:latin typeface="Berlin Sans FB" panose="020E0602020502020306" pitchFamily="34" charset="0"/>
              </a:rPr>
              <a:t>To support the ability to monitor and report on risk, the risk practitioner should ensure that processes, logs and audit hooks are commonly placed into the control framework, which allows for the monitoring and evaluation of controls.</a:t>
            </a:r>
          </a:p>
          <a:p>
            <a:pPr marL="742950" lvl="1" indent="-285750">
              <a:spcAft>
                <a:spcPts val="1200"/>
              </a:spcAft>
              <a:buFont typeface="Wingdings" panose="05000000000000000000" pitchFamily="2" charset="2"/>
              <a:buChar char="§"/>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 As controls are designed, implemented and operated, the risk practitioner should ensure that logs are enabled, controls are able to be tested and regular reporting procedures are developed.</a:t>
            </a:r>
          </a:p>
          <a:p>
            <a:pPr marL="742950" lvl="1" indent="-285750">
              <a:spcAft>
                <a:spcPts val="1200"/>
              </a:spcAft>
              <a:buFont typeface="Wingdings" panose="05000000000000000000" pitchFamily="2" charset="2"/>
              <a:buChar char="§"/>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actual monitoring and reporting of controls should be performed in the risk monitoring phase of risk management;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however,</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 </a:t>
            </a: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the risk practitioner should ensure that the capability to monitor a control and to support monitoring systems is addressed in control design. </a:t>
            </a:r>
          </a:p>
          <a:p>
            <a:pPr marL="742950" lvl="1" indent="-285750">
              <a:spcAft>
                <a:spcPts val="1200"/>
              </a:spcAft>
              <a:buFont typeface="Wingdings" panose="05000000000000000000" pitchFamily="2" charset="2"/>
              <a:buChar char="§"/>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If the organization is using a managed security service provider (MSSP) or a SIEM system, the ability to capture data and the notification to the operations staff on the deployment of the system are necessary.</a:t>
            </a:r>
          </a:p>
        </p:txBody>
      </p:sp>
    </p:spTree>
    <p:extLst>
      <p:ext uri="{BB962C8B-B14F-4D97-AF65-F5344CB8AC3E}">
        <p14:creationId xmlns:p14="http://schemas.microsoft.com/office/powerpoint/2010/main" val="574566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757368-A71E-2A00-C104-BE8877DD4D12}"/>
              </a:ext>
            </a:extLst>
          </p:cNvPr>
          <p:cNvSpPr txBox="1"/>
          <p:nvPr/>
        </p:nvSpPr>
        <p:spPr>
          <a:xfrm>
            <a:off x="1520708" y="1670305"/>
            <a:ext cx="7323221" cy="4755148"/>
          </a:xfrm>
          <a:prstGeom prst="rect">
            <a:avLst/>
          </a:prstGeom>
          <a:noFill/>
        </p:spPr>
        <p:txBody>
          <a:bodyPr wrap="square">
            <a:spAutoFit/>
          </a:bodyPr>
          <a:lstStyle/>
          <a:p>
            <a:pPr marL="285750" indent="-285750">
              <a:buFont typeface="Wingdings" panose="05000000000000000000" pitchFamily="2" charset="2"/>
              <a:buChar char="q"/>
            </a:pPr>
            <a:r>
              <a:rPr lang="en-US" sz="1600" dirty="0">
                <a:solidFill>
                  <a:srgbClr val="002060"/>
                </a:solidFill>
                <a:latin typeface="Berlin Sans FB" panose="020E0602020502020306" pitchFamily="34" charset="0"/>
              </a:rPr>
              <a:t>The risk practitioner should remember that </a:t>
            </a:r>
            <a:r>
              <a:rPr lang="en-US" sz="1600" dirty="0">
                <a:solidFill>
                  <a:srgbClr val="0070C0"/>
                </a:solidFill>
                <a:latin typeface="Berlin Sans FB" panose="020E0602020502020306" pitchFamily="34" charset="0"/>
              </a:rPr>
              <a:t>purpose of </a:t>
            </a:r>
            <a:r>
              <a:rPr lang="en-US" sz="1600" dirty="0">
                <a:solidFill>
                  <a:srgbClr val="C00000"/>
                </a:solidFill>
                <a:latin typeface="Berlin Sans FB" panose="020E0602020502020306" pitchFamily="34" charset="0"/>
              </a:rPr>
              <a:t>control monitoring </a:t>
            </a:r>
            <a:r>
              <a:rPr lang="en-US" sz="1600" dirty="0">
                <a:solidFill>
                  <a:srgbClr val="0070C0"/>
                </a:solidFill>
                <a:latin typeface="Berlin Sans FB" panose="020E0602020502020306" pitchFamily="34" charset="0"/>
              </a:rPr>
              <a:t>is to verify whether the control is effectively addressing the risk, not to see whether the control itself is working. For example, a firewall that is configured in a way that does not regulate traffic between two networks may be ineffective even if the firewall is operational and processing traffic.</a:t>
            </a:r>
          </a:p>
          <a:p>
            <a:endParaRPr lang="en-US" sz="1600" dirty="0">
              <a:solidFill>
                <a:srgbClr val="002060"/>
              </a:solidFill>
              <a:latin typeface="Berlin Sans FB" panose="020E0602020502020306" pitchFamily="34" charset="0"/>
            </a:endParaRPr>
          </a:p>
          <a:p>
            <a:pPr marL="285750" indent="-285750">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Risk monitoring and evaluation are processes performed to:</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Monitor processes to ensure that they are performing in line with established performance metrics</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Provide reports that are systematic and timely</a:t>
            </a:r>
          </a:p>
          <a:p>
            <a:endParaRPr lang="en-US" sz="1600" dirty="0">
              <a:solidFill>
                <a:srgbClr val="002060"/>
              </a:solidFill>
              <a:latin typeface="Berlin Sans FB" panose="020E0602020502020306" pitchFamily="34" charset="0"/>
            </a:endParaRPr>
          </a:p>
          <a:p>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Sources of control monitoring information include:</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Network operations centers (NOC)</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Security operations centers (SOC)</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Command and control centers</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Continuous control monitoring</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Periodic testing</a:t>
            </a:r>
          </a:p>
          <a:p>
            <a:pPr marL="628650" lvl="1" indent="-171450">
              <a:buFont typeface="Wingdings" panose="05000000000000000000" pitchFamily="2" charset="2"/>
              <a:buChar char="ü"/>
            </a:pPr>
            <a:r>
              <a:rPr lang="en-US" sz="1600" dirty="0">
                <a:solidFill>
                  <a:srgbClr val="002060"/>
                </a:solidFill>
                <a:latin typeface="Berlin Sans FB" panose="020E0602020502020306" pitchFamily="34" charset="0"/>
              </a:rPr>
              <a:t>Independent assessments</a:t>
            </a:r>
          </a:p>
          <a:p>
            <a:endParaRPr lang="en-US" sz="1100" dirty="0">
              <a:latin typeface="Courier New" panose="02070309020205020404" pitchFamily="49" charset="0"/>
            </a:endParaRPr>
          </a:p>
        </p:txBody>
      </p:sp>
      <p:sp>
        <p:nvSpPr>
          <p:cNvPr id="4" name="TextBox 3">
            <a:extLst>
              <a:ext uri="{FF2B5EF4-FFF2-40B4-BE49-F238E27FC236}">
                <a16:creationId xmlns:a16="http://schemas.microsoft.com/office/drawing/2014/main" id="{F2DA35B4-D9A2-A156-2893-F3C232D6BEC2}"/>
              </a:ext>
            </a:extLst>
          </p:cNvPr>
          <p:cNvSpPr txBox="1"/>
          <p:nvPr/>
        </p:nvSpPr>
        <p:spPr>
          <a:xfrm>
            <a:off x="343877" y="0"/>
            <a:ext cx="11050954" cy="1600438"/>
          </a:xfrm>
          <a:prstGeom prst="rect">
            <a:avLst/>
          </a:prstGeom>
          <a:noFill/>
        </p:spPr>
        <p:txBody>
          <a:bodyPr wrap="square">
            <a:spAutoFit/>
          </a:bodyPr>
          <a:lstStyle/>
          <a:p>
            <a:r>
              <a:rPr lang="en-US" sz="3200" dirty="0">
                <a:solidFill>
                  <a:srgbClr val="C00000"/>
                </a:solidFill>
                <a:latin typeface="Berlin Sans FB Demi" panose="020E0802020502020306" pitchFamily="34" charset="0"/>
              </a:rPr>
              <a:t>Monitoring Controls</a:t>
            </a:r>
          </a:p>
          <a:p>
            <a:endParaRPr lang="en-US" sz="1200" dirty="0">
              <a:latin typeface="Courier New" panose="02070309020205020404" pitchFamily="49" charset="0"/>
            </a:endParaRPr>
          </a:p>
          <a:p>
            <a:pPr marL="285750" indent="-285750">
              <a:buFont typeface="Wingdings" panose="05000000000000000000" pitchFamily="2" charset="2"/>
              <a:buChar char="q"/>
            </a:pPr>
            <a:r>
              <a:rPr lang="en-US" sz="1800" dirty="0">
                <a:solidFill>
                  <a:srgbClr val="002060"/>
                </a:solidFill>
                <a:latin typeface="Berlin Sans FB" panose="020E0602020502020306" pitchFamily="34" charset="0"/>
              </a:rPr>
              <a:t>The risk practitioner should work with stakeholders to set up an IS control monitoring process that reflects objectives, scopes and methods consistent with enterprise objectives and integrate this approach with performance management at the enterprise level.</a:t>
            </a:r>
          </a:p>
        </p:txBody>
      </p:sp>
    </p:spTree>
    <p:extLst>
      <p:ext uri="{BB962C8B-B14F-4D97-AF65-F5344CB8AC3E}">
        <p14:creationId xmlns:p14="http://schemas.microsoft.com/office/powerpoint/2010/main" val="940865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F0A51C-4B98-D001-5BCD-1728777DB924}"/>
              </a:ext>
            </a:extLst>
          </p:cNvPr>
          <p:cNvSpPr txBox="1"/>
          <p:nvPr/>
        </p:nvSpPr>
        <p:spPr>
          <a:xfrm>
            <a:off x="1533872" y="570523"/>
            <a:ext cx="8654716" cy="5416868"/>
          </a:xfrm>
          <a:prstGeom prst="rect">
            <a:avLst/>
          </a:prstGeom>
          <a:noFill/>
        </p:spPr>
        <p:txBody>
          <a:bodyPr wrap="square">
            <a:spAutoFit/>
          </a:bodyPr>
          <a:lstStyle/>
          <a:p>
            <a:r>
              <a:rPr lang="en-US" sz="3200" u="sng" dirty="0">
                <a:solidFill>
                  <a:srgbClr val="C00000"/>
                </a:solidFill>
                <a:latin typeface="Berlin Sans FB Demi" panose="020E0802020502020306" pitchFamily="34" charset="0"/>
              </a:rPr>
              <a:t>Control Assessment Types</a:t>
            </a:r>
          </a:p>
          <a:p>
            <a:endParaRPr lang="en-US" sz="1100" dirty="0">
              <a:latin typeface="Courier New" panose="02070309020205020404" pitchFamily="49" charset="0"/>
            </a:endParaRPr>
          </a:p>
          <a:p>
            <a:endParaRPr lang="en-US" sz="1100" dirty="0">
              <a:latin typeface="Courier New" panose="02070309020205020404" pitchFamily="49" charset="0"/>
            </a:endParaRPr>
          </a:p>
          <a:p>
            <a:pPr marL="0" lvl="1"/>
            <a:r>
              <a:rPr lang="en-US" sz="2400" dirty="0">
                <a:solidFill>
                  <a:srgbClr val="C00000"/>
                </a:solidFill>
                <a:latin typeface="Berlin Sans FB Demi" panose="020E0802020502020306" pitchFamily="34" charset="0"/>
              </a:rPr>
              <a:t>1. Self-assessment</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Controls are most easily assessed by those who regularly interact with them as part of their job functions, </a:t>
            </a:r>
            <a:r>
              <a:rPr lang="en-US" sz="1600" dirty="0">
                <a:solidFill>
                  <a:srgbClr val="0070C0"/>
                </a:solidFill>
                <a:latin typeface="Berlin Sans FB" panose="020E0602020502020306" pitchFamily="34" charset="0"/>
              </a:rPr>
              <a:t>operational staff can determine the general effectiveness of controls on a recurring basis. </a:t>
            </a: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In time, these self- assessments establish baselines, which can be used to highlight deviations that may indicate control weaknesses or failures.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Self-assessment is included in methodologies propagate by NIST as well as the COBIT and COSO frameworks.</a:t>
            </a:r>
          </a:p>
          <a:p>
            <a:pPr lvl="1"/>
            <a:endParaRPr lang="en-US" sz="1600" dirty="0">
              <a:solidFill>
                <a:srgbClr val="002060"/>
              </a:solidFill>
              <a:latin typeface="Berlin Sans FB" panose="020E0602020502020306" pitchFamily="34" charset="0"/>
            </a:endParaRPr>
          </a:p>
          <a:p>
            <a:pPr marL="0" lvl="1"/>
            <a:r>
              <a:rPr lang="en-US" sz="2400" dirty="0">
                <a:solidFill>
                  <a:srgbClr val="C00000"/>
                </a:solidFill>
                <a:latin typeface="Berlin Sans FB Demi" panose="020E0802020502020306" pitchFamily="34" charset="0"/>
              </a:rPr>
              <a:t>2. IS Audit</a:t>
            </a:r>
          </a:p>
          <a:p>
            <a:pPr lvl="1"/>
            <a:endParaRPr lang="en-US" sz="1600" dirty="0">
              <a:solidFill>
                <a:srgbClr val="002060"/>
              </a:solidFill>
              <a:latin typeface="Berlin Sans FB" panose="020E0602020502020306" pitchFamily="34" charset="0"/>
            </a:endParaRPr>
          </a:p>
          <a:p>
            <a:pPr marL="800100" lvl="1" indent="-342900">
              <a:spcAft>
                <a:spcPts val="600"/>
              </a:spcAft>
              <a:buFont typeface="Arial" panose="020B0604020202020204" pitchFamily="34" charset="0"/>
              <a:buChar char="•"/>
            </a:pPr>
            <a:r>
              <a:rPr lang="en-US" sz="1600" dirty="0">
                <a:solidFill>
                  <a:srgbClr val="0070C0"/>
                </a:solidFill>
                <a:latin typeface="Berlin Sans FB" panose="020E0602020502020306" pitchFamily="34" charset="0"/>
              </a:rPr>
              <a:t>Audit teams provide independent and objective review of the effectiveness and appropriateness of the control environment. </a:t>
            </a:r>
          </a:p>
          <a:p>
            <a:pPr marL="800100" lvl="1" indent="-342900">
              <a:spcAft>
                <a:spcPts val="600"/>
              </a:spcAft>
              <a:buFont typeface="Arial" panose="020B0604020202020204" pitchFamily="34" charset="0"/>
              <a:buChar char="•"/>
            </a:pPr>
            <a:r>
              <a:rPr lang="en-US" sz="1600" dirty="0">
                <a:solidFill>
                  <a:srgbClr val="0070C0"/>
                </a:solidFill>
                <a:latin typeface="Berlin Sans FB" panose="020E0602020502020306" pitchFamily="34" charset="0"/>
              </a:rPr>
              <a:t>Information provided by IS auditors can underline the need for control enhancement and bring risk to the attention of management along with strong supporting evidence. </a:t>
            </a:r>
          </a:p>
        </p:txBody>
      </p:sp>
    </p:spTree>
    <p:extLst>
      <p:ext uri="{BB962C8B-B14F-4D97-AF65-F5344CB8AC3E}">
        <p14:creationId xmlns:p14="http://schemas.microsoft.com/office/powerpoint/2010/main" val="2183157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81DA95-9582-4B28-340D-7DCD38A81E94}"/>
              </a:ext>
            </a:extLst>
          </p:cNvPr>
          <p:cNvSpPr txBox="1"/>
          <p:nvPr/>
        </p:nvSpPr>
        <p:spPr>
          <a:xfrm>
            <a:off x="1251283" y="192472"/>
            <a:ext cx="6673518" cy="589392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3. Vulnerability Assessment</a:t>
            </a:r>
          </a:p>
          <a:p>
            <a:endParaRPr lang="en-US" sz="1100" dirty="0">
              <a:latin typeface="Courier New" panose="02070309020205020404" pitchFamily="49" charset="0"/>
            </a:endParaRPr>
          </a:p>
          <a:p>
            <a:pPr marL="800100" lvl="1" indent="-342900">
              <a:spcAft>
                <a:spcPts val="1200"/>
              </a:spcAft>
              <a:buFont typeface="+mj-lt"/>
              <a:buAutoNum type="arabicPeriod"/>
            </a:pPr>
            <a:r>
              <a:rPr lang="en-US" sz="1400" dirty="0">
                <a:solidFill>
                  <a:srgbClr val="0070C0"/>
                </a:solidFill>
                <a:latin typeface="Berlin Sans FB" panose="020E0602020502020306" pitchFamily="34" charset="0"/>
              </a:rPr>
              <a:t>A vulnerability assessment helps identify, classify, and prioritize vulnerabilities in network infrastructure, computer systems, and applications. </a:t>
            </a:r>
          </a:p>
          <a:p>
            <a:pPr marL="800100" lvl="1" indent="-342900">
              <a:spcAft>
                <a:spcPts val="1200"/>
              </a:spcAft>
              <a:buFont typeface="+mj-lt"/>
              <a:buAutoNum type="arabicPeriod"/>
            </a:pPr>
            <a:r>
              <a:rPr lang="en-US" sz="1400" dirty="0">
                <a:solidFill>
                  <a:srgbClr val="0070C0"/>
                </a:solidFill>
                <a:latin typeface="Berlin Sans FB" panose="020E0602020502020306" pitchFamily="34" charset="0"/>
              </a:rPr>
              <a:t>A vulnerability is a security weaknesses that might expose the organization to cyber threats or risks. Vulnerability assessments often employ automated testing tools such as network security scanners, showing the results in a vulnerability assessment report. </a:t>
            </a:r>
          </a:p>
          <a:p>
            <a:pPr marL="800100" lvl="1" indent="-342900">
              <a:spcAft>
                <a:spcPts val="1200"/>
              </a:spcAft>
              <a:buFont typeface="+mj-lt"/>
              <a:buAutoNum type="arabicPeriod"/>
            </a:pPr>
            <a:r>
              <a:rPr lang="en-US" sz="1400" dirty="0">
                <a:solidFill>
                  <a:srgbClr val="0070C0"/>
                </a:solidFill>
                <a:latin typeface="Berlin Sans FB" panose="020E0602020502020306" pitchFamily="34" charset="0"/>
              </a:rPr>
              <a:t>The scope of an assessment may range from a single system or application to an entire facility or end-to-end business process. </a:t>
            </a:r>
          </a:p>
          <a:p>
            <a:pPr marL="800100" lvl="1" indent="-342900">
              <a:spcAft>
                <a:spcPts val="1200"/>
              </a:spcAft>
              <a:buFont typeface="+mj-lt"/>
              <a:buAutoNum type="arabicPeriod"/>
            </a:pPr>
            <a:r>
              <a:rPr lang="en-US" sz="1600" dirty="0">
                <a:solidFill>
                  <a:srgbClr val="C00000"/>
                </a:solidFill>
                <a:latin typeface="Berlin Sans FB" panose="020E0602020502020306" pitchFamily="34" charset="0"/>
              </a:rPr>
              <a:t>The purpose of the assessment is to deliver information to management that can be used both to understand the effectiveness of the risk management program and make decisions regarding treatment of identified vulnerability, such as deploying new controls.</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A risk practitioner participating in a vulnerability assessment should have a working knowledge of both technical and nontechnical security controls in the environment and the overall architecture. </a:t>
            </a:r>
          </a:p>
          <a:p>
            <a:pPr marL="800100" lvl="1" indent="-342900">
              <a:spcAft>
                <a:spcPts val="1200"/>
              </a:spcAft>
              <a:buFont typeface="+mj-lt"/>
              <a:buAutoNum type="arabicPeriod"/>
            </a:pPr>
            <a:r>
              <a:rPr lang="en-US" sz="1600" dirty="0">
                <a:solidFill>
                  <a:srgbClr val="C00000"/>
                </a:solidFill>
                <a:latin typeface="Berlin Sans FB" panose="020E0602020502020306" pitchFamily="34" charset="0"/>
              </a:rPr>
              <a:t>vulnerabilities may be accepted by management if the only available mitigation strategies cost more than the potential impact of compromise.</a:t>
            </a:r>
          </a:p>
        </p:txBody>
      </p:sp>
    </p:spTree>
    <p:extLst>
      <p:ext uri="{BB962C8B-B14F-4D97-AF65-F5344CB8AC3E}">
        <p14:creationId xmlns:p14="http://schemas.microsoft.com/office/powerpoint/2010/main" val="286143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4B5B46-3188-FC2F-B91B-87B1896A4C43}"/>
              </a:ext>
            </a:extLst>
          </p:cNvPr>
          <p:cNvSpPr txBox="1"/>
          <p:nvPr/>
        </p:nvSpPr>
        <p:spPr>
          <a:xfrm>
            <a:off x="1026695" y="375698"/>
            <a:ext cx="8037094" cy="5663089"/>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4. Penetration Testing</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A penetration test is a targeted attempt to break into an environment.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As with a vulnerability assessment, the target of a penetration test may be a system, application, facility or end-to-end business process.</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If the goal of a penetration test is to validate a vulnerability assessment, the tester is typically given the results of the assessment in order to focus on attempts to exploit the vulnerabilities that have already been identified. </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If the penetration tester is able to break in, then the vulnerability is real and must be mitigated; otherwise, there is a good chance that the vulnerability may be a false positive and not require mitigation.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This validation-centric approach is typically called a white hat penetration test.</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Penetration tests can also be undertaken against systems believed to be secure. In order to test the effectiveness of the security associated with such a system</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It is also essential that the results of penetration testing be used as the basis for improvement, which is what distinguishes a penetration test from a practical audit. </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In environments where a Red Team operates, this improvement can be made nearly continuous through active engagement between the Red and Blue teams to review lessons learned a partnership sometimes called the Purple Team to denote the commitment from both teams.</a:t>
            </a:r>
          </a:p>
        </p:txBody>
      </p:sp>
    </p:spTree>
    <p:extLst>
      <p:ext uri="{BB962C8B-B14F-4D97-AF65-F5344CB8AC3E}">
        <p14:creationId xmlns:p14="http://schemas.microsoft.com/office/powerpoint/2010/main" val="123975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798D08-AA06-8D94-945B-53C0C9B41D70}"/>
              </a:ext>
            </a:extLst>
          </p:cNvPr>
          <p:cNvSpPr txBox="1"/>
          <p:nvPr/>
        </p:nvSpPr>
        <p:spPr>
          <a:xfrm>
            <a:off x="633663" y="432680"/>
            <a:ext cx="9198091" cy="5232202"/>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and Control Reporting Techniques</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Risk practitioners are commonly expected to provide regular reports to management and the board of directors on the status of the risk management program and the overall risk profile of the enterprise. </a:t>
            </a: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Making such a report requires the review of the effectiveness of the controls in the enterprise and their compliance with established policy.</a:t>
            </a: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 Controls may need adjustment, replacement or removal depending on the changes in the risk environment and the acceptance and appropriateness of the controls.</a:t>
            </a:r>
          </a:p>
          <a:p>
            <a:pPr marL="800100" lvl="1" indent="-342900">
              <a:buFont typeface="+mj-lt"/>
              <a:buAutoNum type="arabicPeriod"/>
            </a:pPr>
            <a:endParaRPr lang="en-US" sz="2000" dirty="0">
              <a:solidFill>
                <a:srgbClr val="7030A0"/>
              </a:solidFill>
              <a:effectLst>
                <a:outerShdw blurRad="38100" dist="38100" dir="2700000" algn="tl">
                  <a:srgbClr val="000000">
                    <a:alpha val="43137"/>
                  </a:srgbClr>
                </a:outerShdw>
              </a:effectLst>
              <a:latin typeface="Berlin Sans FB" panose="020E0602020502020306" pitchFamily="34" charset="0"/>
            </a:endParaRPr>
          </a:p>
          <a:p>
            <a:pPr marL="800100" lvl="1" indent="-342900">
              <a:buFont typeface="+mj-lt"/>
              <a:buAutoNum type="arabicPeriod"/>
            </a:pPr>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The effectiveness of control monitoring is dependent on the following</a:t>
            </a:r>
            <a:r>
              <a:rPr lang="en-US" sz="1600" dirty="0">
                <a:solidFill>
                  <a:srgbClr val="002060"/>
                </a:solidFill>
                <a:latin typeface="Berlin Sans FB" panose="020E0602020502020306" pitchFamily="34" charset="0"/>
              </a:rPr>
              <a:t>:</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 Timeliness of the reporting ---are data received in time to take corrective action?</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Skill of the data analyst ---does the analyst have the skills to properly evaluate the controls?</a:t>
            </a:r>
          </a:p>
          <a:p>
            <a:pPr marL="1257300" lvl="2" indent="-342900">
              <a:buFont typeface="Wingdings" panose="05000000000000000000" pitchFamily="2" charset="2"/>
              <a:buChar char="§"/>
            </a:pPr>
            <a:endParaRPr lang="en-US" sz="1600" dirty="0">
              <a:solidFill>
                <a:srgbClr val="002060"/>
              </a:solidFill>
              <a:latin typeface="Berlin Sans FB" panose="020E0602020502020306" pitchFamily="34" charset="0"/>
            </a:endParaRP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Quality of monitoring data available ---are the monitoring data accurate and complete?</a:t>
            </a:r>
          </a:p>
          <a:p>
            <a:pPr marL="1257300" lvl="2" indent="-342900">
              <a:buFont typeface="Wingdings" panose="05000000000000000000" pitchFamily="2" charset="2"/>
              <a:buChar char="§"/>
            </a:pPr>
            <a:endParaRPr lang="en-US" sz="1600" dirty="0">
              <a:solidFill>
                <a:srgbClr val="002060"/>
              </a:solidFill>
              <a:latin typeface="Berlin Sans FB" panose="020E0602020502020306" pitchFamily="34" charset="0"/>
            </a:endParaRP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Quantity of data to be analyzed ---can the risk practitioner find the important data in the midst of all the other log data available?</a:t>
            </a:r>
          </a:p>
        </p:txBody>
      </p:sp>
    </p:spTree>
    <p:extLst>
      <p:ext uri="{BB962C8B-B14F-4D97-AF65-F5344CB8AC3E}">
        <p14:creationId xmlns:p14="http://schemas.microsoft.com/office/powerpoint/2010/main" val="1031761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575158-0F1B-F642-ADA6-A4B3DFB7F46D}"/>
              </a:ext>
            </a:extLst>
          </p:cNvPr>
          <p:cNvSpPr txBox="1"/>
          <p:nvPr/>
        </p:nvSpPr>
        <p:spPr>
          <a:xfrm>
            <a:off x="922214" y="305644"/>
            <a:ext cx="7205785" cy="563231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What is a risk report?</a:t>
            </a:r>
          </a:p>
          <a:p>
            <a:pPr marL="742950" lvl="1" indent="-285750">
              <a:spcBef>
                <a:spcPts val="600"/>
              </a:spcBef>
              <a:buFont typeface="Wingdings" panose="05000000000000000000" pitchFamily="2" charset="2"/>
              <a:buChar char="q"/>
            </a:pPr>
            <a:r>
              <a:rPr lang="en-US" sz="1600" dirty="0">
                <a:solidFill>
                  <a:srgbClr val="0070C0"/>
                </a:solidFill>
                <a:latin typeface="Berlin Sans FB" panose="020E0602020502020306" pitchFamily="34" charset="0"/>
              </a:rPr>
              <a:t>A risk report is a summary that describes the potential risks a company may face. They address critical risks, which have the potential for severe consequences, and emerging risks that may become problematic in the future if someone doesn't monitor them closely.</a:t>
            </a:r>
          </a:p>
          <a:p>
            <a:pPr marL="742950" lvl="1" indent="-285750">
              <a:spcBef>
                <a:spcPts val="600"/>
              </a:spcBef>
              <a:buFont typeface="Wingdings" panose="05000000000000000000" pitchFamily="2" charset="2"/>
              <a:buChar char="q"/>
            </a:pPr>
            <a:r>
              <a:rPr lang="en-US" sz="1600" dirty="0">
                <a:solidFill>
                  <a:srgbClr val="002060"/>
                </a:solidFill>
                <a:latin typeface="Berlin Sans FB" panose="020E0602020502020306" pitchFamily="34" charset="0"/>
              </a:rPr>
              <a:t> A report also explores possibilities for addressing risks and preventing adverse outcomes. </a:t>
            </a:r>
          </a:p>
          <a:p>
            <a:pPr marL="742950" lvl="1" indent="-285750">
              <a:spcBef>
                <a:spcPts val="600"/>
              </a:spcBef>
              <a:buFont typeface="Wingdings" panose="05000000000000000000" pitchFamily="2" charset="2"/>
              <a:buChar char="q"/>
            </a:pPr>
            <a:r>
              <a:rPr lang="en-US" sz="1600" dirty="0">
                <a:solidFill>
                  <a:srgbClr val="002060"/>
                </a:solidFill>
                <a:latin typeface="Berlin Sans FB" panose="020E0602020502020306" pitchFamily="34" charset="0"/>
              </a:rPr>
              <a:t>The project manager, the project team or the risk owner writes the reports. </a:t>
            </a:r>
          </a:p>
          <a:p>
            <a:pPr lvl="1">
              <a:spcBef>
                <a:spcPts val="600"/>
              </a:spcBef>
            </a:pPr>
            <a:r>
              <a:rPr lang="en-US" sz="1600" dirty="0">
                <a:solidFill>
                  <a:srgbClr val="0070C0"/>
                </a:solidFill>
                <a:latin typeface="Berlin Sans FB" panose="020E0602020502020306" pitchFamily="34" charset="0"/>
              </a:rPr>
              <a:t>The report may include :</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How effective the company is at handling potential risks</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Which policies seem insufficient</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Which controls aren't working as planned</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What changes are necessary to keep risk at an acceptable level</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What the updated status of corrective actions is</a:t>
            </a:r>
          </a:p>
          <a:p>
            <a:pPr marL="1200150" lvl="2" indent="-285750">
              <a:spcBef>
                <a:spcPts val="600"/>
              </a:spcBef>
              <a:buFont typeface="Wingdings" panose="05000000000000000000" pitchFamily="2" charset="2"/>
              <a:buChar char="§"/>
            </a:pPr>
            <a:r>
              <a:rPr lang="en-US" sz="1600" dirty="0">
                <a:solidFill>
                  <a:srgbClr val="002060"/>
                </a:solidFill>
                <a:latin typeface="Berlin Sans FB" panose="020E0602020502020306" pitchFamily="34" charset="0"/>
              </a:rPr>
              <a:t>What the signs of trends in the incidence of risks are</a:t>
            </a:r>
          </a:p>
          <a:p>
            <a:pPr lvl="1">
              <a:spcBef>
                <a:spcPts val="600"/>
              </a:spcBef>
            </a:pPr>
            <a:endParaRPr lang="en-US" sz="1600" dirty="0">
              <a:solidFill>
                <a:srgbClr val="002060"/>
              </a:solidFill>
              <a:latin typeface="Berlin Sans FB" panose="020E0602020502020306" pitchFamily="34" charset="0"/>
            </a:endParaRPr>
          </a:p>
          <a:p>
            <a:pPr marL="742950" lvl="1" indent="-285750">
              <a:spcBef>
                <a:spcPts val="600"/>
              </a:spcBef>
              <a:buFont typeface="Wingdings" panose="05000000000000000000" pitchFamily="2" charset="2"/>
              <a:buChar char="q"/>
            </a:pPr>
            <a:r>
              <a:rPr lang="en-US" sz="1600" dirty="0">
                <a:solidFill>
                  <a:srgbClr val="002060"/>
                </a:solidFill>
                <a:latin typeface="Berlin Sans FB" panose="020E0602020502020306" pitchFamily="34" charset="0"/>
              </a:rPr>
              <a:t>Senior management read risk reports to take on adequate risk management and achieve expected project results.</a:t>
            </a:r>
          </a:p>
        </p:txBody>
      </p:sp>
    </p:spTree>
    <p:extLst>
      <p:ext uri="{BB962C8B-B14F-4D97-AF65-F5344CB8AC3E}">
        <p14:creationId xmlns:p14="http://schemas.microsoft.com/office/powerpoint/2010/main" val="589955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93707-8E68-DB8D-EA40-EF38F597DDBE}"/>
              </a:ext>
            </a:extLst>
          </p:cNvPr>
          <p:cNvSpPr txBox="1"/>
          <p:nvPr/>
        </p:nvSpPr>
        <p:spPr>
          <a:xfrm>
            <a:off x="797167" y="299617"/>
            <a:ext cx="7557479" cy="5416868"/>
          </a:xfrm>
          <a:prstGeom prst="rect">
            <a:avLst/>
          </a:prstGeom>
          <a:noFill/>
        </p:spPr>
        <p:txBody>
          <a:bodyPr wrap="square">
            <a:spAutoFit/>
          </a:bodyPr>
          <a:lstStyle/>
          <a:p>
            <a:pPr>
              <a:spcBef>
                <a:spcPts val="600"/>
              </a:spcBef>
            </a:pPr>
            <a:r>
              <a:rPr lang="en-US" sz="2400" u="sng" dirty="0">
                <a:solidFill>
                  <a:srgbClr val="C00000"/>
                </a:solidFill>
                <a:latin typeface="Berlin Sans FB Demi" panose="020E0802020502020306" pitchFamily="34" charset="0"/>
              </a:rPr>
              <a:t>What should the report address</a:t>
            </a:r>
          </a:p>
          <a:p>
            <a:pPr>
              <a:spcBef>
                <a:spcPts val="600"/>
              </a:spcBef>
            </a:pPr>
            <a:r>
              <a:rPr lang="en-US" sz="1600" dirty="0">
                <a:solidFill>
                  <a:srgbClr val="0070C0"/>
                </a:solidFill>
                <a:latin typeface="Berlin Sans FB" panose="020E0602020502020306" pitchFamily="34" charset="0"/>
              </a:rPr>
              <a:t>Risk reports may address various types of risks, including:</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Commercial risks: </a:t>
            </a:r>
            <a:r>
              <a:rPr lang="en-US" sz="1400" dirty="0">
                <a:solidFill>
                  <a:srgbClr val="002060"/>
                </a:solidFill>
                <a:latin typeface="Berlin Sans FB" panose="020E0602020502020306" pitchFamily="34" charset="0"/>
              </a:rPr>
              <a:t>These are economic or market risks, including changes in prices and demand.</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Compliance and regulatory risks: </a:t>
            </a:r>
            <a:r>
              <a:rPr lang="en-US" sz="1400" dirty="0">
                <a:solidFill>
                  <a:srgbClr val="002060"/>
                </a:solidFill>
                <a:latin typeface="Berlin Sans FB" panose="020E0602020502020306" pitchFamily="34" charset="0"/>
              </a:rPr>
              <a:t>This includes the risk of violating a law or regulation, such as inadequate capacity or fraud.</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Environmental risks: </a:t>
            </a:r>
            <a:r>
              <a:rPr lang="en-US" sz="1400" dirty="0">
                <a:solidFill>
                  <a:srgbClr val="002060"/>
                </a:solidFill>
                <a:latin typeface="Berlin Sans FB" panose="020E0602020502020306" pitchFamily="34" charset="0"/>
              </a:rPr>
              <a:t>These are the risk of unwanted accidents, such as a natural disaster like a flood.</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Financial risks: </a:t>
            </a:r>
            <a:r>
              <a:rPr lang="en-US" sz="1400" dirty="0">
                <a:solidFill>
                  <a:srgbClr val="002060"/>
                </a:solidFill>
                <a:latin typeface="Berlin Sans FB" panose="020E0602020502020306" pitchFamily="34" charset="0"/>
              </a:rPr>
              <a:t>The possibility of losing money on a business venture, potentially due to changes in interest rates, is a financial risk.</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Health and safety risks: </a:t>
            </a:r>
            <a:r>
              <a:rPr lang="en-US" sz="1400" dirty="0">
                <a:solidFill>
                  <a:srgbClr val="002060"/>
                </a:solidFill>
                <a:latin typeface="Berlin Sans FB" panose="020E0602020502020306" pitchFamily="34" charset="0"/>
              </a:rPr>
              <a:t>These include the possibility of illness or injury, potentially from infectious diseases or slipping and getting injured.</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Operational risks: </a:t>
            </a:r>
            <a:r>
              <a:rPr lang="en-US" sz="1400" dirty="0">
                <a:solidFill>
                  <a:srgbClr val="002060"/>
                </a:solidFill>
                <a:latin typeface="Berlin Sans FB" panose="020E0602020502020306" pitchFamily="34" charset="0"/>
              </a:rPr>
              <a:t>These are the chances a company takes by operating normally, potentially due to employee conduct or technology risks.</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Reputational risks: </a:t>
            </a:r>
            <a:r>
              <a:rPr lang="en-US" sz="1400" dirty="0">
                <a:solidFill>
                  <a:srgbClr val="002060"/>
                </a:solidFill>
                <a:latin typeface="Berlin Sans FB" panose="020E0602020502020306" pitchFamily="34" charset="0"/>
              </a:rPr>
              <a:t>The risk of damaging corporate reputation, potentially due to social media misuse or a data breach, it's a reputational risk.</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Strategic risks: </a:t>
            </a:r>
            <a:r>
              <a:rPr lang="en-US" sz="1400" dirty="0">
                <a:solidFill>
                  <a:srgbClr val="002060"/>
                </a:solidFill>
                <a:latin typeface="Berlin Sans FB" panose="020E0602020502020306" pitchFamily="34" charset="0"/>
              </a:rPr>
              <a:t>These are the risks that failed business decisions may have on the company, possibly from a merger or due to senior management turnover.</a:t>
            </a:r>
          </a:p>
          <a:p>
            <a:pPr marL="800100" lvl="1" indent="-342900">
              <a:spcBef>
                <a:spcPts val="600"/>
              </a:spcBef>
              <a:buFont typeface="+mj-lt"/>
              <a:buAutoNum type="arabicPeriod"/>
            </a:pPr>
            <a:r>
              <a:rPr lang="en-US" sz="1600" dirty="0">
                <a:solidFill>
                  <a:srgbClr val="C00000"/>
                </a:solidFill>
                <a:latin typeface="Berlin Sans FB" panose="020E0602020502020306" pitchFamily="34" charset="0"/>
              </a:rPr>
              <a:t>Workforce risks: </a:t>
            </a:r>
            <a:r>
              <a:rPr lang="en-US" sz="1400" dirty="0">
                <a:solidFill>
                  <a:srgbClr val="002060"/>
                </a:solidFill>
                <a:latin typeface="Berlin Sans FB" panose="020E0602020502020306" pitchFamily="34" charset="0"/>
              </a:rPr>
              <a:t>These risks are linked to employees, such as employee safety and stress.</a:t>
            </a:r>
          </a:p>
        </p:txBody>
      </p:sp>
    </p:spTree>
    <p:extLst>
      <p:ext uri="{BB962C8B-B14F-4D97-AF65-F5344CB8AC3E}">
        <p14:creationId xmlns:p14="http://schemas.microsoft.com/office/powerpoint/2010/main" val="2178586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5D13F1-9849-E702-1197-1B6DCD40856B}"/>
              </a:ext>
            </a:extLst>
          </p:cNvPr>
          <p:cNvSpPr txBox="1"/>
          <p:nvPr/>
        </p:nvSpPr>
        <p:spPr>
          <a:xfrm>
            <a:off x="425938" y="226646"/>
            <a:ext cx="11340123" cy="5937651"/>
          </a:xfrm>
          <a:prstGeom prst="rect">
            <a:avLst/>
          </a:prstGeom>
          <a:noFill/>
        </p:spPr>
        <p:txBody>
          <a:bodyPr wrap="square">
            <a:spAutoFit/>
          </a:bodyPr>
          <a:lstStyle/>
          <a:p>
            <a:pPr marL="0" marR="0">
              <a:lnSpc>
                <a:spcPct val="107000"/>
              </a:lnSpc>
              <a:spcBef>
                <a:spcPts val="0"/>
              </a:spcBef>
              <a:spcAft>
                <a:spcPts val="800"/>
              </a:spcAft>
            </a:pPr>
            <a:r>
              <a:rPr lang="en-US" sz="2400" u="sng" dirty="0">
                <a:solidFill>
                  <a:srgbClr val="C00000"/>
                </a:solidFill>
                <a:latin typeface="Berlin Sans FB Demi" panose="020E0802020502020306" pitchFamily="34" charset="0"/>
              </a:rPr>
              <a:t>Types of risk reports</a:t>
            </a:r>
          </a:p>
          <a:p>
            <a:pPr marL="0" marR="0">
              <a:lnSpc>
                <a:spcPct val="107000"/>
              </a:lnSpc>
              <a:spcBef>
                <a:spcPts val="0"/>
              </a:spcBef>
              <a:spcAft>
                <a:spcPts val="800"/>
              </a:spcAft>
            </a:pPr>
            <a:r>
              <a:rPr lang="en-US" sz="1400" dirty="0">
                <a:solidFill>
                  <a:srgbClr val="002060"/>
                </a:solidFill>
                <a:latin typeface="Berlin Sans FB" panose="020E0602020502020306" pitchFamily="34" charset="0"/>
              </a:rPr>
              <a:t>There are four main types of risk reports based on level, starting on a project level and working up to a business level. These risk report types include:</a:t>
            </a:r>
          </a:p>
          <a:p>
            <a:pPr marL="342900" marR="0" indent="-342900">
              <a:lnSpc>
                <a:spcPct val="107000"/>
              </a:lnSpc>
              <a:spcBef>
                <a:spcPts val="0"/>
              </a:spcBef>
              <a:spcAft>
                <a:spcPts val="800"/>
              </a:spcAft>
              <a:buFont typeface="Wingdings" panose="05000000000000000000" pitchFamily="2" charset="2"/>
              <a:buChar char="q"/>
            </a:pPr>
            <a:r>
              <a:rPr lang="en-US" sz="2000" dirty="0">
                <a:solidFill>
                  <a:srgbClr val="C00000"/>
                </a:solidFill>
                <a:latin typeface="Berlin Sans FB Demi" panose="020E0802020502020306" pitchFamily="34" charset="0"/>
              </a:rPr>
              <a:t>Project risk reports</a:t>
            </a:r>
          </a:p>
          <a:p>
            <a:pPr marL="742950" lvl="1" indent="-285750">
              <a:lnSpc>
                <a:spcPct val="107000"/>
              </a:lnSpc>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Projects benefit from having a project risk report. Teams may use a risk log to document potential risks. These risks may include external factors that can affect the project, such as the risks of price fluctuations for necessary materials, resource shortages and contractors not completing their work. The risk log includes actions to minimize the risk and designates an owner who is the individual responsible for completing an action.</a:t>
            </a:r>
          </a:p>
          <a:p>
            <a:pPr marL="342900" marR="0" indent="-342900">
              <a:lnSpc>
                <a:spcPct val="107000"/>
              </a:lnSpc>
              <a:spcBef>
                <a:spcPts val="0"/>
              </a:spcBef>
              <a:spcAft>
                <a:spcPts val="800"/>
              </a:spcAft>
              <a:buFont typeface="Wingdings" panose="05000000000000000000" pitchFamily="2" charset="2"/>
              <a:buChar char="q"/>
            </a:pPr>
            <a:r>
              <a:rPr lang="en-US" sz="2000" dirty="0">
                <a:solidFill>
                  <a:srgbClr val="C00000"/>
                </a:solidFill>
                <a:latin typeface="Berlin Sans FB Demi" panose="020E0802020502020306" pitchFamily="34" charset="0"/>
              </a:rPr>
              <a:t>Program risk reports</a:t>
            </a:r>
          </a:p>
          <a:p>
            <a:pPr marL="742950" lvl="1" indent="-285750">
              <a:lnSpc>
                <a:spcPct val="107000"/>
              </a:lnSpc>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Sometimes projects are part of more extensive programs, in which program risk reports are necessary. Program team members may record relevant program risks, such as elevated project risks because of criticality or due to overlapping between projects. The program manager uses program risk reports to ensure that risks are mitigated and don't escalate. Program teams typically complete program reports monthly.</a:t>
            </a:r>
          </a:p>
          <a:p>
            <a:pPr marL="342900" marR="0" indent="-342900">
              <a:lnSpc>
                <a:spcPct val="107000"/>
              </a:lnSpc>
              <a:spcBef>
                <a:spcPts val="0"/>
              </a:spcBef>
              <a:spcAft>
                <a:spcPts val="800"/>
              </a:spcAft>
              <a:buFont typeface="Wingdings" panose="05000000000000000000" pitchFamily="2" charset="2"/>
              <a:buChar char="q"/>
            </a:pPr>
            <a:r>
              <a:rPr lang="en-US" sz="2000" dirty="0">
                <a:solidFill>
                  <a:srgbClr val="C00000"/>
                </a:solidFill>
                <a:latin typeface="Berlin Sans FB Demi" panose="020E0802020502020306" pitchFamily="34" charset="0"/>
              </a:rPr>
              <a:t>Portfolio risk reports</a:t>
            </a:r>
          </a:p>
          <a:p>
            <a:pPr marL="742950" lvl="1" indent="-285750">
              <a:lnSpc>
                <a:spcPct val="107000"/>
              </a:lnSpc>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Portfolio risk reports present significant risks for all projects and programs within the portfolio in a comprehensive and easy-to-read summary. These reports are written by the project management officer and contain data taken from project and program risk reports. </a:t>
            </a:r>
          </a:p>
          <a:p>
            <a:pPr marL="342900" indent="-342900">
              <a:lnSpc>
                <a:spcPct val="107000"/>
              </a:lnSpc>
              <a:spcAft>
                <a:spcPts val="800"/>
              </a:spcAft>
              <a:buFont typeface="Wingdings" panose="05000000000000000000" pitchFamily="2" charset="2"/>
              <a:buChar char="q"/>
            </a:pPr>
            <a:r>
              <a:rPr lang="en-US" sz="2000" dirty="0">
                <a:solidFill>
                  <a:srgbClr val="C00000"/>
                </a:solidFill>
                <a:latin typeface="Berlin Sans FB Demi" panose="020E0802020502020306" pitchFamily="34" charset="0"/>
              </a:rPr>
              <a:t>Business risk reports</a:t>
            </a:r>
          </a:p>
          <a:p>
            <a:pPr lvl="1">
              <a:lnSpc>
                <a:spcPct val="107000"/>
              </a:lnSpc>
              <a:spcAft>
                <a:spcPts val="800"/>
              </a:spcAft>
            </a:pPr>
            <a:r>
              <a:rPr lang="en-US" sz="1400" dirty="0">
                <a:solidFill>
                  <a:srgbClr val="002060"/>
                </a:solidFill>
                <a:latin typeface="Berlin Sans FB" panose="020E0602020502020306" pitchFamily="34" charset="0"/>
              </a:rPr>
              <a:t>Some organizations use business risk reports, which focus on the most significant risks across the entire company. These reports may include emerging risks, operational activities, current market outlooks and competitor analysis. As these reports are often lengthy documents that may be over 10 pages long, it's helpful to display information visually, using graphs and charts, when possible. Including an executive summary can be beneficial to readers when they're looking for the critical points of the report.</a:t>
            </a:r>
          </a:p>
        </p:txBody>
      </p:sp>
    </p:spTree>
    <p:extLst>
      <p:ext uri="{BB962C8B-B14F-4D97-AF65-F5344CB8AC3E}">
        <p14:creationId xmlns:p14="http://schemas.microsoft.com/office/powerpoint/2010/main" val="1535392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38A1AF-5D31-D42E-2D9F-96B8C76AD9A6}"/>
              </a:ext>
            </a:extLst>
          </p:cNvPr>
          <p:cNvSpPr txBox="1"/>
          <p:nvPr/>
        </p:nvSpPr>
        <p:spPr>
          <a:xfrm>
            <a:off x="1018673" y="305178"/>
            <a:ext cx="6882064" cy="5339923"/>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Key Performance Indicators</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Performance indicators measure how well a process is performing in terms of its stated goal. </a:t>
            </a: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This measurement provides insight into whether action may be required, with the goal of allowing changes to be made before significant impacts occur.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a subset of these indicators are effective in predicting whether organizational goals will be reached and indicates the capabilities, practices and skills of value to the organization.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KPIs measure activity goals, which are actions that process owners must take to achieve effective process performance.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They are commonly used to set benchmarks for risk management goals and to monitor whether those goals are being attained.</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Management sets its risk management goals according to its risk acceptance level and desired cost-benefit analysis.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a:t>
            </a:r>
            <a:r>
              <a:rPr lang="en-US" sz="1600" dirty="0">
                <a:solidFill>
                  <a:srgbClr val="0070C0"/>
                </a:solidFill>
                <a:latin typeface="Berlin Sans FB" panose="020E0602020502020306" pitchFamily="34" charset="0"/>
              </a:rPr>
              <a:t>For example, a KPI may indicate that an error rate of five percent is acceptable, which implies that an error rate higher than five percent is unacceptable and requires escalation with some form of response.</a:t>
            </a:r>
          </a:p>
        </p:txBody>
      </p:sp>
    </p:spTree>
    <p:extLst>
      <p:ext uri="{BB962C8B-B14F-4D97-AF65-F5344CB8AC3E}">
        <p14:creationId xmlns:p14="http://schemas.microsoft.com/office/powerpoint/2010/main" val="2016396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287135-4E64-446A-A2CA-4D0FDF68CF19}"/>
              </a:ext>
            </a:extLst>
          </p:cNvPr>
          <p:cNvPicPr>
            <a:picLocks noChangeAspect="1"/>
          </p:cNvPicPr>
          <p:nvPr/>
        </p:nvPicPr>
        <p:blipFill rotWithShape="1">
          <a:blip r:embed="rId3">
            <a:extLst>
              <a:ext uri="{28A0092B-C50C-407E-A947-70E740481C1C}">
                <a14:useLocalDpi xmlns:a14="http://schemas.microsoft.com/office/drawing/2010/main" val="0"/>
              </a:ext>
            </a:extLst>
          </a:blip>
          <a:srcRect t="16256" b="18597"/>
          <a:stretch/>
        </p:blipFill>
        <p:spPr>
          <a:xfrm>
            <a:off x="930442" y="1243388"/>
            <a:ext cx="10331116" cy="3785811"/>
          </a:xfrm>
          <a:prstGeom prst="rect">
            <a:avLst/>
          </a:prstGeom>
        </p:spPr>
      </p:pic>
    </p:spTree>
    <p:extLst>
      <p:ext uri="{BB962C8B-B14F-4D97-AF65-F5344CB8AC3E}">
        <p14:creationId xmlns:p14="http://schemas.microsoft.com/office/powerpoint/2010/main" val="653195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CA28C-B954-4AF9-19CB-6F7C63AC37CA}"/>
              </a:ext>
            </a:extLst>
          </p:cNvPr>
          <p:cNvPicPr>
            <a:picLocks noChangeAspect="1"/>
          </p:cNvPicPr>
          <p:nvPr/>
        </p:nvPicPr>
        <p:blipFill rotWithShape="1">
          <a:blip r:embed="rId2"/>
          <a:srcRect l="-3883" t="28114" r="32309" b="2765"/>
          <a:stretch/>
        </p:blipFill>
        <p:spPr>
          <a:xfrm>
            <a:off x="513346" y="376339"/>
            <a:ext cx="8005011" cy="5842026"/>
          </a:xfrm>
          <a:prstGeom prst="rect">
            <a:avLst/>
          </a:prstGeom>
        </p:spPr>
      </p:pic>
    </p:spTree>
    <p:extLst>
      <p:ext uri="{BB962C8B-B14F-4D97-AF65-F5344CB8AC3E}">
        <p14:creationId xmlns:p14="http://schemas.microsoft.com/office/powerpoint/2010/main" val="3794530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13B826-6B1C-4169-B0C8-81AF8F0863ED}"/>
              </a:ext>
            </a:extLst>
          </p:cNvPr>
          <p:cNvPicPr>
            <a:picLocks noChangeAspect="1"/>
          </p:cNvPicPr>
          <p:nvPr/>
        </p:nvPicPr>
        <p:blipFill rotWithShape="1">
          <a:blip r:embed="rId3">
            <a:extLst>
              <a:ext uri="{28A0092B-C50C-407E-A947-70E740481C1C}">
                <a14:useLocalDpi xmlns:a14="http://schemas.microsoft.com/office/drawing/2010/main" val="0"/>
              </a:ext>
            </a:extLst>
          </a:blip>
          <a:srcRect l="3750" t="6433" r="4210" b="16842"/>
          <a:stretch/>
        </p:blipFill>
        <p:spPr>
          <a:xfrm>
            <a:off x="457200" y="601579"/>
            <a:ext cx="11221453" cy="5261810"/>
          </a:xfrm>
          <a:prstGeom prst="rect">
            <a:avLst/>
          </a:prstGeom>
        </p:spPr>
      </p:pic>
    </p:spTree>
    <p:extLst>
      <p:ext uri="{BB962C8B-B14F-4D97-AF65-F5344CB8AC3E}">
        <p14:creationId xmlns:p14="http://schemas.microsoft.com/office/powerpoint/2010/main" val="259351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2A853-F6F7-4D6F-870E-FD77292F3998}"/>
              </a:ext>
            </a:extLst>
          </p:cNvPr>
          <p:cNvPicPr>
            <a:picLocks noChangeAspect="1"/>
          </p:cNvPicPr>
          <p:nvPr/>
        </p:nvPicPr>
        <p:blipFill rotWithShape="1">
          <a:blip r:embed="rId3">
            <a:extLst>
              <a:ext uri="{28A0092B-C50C-407E-A947-70E740481C1C}">
                <a14:useLocalDpi xmlns:a14="http://schemas.microsoft.com/office/drawing/2010/main" val="0"/>
              </a:ext>
            </a:extLst>
          </a:blip>
          <a:srcRect t="18013" b="14970"/>
          <a:stretch/>
        </p:blipFill>
        <p:spPr>
          <a:xfrm>
            <a:off x="229100" y="305417"/>
            <a:ext cx="10936629" cy="4122821"/>
          </a:xfrm>
          <a:prstGeom prst="rect">
            <a:avLst/>
          </a:prstGeom>
        </p:spPr>
      </p:pic>
      <p:pic>
        <p:nvPicPr>
          <p:cNvPr id="2" name="Picture 1">
            <a:extLst>
              <a:ext uri="{FF2B5EF4-FFF2-40B4-BE49-F238E27FC236}">
                <a16:creationId xmlns:a16="http://schemas.microsoft.com/office/drawing/2014/main" id="{7DC4D60B-9476-6470-55B5-0E44699B2809}"/>
              </a:ext>
            </a:extLst>
          </p:cNvPr>
          <p:cNvPicPr>
            <a:picLocks noChangeAspect="1"/>
          </p:cNvPicPr>
          <p:nvPr/>
        </p:nvPicPr>
        <p:blipFill rotWithShape="1">
          <a:blip r:embed="rId4"/>
          <a:srcRect t="56821" b="18754"/>
          <a:stretch/>
        </p:blipFill>
        <p:spPr>
          <a:xfrm>
            <a:off x="5014315" y="5048738"/>
            <a:ext cx="6137577" cy="750277"/>
          </a:xfrm>
          <a:prstGeom prst="rect">
            <a:avLst/>
          </a:prstGeom>
        </p:spPr>
      </p:pic>
      <p:pic>
        <p:nvPicPr>
          <p:cNvPr id="4" name="Picture 3">
            <a:extLst>
              <a:ext uri="{FF2B5EF4-FFF2-40B4-BE49-F238E27FC236}">
                <a16:creationId xmlns:a16="http://schemas.microsoft.com/office/drawing/2014/main" id="{42658540-4074-2B2B-F44D-52E3353255BA}"/>
              </a:ext>
            </a:extLst>
          </p:cNvPr>
          <p:cNvPicPr>
            <a:picLocks noChangeAspect="1"/>
          </p:cNvPicPr>
          <p:nvPr/>
        </p:nvPicPr>
        <p:blipFill rotWithShape="1">
          <a:blip r:embed="rId5"/>
          <a:srcRect b="59758"/>
          <a:stretch/>
        </p:blipFill>
        <p:spPr>
          <a:xfrm>
            <a:off x="5014315" y="3945678"/>
            <a:ext cx="5888147" cy="965119"/>
          </a:xfrm>
          <a:prstGeom prst="rect">
            <a:avLst/>
          </a:prstGeom>
        </p:spPr>
      </p:pic>
    </p:spTree>
    <p:extLst>
      <p:ext uri="{BB962C8B-B14F-4D97-AF65-F5344CB8AC3E}">
        <p14:creationId xmlns:p14="http://schemas.microsoft.com/office/powerpoint/2010/main" val="2275465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7E6A65-6B37-4D96-B337-9CE224590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83460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9FB395-C174-4451-92E3-1F4C7E951C1F}"/>
              </a:ext>
            </a:extLst>
          </p:cNvPr>
          <p:cNvPicPr>
            <a:picLocks noChangeAspect="1"/>
          </p:cNvPicPr>
          <p:nvPr/>
        </p:nvPicPr>
        <p:blipFill rotWithShape="1">
          <a:blip r:embed="rId3">
            <a:extLst>
              <a:ext uri="{28A0092B-C50C-407E-A947-70E740481C1C}">
                <a14:useLocalDpi xmlns:a14="http://schemas.microsoft.com/office/drawing/2010/main" val="0"/>
              </a:ext>
            </a:extLst>
          </a:blip>
          <a:srcRect l="37368" t="4911" r="7764" b="80468"/>
          <a:stretch/>
        </p:blipFill>
        <p:spPr>
          <a:xfrm>
            <a:off x="2550695" y="176462"/>
            <a:ext cx="6689558" cy="1002632"/>
          </a:xfrm>
          <a:prstGeom prst="rect">
            <a:avLst/>
          </a:prstGeom>
        </p:spPr>
      </p:pic>
      <p:pic>
        <p:nvPicPr>
          <p:cNvPr id="4" name="Picture 3">
            <a:extLst>
              <a:ext uri="{FF2B5EF4-FFF2-40B4-BE49-F238E27FC236}">
                <a16:creationId xmlns:a16="http://schemas.microsoft.com/office/drawing/2014/main" id="{C0D93C5B-BECE-4F59-8979-E44D540EC578}"/>
              </a:ext>
            </a:extLst>
          </p:cNvPr>
          <p:cNvPicPr>
            <a:picLocks noChangeAspect="1"/>
          </p:cNvPicPr>
          <p:nvPr/>
        </p:nvPicPr>
        <p:blipFill>
          <a:blip r:embed="rId4"/>
          <a:stretch>
            <a:fillRect/>
          </a:stretch>
        </p:blipFill>
        <p:spPr>
          <a:xfrm>
            <a:off x="663993" y="1200719"/>
            <a:ext cx="10864014" cy="4456562"/>
          </a:xfrm>
          <a:prstGeom prst="rect">
            <a:avLst/>
          </a:prstGeom>
        </p:spPr>
      </p:pic>
    </p:spTree>
    <p:extLst>
      <p:ext uri="{BB962C8B-B14F-4D97-AF65-F5344CB8AC3E}">
        <p14:creationId xmlns:p14="http://schemas.microsoft.com/office/powerpoint/2010/main" val="973208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F68BA34-596B-A2B5-90EF-A269B0BFDAA0}"/>
              </a:ext>
            </a:extLst>
          </p:cNvPr>
          <p:cNvSpPr txBox="1"/>
          <p:nvPr/>
        </p:nvSpPr>
        <p:spPr>
          <a:xfrm>
            <a:off x="312615" y="355634"/>
            <a:ext cx="6486770" cy="5539915"/>
          </a:xfrm>
          <a:prstGeom prst="rect">
            <a:avLst/>
          </a:prstGeom>
          <a:noFill/>
        </p:spPr>
        <p:txBody>
          <a:bodyPr wrap="square">
            <a:spAutoFit/>
          </a:bodyPr>
          <a:lstStyle/>
          <a:p>
            <a:pPr marL="0" marR="0">
              <a:lnSpc>
                <a:spcPct val="107000"/>
              </a:lnSpc>
              <a:spcBef>
                <a:spcPts val="0"/>
              </a:spcBef>
              <a:spcAft>
                <a:spcPts val="0"/>
              </a:spcAft>
            </a:pPr>
            <a:r>
              <a:rPr lang="en-US" sz="2800" dirty="0">
                <a:solidFill>
                  <a:srgbClr val="C00000"/>
                </a:solidFill>
                <a:latin typeface="Berlin Sans FB Demi" panose="020E0802020502020306" pitchFamily="34" charset="0"/>
              </a:rPr>
              <a:t>Key Risk Indicators</a:t>
            </a:r>
          </a:p>
          <a:p>
            <a:pPr marL="0" marR="0">
              <a:lnSpc>
                <a:spcPct val="107000"/>
              </a:lnSpc>
              <a:spcBef>
                <a:spcPts val="0"/>
              </a:spcBef>
              <a:spcAft>
                <a:spcPts val="0"/>
              </a:spcAft>
            </a:pP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600" dirty="0">
              <a:solidFill>
                <a:srgbClr val="002060"/>
              </a:solidFill>
              <a:latin typeface="Berlin Sans FB" panose="020E0602020502020306" pitchFamily="34" charset="0"/>
            </a:endParaRPr>
          </a:p>
          <a:p>
            <a:pPr marL="342900" marR="0" lvl="0" indent="-342900">
              <a:spcBef>
                <a:spcPts val="600"/>
              </a:spcBef>
              <a:spcAft>
                <a:spcPts val="0"/>
              </a:spcAft>
              <a:buFont typeface="Courier New" panose="02070309020205020404" pitchFamily="49" charset="0"/>
              <a:buChar char="o"/>
            </a:pPr>
            <a:r>
              <a:rPr lang="en-US" sz="1400" dirty="0">
                <a:solidFill>
                  <a:srgbClr val="002060"/>
                </a:solidFill>
                <a:latin typeface="Berlin Sans FB" panose="020E0602020502020306" pitchFamily="34" charset="0"/>
              </a:rPr>
              <a:t>Risk indicators are used to measure risk levels in comparison to defined risk thresholds, so that the organization receives an alert when a risk level approaches an unacceptable level.</a:t>
            </a:r>
          </a:p>
          <a:p>
            <a:pPr marL="342900" marR="0" lvl="0" indent="-342900">
              <a:spcBef>
                <a:spcPts val="600"/>
              </a:spcBef>
              <a:spcAft>
                <a:spcPts val="0"/>
              </a:spcAft>
              <a:buFont typeface="Courier New" panose="02070309020205020404" pitchFamily="49" charset="0"/>
              <a:buChar char="o"/>
            </a:pPr>
            <a:r>
              <a:rPr lang="en-US" sz="1400" dirty="0">
                <a:solidFill>
                  <a:srgbClr val="002060"/>
                </a:solidFill>
                <a:latin typeface="Berlin Sans FB" panose="020E0602020502020306" pitchFamily="34" charset="0"/>
              </a:rPr>
              <a:t> By putting tracking and reporting mechanisms in place that alert staff to a developing or potential risk, the enterprise gains the opportunity to respond to the risk before it produces unacceptable outcomes.</a:t>
            </a:r>
          </a:p>
          <a:p>
            <a:pPr marL="0" marR="0">
              <a:lnSpc>
                <a:spcPct val="107000"/>
              </a:lnSpc>
              <a:spcBef>
                <a:spcPts val="0"/>
              </a:spcBef>
              <a:spcAft>
                <a:spcPts val="0"/>
              </a:spcAft>
            </a:pPr>
            <a:r>
              <a:rPr lang="en-US" sz="1400" dirty="0">
                <a:solidFill>
                  <a:srgbClr val="002060"/>
                </a:solidFill>
                <a:latin typeface="Berlin Sans FB" panose="020E0602020502020306" pitchFamily="34" charset="0"/>
              </a:rPr>
              <a:t> </a:t>
            </a:r>
          </a:p>
          <a:p>
            <a:pPr marL="342900" marR="0" lvl="0" indent="-342900">
              <a:lnSpc>
                <a:spcPct val="107000"/>
              </a:lnSpc>
              <a:spcBef>
                <a:spcPts val="0"/>
              </a:spcBef>
              <a:spcAft>
                <a:spcPts val="0"/>
              </a:spcAft>
              <a:buFont typeface="Courier New" panose="02070309020205020404" pitchFamily="49" charset="0"/>
              <a:buChar char="o"/>
            </a:pPr>
            <a:r>
              <a:rPr lang="en-US" sz="1400" dirty="0">
                <a:solidFill>
                  <a:srgbClr val="002060"/>
                </a:solidFill>
                <a:latin typeface="Berlin Sans FB" panose="020E0602020502020306" pitchFamily="34" charset="0"/>
              </a:rPr>
              <a:t>Key risk indicators (KRIs) comprise a subset of risk indicators that are highly relevant and possess a high probability of predicting or indicating important risk. </a:t>
            </a:r>
            <a:endParaRPr lang="en-US" dirty="0">
              <a:solidFill>
                <a:srgbClr val="C00000"/>
              </a:solidFill>
              <a:latin typeface="Berlin Sans FB Demi" panose="020E0802020502020306" pitchFamily="34" charset="0"/>
            </a:endParaRPr>
          </a:p>
          <a:p>
            <a:pPr marL="0" marR="0">
              <a:lnSpc>
                <a:spcPct val="107000"/>
              </a:lnSpc>
              <a:spcBef>
                <a:spcPts val="0"/>
              </a:spcBef>
              <a:spcAft>
                <a:spcPts val="0"/>
              </a:spcAft>
            </a:pPr>
            <a:r>
              <a:rPr lang="en-US" dirty="0">
                <a:solidFill>
                  <a:srgbClr val="C00000"/>
                </a:solidFill>
                <a:latin typeface="Berlin Sans FB Demi" panose="020E0802020502020306" pitchFamily="34" charset="0"/>
              </a:rPr>
              <a:t>Examples of KRIs include:</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Number of unauthorized equipment or software detected in scans</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Number of instances of SLAs exceeding thresholds</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High average downtime due to operational incidents</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Average time to deploy new security patches to servers</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Excessive average time to research and remediate operations incidents</a:t>
            </a:r>
          </a:p>
          <a:p>
            <a:pPr marL="800100" lvl="1" indent="-342900">
              <a:spcBef>
                <a:spcPts val="600"/>
              </a:spcBef>
              <a:spcAft>
                <a:spcPts val="600"/>
              </a:spcAft>
              <a:buFont typeface="+mj-lt"/>
              <a:buAutoNum type="arabicPeriod"/>
            </a:pPr>
            <a:r>
              <a:rPr lang="en-US" sz="1400" dirty="0">
                <a:solidFill>
                  <a:srgbClr val="0070C0"/>
                </a:solidFill>
                <a:latin typeface="Berlin Sans FB" panose="020E0602020502020306" pitchFamily="34" charset="0"/>
              </a:rPr>
              <a:t>Number of desktops/laptops that do not have current antivirus signatures or have not run a full scan within scheduled periods</a:t>
            </a:r>
          </a:p>
        </p:txBody>
      </p:sp>
      <p:sp>
        <p:nvSpPr>
          <p:cNvPr id="11" name="TextBox 10">
            <a:extLst>
              <a:ext uri="{FF2B5EF4-FFF2-40B4-BE49-F238E27FC236}">
                <a16:creationId xmlns:a16="http://schemas.microsoft.com/office/drawing/2014/main" id="{BE285664-BD6F-3F1A-EC65-A813FA209FA4}"/>
              </a:ext>
            </a:extLst>
          </p:cNvPr>
          <p:cNvSpPr txBox="1"/>
          <p:nvPr/>
        </p:nvSpPr>
        <p:spPr>
          <a:xfrm>
            <a:off x="7182340" y="1231881"/>
            <a:ext cx="4837722" cy="4562724"/>
          </a:xfrm>
          <a:prstGeom prst="rect">
            <a:avLst/>
          </a:prstGeom>
          <a:noFill/>
        </p:spPr>
        <p:txBody>
          <a:bodyPr wrap="square">
            <a:spAutoFit/>
          </a:bodyPr>
          <a:lstStyle/>
          <a:p>
            <a:pPr marL="0" marR="0">
              <a:lnSpc>
                <a:spcPct val="107000"/>
              </a:lnSpc>
              <a:spcBef>
                <a:spcPts val="0"/>
              </a:spcBef>
              <a:spcAft>
                <a:spcPts val="0"/>
              </a:spcAft>
            </a:pPr>
            <a:r>
              <a:rPr lang="en-US" dirty="0">
                <a:solidFill>
                  <a:srgbClr val="C00000"/>
                </a:solidFill>
                <a:latin typeface="Berlin Sans FB Demi" panose="020E0802020502020306" pitchFamily="34" charset="0"/>
              </a:rPr>
              <a:t>KRIs support numerous aspects of risk management, including:</a:t>
            </a:r>
          </a:p>
          <a:p>
            <a:pPr marL="0" marR="0">
              <a:lnSpc>
                <a:spcPct val="107000"/>
              </a:lnSpc>
              <a:spcBef>
                <a:spcPts val="0"/>
              </a:spcBef>
              <a:spcAft>
                <a:spcPts val="0"/>
              </a:spcAft>
            </a:pPr>
            <a:r>
              <a:rPr lang="en-US" sz="1400" b="1"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dirty="0">
              <a:solidFill>
                <a:srgbClr val="002060"/>
              </a:solidFill>
              <a:latin typeface="Berlin Sans FB" panose="020E0602020502020306" pitchFamily="34" charset="0"/>
            </a:endParaRP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Risk appetite, by validating the enterprise’s risk appetite and risk tolerance levels</a:t>
            </a: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Risk identification, by providing an objective means for identifying risk </a:t>
            </a: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Risk mitigation, by providing a trigger for investigating an event or providing corrective action</a:t>
            </a: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Risk culture, by helping the enterprise focus on important, relevant areas</a:t>
            </a: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Risk measurement and reporting, by providing objective and quantitative risk information</a:t>
            </a:r>
          </a:p>
          <a:p>
            <a:pPr marL="800100" marR="0" lvl="1" indent="-342900">
              <a:spcBef>
                <a:spcPts val="600"/>
              </a:spcBef>
              <a:spcAft>
                <a:spcPts val="600"/>
              </a:spcAft>
              <a:buFont typeface="+mj-lt"/>
              <a:buAutoNum type="arabicPeriod"/>
            </a:pPr>
            <a:r>
              <a:rPr lang="en-US" sz="1400" dirty="0">
                <a:solidFill>
                  <a:srgbClr val="002060"/>
                </a:solidFill>
                <a:latin typeface="Berlin Sans FB" panose="020E0602020502020306" pitchFamily="34" charset="0"/>
              </a:rPr>
              <a:t>Regulatory compliance, by providing data that can be used as an input for operation risk capital calculations</a:t>
            </a:r>
          </a:p>
        </p:txBody>
      </p:sp>
    </p:spTree>
    <p:extLst>
      <p:ext uri="{BB962C8B-B14F-4D97-AF65-F5344CB8AC3E}">
        <p14:creationId xmlns:p14="http://schemas.microsoft.com/office/powerpoint/2010/main" val="3471092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40AC86-6046-4B5A-94F2-A58EAD0191F4}"/>
              </a:ext>
            </a:extLst>
          </p:cNvPr>
          <p:cNvPicPr>
            <a:picLocks noChangeAspect="1"/>
          </p:cNvPicPr>
          <p:nvPr/>
        </p:nvPicPr>
        <p:blipFill rotWithShape="1">
          <a:blip r:embed="rId3">
            <a:extLst>
              <a:ext uri="{28A0092B-C50C-407E-A947-70E740481C1C}">
                <a14:useLocalDpi xmlns:a14="http://schemas.microsoft.com/office/drawing/2010/main" val="0"/>
              </a:ext>
            </a:extLst>
          </a:blip>
          <a:srcRect l="3553" t="6082" r="3355" b="19299"/>
          <a:stretch/>
        </p:blipFill>
        <p:spPr>
          <a:xfrm>
            <a:off x="433137" y="417095"/>
            <a:ext cx="11349790" cy="5117432"/>
          </a:xfrm>
          <a:prstGeom prst="rect">
            <a:avLst/>
          </a:prstGeom>
        </p:spPr>
      </p:pic>
    </p:spTree>
    <p:extLst>
      <p:ext uri="{BB962C8B-B14F-4D97-AF65-F5344CB8AC3E}">
        <p14:creationId xmlns:p14="http://schemas.microsoft.com/office/powerpoint/2010/main" val="376789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0E260C-E074-41B1-BE89-3A6466D6E7E4}"/>
              </a:ext>
            </a:extLst>
          </p:cNvPr>
          <p:cNvPicPr>
            <a:picLocks noChangeAspect="1"/>
          </p:cNvPicPr>
          <p:nvPr/>
        </p:nvPicPr>
        <p:blipFill rotWithShape="1">
          <a:blip r:embed="rId3">
            <a:extLst>
              <a:ext uri="{28A0092B-C50C-407E-A947-70E740481C1C}">
                <a14:useLocalDpi xmlns:a14="http://schemas.microsoft.com/office/drawing/2010/main" val="0"/>
              </a:ext>
            </a:extLst>
          </a:blip>
          <a:srcRect t="20895" b="19532"/>
          <a:stretch/>
        </p:blipFill>
        <p:spPr>
          <a:xfrm>
            <a:off x="97640" y="1419007"/>
            <a:ext cx="11996719" cy="4019986"/>
          </a:xfrm>
          <a:prstGeom prst="rect">
            <a:avLst/>
          </a:prstGeom>
        </p:spPr>
      </p:pic>
      <p:pic>
        <p:nvPicPr>
          <p:cNvPr id="2" name="Picture 1">
            <a:extLst>
              <a:ext uri="{FF2B5EF4-FFF2-40B4-BE49-F238E27FC236}">
                <a16:creationId xmlns:a16="http://schemas.microsoft.com/office/drawing/2014/main" id="{5838DBF1-AA05-D7BE-1497-113CBE664D51}"/>
              </a:ext>
            </a:extLst>
          </p:cNvPr>
          <p:cNvPicPr>
            <a:picLocks noChangeAspect="1"/>
          </p:cNvPicPr>
          <p:nvPr/>
        </p:nvPicPr>
        <p:blipFill rotWithShape="1">
          <a:blip r:embed="rId3">
            <a:extLst>
              <a:ext uri="{28A0092B-C50C-407E-A947-70E740481C1C}">
                <a14:useLocalDpi xmlns:a14="http://schemas.microsoft.com/office/drawing/2010/main" val="0"/>
              </a:ext>
            </a:extLst>
          </a:blip>
          <a:srcRect t="6198" r="47036" b="82753"/>
          <a:stretch/>
        </p:blipFill>
        <p:spPr>
          <a:xfrm>
            <a:off x="250041" y="739308"/>
            <a:ext cx="6353960" cy="745616"/>
          </a:xfrm>
          <a:prstGeom prst="rect">
            <a:avLst/>
          </a:prstGeom>
        </p:spPr>
      </p:pic>
    </p:spTree>
    <p:extLst>
      <p:ext uri="{BB962C8B-B14F-4D97-AF65-F5344CB8AC3E}">
        <p14:creationId xmlns:p14="http://schemas.microsoft.com/office/powerpoint/2010/main" val="1691596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F5A83C-22ED-52AA-69AA-274C9966298A}"/>
              </a:ext>
            </a:extLst>
          </p:cNvPr>
          <p:cNvSpPr txBox="1"/>
          <p:nvPr/>
        </p:nvSpPr>
        <p:spPr>
          <a:xfrm>
            <a:off x="1026693" y="148350"/>
            <a:ext cx="7411453" cy="5863144"/>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Key Control Indicators</a:t>
            </a:r>
          </a:p>
          <a:p>
            <a:endParaRPr lang="en-US" sz="1100" dirty="0">
              <a:latin typeface="Courier New" panose="02070309020205020404" pitchFamily="49" charset="0"/>
            </a:endParaRPr>
          </a:p>
          <a:p>
            <a:pPr marL="800100" lvl="1" indent="-342900">
              <a:buFont typeface="+mj-lt"/>
              <a:buAutoNum type="arabicPeriod"/>
            </a:pPr>
            <a:r>
              <a:rPr lang="en-US" sz="1600" dirty="0">
                <a:solidFill>
                  <a:srgbClr val="0070C0"/>
                </a:solidFill>
                <a:latin typeface="Berlin Sans FB" panose="020E0602020502020306" pitchFamily="34" charset="0"/>
              </a:rPr>
              <a:t>Certain indicators reveal the effectiveness of controls. Of these, the subset that quantifies how well a specific control is working constitutes the set of key control indicators (KCIs).</a:t>
            </a:r>
          </a:p>
          <a:p>
            <a:pPr marL="800100" lvl="1" indent="-342900">
              <a:buFont typeface="+mj-lt"/>
              <a:buAutoNum type="arabicPeriod"/>
            </a:pPr>
            <a:r>
              <a:rPr lang="en-US" sz="1600" dirty="0">
                <a:solidFill>
                  <a:srgbClr val="0070C0"/>
                </a:solidFill>
                <a:latin typeface="Berlin Sans FB" panose="020E0602020502020306" pitchFamily="34" charset="0"/>
              </a:rPr>
              <a:t> The goal of KCIs is to track performance of control actions relative to tolerances, providing insight into the ongoing adequacy of a given control in keeping risk within acceptable levels. </a:t>
            </a:r>
          </a:p>
          <a:p>
            <a:pPr marL="800100" lvl="1" indent="-342900">
              <a:buFont typeface="+mj-lt"/>
              <a:buAutoNum type="arabicPeriod"/>
            </a:pPr>
            <a:r>
              <a:rPr lang="en-US" sz="1600" dirty="0">
                <a:solidFill>
                  <a:srgbClr val="002060"/>
                </a:solidFill>
                <a:latin typeface="Berlin Sans FB" panose="020E0602020502020306" pitchFamily="34" charset="0"/>
              </a:rPr>
              <a:t>For this reason, they are sometimes called control effectiveness indicators.</a:t>
            </a:r>
          </a:p>
          <a:p>
            <a:pPr marL="800100" lvl="1" indent="-342900">
              <a:buFont typeface="+mj-lt"/>
              <a:buAutoNum type="arabicPeriod"/>
            </a:pPr>
            <a:endParaRPr lang="en-US" sz="1600" dirty="0">
              <a:solidFill>
                <a:srgbClr val="002060"/>
              </a:solidFill>
              <a:latin typeface="Berlin Sans FB" panose="020E0602020502020306" pitchFamily="34" charset="0"/>
            </a:endParaRPr>
          </a:p>
          <a:p>
            <a:pPr lvl="1"/>
            <a:r>
              <a:rPr lang="en-US" dirty="0">
                <a:solidFill>
                  <a:srgbClr val="0070C0"/>
                </a:solidFill>
                <a:latin typeface="Berlin Sans FB" panose="020E0602020502020306" pitchFamily="34" charset="0"/>
              </a:rPr>
              <a:t>Examples of KCIs include the numbers of:</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1257300" lvl="2" indent="-342900">
              <a:buFont typeface="+mj-lt"/>
              <a:buAutoNum type="alphaLcPeriod"/>
            </a:pPr>
            <a:r>
              <a:rPr lang="en-US" sz="1600" dirty="0">
                <a:solidFill>
                  <a:srgbClr val="C00000"/>
                </a:solidFill>
                <a:latin typeface="Berlin Sans FB" panose="020E0602020502020306" pitchFamily="34" charset="0"/>
              </a:rPr>
              <a:t>Phishing emails not blocked by filtering systems (indicating a weakness in features or tuning and leading to  a higher risk of compromise linked to phishing)</a:t>
            </a:r>
          </a:p>
          <a:p>
            <a:pPr marL="1257300" lvl="2" indent="-342900">
              <a:buFont typeface="+mj-lt"/>
              <a:buAutoNum type="alphaLcPeriod"/>
            </a:pPr>
            <a:endParaRPr lang="en-US" sz="1600" dirty="0">
              <a:solidFill>
                <a:srgbClr val="002060"/>
              </a:solidFill>
              <a:latin typeface="Berlin Sans FB" panose="020E0602020502020306" pitchFamily="34" charset="0"/>
            </a:endParaRPr>
          </a:p>
          <a:p>
            <a:pPr marL="1257300" lvl="2" indent="-342900">
              <a:buFont typeface="+mj-lt"/>
              <a:buAutoNum type="alphaLcPeriod"/>
            </a:pPr>
            <a:r>
              <a:rPr lang="en-US" sz="1600" dirty="0">
                <a:solidFill>
                  <a:srgbClr val="C00000"/>
                </a:solidFill>
                <a:latin typeface="Berlin Sans FB" panose="020E0602020502020306" pitchFamily="34" charset="0"/>
              </a:rPr>
              <a:t>Administrators with rights to both test and production environments (indicating a weakness in procedures intended to establish and maintain segregation of duties)</a:t>
            </a:r>
          </a:p>
          <a:p>
            <a:pPr marL="1257300" lvl="2" indent="-342900">
              <a:buFont typeface="+mj-lt"/>
              <a:buAutoNum type="alphaLcPeriod"/>
            </a:pPr>
            <a:endParaRPr lang="en-US" sz="1600" dirty="0">
              <a:solidFill>
                <a:srgbClr val="002060"/>
              </a:solidFill>
              <a:latin typeface="Berlin Sans FB" panose="020E0602020502020306" pitchFamily="34" charset="0"/>
            </a:endParaRPr>
          </a:p>
          <a:p>
            <a:pPr marL="1257300" lvl="2" indent="-342900">
              <a:buFont typeface="+mj-lt"/>
              <a:buAutoNum type="alphaLcPeriod"/>
            </a:pPr>
            <a:r>
              <a:rPr lang="en-US" sz="1600" dirty="0">
                <a:solidFill>
                  <a:srgbClr val="002060"/>
                </a:solidFill>
                <a:latin typeface="Berlin Sans FB" panose="020E0602020502020306" pitchFamily="34" charset="0"/>
              </a:rPr>
              <a:t>Unsolicited prompts for second-factor authentication (indicating a weakness in password security allowing would-be hackers to reach the second stage of authentication)</a:t>
            </a:r>
          </a:p>
        </p:txBody>
      </p:sp>
    </p:spTree>
    <p:extLst>
      <p:ext uri="{BB962C8B-B14F-4D97-AF65-F5344CB8AC3E}">
        <p14:creationId xmlns:p14="http://schemas.microsoft.com/office/powerpoint/2010/main" val="126012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A9467-15A9-F1EC-5F6A-C8CE2C528960}"/>
              </a:ext>
            </a:extLst>
          </p:cNvPr>
          <p:cNvSpPr txBox="1"/>
          <p:nvPr/>
        </p:nvSpPr>
        <p:spPr>
          <a:xfrm>
            <a:off x="1695939" y="551887"/>
            <a:ext cx="6932246" cy="5262979"/>
          </a:xfrm>
          <a:prstGeom prst="rect">
            <a:avLst/>
          </a:prstGeom>
          <a:noFill/>
        </p:spPr>
        <p:txBody>
          <a:bodyPr wrap="square">
            <a:spAutoFit/>
          </a:bodyPr>
          <a:lstStyle/>
          <a:p>
            <a:pPr>
              <a:spcBef>
                <a:spcPts val="600"/>
              </a:spcBef>
              <a:spcAft>
                <a:spcPts val="600"/>
              </a:spcAft>
            </a:pPr>
            <a:r>
              <a:rPr lang="en-US" sz="2400" dirty="0">
                <a:solidFill>
                  <a:srgbClr val="C00000"/>
                </a:solidFill>
                <a:latin typeface="Berlin Sans FB Demi" panose="020E0802020502020306" pitchFamily="34" charset="0"/>
              </a:rPr>
              <a:t>The Benefits of KCIs</a:t>
            </a:r>
            <a:br>
              <a:rPr lang="en-US" sz="2000" dirty="0"/>
            </a:br>
            <a:r>
              <a:rPr lang="en-US" sz="1600" dirty="0">
                <a:solidFill>
                  <a:srgbClr val="0070C0"/>
                </a:solidFill>
                <a:latin typeface="Berlin Sans FB" panose="020E0602020502020306" pitchFamily="34" charset="0"/>
              </a:rPr>
              <a:t>There are a number of benefits of KCIs: </a:t>
            </a:r>
          </a:p>
          <a:p>
            <a:pPr marL="800100" lvl="1" indent="-342900">
              <a:spcBef>
                <a:spcPts val="600"/>
              </a:spcBef>
              <a:spcAft>
                <a:spcPts val="600"/>
              </a:spcAft>
              <a:buFont typeface="+mj-lt"/>
              <a:buAutoNum type="arabicPeriod"/>
            </a:pPr>
            <a:r>
              <a:rPr lang="en-US" sz="1600" dirty="0">
                <a:solidFill>
                  <a:srgbClr val="002060"/>
                </a:solidFill>
                <a:latin typeface="Berlin Sans FB" panose="020E0602020502020306" pitchFamily="34" charset="0"/>
              </a:rPr>
              <a:t>Better Focus: KCIs focus on ensuring that internal controls are effective in a measurable way. </a:t>
            </a:r>
          </a:p>
          <a:p>
            <a:pPr marL="800100" lvl="1" indent="-342900">
              <a:spcBef>
                <a:spcPts val="600"/>
              </a:spcBef>
              <a:spcAft>
                <a:spcPts val="600"/>
              </a:spcAft>
              <a:buFont typeface="+mj-lt"/>
              <a:buAutoNum type="arabicPeriod"/>
            </a:pPr>
            <a:r>
              <a:rPr lang="en-US" sz="1600" dirty="0">
                <a:solidFill>
                  <a:srgbClr val="002060"/>
                </a:solidFill>
                <a:latin typeface="Berlin Sans FB" panose="020E0602020502020306" pitchFamily="34" charset="0"/>
              </a:rPr>
              <a:t>Early Warning: KCIs can often be viewed as leading KRIs in the sense that failure of a Control is an early warning signal for the failure of a Risk. For example, a KCI that flags the potential failure of IT security Controls is likely to determine the potential of a security Risk sooner than KRIs that measure security failures directly.</a:t>
            </a:r>
          </a:p>
          <a:p>
            <a:pPr marL="800100" lvl="1" indent="-342900">
              <a:spcBef>
                <a:spcPts val="600"/>
              </a:spcBef>
              <a:spcAft>
                <a:spcPts val="600"/>
              </a:spcAft>
              <a:buFont typeface="+mj-lt"/>
              <a:buAutoNum type="arabicPeriod"/>
            </a:pPr>
            <a:r>
              <a:rPr lang="en-US" sz="1600" dirty="0">
                <a:solidFill>
                  <a:srgbClr val="002060"/>
                </a:solidFill>
                <a:latin typeface="Berlin Sans FB" panose="020E0602020502020306" pitchFamily="34" charset="0"/>
              </a:rPr>
              <a:t>Wider Impact: Because Controls can mitigate multiple Risks, effective KCIs have the potential to positively impact multiple risk areas within an organization. </a:t>
            </a:r>
          </a:p>
          <a:p>
            <a:pPr marL="800100" lvl="1" indent="-342900">
              <a:spcBef>
                <a:spcPts val="600"/>
              </a:spcBef>
              <a:spcAft>
                <a:spcPts val="600"/>
              </a:spcAft>
              <a:buFont typeface="+mj-lt"/>
              <a:buAutoNum type="arabicPeriod"/>
            </a:pPr>
            <a:r>
              <a:rPr lang="en-US" sz="1600" dirty="0">
                <a:solidFill>
                  <a:srgbClr val="002060"/>
                </a:solidFill>
                <a:latin typeface="Berlin Sans FB" panose="020E0602020502020306" pitchFamily="34" charset="0"/>
              </a:rPr>
              <a:t>Audit Friendly: Many organizations will have an audit function as part of their “three lines of defense” governance model. A core part of this activity is an audit of existing controls to ensure that they are working effectively to reduce Risk. Obviously, KCIs can assist in this activity by providing Auditors with clear metrics with which to assess the effectiveness of controls.</a:t>
            </a:r>
          </a:p>
        </p:txBody>
      </p:sp>
    </p:spTree>
    <p:extLst>
      <p:ext uri="{BB962C8B-B14F-4D97-AF65-F5344CB8AC3E}">
        <p14:creationId xmlns:p14="http://schemas.microsoft.com/office/powerpoint/2010/main" val="132880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23A720-AE15-4FB4-AC79-82833C8ACFEF}"/>
              </a:ext>
            </a:extLst>
          </p:cNvPr>
          <p:cNvPicPr>
            <a:picLocks noChangeAspect="1"/>
          </p:cNvPicPr>
          <p:nvPr/>
        </p:nvPicPr>
        <p:blipFill rotWithShape="1">
          <a:blip r:embed="rId3">
            <a:extLst>
              <a:ext uri="{28A0092B-C50C-407E-A947-70E740481C1C}">
                <a14:useLocalDpi xmlns:a14="http://schemas.microsoft.com/office/drawing/2010/main" val="0"/>
              </a:ext>
            </a:extLst>
          </a:blip>
          <a:srcRect l="4736" t="21782" r="7434" b="14151"/>
          <a:stretch/>
        </p:blipFill>
        <p:spPr>
          <a:xfrm>
            <a:off x="1453045" y="1492121"/>
            <a:ext cx="9440779" cy="3873757"/>
          </a:xfrm>
          <a:prstGeom prst="rect">
            <a:avLst/>
          </a:prstGeom>
        </p:spPr>
      </p:pic>
    </p:spTree>
    <p:extLst>
      <p:ext uri="{BB962C8B-B14F-4D97-AF65-F5344CB8AC3E}">
        <p14:creationId xmlns:p14="http://schemas.microsoft.com/office/powerpoint/2010/main" val="3083167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B4A2DB-EA25-4FBB-8BDE-8CFAD677F672}"/>
              </a:ext>
            </a:extLst>
          </p:cNvPr>
          <p:cNvPicPr>
            <a:picLocks noChangeAspect="1"/>
          </p:cNvPicPr>
          <p:nvPr/>
        </p:nvPicPr>
        <p:blipFill rotWithShape="1">
          <a:blip r:embed="rId3">
            <a:extLst>
              <a:ext uri="{28A0092B-C50C-407E-A947-70E740481C1C}">
                <a14:useLocalDpi xmlns:a14="http://schemas.microsoft.com/office/drawing/2010/main" val="0"/>
              </a:ext>
            </a:extLst>
          </a:blip>
          <a:srcRect t="5497" b="7251"/>
          <a:stretch/>
        </p:blipFill>
        <p:spPr>
          <a:xfrm>
            <a:off x="535015" y="483887"/>
            <a:ext cx="11121969" cy="5458546"/>
          </a:xfrm>
          <a:prstGeom prst="rect">
            <a:avLst/>
          </a:prstGeom>
        </p:spPr>
      </p:pic>
    </p:spTree>
    <p:extLst>
      <p:ext uri="{BB962C8B-B14F-4D97-AF65-F5344CB8AC3E}">
        <p14:creationId xmlns:p14="http://schemas.microsoft.com/office/powerpoint/2010/main" val="177656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5894" y="2996945"/>
            <a:ext cx="3215640" cy="939800"/>
          </a:xfrm>
          <a:prstGeom prst="rect">
            <a:avLst/>
          </a:prstGeom>
        </p:spPr>
        <p:txBody>
          <a:bodyPr vert="horz" wrap="square" lIns="0" tIns="12700" rIns="0" bIns="0" rtlCol="0">
            <a:spAutoFit/>
          </a:bodyPr>
          <a:lstStyle/>
          <a:p>
            <a:pPr marL="12700">
              <a:lnSpc>
                <a:spcPct val="100000"/>
              </a:lnSpc>
              <a:spcBef>
                <a:spcPts val="100"/>
              </a:spcBef>
            </a:pPr>
            <a:r>
              <a:rPr spc="-5" dirty="0"/>
              <a:t>Thank</a:t>
            </a:r>
            <a:r>
              <a:rPr spc="-80" dirty="0"/>
              <a:t> </a:t>
            </a:r>
            <a:r>
              <a:rPr spc="-35"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2704</TotalTime>
  <Words>2633</Words>
  <Application>Microsoft Office PowerPoint</Application>
  <PresentationFormat>Widescreen</PresentationFormat>
  <Paragraphs>165</Paragraphs>
  <Slides>26</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Arial</vt:lpstr>
      <vt:lpstr>Berlin Sans FB</vt:lpstr>
      <vt:lpstr>Berlin Sans FB Demi</vt:lpstr>
      <vt:lpstr>Calibri</vt:lpstr>
      <vt:lpstr>Calibri Light</vt:lpstr>
      <vt:lpstr>Courier New</vt:lpstr>
      <vt:lpstr>Times New Roman</vt:lpstr>
      <vt:lpstr>Wingdings</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32</cp:revision>
  <dcterms:created xsi:type="dcterms:W3CDTF">2022-11-07T20:09:14Z</dcterms:created>
  <dcterms:modified xsi:type="dcterms:W3CDTF">2023-06-20T23:40:54Z</dcterms:modified>
</cp:coreProperties>
</file>
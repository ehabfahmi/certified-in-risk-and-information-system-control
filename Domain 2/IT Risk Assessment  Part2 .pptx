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53" r:id="rId1"/>
    <p:sldMasterId id="2147483765" r:id="rId2"/>
    <p:sldMasterId id="2147483777" r:id="rId3"/>
    <p:sldMasterId id="2147483790" r:id="rId4"/>
  </p:sldMasterIdLst>
  <p:notesMasterIdLst>
    <p:notesMasterId r:id="rId66"/>
  </p:notesMasterIdLst>
  <p:sldIdLst>
    <p:sldId id="2762" r:id="rId5"/>
    <p:sldId id="443" r:id="rId6"/>
    <p:sldId id="444" r:id="rId7"/>
    <p:sldId id="445" r:id="rId8"/>
    <p:sldId id="446" r:id="rId9"/>
    <p:sldId id="447" r:id="rId10"/>
    <p:sldId id="448" r:id="rId11"/>
    <p:sldId id="449" r:id="rId12"/>
    <p:sldId id="2146" r:id="rId13"/>
    <p:sldId id="322" r:id="rId14"/>
    <p:sldId id="2147" r:id="rId15"/>
    <p:sldId id="2148" r:id="rId16"/>
    <p:sldId id="2149" r:id="rId17"/>
    <p:sldId id="327" r:id="rId18"/>
    <p:sldId id="328" r:id="rId19"/>
    <p:sldId id="2763" r:id="rId20"/>
    <p:sldId id="1908" r:id="rId21"/>
    <p:sldId id="1909" r:id="rId22"/>
    <p:sldId id="1910" r:id="rId23"/>
    <p:sldId id="2764" r:id="rId24"/>
    <p:sldId id="2150" r:id="rId25"/>
    <p:sldId id="452" r:id="rId26"/>
    <p:sldId id="451" r:id="rId27"/>
    <p:sldId id="408" r:id="rId28"/>
    <p:sldId id="410" r:id="rId29"/>
    <p:sldId id="411" r:id="rId30"/>
    <p:sldId id="2765" r:id="rId31"/>
    <p:sldId id="2767" r:id="rId32"/>
    <p:sldId id="2768" r:id="rId33"/>
    <p:sldId id="2769" r:id="rId34"/>
    <p:sldId id="2771" r:id="rId35"/>
    <p:sldId id="2770" r:id="rId36"/>
    <p:sldId id="2773" r:id="rId37"/>
    <p:sldId id="2774" r:id="rId38"/>
    <p:sldId id="2775" r:id="rId39"/>
    <p:sldId id="2776" r:id="rId40"/>
    <p:sldId id="2777" r:id="rId41"/>
    <p:sldId id="2778" r:id="rId42"/>
    <p:sldId id="2779" r:id="rId43"/>
    <p:sldId id="2780" r:id="rId44"/>
    <p:sldId id="2801" r:id="rId45"/>
    <p:sldId id="2781" r:id="rId46"/>
    <p:sldId id="2782" r:id="rId47"/>
    <p:sldId id="2783" r:id="rId48"/>
    <p:sldId id="2784" r:id="rId49"/>
    <p:sldId id="2785" r:id="rId50"/>
    <p:sldId id="2786" r:id="rId51"/>
    <p:sldId id="2787" r:id="rId52"/>
    <p:sldId id="2788" r:id="rId53"/>
    <p:sldId id="2789" r:id="rId54"/>
    <p:sldId id="2790" r:id="rId55"/>
    <p:sldId id="2791" r:id="rId56"/>
    <p:sldId id="2792" r:id="rId57"/>
    <p:sldId id="2793" r:id="rId58"/>
    <p:sldId id="2794" r:id="rId59"/>
    <p:sldId id="2795" r:id="rId60"/>
    <p:sldId id="2796" r:id="rId61"/>
    <p:sldId id="2797" r:id="rId62"/>
    <p:sldId id="2798" r:id="rId63"/>
    <p:sldId id="2799" r:id="rId64"/>
    <p:sldId id="2800" r:id="rId65"/>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2" d="100"/>
          <a:sy n="122" d="100"/>
        </p:scale>
        <p:origin x="114" y="162"/>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2D26FBF-A69D-49E1-A606-3C7C641A3558}" type="datetimeFigureOut">
              <a:rPr lang="en-US" smtClean="0"/>
              <a:t>6/20/2023</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464C8B7-E341-4E03-B741-387DAF4EABDA}" type="slidenum">
              <a:rPr lang="en-US" smtClean="0"/>
              <a:t>‹#›</a:t>
            </a:fld>
            <a:endParaRPr lang="en-US"/>
          </a:p>
        </p:txBody>
      </p:sp>
    </p:spTree>
    <p:extLst>
      <p:ext uri="{BB962C8B-B14F-4D97-AF65-F5344CB8AC3E}">
        <p14:creationId xmlns:p14="http://schemas.microsoft.com/office/powerpoint/2010/main" val="1381237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0" i="0" u="none" strike="noStrike" kern="1200" dirty="0">
                <a:solidFill>
                  <a:schemeClr val="tx1"/>
                </a:solidFill>
                <a:effectLst/>
                <a:latin typeface="Segoe UI Semilight" panose="020B0402040204020203" pitchFamily="34" charset="0"/>
                <a:ea typeface="+mn-ea"/>
                <a:cs typeface="Segoe UI Semilight" panose="020B0402040204020203" pitchFamily="34" charset="0"/>
              </a:rPr>
              <a:t>For more information on IaaS, visit </a:t>
            </a:r>
            <a:r>
              <a:rPr lang="en-IE" sz="900" u="sng" dirty="0"/>
              <a:t>https://azure.microsoft.com/en-us/overview/what-is-iaas/ </a:t>
            </a:r>
          </a:p>
          <a:p>
            <a:endParaRPr lang="en-IE" sz="900" u="sng" dirty="0">
              <a:latin typeface="Segoe UI Semilight" panose="020B0402040204020203" pitchFamily="34" charset="0"/>
              <a:cs typeface="Segoe UI Semilight" panose="020B0402040204020203" pitchFamily="34" charset="0"/>
            </a:endParaRPr>
          </a:p>
          <a:p>
            <a:pPr marL="342900" indent="-342900">
              <a:buFont typeface="Arial" panose="020B0604020202020204" pitchFamily="34" charset="0"/>
              <a:buChar char="•"/>
            </a:pPr>
            <a:r>
              <a:rPr lang="en-US" sz="2400" dirty="0">
                <a:latin typeface="Segoe UI Semilight" panose="020B0402040204020203" pitchFamily="34" charset="0"/>
                <a:cs typeface="Segoe UI Semilight" panose="020B0402040204020203" pitchFamily="34" charset="0"/>
              </a:rPr>
              <a:t>Most basic cloud computing services category.</a:t>
            </a:r>
          </a:p>
          <a:p>
            <a:pPr marL="342900" indent="-342900">
              <a:buFont typeface="Arial" panose="020B0604020202020204" pitchFamily="34" charset="0"/>
              <a:buChar char="•"/>
            </a:pPr>
            <a:r>
              <a:rPr lang="en-US" sz="2400" dirty="0">
                <a:latin typeface="Segoe UI Semilight" panose="020B0402040204020203" pitchFamily="34" charset="0"/>
                <a:cs typeface="Segoe UI Semilight" panose="020B0402040204020203" pitchFamily="34" charset="0"/>
              </a:rPr>
              <a:t>Build pay-as-you-go IT infrastructure by renting servers, virtual machines, storage, networks, and operating systems from a cloud provider.</a:t>
            </a:r>
          </a:p>
          <a:p>
            <a:pPr marL="342900" indent="-342900">
              <a:buFont typeface="Arial" panose="020B0604020202020204" pitchFamily="34" charset="0"/>
              <a:buChar char="•"/>
            </a:pPr>
            <a:r>
              <a:rPr lang="en-US" sz="2400" dirty="0">
                <a:latin typeface="Segoe UI Semilight" panose="020B0402040204020203" pitchFamily="34" charset="0"/>
                <a:cs typeface="Segoe UI Semilight" panose="020B0402040204020203" pitchFamily="34" charset="0"/>
              </a:rPr>
              <a:t>Instant computing infrastructure, provisioned and managed over the internet.</a:t>
            </a:r>
          </a:p>
          <a:p>
            <a:endParaRPr lang="en-US" sz="900" dirty="0">
              <a:latin typeface="Segoe UI Semilight" panose="020B0402040204020203" pitchFamily="34" charset="0"/>
              <a:cs typeface="Segoe UI Semilight" panose="020B0402040204020203" pitchFamily="34" charset="0"/>
            </a:endParaRPr>
          </a:p>
        </p:txBody>
      </p:sp>
      <p:sp>
        <p:nvSpPr>
          <p:cNvPr id="4" name="Header Placeholder 3"/>
          <p:cNvSpPr>
            <a:spLocks noGrp="1"/>
          </p:cNvSpPr>
          <p:nvPr>
            <p:ph type="hdr"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6/20/2023 12:24 AM</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7849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0" i="0" u="none" strike="noStrike" kern="1200" dirty="0">
                <a:solidFill>
                  <a:schemeClr val="tx1"/>
                </a:solidFill>
                <a:effectLst/>
                <a:latin typeface="Segoe UI Semilight" panose="020B0402040204020203" pitchFamily="34" charset="0"/>
                <a:ea typeface="+mn-ea"/>
                <a:cs typeface="Segoe UI Semilight" panose="020B0402040204020203" pitchFamily="34" charset="0"/>
              </a:rPr>
              <a:t>For more information on PaaS, see </a:t>
            </a:r>
            <a:r>
              <a:rPr lang="en-IE" sz="900" u="sng" dirty="0"/>
              <a:t>https://azure.microsoft.com/en-us/overview/what-is-paas/</a:t>
            </a:r>
          </a:p>
          <a:p>
            <a:endParaRPr lang="en-IE" sz="900" u="sng" dirty="0"/>
          </a:p>
          <a:p>
            <a:pPr marL="342900" indent="-342900">
              <a:buFont typeface="Arial" panose="020B0604020202020204" pitchFamily="34" charset="0"/>
              <a:buChar char="•"/>
            </a:pPr>
            <a:r>
              <a:rPr lang="en-US" sz="2400" dirty="0">
                <a:latin typeface="Segoe UI Semilight" panose="020B0402040204020203" pitchFamily="34" charset="0"/>
                <a:cs typeface="Segoe UI Semilight" panose="020B0402040204020203" pitchFamily="34" charset="0"/>
              </a:rPr>
              <a:t>Provides environment for building, testing, and deploying software applications. </a:t>
            </a:r>
          </a:p>
          <a:p>
            <a:pPr marL="342900" indent="-342900">
              <a:buFont typeface="Arial" panose="020B0604020202020204" pitchFamily="34" charset="0"/>
              <a:buChar char="•"/>
            </a:pPr>
            <a:r>
              <a:rPr lang="en-US" sz="2400" dirty="0">
                <a:latin typeface="Segoe UI Semilight" panose="020B0402040204020203" pitchFamily="34" charset="0"/>
                <a:cs typeface="Segoe UI Semilight" panose="020B0402040204020203" pitchFamily="34" charset="0"/>
              </a:rPr>
              <a:t>Helps create applications quickly, without focusing on managing underlying infrastructure.</a:t>
            </a:r>
          </a:p>
          <a:p>
            <a:endParaRPr lang="en-US" sz="900" dirty="0"/>
          </a:p>
        </p:txBody>
      </p:sp>
      <p:sp>
        <p:nvSpPr>
          <p:cNvPr id="4" name="Header Placeholder 3"/>
          <p:cNvSpPr>
            <a:spLocks noGrp="1"/>
          </p:cNvSpPr>
          <p:nvPr>
            <p:ph type="hdr"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6/20/2023 12:24 AM</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7486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1" i="0" u="none" strike="noStrike" kern="1200" dirty="0">
                <a:solidFill>
                  <a:schemeClr val="tx1"/>
                </a:solidFill>
                <a:effectLst/>
                <a:latin typeface="Segoe UI Semilight" panose="020B0402040204020203" pitchFamily="34" charset="0"/>
                <a:ea typeface="+mn-ea"/>
                <a:cs typeface="Segoe UI Semilight" panose="020B0402040204020203" pitchFamily="34" charset="0"/>
              </a:rPr>
              <a:t>Common usage scenarios:</a:t>
            </a:r>
          </a:p>
          <a:p>
            <a:pPr marL="171450" indent="-171450">
              <a:buFont typeface="Arial" panose="020B0604020202020204" pitchFamily="34" charset="0"/>
              <a:buChar char="•"/>
            </a:pPr>
            <a:r>
              <a:rPr lang="en-IE" sz="900" b="0" i="0" u="none" strike="noStrike" kern="1200" dirty="0">
                <a:solidFill>
                  <a:schemeClr val="tx1"/>
                </a:solidFill>
                <a:effectLst/>
                <a:latin typeface="Segoe UI Semilight" panose="020B0402040204020203" pitchFamily="34" charset="0"/>
                <a:ea typeface="+mn-ea"/>
                <a:cs typeface="Segoe UI Semilight" panose="020B0402040204020203" pitchFamily="34" charset="0"/>
              </a:rPr>
              <a:t>Examples of Microsoft SaaS services include Microsoft Office 365, Skype, and Microsoft Dynamics CRM Online.</a:t>
            </a:r>
          </a:p>
          <a:p>
            <a:endParaRPr lang="en-US" sz="900" dirty="0">
              <a:latin typeface="Segoe UI Semilight" panose="020B0402040204020203" pitchFamily="34" charset="0"/>
              <a:cs typeface="Segoe UI Semilight" panose="020B0402040204020203" pitchFamily="34" charset="0"/>
            </a:endParaRPr>
          </a:p>
          <a:p>
            <a:r>
              <a:rPr lang="en-IE" sz="900" b="0" i="0" u="none" strike="noStrike" kern="1200" dirty="0">
                <a:solidFill>
                  <a:schemeClr val="tx1"/>
                </a:solidFill>
                <a:effectLst/>
                <a:latin typeface="Segoe UI Semilight" panose="020B0402040204020203" pitchFamily="34" charset="0"/>
                <a:ea typeface="+mn-ea"/>
                <a:cs typeface="Segoe UI Semilight" panose="020B0402040204020203" pitchFamily="34" charset="0"/>
              </a:rPr>
              <a:t>For more information on SaaS, see </a:t>
            </a:r>
            <a:r>
              <a:rPr lang="en-IE" sz="900" u="sng" dirty="0"/>
              <a:t>https://azure.microsoft.com/en-us/overview/what-is-saas/</a:t>
            </a:r>
            <a:endParaRPr lang="en-US" sz="900" dirty="0">
              <a:latin typeface="Segoe UI Semilight" panose="020B0402040204020203" pitchFamily="34" charset="0"/>
              <a:cs typeface="Segoe UI Semilight" panose="020B0402040204020203" pitchFamily="34" charset="0"/>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6/20/2023 12:24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45437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64C8B7-E341-4E03-B741-387DAF4EABDA}" type="slidenum">
              <a:rPr lang="en-US" smtClean="0"/>
              <a:t>34</a:t>
            </a:fld>
            <a:endParaRPr lang="en-US"/>
          </a:p>
        </p:txBody>
      </p:sp>
    </p:spTree>
    <p:extLst>
      <p:ext uri="{BB962C8B-B14F-4D97-AF65-F5344CB8AC3E}">
        <p14:creationId xmlns:p14="http://schemas.microsoft.com/office/powerpoint/2010/main" val="2254055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4.xml"/><Relationship Id="rId4" Type="http://schemas.openxmlformats.org/officeDocument/2006/relationships/image" Target="../media/image11.jpe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Master" Target="../slideMasters/slideMaster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Master" Target="../slideMasters/slideMaster4.xml"/><Relationship Id="rId4" Type="http://schemas.openxmlformats.org/officeDocument/2006/relationships/image" Target="../media/image22.jpeg"/></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emf"/><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812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3363616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72490D-569B-4A9C-B9BB-4F77B651EC5B}"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9291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72490D-569B-4A9C-B9BB-4F77B651EC5B}"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3671573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72490D-569B-4A9C-B9BB-4F77B651EC5B}" type="datetimeFigureOut">
              <a:rPr lang="en-US" smtClean="0"/>
              <a:t>6/20/2023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27905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72490D-569B-4A9C-B9BB-4F77B651EC5B}" type="datetimeFigureOut">
              <a:rPr lang="en-US" smtClean="0"/>
              <a:t>6/20/2023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44918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072490D-569B-4A9C-B9BB-4F77B651EC5B}" type="datetimeFigureOut">
              <a:rPr lang="en-US" smtClean="0"/>
              <a:t>6/20/2023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3563836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072490D-569B-4A9C-B9BB-4F77B651EC5B}" type="datetimeFigureOut">
              <a:rPr lang="en-US" smtClean="0"/>
              <a:t>6/20/2023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8629BCD-CBB7-492B-AC0D-782C189D9EBA}" type="slidenum">
              <a:rPr lang="en-US" smtClean="0"/>
              <a:t>‹#›</a:t>
            </a:fld>
            <a:endParaRPr lang="en-US"/>
          </a:p>
        </p:txBody>
      </p:sp>
    </p:spTree>
    <p:extLst>
      <p:ext uri="{BB962C8B-B14F-4D97-AF65-F5344CB8AC3E}">
        <p14:creationId xmlns:p14="http://schemas.microsoft.com/office/powerpoint/2010/main" val="1850378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72490D-569B-4A9C-B9BB-4F77B651EC5B}"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2106268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4060726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724060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2317D5-E0B3-4671-AC83-5D5CF4460437}"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6023B-1B3F-4DBA-994D-42E9496BF2D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1274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2317D5-E0B3-4671-AC83-5D5CF4460437}"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6023B-1B3F-4DBA-994D-42E9496BF2D7}" type="slidenum">
              <a:rPr lang="en-US" smtClean="0"/>
              <a:t>‹#›</a:t>
            </a:fld>
            <a:endParaRPr lang="en-US"/>
          </a:p>
        </p:txBody>
      </p:sp>
    </p:spTree>
    <p:extLst>
      <p:ext uri="{BB962C8B-B14F-4D97-AF65-F5344CB8AC3E}">
        <p14:creationId xmlns:p14="http://schemas.microsoft.com/office/powerpoint/2010/main" val="4281187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72317D5-E0B3-4671-AC83-5D5CF4460437}"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6023B-1B3F-4DBA-994D-42E9496BF2D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04080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2317D5-E0B3-4671-AC83-5D5CF4460437}"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76023B-1B3F-4DBA-994D-42E9496BF2D7}" type="slidenum">
              <a:rPr lang="en-US" smtClean="0"/>
              <a:t>‹#›</a:t>
            </a:fld>
            <a:endParaRPr lang="en-US"/>
          </a:p>
        </p:txBody>
      </p:sp>
    </p:spTree>
    <p:extLst>
      <p:ext uri="{BB962C8B-B14F-4D97-AF65-F5344CB8AC3E}">
        <p14:creationId xmlns:p14="http://schemas.microsoft.com/office/powerpoint/2010/main" val="3486817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2317D5-E0B3-4671-AC83-5D5CF4460437}" type="datetimeFigureOut">
              <a:rPr lang="en-US" smtClean="0"/>
              <a:t>6/20/2023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76023B-1B3F-4DBA-994D-42E9496BF2D7}" type="slidenum">
              <a:rPr lang="en-US" smtClean="0"/>
              <a:t>‹#›</a:t>
            </a:fld>
            <a:endParaRPr lang="en-US"/>
          </a:p>
        </p:txBody>
      </p:sp>
    </p:spTree>
    <p:extLst>
      <p:ext uri="{BB962C8B-B14F-4D97-AF65-F5344CB8AC3E}">
        <p14:creationId xmlns:p14="http://schemas.microsoft.com/office/powerpoint/2010/main" val="17645365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2317D5-E0B3-4671-AC83-5D5CF4460437}" type="datetimeFigureOut">
              <a:rPr lang="en-US" smtClean="0"/>
              <a:t>6/20/2023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76023B-1B3F-4DBA-994D-42E9496BF2D7}" type="slidenum">
              <a:rPr lang="en-US" smtClean="0"/>
              <a:t>‹#›</a:t>
            </a:fld>
            <a:endParaRPr lang="en-US"/>
          </a:p>
        </p:txBody>
      </p:sp>
    </p:spTree>
    <p:extLst>
      <p:ext uri="{BB962C8B-B14F-4D97-AF65-F5344CB8AC3E}">
        <p14:creationId xmlns:p14="http://schemas.microsoft.com/office/powerpoint/2010/main" val="1817012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72317D5-E0B3-4671-AC83-5D5CF4460437}" type="datetimeFigureOut">
              <a:rPr lang="en-US" smtClean="0"/>
              <a:t>6/20/2023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A976023B-1B3F-4DBA-994D-42E9496BF2D7}" type="slidenum">
              <a:rPr lang="en-US" smtClean="0"/>
              <a:t>‹#›</a:t>
            </a:fld>
            <a:endParaRPr lang="en-US"/>
          </a:p>
        </p:txBody>
      </p:sp>
    </p:spTree>
    <p:extLst>
      <p:ext uri="{BB962C8B-B14F-4D97-AF65-F5344CB8AC3E}">
        <p14:creationId xmlns:p14="http://schemas.microsoft.com/office/powerpoint/2010/main" val="615766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72317D5-E0B3-4671-AC83-5D5CF4460437}" type="datetimeFigureOut">
              <a:rPr lang="en-US" smtClean="0"/>
              <a:t>6/20/2023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976023B-1B3F-4DBA-994D-42E9496BF2D7}" type="slidenum">
              <a:rPr lang="en-US" smtClean="0"/>
              <a:t>‹#›</a:t>
            </a:fld>
            <a:endParaRPr lang="en-US"/>
          </a:p>
        </p:txBody>
      </p:sp>
    </p:spTree>
    <p:extLst>
      <p:ext uri="{BB962C8B-B14F-4D97-AF65-F5344CB8AC3E}">
        <p14:creationId xmlns:p14="http://schemas.microsoft.com/office/powerpoint/2010/main" val="3919851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72317D5-E0B3-4671-AC83-5D5CF4460437}"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76023B-1B3F-4DBA-994D-42E9496BF2D7}" type="slidenum">
              <a:rPr lang="en-US" smtClean="0"/>
              <a:t>‹#›</a:t>
            </a:fld>
            <a:endParaRPr lang="en-US"/>
          </a:p>
        </p:txBody>
      </p:sp>
    </p:spTree>
    <p:extLst>
      <p:ext uri="{BB962C8B-B14F-4D97-AF65-F5344CB8AC3E}">
        <p14:creationId xmlns:p14="http://schemas.microsoft.com/office/powerpoint/2010/main" val="25261076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2317D5-E0B3-4671-AC83-5D5CF4460437}"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6023B-1B3F-4DBA-994D-42E9496BF2D7}" type="slidenum">
              <a:rPr lang="en-US" smtClean="0"/>
              <a:t>‹#›</a:t>
            </a:fld>
            <a:endParaRPr lang="en-US"/>
          </a:p>
        </p:txBody>
      </p:sp>
    </p:spTree>
    <p:extLst>
      <p:ext uri="{BB962C8B-B14F-4D97-AF65-F5344CB8AC3E}">
        <p14:creationId xmlns:p14="http://schemas.microsoft.com/office/powerpoint/2010/main" val="19954485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2317D5-E0B3-4671-AC83-5D5CF4460437}"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6023B-1B3F-4DBA-994D-42E9496BF2D7}" type="slidenum">
              <a:rPr lang="en-US" smtClean="0"/>
              <a:t>‹#›</a:t>
            </a:fld>
            <a:endParaRPr lang="en-US"/>
          </a:p>
        </p:txBody>
      </p:sp>
    </p:spTree>
    <p:extLst>
      <p:ext uri="{BB962C8B-B14F-4D97-AF65-F5344CB8AC3E}">
        <p14:creationId xmlns:p14="http://schemas.microsoft.com/office/powerpoint/2010/main" val="12479627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2" y="4455620"/>
            <a:ext cx="10058400" cy="1143000"/>
          </a:xfrm>
        </p:spPr>
        <p:txBody>
          <a:bodyPr lIns="91440" rIns="91440">
            <a:normAutofit/>
          </a:bodyPr>
          <a:lstStyle>
            <a:lvl1pPr marL="0" indent="0" algn="l">
              <a:buNone/>
              <a:defRPr sz="2400" cap="all" spc="201" baseline="0">
                <a:solidFill>
                  <a:schemeClr val="tx2"/>
                </a:solidFill>
                <a:latin typeface="+mj-lt"/>
              </a:defRPr>
            </a:lvl1pPr>
            <a:lvl2pPr marL="457206" indent="0" algn="ctr">
              <a:buNone/>
              <a:defRPr sz="2400"/>
            </a:lvl2pPr>
            <a:lvl3pPr marL="914411" indent="0" algn="ctr">
              <a:buNone/>
              <a:defRPr sz="2400"/>
            </a:lvl3pPr>
            <a:lvl4pPr marL="1371617" indent="0" algn="ctr">
              <a:buNone/>
              <a:defRPr sz="2000"/>
            </a:lvl4pPr>
            <a:lvl5pPr marL="1828823" indent="0" algn="ctr">
              <a:buNone/>
              <a:defRPr sz="2000"/>
            </a:lvl5pPr>
            <a:lvl6pPr marL="2286029" indent="0" algn="ctr">
              <a:buNone/>
              <a:defRPr sz="2000"/>
            </a:lvl6pPr>
            <a:lvl7pPr marL="2743234" indent="0" algn="ctr">
              <a:buNone/>
              <a:defRPr sz="2000"/>
            </a:lvl7pPr>
            <a:lvl8pPr marL="3200440" indent="0" algn="ctr">
              <a:buNone/>
              <a:defRPr sz="2000"/>
            </a:lvl8pPr>
            <a:lvl9pPr marL="3657646"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927CAE-A6DE-4054-8AA1-9B8E1ED28A43}"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481B63-29B0-4F2B-8FAE-7CEAF4A1D122}"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36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927CAE-A6DE-4054-8AA1-9B8E1ED28A43}"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481B63-29B0-4F2B-8FAE-7CEAF4A1D122}" type="slidenum">
              <a:rPr lang="en-US" smtClean="0"/>
              <a:t>‹#›</a:t>
            </a:fld>
            <a:endParaRPr lang="en-US"/>
          </a:p>
        </p:txBody>
      </p:sp>
    </p:spTree>
    <p:extLst>
      <p:ext uri="{BB962C8B-B14F-4D97-AF65-F5344CB8AC3E}">
        <p14:creationId xmlns:p14="http://schemas.microsoft.com/office/powerpoint/2010/main" val="39703807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1" baseline="0">
                <a:solidFill>
                  <a:schemeClr val="tx2"/>
                </a:solidFill>
                <a:latin typeface="+mj-lt"/>
              </a:defRPr>
            </a:lvl1pPr>
            <a:lvl2pPr marL="457206" indent="0">
              <a:buNone/>
              <a:defRPr sz="1801">
                <a:solidFill>
                  <a:schemeClr val="tx1">
                    <a:tint val="75000"/>
                  </a:schemeClr>
                </a:solidFill>
              </a:defRPr>
            </a:lvl2pPr>
            <a:lvl3pPr marL="914411" indent="0">
              <a:buNone/>
              <a:defRPr sz="1600">
                <a:solidFill>
                  <a:schemeClr val="tx1">
                    <a:tint val="75000"/>
                  </a:schemeClr>
                </a:solidFill>
              </a:defRPr>
            </a:lvl3pPr>
            <a:lvl4pPr marL="1371617" indent="0">
              <a:buNone/>
              <a:defRPr sz="1401">
                <a:solidFill>
                  <a:schemeClr val="tx1">
                    <a:tint val="75000"/>
                  </a:schemeClr>
                </a:solidFill>
              </a:defRPr>
            </a:lvl4pPr>
            <a:lvl5pPr marL="1828823" indent="0">
              <a:buNone/>
              <a:defRPr sz="1401">
                <a:solidFill>
                  <a:schemeClr val="tx1">
                    <a:tint val="75000"/>
                  </a:schemeClr>
                </a:solidFill>
              </a:defRPr>
            </a:lvl5pPr>
            <a:lvl6pPr marL="2286029" indent="0">
              <a:buNone/>
              <a:defRPr sz="1401">
                <a:solidFill>
                  <a:schemeClr val="tx1">
                    <a:tint val="75000"/>
                  </a:schemeClr>
                </a:solidFill>
              </a:defRPr>
            </a:lvl6pPr>
            <a:lvl7pPr marL="2743234" indent="0">
              <a:buNone/>
              <a:defRPr sz="1401">
                <a:solidFill>
                  <a:schemeClr val="tx1">
                    <a:tint val="75000"/>
                  </a:schemeClr>
                </a:solidFill>
              </a:defRPr>
            </a:lvl7pPr>
            <a:lvl8pPr marL="3200440" indent="0">
              <a:buNone/>
              <a:defRPr sz="1401">
                <a:solidFill>
                  <a:schemeClr val="tx1">
                    <a:tint val="75000"/>
                  </a:schemeClr>
                </a:solidFill>
              </a:defRPr>
            </a:lvl8pPr>
            <a:lvl9pPr marL="3657646" indent="0">
              <a:buNone/>
              <a:defRPr sz="14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927CAE-A6DE-4054-8AA1-9B8E1ED28A43}"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481B63-29B0-4F2B-8FAE-7CEAF4A1D122}"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1917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927CAE-A6DE-4054-8AA1-9B8E1ED28A43}"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481B63-29B0-4F2B-8FAE-7CEAF4A1D122}" type="slidenum">
              <a:rPr lang="en-US" smtClean="0"/>
              <a:t>‹#›</a:t>
            </a:fld>
            <a:endParaRPr lang="en-US"/>
          </a:p>
        </p:txBody>
      </p:sp>
    </p:spTree>
    <p:extLst>
      <p:ext uri="{BB962C8B-B14F-4D97-AF65-F5344CB8AC3E}">
        <p14:creationId xmlns:p14="http://schemas.microsoft.com/office/powerpoint/2010/main" val="14630908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927CAE-A6DE-4054-8AA1-9B8E1ED28A43}" type="datetimeFigureOut">
              <a:rPr lang="en-US" smtClean="0"/>
              <a:t>6/20/2023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481B63-29B0-4F2B-8FAE-7CEAF4A1D122}" type="slidenum">
              <a:rPr lang="en-US" smtClean="0"/>
              <a:t>‹#›</a:t>
            </a:fld>
            <a:endParaRPr lang="en-US"/>
          </a:p>
        </p:txBody>
      </p:sp>
    </p:spTree>
    <p:extLst>
      <p:ext uri="{BB962C8B-B14F-4D97-AF65-F5344CB8AC3E}">
        <p14:creationId xmlns:p14="http://schemas.microsoft.com/office/powerpoint/2010/main" val="28728574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927CAE-A6DE-4054-8AA1-9B8E1ED28A43}" type="datetimeFigureOut">
              <a:rPr lang="en-US" smtClean="0"/>
              <a:t>6/20/2023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481B63-29B0-4F2B-8FAE-7CEAF4A1D122}" type="slidenum">
              <a:rPr lang="en-US" smtClean="0"/>
              <a:t>‹#›</a:t>
            </a:fld>
            <a:endParaRPr lang="en-US"/>
          </a:p>
        </p:txBody>
      </p:sp>
    </p:spTree>
    <p:extLst>
      <p:ext uri="{BB962C8B-B14F-4D97-AF65-F5344CB8AC3E}">
        <p14:creationId xmlns:p14="http://schemas.microsoft.com/office/powerpoint/2010/main" val="15696846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B927CAE-A6DE-4054-8AA1-9B8E1ED28A43}" type="datetimeFigureOut">
              <a:rPr lang="en-US" smtClean="0"/>
              <a:t>6/20/2023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7481B63-29B0-4F2B-8FAE-7CEAF4A1D122}" type="slidenum">
              <a:rPr lang="en-US" smtClean="0"/>
              <a:t>‹#›</a:t>
            </a:fld>
            <a:endParaRPr lang="en-US"/>
          </a:p>
        </p:txBody>
      </p:sp>
    </p:spTree>
    <p:extLst>
      <p:ext uri="{BB962C8B-B14F-4D97-AF65-F5344CB8AC3E}">
        <p14:creationId xmlns:p14="http://schemas.microsoft.com/office/powerpoint/2010/main" val="35349617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2" y="0"/>
            <a:ext cx="640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1"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2"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926080"/>
            <a:ext cx="3200400" cy="3379124"/>
          </a:xfrm>
        </p:spPr>
        <p:txBody>
          <a:bodyPr lIns="91440" rIns="91440">
            <a:normAutofit/>
          </a:bodyPr>
          <a:lstStyle>
            <a:lvl1pPr marL="0" indent="0">
              <a:buNone/>
              <a:defRPr sz="1500">
                <a:solidFill>
                  <a:srgbClr val="FFFFFF"/>
                </a:solidFill>
              </a:defRPr>
            </a:lvl1pPr>
            <a:lvl2pPr marL="457206" indent="0">
              <a:buNone/>
              <a:defRPr sz="1200"/>
            </a:lvl2pPr>
            <a:lvl3pPr marL="914411" indent="0">
              <a:buNone/>
              <a:defRPr sz="1001"/>
            </a:lvl3pPr>
            <a:lvl4pPr marL="1371617" indent="0">
              <a:buNone/>
              <a:defRPr sz="900"/>
            </a:lvl4pPr>
            <a:lvl5pPr marL="1828823" indent="0">
              <a:buNone/>
              <a:defRPr sz="900"/>
            </a:lvl5pPr>
            <a:lvl6pPr marL="2286029" indent="0">
              <a:buNone/>
              <a:defRPr sz="900"/>
            </a:lvl6pPr>
            <a:lvl7pPr marL="2743234" indent="0">
              <a:buNone/>
              <a:defRPr sz="900"/>
            </a:lvl7pPr>
            <a:lvl8pPr marL="3200440" indent="0">
              <a:buNone/>
              <a:defRPr sz="900"/>
            </a:lvl8pPr>
            <a:lvl9pPr marL="3657646"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1" y="6459786"/>
            <a:ext cx="2618510" cy="365125"/>
          </a:xfrm>
        </p:spPr>
        <p:txBody>
          <a:bodyPr/>
          <a:lstStyle>
            <a:lvl1pPr algn="l">
              <a:defRPr/>
            </a:lvl1pPr>
          </a:lstStyle>
          <a:p>
            <a:fld id="{1B927CAE-A6DE-4054-8AA1-9B8E1ED28A43}" type="datetimeFigureOut">
              <a:rPr lang="en-US" smtClean="0"/>
              <a:t>6/20/2023</a:t>
            </a:fld>
            <a:endParaRPr lang="en-US"/>
          </a:p>
        </p:txBody>
      </p:sp>
      <p:sp>
        <p:nvSpPr>
          <p:cNvPr id="6" name="Footer Placeholder 5"/>
          <p:cNvSpPr>
            <a:spLocks noGrp="1"/>
          </p:cNvSpPr>
          <p:nvPr>
            <p:ph type="ftr" sz="quarter" idx="11"/>
          </p:nvPr>
        </p:nvSpPr>
        <p:spPr>
          <a:xfrm>
            <a:off x="4800600" y="6459786"/>
            <a:ext cx="4648201"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7481B63-29B0-4F2B-8FAE-7CEAF4A1D122}" type="slidenum">
              <a:rPr lang="en-US" smtClean="0"/>
              <a:t>‹#›</a:t>
            </a:fld>
            <a:endParaRPr lang="en-US"/>
          </a:p>
        </p:txBody>
      </p:sp>
    </p:spTree>
    <p:extLst>
      <p:ext uri="{BB962C8B-B14F-4D97-AF65-F5344CB8AC3E}">
        <p14:creationId xmlns:p14="http://schemas.microsoft.com/office/powerpoint/2010/main" val="1921121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6"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1"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4" y="0"/>
            <a:ext cx="12191986" cy="4915076"/>
          </a:xfrm>
          <a:blipFill>
            <a:blip r:embed="rId2"/>
            <a:stretch>
              <a:fillRect/>
            </a:stretch>
          </a:blipFill>
        </p:spPr>
        <p:txBody>
          <a:bodyPr lIns="457200" tIns="457200" anchor="t"/>
          <a:lstStyle>
            <a:lvl1pPr marL="0" indent="0">
              <a:buNone/>
              <a:defRPr sz="3200">
                <a:solidFill>
                  <a:schemeClr val="bg1"/>
                </a:solidFill>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1" y="5907023"/>
            <a:ext cx="10113264" cy="594360"/>
          </a:xfrm>
        </p:spPr>
        <p:txBody>
          <a:bodyPr lIns="91440" tIns="0" rIns="91440" bIns="0">
            <a:normAutofit/>
          </a:bodyPr>
          <a:lstStyle>
            <a:lvl1pPr marL="0" indent="0">
              <a:spcBef>
                <a:spcPts val="0"/>
              </a:spcBef>
              <a:spcAft>
                <a:spcPts val="601"/>
              </a:spcAft>
              <a:buNone/>
              <a:defRPr sz="1500">
                <a:solidFill>
                  <a:srgbClr val="FFFFFF"/>
                </a:solidFill>
              </a:defRPr>
            </a:lvl1pPr>
            <a:lvl2pPr marL="457206" indent="0">
              <a:buNone/>
              <a:defRPr sz="1200"/>
            </a:lvl2pPr>
            <a:lvl3pPr marL="914411" indent="0">
              <a:buNone/>
              <a:defRPr sz="1001"/>
            </a:lvl3pPr>
            <a:lvl4pPr marL="1371617" indent="0">
              <a:buNone/>
              <a:defRPr sz="900"/>
            </a:lvl4pPr>
            <a:lvl5pPr marL="1828823" indent="0">
              <a:buNone/>
              <a:defRPr sz="900"/>
            </a:lvl5pPr>
            <a:lvl6pPr marL="2286029" indent="0">
              <a:buNone/>
              <a:defRPr sz="900"/>
            </a:lvl6pPr>
            <a:lvl7pPr marL="2743234" indent="0">
              <a:buNone/>
              <a:defRPr sz="900"/>
            </a:lvl7pPr>
            <a:lvl8pPr marL="3200440" indent="0">
              <a:buNone/>
              <a:defRPr sz="900"/>
            </a:lvl8pPr>
            <a:lvl9pPr marL="3657646"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927CAE-A6DE-4054-8AA1-9B8E1ED28A43}"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481B63-29B0-4F2B-8FAE-7CEAF4A1D122}" type="slidenum">
              <a:rPr lang="en-US" smtClean="0"/>
              <a:t>‹#›</a:t>
            </a:fld>
            <a:endParaRPr lang="en-US"/>
          </a:p>
        </p:txBody>
      </p:sp>
    </p:spTree>
    <p:extLst>
      <p:ext uri="{BB962C8B-B14F-4D97-AF65-F5344CB8AC3E}">
        <p14:creationId xmlns:p14="http://schemas.microsoft.com/office/powerpoint/2010/main" val="10211837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927CAE-A6DE-4054-8AA1-9B8E1ED28A43}"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481B63-29B0-4F2B-8FAE-7CEAF4A1D122}" type="slidenum">
              <a:rPr lang="en-US" smtClean="0"/>
              <a:t>‹#›</a:t>
            </a:fld>
            <a:endParaRPr lang="en-US"/>
          </a:p>
        </p:txBody>
      </p:sp>
    </p:spTree>
    <p:extLst>
      <p:ext uri="{BB962C8B-B14F-4D97-AF65-F5344CB8AC3E}">
        <p14:creationId xmlns:p14="http://schemas.microsoft.com/office/powerpoint/2010/main" val="16722889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899" y="414779"/>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927CAE-A6DE-4054-8AA1-9B8E1ED28A43}"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481B63-29B0-4F2B-8FAE-7CEAF4A1D122}" type="slidenum">
              <a:rPr lang="en-US" smtClean="0"/>
              <a:t>‹#›</a:t>
            </a:fld>
            <a:endParaRPr lang="en-US"/>
          </a:p>
        </p:txBody>
      </p:sp>
    </p:spTree>
    <p:extLst>
      <p:ext uri="{BB962C8B-B14F-4D97-AF65-F5344CB8AC3E}">
        <p14:creationId xmlns:p14="http://schemas.microsoft.com/office/powerpoint/2010/main" val="21505911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4290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42882294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losing slide 2">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sp>
        <p:nvSpPr>
          <p:cNvPr id="5" name="Text Box 3">
            <a:extLst>
              <a:ext uri="{FF2B5EF4-FFF2-40B4-BE49-F238E27FC236}">
                <a16:creationId xmlns:a16="http://schemas.microsoft.com/office/drawing/2014/main" id="{0AFD6FAE-B215-4CF5-A1C7-AE7803BB4E41}"/>
              </a:ext>
            </a:extLst>
          </p:cNvPr>
          <p:cNvSpPr txBox="1">
            <a:spLocks noChangeArrowheads="1"/>
          </p:cNvSpPr>
          <p:nvPr/>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pic>
        <p:nvPicPr>
          <p:cNvPr id="6" name="Picture 5">
            <a:extLst>
              <a:ext uri="{FF2B5EF4-FFF2-40B4-BE49-F238E27FC236}">
                <a16:creationId xmlns:a16="http://schemas.microsoft.com/office/drawing/2014/main" id="{DC1F9C5D-BBFD-AE42-A1D5-DA2C27C2E9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Tree>
    <p:extLst>
      <p:ext uri="{BB962C8B-B14F-4D97-AF65-F5344CB8AC3E}">
        <p14:creationId xmlns:p14="http://schemas.microsoft.com/office/powerpoint/2010/main" val="11401673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lide 1">
    <p:bg>
      <p:bgPr>
        <a:solidFill>
          <a:schemeClr val="bg2"/>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dirty="0"/>
              <a:t>Azure presentation title </a:t>
            </a:r>
            <a:br>
              <a:rPr lang="en-US" dirty="0"/>
            </a:br>
            <a:r>
              <a:rPr lang="en-US" dirty="0"/>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9533592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9231662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834768183"/>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419340-DB0C-B34E-84FE-2AA1A19A58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2759563398"/>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lide 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467" y="206105"/>
            <a:ext cx="5583404" cy="6409831"/>
          </a:xfrm>
          <a:prstGeom prst="rect">
            <a:avLst/>
          </a:prstGeom>
        </p:spPr>
      </p:pic>
    </p:spTree>
    <p:extLst>
      <p:ext uri="{BB962C8B-B14F-4D97-AF65-F5344CB8AC3E}">
        <p14:creationId xmlns:p14="http://schemas.microsoft.com/office/powerpoint/2010/main" val="3893876501"/>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lide 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5182" y="321589"/>
            <a:ext cx="5413537" cy="6214821"/>
          </a:xfrm>
          <a:prstGeom prst="rect">
            <a:avLst/>
          </a:prstGeom>
        </p:spPr>
      </p:pic>
    </p:spTree>
    <p:extLst>
      <p:ext uri="{BB962C8B-B14F-4D97-AF65-F5344CB8AC3E}">
        <p14:creationId xmlns:p14="http://schemas.microsoft.com/office/powerpoint/2010/main" val="2314864957"/>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lid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D76228DA-C78B-F44C-94F8-7128E0B2D7A7}"/>
              </a:ext>
            </a:extLst>
          </p:cNvPr>
          <p:cNvSpPr/>
          <p:nvPr/>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spTree>
    <p:extLst>
      <p:ext uri="{BB962C8B-B14F-4D97-AF65-F5344CB8AC3E}">
        <p14:creationId xmlns:p14="http://schemas.microsoft.com/office/powerpoint/2010/main" val="229283719"/>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Slide 9">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01443AB1-0CDE-B44D-8883-27DEB7B914EA}"/>
              </a:ext>
            </a:extLst>
          </p:cNvPr>
          <p:cNvSpPr/>
          <p:nvPr/>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515582719"/>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1168943"/>
            <a:ext cx="3618381" cy="899665"/>
          </a:xfrm>
          <a:prstGeom prst="rect">
            <a:avLst/>
          </a:prstGeom>
        </p:spPr>
        <p:txBody>
          <a:bodyPr lIns="0" tIns="0" rIns="0" bIns="0"/>
          <a:lstStyle>
            <a:lvl1pPr>
              <a:defRPr sz="1765" spc="0" baseline="0">
                <a:solidFill>
                  <a:srgbClr val="000000"/>
                </a:solidFill>
              </a:defRPr>
            </a:lvl1pPr>
          </a:lstStyle>
          <a:p>
            <a:r>
              <a:rPr lang="en-US" dirty="0"/>
              <a:t>Contents</a:t>
            </a:r>
          </a:p>
        </p:txBody>
      </p:sp>
      <p:sp>
        <p:nvSpPr>
          <p:cNvPr id="4" name="Text Placeholder 3"/>
          <p:cNvSpPr>
            <a:spLocks noGrp="1"/>
          </p:cNvSpPr>
          <p:nvPr>
            <p:ph type="body" sz="quarter" idx="10" hasCustomPrompt="1"/>
          </p:nvPr>
        </p:nvSpPr>
        <p:spPr>
          <a:xfrm>
            <a:off x="6229843" y="1168943"/>
            <a:ext cx="547437" cy="3786998"/>
          </a:xfrm>
          <a:prstGeom prst="rect">
            <a:avLst/>
          </a:prstGeom>
        </p:spPr>
        <p:txBody>
          <a:bodyPr wrap="square" lIns="0" tIns="0" rIns="0" bIns="0">
            <a:noAutofit/>
          </a:bodyPr>
          <a:lstStyle>
            <a:lvl1pPr marL="0" indent="0" defTabSz="507330">
              <a:spcAft>
                <a:spcPts val="490"/>
              </a:spcAft>
              <a:buNone/>
              <a:defRPr sz="1765" spc="0" baseline="0">
                <a:solidFill>
                  <a:schemeClr val="tx2"/>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a:t>
            </a:r>
            <a:br>
              <a:rPr lang="en-US" dirty="0"/>
            </a:br>
            <a:r>
              <a:rPr lang="en-US" dirty="0"/>
              <a:t>##</a:t>
            </a:r>
            <a:br>
              <a:rPr lang="en-US" dirty="0"/>
            </a:br>
            <a:r>
              <a:rPr lang="en-US" dirty="0"/>
              <a:t>##</a:t>
            </a:r>
            <a:br>
              <a:rPr lang="en-US" dirty="0"/>
            </a:br>
            <a:r>
              <a:rPr lang="en-US" dirty="0"/>
              <a:t>##</a:t>
            </a:r>
            <a:br>
              <a:rPr lang="en-US" dirty="0"/>
            </a:br>
            <a:r>
              <a:rPr lang="en-US" dirty="0"/>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0" y="1168942"/>
            <a:ext cx="3290380" cy="3786998"/>
          </a:xfrm>
          <a:prstGeom prst="rect">
            <a:avLst/>
          </a:prstGeom>
        </p:spPr>
        <p:txBody>
          <a:bodyPr wrap="square" lIns="0" tIns="0" rIns="0" bIns="0">
            <a:noAutofit/>
          </a:bodyPr>
          <a:lstStyle>
            <a:lvl1pPr marL="0" indent="0" defTabSz="507330">
              <a:spcAft>
                <a:spcPts val="490"/>
              </a:spcAft>
              <a:buNone/>
              <a:defRPr sz="1765" spc="0" baseline="0">
                <a:solidFill>
                  <a:srgbClr val="000000"/>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Section Title</a:t>
            </a:r>
            <a:br>
              <a:rPr lang="en-US" dirty="0"/>
            </a:br>
            <a:r>
              <a:rPr lang="en-US" dirty="0"/>
              <a:t>Section Title</a:t>
            </a:r>
            <a:br>
              <a:rPr lang="en-US" dirty="0"/>
            </a:br>
            <a:r>
              <a:rPr lang="en-US" dirty="0"/>
              <a:t>Section Title</a:t>
            </a:r>
            <a:br>
              <a:rPr lang="en-US" dirty="0"/>
            </a:br>
            <a:r>
              <a:rPr lang="en-US" dirty="0"/>
              <a:t>Section Title</a:t>
            </a:r>
            <a:br>
              <a:rPr lang="en-US" dirty="0"/>
            </a:br>
            <a:r>
              <a:rPr lang="en-US" dirty="0"/>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460077390"/>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55995"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93" indent="0">
              <a:buNone/>
              <a:defRPr/>
            </a:lvl3pPr>
            <a:lvl4pPr marL="672290" indent="0">
              <a:buNone/>
              <a:defRPr/>
            </a:lvl4pPr>
            <a:lvl5pPr marL="896386" indent="0">
              <a:buNone/>
              <a:defRPr/>
            </a:lvl5pPr>
          </a:lstStyle>
          <a:p>
            <a:pPr lvl="1"/>
            <a:r>
              <a:rPr lang="en-US" dirty="0"/>
              <a:t>Large: subhead Segoe UI Regular 20/24</a:t>
            </a:r>
          </a:p>
        </p:txBody>
      </p:sp>
      <p:sp>
        <p:nvSpPr>
          <p:cNvPr id="5" name="Text Placeholder 4"/>
          <p:cNvSpPr>
            <a:spLocks noGrp="1"/>
          </p:cNvSpPr>
          <p:nvPr>
            <p:ph type="body" sz="quarter" idx="11" hasCustomPrompt="1"/>
          </p:nvPr>
        </p:nvSpPr>
        <p:spPr>
          <a:xfrm>
            <a:off x="455995" y="3015704"/>
            <a:ext cx="11306469" cy="216206"/>
          </a:xfrm>
          <a:prstGeom prst="rect">
            <a:avLst/>
          </a:prstGeom>
        </p:spPr>
        <p:txBody>
          <a:bodyPr lIns="0" tIns="0" rIns="0" bIns="0"/>
          <a:lstStyle>
            <a:lvl1pPr marL="0" indent="0">
              <a:lnSpc>
                <a:spcPts val="1765"/>
              </a:lnSpc>
              <a:spcBef>
                <a:spcPts val="0"/>
              </a:spcBef>
              <a:buNone/>
              <a:defRPr sz="1372" b="0" spc="0">
                <a:solidFill>
                  <a:schemeClr val="tx2"/>
                </a:solidFill>
                <a:latin typeface="+mj-lt"/>
              </a:defRPr>
            </a:lvl1pPr>
            <a:lvl2pPr marL="0" indent="0">
              <a:lnSpc>
                <a:spcPts val="1765"/>
              </a:lnSpc>
              <a:spcBef>
                <a:spcPts val="0"/>
              </a:spcBef>
              <a:buNone/>
              <a:defRPr sz="1372" spc="0">
                <a:solidFill>
                  <a:srgbClr val="000000"/>
                </a:solidFill>
              </a:defRPr>
            </a:lvl2pPr>
            <a:lvl3pPr marL="448193" indent="0">
              <a:buNone/>
              <a:defRPr/>
            </a:lvl3pPr>
            <a:lvl4pPr marL="672290" indent="0">
              <a:buNone/>
              <a:defRPr/>
            </a:lvl4pPr>
            <a:lvl5pPr marL="896386" indent="0">
              <a:buNone/>
              <a:defRPr/>
            </a:lvl5pPr>
          </a:lstStyle>
          <a:p>
            <a:pPr lvl="0"/>
            <a:r>
              <a:rPr lang="en-US" dirty="0"/>
              <a:t>Medium: paragraph heading Segoe UI </a:t>
            </a:r>
            <a:r>
              <a:rPr lang="en-US" dirty="0" err="1"/>
              <a:t>Semibold</a:t>
            </a:r>
            <a:r>
              <a:rPr lang="en-US" dirty="0"/>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5" y="4503832"/>
            <a:ext cx="11306469" cy="150884"/>
          </a:xfrm>
          <a:prstGeom prst="rect">
            <a:avLst/>
          </a:prstGeom>
        </p:spPr>
        <p:txBody>
          <a:bodyPr lIns="0" tIns="0" rIns="0" bIns="0"/>
          <a:lstStyle>
            <a:lvl1pPr marL="0" indent="0">
              <a:lnSpc>
                <a:spcPts val="1176"/>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93" indent="0">
              <a:buNone/>
              <a:defRPr/>
            </a:lvl3pPr>
            <a:lvl4pPr marL="672290" indent="0">
              <a:buNone/>
              <a:defRPr/>
            </a:lvl4pPr>
            <a:lvl5pPr marL="0" indent="0">
              <a:lnSpc>
                <a:spcPct val="100000"/>
              </a:lnSpc>
              <a:buNone/>
              <a:defRPr>
                <a:solidFill>
                  <a:srgbClr val="000000"/>
                </a:solidFill>
              </a:defRPr>
            </a:lvl5pPr>
          </a:lstStyle>
          <a:p>
            <a:pPr lvl="1"/>
            <a:r>
              <a:rPr lang="en-US" dirty="0"/>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69" y="4299924"/>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69"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Medium: body copy Segoe UI Regular 14/18</a:t>
            </a:r>
          </a:p>
        </p:txBody>
      </p:sp>
    </p:spTree>
    <p:extLst>
      <p:ext uri="{BB962C8B-B14F-4D97-AF65-F5344CB8AC3E}">
        <p14:creationId xmlns:p14="http://schemas.microsoft.com/office/powerpoint/2010/main" val="991959393"/>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a:p>
            <a:pPr lvl="0"/>
            <a:endParaRPr lang="en-US" dirty="0"/>
          </a:p>
          <a:p>
            <a:pPr lvl="0"/>
            <a:endParaRPr lang="en-US" dirty="0"/>
          </a:p>
          <a:p>
            <a:pPr lvl="0"/>
            <a:endParaRPr lang="en-US" dirty="0"/>
          </a:p>
        </p:txBody>
      </p:sp>
    </p:spTree>
    <p:extLst>
      <p:ext uri="{BB962C8B-B14F-4D97-AF65-F5344CB8AC3E}">
        <p14:creationId xmlns:p14="http://schemas.microsoft.com/office/powerpoint/2010/main" val="2628266822"/>
      </p:ext>
    </p:extLst>
  </p:cSld>
  <p:clrMapOvr>
    <a:masterClrMapping/>
  </p:clrMapOvr>
  <p:transition>
    <p:fade/>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55995" y="1922587"/>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55995"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49"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0"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6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4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6"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686095491"/>
      </p:ext>
    </p:extLst>
  </p:cSld>
  <p:clrMapOvr>
    <a:masterClrMapping/>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523686303"/>
      </p:ext>
    </p:extLst>
  </p:cSld>
  <p:clrMapOvr>
    <a:masterClrMapping/>
  </p:clrMapOvr>
  <p:transition>
    <p:fade/>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b="-1"/>
          <a:stretch/>
        </p:blipFill>
        <p:spPr>
          <a:xfrm>
            <a:off x="8144083" y="1599720"/>
            <a:ext cx="3609417" cy="3103720"/>
          </a:xfrm>
          <a:prstGeom prst="rect">
            <a:avLst/>
          </a:prstGeom>
        </p:spPr>
      </p:pic>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b="-1"/>
          <a:stretch/>
        </p:blipFill>
        <p:spPr>
          <a:xfrm>
            <a:off x="4309002" y="1599721"/>
            <a:ext cx="3612531" cy="3099394"/>
          </a:xfrm>
          <a:prstGeom prst="rect">
            <a:avLst/>
          </a:prstGeom>
        </p:spPr>
      </p:pic>
      <p:pic>
        <p:nvPicPr>
          <p:cNvPr id="3" name="Picture 2"/>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464957" y="1599722"/>
            <a:ext cx="3609417" cy="3108047"/>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1"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3"/>
            <a:ext cx="3609043"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1" y="2875700"/>
            <a:ext cx="3618381" cy="543185"/>
          </a:xfrm>
          <a:prstGeom prst="rect">
            <a:avLst/>
          </a:prstGeom>
        </p:spPr>
        <p:txBody>
          <a:bodyPr/>
          <a:lstStyle>
            <a:lvl1pPr algn="ctr">
              <a:defRPr>
                <a:solidFill>
                  <a:schemeClr val="bg1"/>
                </a:solidFill>
              </a:defRPr>
            </a:lvl1pPr>
          </a:lstStyle>
          <a:p>
            <a:r>
              <a:rPr lang="en-US" dirty="0"/>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5"/>
            <a:ext cx="3609043" cy="543185"/>
          </a:xfrm>
          <a:prstGeom prst="rect">
            <a:avLst/>
          </a:prstGeom>
        </p:spPr>
        <p:txBody>
          <a:bodyPr/>
          <a:lstStyle>
            <a:lvl1pPr algn="ctr">
              <a:defRPr>
                <a:solidFill>
                  <a:schemeClr val="bg1"/>
                </a:solidFill>
              </a:defRPr>
            </a:lvl1pPr>
          </a:lstStyle>
          <a:p>
            <a:r>
              <a:rPr lang="en-US" dirty="0"/>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552473750"/>
      </p:ext>
    </p:extLst>
  </p:cSld>
  <p:clrMapOvr>
    <a:masterClrMapping/>
  </p:clrMapOvr>
  <p:transition>
    <p:fade/>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6" name="Text Placeholder 4"/>
          <p:cNvSpPr>
            <a:spLocks noGrp="1"/>
          </p:cNvSpPr>
          <p:nvPr>
            <p:ph type="body" sz="quarter" idx="17" hasCustomPrompt="1"/>
          </p:nvPr>
        </p:nvSpPr>
        <p:spPr>
          <a:xfrm>
            <a:off x="4300662"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8" name="Text Placeholder 4"/>
          <p:cNvSpPr>
            <a:spLocks noGrp="1"/>
          </p:cNvSpPr>
          <p:nvPr>
            <p:ph type="body" sz="quarter" idx="19" hasCustomPrompt="1"/>
          </p:nvPr>
        </p:nvSpPr>
        <p:spPr>
          <a:xfrm>
            <a:off x="6222995"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5" name="Content Placeholder 15"/>
          <p:cNvSpPr>
            <a:spLocks noGrp="1"/>
          </p:cNvSpPr>
          <p:nvPr>
            <p:ph sz="quarter" idx="26" hasCustomPrompt="1"/>
          </p:nvPr>
        </p:nvSpPr>
        <p:spPr>
          <a:xfrm>
            <a:off x="2378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6" name="Content Placeholder 15"/>
          <p:cNvSpPr>
            <a:spLocks noGrp="1"/>
          </p:cNvSpPr>
          <p:nvPr>
            <p:ph sz="quarter" idx="27" hasCustomPrompt="1"/>
          </p:nvPr>
        </p:nvSpPr>
        <p:spPr>
          <a:xfrm>
            <a:off x="4300662"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7" name="Content Placeholder 15"/>
          <p:cNvSpPr>
            <a:spLocks noGrp="1"/>
          </p:cNvSpPr>
          <p:nvPr>
            <p:ph sz="quarter" idx="28" hasCustomPrompt="1"/>
          </p:nvPr>
        </p:nvSpPr>
        <p:spPr>
          <a:xfrm>
            <a:off x="6222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8" name="Content Placeholder 15"/>
          <p:cNvSpPr>
            <a:spLocks noGrp="1"/>
          </p:cNvSpPr>
          <p:nvPr>
            <p:ph sz="quarter" idx="29" hasCustomPrompt="1"/>
          </p:nvPr>
        </p:nvSpPr>
        <p:spPr>
          <a:xfrm>
            <a:off x="8145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9" name="Content Placeholder 15"/>
          <p:cNvSpPr>
            <a:spLocks noGrp="1"/>
          </p:cNvSpPr>
          <p:nvPr>
            <p:ph sz="quarter" idx="30" hasCustomPrompt="1"/>
          </p:nvPr>
        </p:nvSpPr>
        <p:spPr>
          <a:xfrm>
            <a:off x="10067660"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1"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2"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2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4"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2038289421"/>
      </p:ext>
    </p:extLst>
  </p:cSld>
  <p:clrMapOvr>
    <a:masterClrMapping/>
  </p:clrMapOvr>
  <p:transition>
    <p:fade/>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dirty="0"/>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96012912"/>
      </p:ext>
    </p:extLst>
  </p:cSld>
  <p:clrMapOvr>
    <a:masterClrMapping/>
  </p:clrMapOvr>
  <p:transition>
    <p:fade/>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1158933825"/>
      </p:ext>
    </p:extLst>
  </p:cSld>
  <p:clrMapOvr>
    <a:masterClrMapping/>
  </p:clrMapOvr>
  <p:transition>
    <p:fade/>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2999628997"/>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chemeClr val="tx1"/>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789538535"/>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hoto layout 1">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5" y="620428"/>
            <a:ext cx="5541959" cy="403137"/>
          </a:xfrm>
          <a:prstGeom prst="rect">
            <a:avLst/>
          </a:prstGeom>
        </p:spPr>
        <p:txBody>
          <a:bodyPr wrap="square" lIns="0" tIns="0" rIns="0" bIns="0">
            <a:spAutoFit/>
          </a:bodyPr>
          <a:lstStyle>
            <a:lvl1pPr>
              <a:lnSpc>
                <a:spcPts val="3137"/>
              </a:lnSpc>
              <a:defRPr sz="2745" baseline="0">
                <a:solidFill>
                  <a:srgbClr val="000000"/>
                </a:solidFill>
              </a:defRPr>
            </a:lvl1pPr>
          </a:lstStyle>
          <a:p>
            <a:r>
              <a:rPr lang="en-US" dirty="0"/>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5" y="1922587"/>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3121485"/>
            <a:ext cx="5973053" cy="543185"/>
          </a:xfrm>
          <a:prstGeom prst="rect">
            <a:avLst/>
          </a:prstGeom>
        </p:spPr>
        <p:txBody>
          <a:bodyPr/>
          <a:lstStyle>
            <a:lvl1pPr algn="ctr">
              <a:defRPr>
                <a:solidFill>
                  <a:schemeClr val="bg1"/>
                </a:solidFill>
              </a:defRPr>
            </a:lvl1pPr>
          </a:lstStyle>
          <a:p>
            <a:r>
              <a:rPr lang="en-US" dirty="0"/>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5" y="2576675"/>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4"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152840568"/>
      </p:ext>
    </p:extLst>
  </p:cSld>
  <p:clrMapOvr>
    <a:masterClrMapping/>
  </p:clrMapOvr>
  <p:transition>
    <p:fade/>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Photo layout 2</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9" name="Text Placeholder 4"/>
          <p:cNvSpPr>
            <a:spLocks noGrp="1"/>
          </p:cNvSpPr>
          <p:nvPr>
            <p:ph type="body" sz="quarter" idx="12" hasCustomPrompt="1"/>
          </p:nvPr>
        </p:nvSpPr>
        <p:spPr>
          <a:xfrm>
            <a:off x="4300039"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pic>
        <p:nvPicPr>
          <p:cNvPr id="15" name="Picture 14"/>
          <p:cNvPicPr>
            <a:picLocks noChangeAspect="1"/>
          </p:cNvPicPr>
          <p:nvPr/>
        </p:nvPicPr>
        <p:blipFill rotWithShape="1">
          <a:blip r:embed="rId2" cstate="print">
            <a:extLst>
              <a:ext uri="{28A0092B-C50C-407E-A947-70E740481C1C}">
                <a14:useLocalDpi xmlns:a14="http://schemas.microsoft.com/office/drawing/2010/main" val="0"/>
              </a:ext>
            </a:extLst>
          </a:blip>
          <a:srcRect r="-1"/>
          <a:stretch/>
        </p:blipFill>
        <p:spPr>
          <a:xfrm>
            <a:off x="8150360" y="2152783"/>
            <a:ext cx="3623053" cy="2589915"/>
          </a:xfrm>
          <a:prstGeom prst="rect">
            <a:avLst/>
          </a:prstGeom>
        </p:spPr>
      </p:pic>
      <p:pic>
        <p:nvPicPr>
          <p:cNvPr id="16" name="Picture 15"/>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425647" y="2152783"/>
            <a:ext cx="3648727" cy="2589915"/>
          </a:xfrm>
          <a:prstGeom prst="rect">
            <a:avLst/>
          </a:prstGeom>
        </p:spPr>
      </p:pic>
      <p:pic>
        <p:nvPicPr>
          <p:cNvPr id="17" name="Picture 16"/>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4"/>
            <a:ext cx="3647951" cy="543185"/>
          </a:xfrm>
          <a:prstGeom prst="rect">
            <a:avLst/>
          </a:prstGeom>
        </p:spPr>
        <p:txBody>
          <a:bodyPr/>
          <a:lstStyle>
            <a:lvl1pPr algn="ctr">
              <a:defRPr>
                <a:solidFill>
                  <a:schemeClr val="bg1"/>
                </a:solidFill>
              </a:defRPr>
            </a:lvl1pPr>
          </a:lstStyle>
          <a:p>
            <a:r>
              <a:rPr lang="en-US" dirty="0"/>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39" y="3186832"/>
            <a:ext cx="3618381"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8" y="3186832"/>
            <a:ext cx="3612156" cy="543185"/>
          </a:xfrm>
          <a:prstGeom prst="rect">
            <a:avLst/>
          </a:prstGeom>
        </p:spPr>
        <p:txBody>
          <a:bodyPr/>
          <a:lstStyle>
            <a:lvl1pPr algn="ctr">
              <a:defRPr>
                <a:solidFill>
                  <a:schemeClr val="bg1"/>
                </a:solidFill>
              </a:defRPr>
            </a:lvl1pPr>
          </a:lstStyle>
          <a:p>
            <a:r>
              <a:rPr lang="en-US" dirty="0"/>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6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8"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Tree>
    <p:extLst>
      <p:ext uri="{BB962C8B-B14F-4D97-AF65-F5344CB8AC3E}">
        <p14:creationId xmlns:p14="http://schemas.microsoft.com/office/powerpoint/2010/main" val="56431813"/>
      </p:ext>
    </p:extLst>
  </p:cSld>
  <p:clrMapOvr>
    <a:masterClrMapping/>
  </p:clrMapOvr>
  <p:transition>
    <p:fade/>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55995" y="1922802"/>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dirty="0"/>
              <a:t>Large subhead Segoe UI Regular 20/24. Em volor resequaectur.</a:t>
            </a:r>
            <a:endParaRPr lang="en-US" dirty="0"/>
          </a:p>
        </p:txBody>
      </p:sp>
      <p:sp>
        <p:nvSpPr>
          <p:cNvPr id="5" name="Text Placeholder 4"/>
          <p:cNvSpPr>
            <a:spLocks noGrp="1"/>
          </p:cNvSpPr>
          <p:nvPr>
            <p:ph type="body" sz="quarter" idx="11" hasCustomPrompt="1"/>
          </p:nvPr>
        </p:nvSpPr>
        <p:spPr>
          <a:xfrm>
            <a:off x="455995" y="2707597"/>
            <a:ext cx="4758210" cy="2521331"/>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a:t>Click icon to add picture</a:t>
            </a:r>
            <a:endParaRPr lang="en-US" dirty="0"/>
          </a:p>
        </p:txBody>
      </p:sp>
      <p:sp>
        <p:nvSpPr>
          <p:cNvPr id="14" name="Text Box 3">
            <a:extLst>
              <a:ext uri="{FF2B5EF4-FFF2-40B4-BE49-F238E27FC236}">
                <a16:creationId xmlns:a16="http://schemas.microsoft.com/office/drawing/2014/main" id="{9732C163-B0E6-5B41-A1A7-C570F404A2CB}"/>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066842073"/>
      </p:ext>
    </p:extLst>
  </p:cSld>
  <p:clrMapOvr>
    <a:masterClrMapping/>
  </p:clrMapOvr>
  <p:transition>
    <p:fade/>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a:t>Click icon to add picture</a:t>
            </a:r>
            <a:endParaRPr lang="en-US" dirty="0"/>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2"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8"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1045056535"/>
      </p:ext>
    </p:extLst>
  </p:cSld>
  <p:clrMapOvr>
    <a:masterClrMapping/>
  </p:clrMapOvr>
  <p:transition>
    <p:fade/>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a:t>Click icon to add picture</a:t>
            </a:r>
            <a:endParaRPr lang="en-US" dirty="0"/>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229577104"/>
      </p:ext>
    </p:extLst>
  </p:cSld>
  <p:clrMapOvr>
    <a:masterClrMapping/>
  </p:clrMapOvr>
  <p:transition>
    <p:fade/>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endParaRPr lang="en-US" dirty="0"/>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Chart examples</a:t>
            </a:r>
          </a:p>
        </p:txBody>
      </p:sp>
      <p:sp>
        <p:nvSpPr>
          <p:cNvPr id="9" name="Text Placeholder 4"/>
          <p:cNvSpPr>
            <a:spLocks noGrp="1"/>
          </p:cNvSpPr>
          <p:nvPr>
            <p:ph type="body" sz="quarter" idx="12" hasCustomPrompt="1"/>
          </p:nvPr>
        </p:nvSpPr>
        <p:spPr>
          <a:xfrm>
            <a:off x="455992" y="5857162"/>
            <a:ext cx="3618381" cy="301770"/>
          </a:xfrm>
          <a:prstGeom prst="rect">
            <a:avLst/>
          </a:prstGeom>
        </p:spPr>
        <p:txBody>
          <a:bodyPr lIns="0" tIns="0" rIns="0" bIns="0"/>
          <a:lstStyle>
            <a:lvl1pPr marL="0" indent="0">
              <a:lnSpc>
                <a:spcPts val="1176"/>
              </a:lnSpc>
              <a:spcBef>
                <a:spcPts val="882"/>
              </a:spcBef>
              <a:buFont typeface="Arial" panose="020B0604020202020204" pitchFamily="34" charset="0"/>
              <a:buNone/>
              <a:defRPr sz="98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7" name="Text Placeholder 4"/>
          <p:cNvSpPr>
            <a:spLocks noGrp="1"/>
          </p:cNvSpPr>
          <p:nvPr>
            <p:ph type="body" sz="quarter" idx="18" hasCustomPrompt="1"/>
          </p:nvPr>
        </p:nvSpPr>
        <p:spPr>
          <a:xfrm>
            <a:off x="4303152"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endParaRPr lang="en-US" dirty="0"/>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99262824"/>
      </p:ext>
    </p:extLst>
  </p:cSld>
  <p:clrMapOvr>
    <a:masterClrMapping/>
  </p:clrMapOvr>
  <p:transition>
    <p:fade/>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Table styling</a:t>
            </a:r>
          </a:p>
        </p:txBody>
      </p:sp>
      <p:sp>
        <p:nvSpPr>
          <p:cNvPr id="4" name="Table Placeholder 3"/>
          <p:cNvSpPr>
            <a:spLocks noGrp="1"/>
          </p:cNvSpPr>
          <p:nvPr>
            <p:ph type="tbl" sz="quarter" idx="10"/>
          </p:nvPr>
        </p:nvSpPr>
        <p:spPr>
          <a:xfrm>
            <a:off x="455995" y="3924852"/>
            <a:ext cx="11306469" cy="546753"/>
          </a:xfrm>
          <a:prstGeom prst="rect">
            <a:avLst/>
          </a:prstGeom>
        </p:spPr>
        <p:txBody>
          <a:bodyPr anchor="ctr" anchorCtr="0"/>
          <a:lstStyle>
            <a:lvl1pPr algn="ctr">
              <a:defRPr/>
            </a:lvl1pPr>
          </a:lstStyle>
          <a:p>
            <a:r>
              <a:rPr lang="en-US"/>
              <a:t>Click icon to add table</a:t>
            </a:r>
            <a:endParaRPr lang="en-US" dirty="0"/>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365567989"/>
      </p:ext>
    </p:extLst>
  </p:cSld>
  <p:clrMapOvr>
    <a:masterClrMapping/>
  </p:clrMapOvr>
  <p:transition>
    <p:fade/>
  </p:transition>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Software code slide">
    <p:bg>
      <p:bgPr>
        <a:solidFill>
          <a:schemeClr val="bg2"/>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EE2ED2-76B4-9F41-8074-736FC3EE60AE}"/>
              </a:ext>
            </a:extLst>
          </p:cNvPr>
          <p:cNvSpPr>
            <a:spLocks noGrp="1"/>
          </p:cNvSpPr>
          <p:nvPr>
            <p:ph type="title" hasCustomPrompt="1"/>
          </p:nvPr>
        </p:nvSpPr>
        <p:spPr>
          <a:xfrm>
            <a:off x="455994" y="556381"/>
            <a:ext cx="11303917" cy="813819"/>
          </a:xfrm>
          <a:prstGeom prst="rect">
            <a:avLst/>
          </a:prstGeom>
        </p:spPr>
        <p:txBody>
          <a:bodyPr vert="horz" wrap="square" lIns="0" tIns="91440" rIns="146304" bIns="91440" rtlCol="0" anchor="t">
            <a:noAutofit/>
          </a:bodyPr>
          <a:lstStyle/>
          <a:p>
            <a:r>
              <a:rPr lang="en-US" dirty="0"/>
              <a:t>Software code slide</a:t>
            </a:r>
          </a:p>
        </p:txBody>
      </p:sp>
    </p:spTree>
    <p:extLst>
      <p:ext uri="{BB962C8B-B14F-4D97-AF65-F5344CB8AC3E}">
        <p14:creationId xmlns:p14="http://schemas.microsoft.com/office/powerpoint/2010/main" val="10702943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36155"/>
            <a:ext cx="1693247" cy="1021696"/>
          </a:xfrm>
        </p:spPr>
        <p:txBody>
          <a:bodyPr>
            <a:noAutofit/>
          </a:bodyPr>
          <a:lstStyle>
            <a:lvl1pPr marL="0" indent="0">
              <a:buNone/>
              <a:defRPr sz="1961"/>
            </a:lvl1pPr>
          </a:lstStyle>
          <a:p>
            <a:pPr lvl="0"/>
            <a:r>
              <a:rPr lang="en-US" dirty="0"/>
              <a:t>Picture</a:t>
            </a:r>
          </a:p>
        </p:txBody>
      </p:sp>
      <p:sp>
        <p:nvSpPr>
          <p:cNvPr id="2" name="Title 1"/>
          <p:cNvSpPr>
            <a:spLocks noGrp="1"/>
          </p:cNvSpPr>
          <p:nvPr>
            <p:ph type="title" hasCustomPrompt="1"/>
          </p:nvPr>
        </p:nvSpPr>
        <p:spPr>
          <a:xfrm>
            <a:off x="455995" y="620428"/>
            <a:ext cx="11306469" cy="403137"/>
          </a:xfrm>
        </p:spPr>
        <p:txBody>
          <a:bodyPr wrap="square" lIns="0" tIns="0" rIns="0" bIns="0">
            <a:spAutoFit/>
          </a:bodyPr>
          <a:lstStyle>
            <a:lvl1pPr>
              <a:lnSpc>
                <a:spcPts val="3137"/>
              </a:lnSpc>
              <a:defRPr sz="2745">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8"/>
            <a:ext cx="1693247" cy="277879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378328" y="3167818"/>
            <a:ext cx="1693247" cy="280346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00662"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222995"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145328"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067660"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378328" y="2136155"/>
            <a:ext cx="1693247" cy="1021696"/>
          </a:xfrm>
        </p:spPr>
        <p:txBody>
          <a:bodyPr>
            <a:noAutofit/>
          </a:bodyPr>
          <a:lstStyle>
            <a:lvl1pPr marL="0" indent="0">
              <a:buNone/>
              <a:defRPr sz="1961"/>
            </a:lvl1pPr>
          </a:lstStyle>
          <a:p>
            <a:pPr lvl="0"/>
            <a:r>
              <a:rPr lang="en-US" dirty="0"/>
              <a:t>Picture</a:t>
            </a:r>
          </a:p>
        </p:txBody>
      </p:sp>
      <p:sp>
        <p:nvSpPr>
          <p:cNvPr id="26" name="Content Placeholder 15"/>
          <p:cNvSpPr>
            <a:spLocks noGrp="1"/>
          </p:cNvSpPr>
          <p:nvPr>
            <p:ph sz="quarter" idx="27" hasCustomPrompt="1"/>
          </p:nvPr>
        </p:nvSpPr>
        <p:spPr>
          <a:xfrm>
            <a:off x="4300662" y="2136155"/>
            <a:ext cx="1693247" cy="1021696"/>
          </a:xfrm>
        </p:spPr>
        <p:txBody>
          <a:bodyPr>
            <a:noAutofit/>
          </a:bodyPr>
          <a:lstStyle>
            <a:lvl1pPr marL="0" indent="0">
              <a:buNone/>
              <a:defRPr sz="1961"/>
            </a:lvl1pPr>
          </a:lstStyle>
          <a:p>
            <a:pPr lvl="0"/>
            <a:r>
              <a:rPr lang="en-US" dirty="0"/>
              <a:t>Picture</a:t>
            </a:r>
          </a:p>
        </p:txBody>
      </p:sp>
      <p:sp>
        <p:nvSpPr>
          <p:cNvPr id="27" name="Content Placeholder 15"/>
          <p:cNvSpPr>
            <a:spLocks noGrp="1"/>
          </p:cNvSpPr>
          <p:nvPr>
            <p:ph sz="quarter" idx="28" hasCustomPrompt="1"/>
          </p:nvPr>
        </p:nvSpPr>
        <p:spPr>
          <a:xfrm>
            <a:off x="6222995" y="2136155"/>
            <a:ext cx="1693247" cy="1021696"/>
          </a:xfrm>
        </p:spPr>
        <p:txBody>
          <a:bodyPr>
            <a:noAutofit/>
          </a:bodyPr>
          <a:lstStyle>
            <a:lvl1pPr marL="0" indent="0">
              <a:buNone/>
              <a:defRPr sz="1961"/>
            </a:lvl1pPr>
          </a:lstStyle>
          <a:p>
            <a:pPr lvl="0"/>
            <a:r>
              <a:rPr lang="en-US" dirty="0"/>
              <a:t>Picture</a:t>
            </a:r>
          </a:p>
        </p:txBody>
      </p:sp>
      <p:sp>
        <p:nvSpPr>
          <p:cNvPr id="28" name="Content Placeholder 15"/>
          <p:cNvSpPr>
            <a:spLocks noGrp="1"/>
          </p:cNvSpPr>
          <p:nvPr>
            <p:ph sz="quarter" idx="29" hasCustomPrompt="1"/>
          </p:nvPr>
        </p:nvSpPr>
        <p:spPr>
          <a:xfrm>
            <a:off x="8145328" y="2136155"/>
            <a:ext cx="1693247" cy="1021696"/>
          </a:xfrm>
        </p:spPr>
        <p:txBody>
          <a:bodyPr>
            <a:noAutofit/>
          </a:bodyPr>
          <a:lstStyle>
            <a:lvl1pPr marL="0" indent="0">
              <a:buNone/>
              <a:defRPr sz="1961"/>
            </a:lvl1pPr>
          </a:lstStyle>
          <a:p>
            <a:pPr lvl="0"/>
            <a:r>
              <a:rPr lang="en-US" dirty="0"/>
              <a:t>Picture</a:t>
            </a:r>
          </a:p>
        </p:txBody>
      </p:sp>
      <p:sp>
        <p:nvSpPr>
          <p:cNvPr id="29" name="Content Placeholder 15"/>
          <p:cNvSpPr>
            <a:spLocks noGrp="1"/>
          </p:cNvSpPr>
          <p:nvPr>
            <p:ph sz="quarter" idx="30" hasCustomPrompt="1"/>
          </p:nvPr>
        </p:nvSpPr>
        <p:spPr>
          <a:xfrm>
            <a:off x="10067660" y="2136155"/>
            <a:ext cx="1693247" cy="1021696"/>
          </a:xfrm>
        </p:spPr>
        <p:txBody>
          <a:bodyPr>
            <a:noAutofit/>
          </a:bodyPr>
          <a:lstStyle>
            <a:lvl1pPr marL="0" indent="0">
              <a:buNone/>
              <a:defRPr sz="1961"/>
            </a:lvl1pPr>
          </a:lstStyle>
          <a:p>
            <a:pPr lvl="0"/>
            <a:r>
              <a:rPr lang="en-US" dirty="0"/>
              <a:t>Picture</a:t>
            </a:r>
          </a:p>
        </p:txBody>
      </p:sp>
    </p:spTree>
    <p:extLst>
      <p:ext uri="{BB962C8B-B14F-4D97-AF65-F5344CB8AC3E}">
        <p14:creationId xmlns:p14="http://schemas.microsoft.com/office/powerpoint/2010/main" val="3667364553"/>
      </p:ext>
    </p:extLst>
  </p:cSld>
  <p:clrMapOvr>
    <a:masterClrMapping/>
  </p:clrMapOvr>
  <p:transition>
    <p:fade/>
  </p:transition>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671561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4257072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57012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4101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95683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30768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10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39" Type="http://schemas.openxmlformats.org/officeDocument/2006/relationships/image" Target="../media/image2.png"/><Relationship Id="rId3" Type="http://schemas.openxmlformats.org/officeDocument/2006/relationships/slideLayout" Target="../slideLayouts/slideLayout37.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38" Type="http://schemas.openxmlformats.org/officeDocument/2006/relationships/theme" Target="../theme/theme4.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slideLayout" Target="../slideLayouts/slideLayout71.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slideLayout" Target="../slideLayouts/slideLayout70.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072490D-569B-4A9C-B9BB-4F77B651EC5B}" type="datetimeFigureOut">
              <a:rPr lang="en-US" smtClean="0"/>
              <a:t>6/20/2023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8629BCD-CBB7-492B-AC0D-782C189D9EB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06711"/>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72317D5-E0B3-4671-AC83-5D5CF4460437}" type="datetimeFigureOut">
              <a:rPr lang="en-US" smtClean="0"/>
              <a:t>6/20/2023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976023B-1B3F-4DBA-994D-42E9496BF2D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5474791"/>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2"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2" y="6459786"/>
            <a:ext cx="2472270" cy="365125"/>
          </a:xfrm>
          <a:prstGeom prst="rect">
            <a:avLst/>
          </a:prstGeom>
        </p:spPr>
        <p:txBody>
          <a:bodyPr vert="horz" lIns="91440" tIns="45720" rIns="91440" bIns="45720" rtlCol="0" anchor="ctr"/>
          <a:lstStyle>
            <a:lvl1pPr algn="l">
              <a:defRPr sz="900">
                <a:solidFill>
                  <a:srgbClr val="FFFFFF"/>
                </a:solidFill>
              </a:defRPr>
            </a:lvl1pPr>
          </a:lstStyle>
          <a:p>
            <a:fld id="{1B927CAE-A6DE-4054-8AA1-9B8E1ED28A43}" type="datetimeFigureOut">
              <a:rPr lang="en-US" smtClean="0"/>
              <a:t>6/20/2023</a:t>
            </a:fld>
            <a:endParaRPr lang="en-US"/>
          </a:p>
        </p:txBody>
      </p:sp>
      <p:sp>
        <p:nvSpPr>
          <p:cNvPr id="5" name="Footer Placeholder 4"/>
          <p:cNvSpPr>
            <a:spLocks noGrp="1"/>
          </p:cNvSpPr>
          <p:nvPr>
            <p:ph type="ftr" sz="quarter" idx="3"/>
          </p:nvPr>
        </p:nvSpPr>
        <p:spPr>
          <a:xfrm>
            <a:off x="3686186" y="6459786"/>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9" y="6459786"/>
            <a:ext cx="1312025" cy="365125"/>
          </a:xfrm>
          <a:prstGeom prst="rect">
            <a:avLst/>
          </a:prstGeom>
        </p:spPr>
        <p:txBody>
          <a:bodyPr vert="horz" lIns="91440" tIns="45720" rIns="91440" bIns="45720" rtlCol="0" anchor="ctr"/>
          <a:lstStyle>
            <a:lvl1pPr algn="r">
              <a:defRPr sz="1051">
                <a:solidFill>
                  <a:srgbClr val="FFFFFF"/>
                </a:solidFill>
              </a:defRPr>
            </a:lvl1pPr>
          </a:lstStyle>
          <a:p>
            <a:fld id="{C7481B63-29B0-4F2B-8FAE-7CEAF4A1D122}" type="slidenum">
              <a:rPr lang="en-US" smtClean="0"/>
              <a:t>‹#›</a:t>
            </a:fld>
            <a:endParaRPr lang="en-US"/>
          </a:p>
        </p:txBody>
      </p:sp>
      <p:cxnSp>
        <p:nvCxnSpPr>
          <p:cNvPr id="10" name="Straight Connector 9"/>
          <p:cNvCxnSpPr/>
          <p:nvPr/>
        </p:nvCxnSpPr>
        <p:spPr>
          <a:xfrm>
            <a:off x="1193533"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7392698"/>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xStyles>
    <p:titleStyle>
      <a:lvl1pPr algn="l" defTabSz="914411"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1" indent="-91441" algn="l" defTabSz="914411" rtl="0" eaLnBrk="1" latinLnBrk="0" hangingPunct="1">
        <a:lnSpc>
          <a:spcPct val="90000"/>
        </a:lnSpc>
        <a:spcBef>
          <a:spcPts val="1200"/>
        </a:spcBef>
        <a:spcAft>
          <a:spcPts val="201"/>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53" indent="-182882" algn="l" defTabSz="914411" rtl="0" eaLnBrk="1" latinLnBrk="0" hangingPunct="1">
        <a:lnSpc>
          <a:spcPct val="90000"/>
        </a:lnSpc>
        <a:spcBef>
          <a:spcPts val="201"/>
        </a:spcBef>
        <a:spcAft>
          <a:spcPts val="400"/>
        </a:spcAft>
        <a:buClr>
          <a:schemeClr val="accent1"/>
        </a:buClr>
        <a:buFont typeface="Calibri" pitchFamily="34" charset="0"/>
        <a:buChar char="◦"/>
        <a:defRPr sz="1801" kern="1200">
          <a:solidFill>
            <a:schemeClr val="tx1">
              <a:lumMod val="75000"/>
              <a:lumOff val="25000"/>
            </a:schemeClr>
          </a:solidFill>
          <a:latin typeface="+mn-lt"/>
          <a:ea typeface="+mn-ea"/>
          <a:cs typeface="+mn-cs"/>
        </a:defRPr>
      </a:lvl2pPr>
      <a:lvl3pPr marL="566935" indent="-182882" algn="l" defTabSz="914411"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3pPr>
      <a:lvl4pPr marL="749817" indent="-182882" algn="l" defTabSz="914411"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4pPr>
      <a:lvl5pPr marL="932700" indent="-182882" algn="l" defTabSz="914411"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5pPr>
      <a:lvl6pPr marL="1100014" indent="-228604" algn="l" defTabSz="914411"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6pPr>
      <a:lvl7pPr marL="1300016" indent="-228604" algn="l" defTabSz="914411"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7pPr>
      <a:lvl8pPr marL="1500019" indent="-228604" algn="l" defTabSz="914411"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8pPr>
      <a:lvl9pPr marL="1700021" indent="-228604" algn="l" defTabSz="914411"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dirty="0"/>
              <a:t>Large: subhead Segoe UI Regular 20/24</a:t>
            </a:r>
          </a:p>
          <a:p>
            <a:pPr lvl="1"/>
            <a:endParaRPr lang="en-US" dirty="0"/>
          </a:p>
          <a:p>
            <a:pPr lvl="2"/>
            <a:r>
              <a:rPr lang="en-US" dirty="0"/>
              <a:t>Medium: paragraph heading Segoe UI </a:t>
            </a:r>
            <a:r>
              <a:rPr lang="en-US" dirty="0" err="1"/>
              <a:t>Semibold</a:t>
            </a:r>
            <a:r>
              <a:rPr lang="en-US" dirty="0"/>
              <a:t> 14/18</a:t>
            </a:r>
          </a:p>
          <a:p>
            <a:pPr lvl="3"/>
            <a:r>
              <a:rPr lang="en-US" dirty="0"/>
              <a:t>Medium: paragraph body copy Segoe UI Regular 14/18</a:t>
            </a:r>
          </a:p>
          <a:p>
            <a:pPr lvl="3"/>
            <a:endParaRPr lang="en-US" dirty="0"/>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pic>
        <p:nvPicPr>
          <p:cNvPr id="7" name="Picture 6"/>
          <p:cNvPicPr>
            <a:picLocks noChangeAspect="1"/>
          </p:cNvPicPr>
          <p:nvPr/>
        </p:nvPicPr>
        <p:blipFill>
          <a:blip r:embed="rId39" cstate="print">
            <a:extLst>
              <a:ext uri="{28A0092B-C50C-407E-A947-70E740481C1C}">
                <a14:useLocalDpi xmlns:a14="http://schemas.microsoft.com/office/drawing/2010/main" val="0"/>
              </a:ext>
            </a:extLst>
          </a:blip>
          <a:stretch>
            <a:fillRect/>
          </a:stretch>
        </p:blipFill>
        <p:spPr>
          <a:xfrm rot="5400000">
            <a:off x="9432277" y="2842059"/>
            <a:ext cx="6843271" cy="1164777"/>
          </a:xfrm>
          <a:prstGeom prst="rect">
            <a:avLst/>
          </a:prstGeom>
        </p:spPr>
      </p:pic>
      <p:sp>
        <p:nvSpPr>
          <p:cNvPr id="5" name="Title Placeholder 1">
            <a:extLst>
              <a:ext uri="{FF2B5EF4-FFF2-40B4-BE49-F238E27FC236}">
                <a16:creationId xmlns:a16="http://schemas.microsoft.com/office/drawing/2014/main" id="{C051EDF6-F393-453C-BE03-6C609C79C1C6}"/>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6" name="Text Placeholder 3">
            <a:extLst>
              <a:ext uri="{FF2B5EF4-FFF2-40B4-BE49-F238E27FC236}">
                <a16:creationId xmlns:a16="http://schemas.microsoft.com/office/drawing/2014/main" id="{EAD52D76-0CC5-4FD1-8FCA-FBF4C849DF4B}"/>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ID" hidden="1">
            <a:extLst>
              <a:ext uri="{FF2B5EF4-FFF2-40B4-BE49-F238E27FC236}">
                <a16:creationId xmlns:a16="http://schemas.microsoft.com/office/drawing/2014/main" id="{153F64AA-806D-4AB3-9AC4-89F7D691A787}"/>
              </a:ext>
            </a:extLst>
          </p:cNvPr>
          <p:cNvGrpSpPr/>
          <p:nvPr userDrawn="1"/>
        </p:nvGrpSpPr>
        <p:grpSpPr>
          <a:xfrm>
            <a:off x="0" y="0"/>
            <a:ext cx="12192000" cy="6858000"/>
            <a:chOff x="0" y="0"/>
            <a:chExt cx="12192000" cy="6858000"/>
          </a:xfrm>
        </p:grpSpPr>
        <p:cxnSp>
          <p:nvCxnSpPr>
            <p:cNvPr id="9" name="Straight Connector 8">
              <a:extLst>
                <a:ext uri="{FF2B5EF4-FFF2-40B4-BE49-F238E27FC236}">
                  <a16:creationId xmlns:a16="http://schemas.microsoft.com/office/drawing/2014/main" id="{A16CDF7E-AEFF-4B97-B937-B632842567AF}"/>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8B80AA8-AFF0-4D9B-B727-9CE703025EBC}"/>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796A746-D5A2-4701-8C1D-5134A713B596}"/>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D0948D4-2229-44DB-AC2B-87CEACE41FF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AA6EE4C-3CC0-470D-867F-EBDC05BA21AF}"/>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F7C4DCC-BD95-4C5A-947D-7501C11DCAC7}"/>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41A03F2-E1AD-4FA3-A920-F97314F0ED51}"/>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C423F3E-45CC-4A8D-956F-6BD12544E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D13E2D3-DC4E-4451-A425-4E5B1DD1D4B9}"/>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2EC9DB9-484D-43D0-B25E-7FABFDF69F7C}"/>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88566EE-0C01-45AD-80C7-97D635490409}"/>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AD2505E-E133-473B-8AD2-4A0F0EFD3337}"/>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F5C1D48-163A-417A-97DF-3DBD7E72D99C}"/>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9E88F66-3433-4480-91E7-2FD8A1407959}"/>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8777104-2CDA-404A-943F-0F6DB50E34DB}"/>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81097EC-2090-4884-8030-6D5D4B44C4A2}"/>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D6E507-3812-4BF3-843D-41182872DF8D}"/>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C6BF925-C175-4223-BD69-DD45D713F775}"/>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F6D4FCC-8F31-4516-AA7F-94837A913876}"/>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03510DB-6C4A-4336-B5E9-4049DE260CC3}"/>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43C6B2B-7588-4738-895E-0B25BD81551B}"/>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D1F18FF-C1B3-45C9-850D-F79960AB6C11}"/>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C184A68-8A78-42DA-A082-BD39BC227D68}"/>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9EE35EA-9C0E-45F4-BC3E-958B9843B37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2ADC499-887D-43E6-95DA-B750E95F6F49}"/>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750EB61-3FF8-403C-9B03-B0ED63AB1CBF}"/>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D12EF19-7DFF-4B11-BB98-7647604D534F}"/>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C5D4C70-30A1-4C4D-9F8E-AF88A0E9EDDF}"/>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1C25F88-02D8-4067-A894-4E89C0571513}"/>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8EFC200-B614-4F23-974D-B55AD5F764E0}"/>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FD56745-73C3-42DB-BB90-D3B34E3ADCCA}"/>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E35B433-F8DE-44A2-AF77-0C148BA9A092}"/>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45949E3-08E1-4732-9F6B-C43019DC55CC}"/>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2208E01-FB99-45B3-9D0C-16DD8BB30CB3}"/>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3" name=".64 square" hidden="1">
            <a:extLst>
              <a:ext uri="{FF2B5EF4-FFF2-40B4-BE49-F238E27FC236}">
                <a16:creationId xmlns:a16="http://schemas.microsoft.com/office/drawing/2014/main" id="{32B9B8F4-D14B-444C-AA0A-D482AEDCE00F}"/>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4" name=".32 square" hidden="1">
            <a:extLst>
              <a:ext uri="{FF2B5EF4-FFF2-40B4-BE49-F238E27FC236}">
                <a16:creationId xmlns:a16="http://schemas.microsoft.com/office/drawing/2014/main" id="{952DCA8B-2AAB-4E66-BA6D-0E2309B316BF}"/>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127399872"/>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 id="2147483808" r:id="rId18"/>
    <p:sldLayoutId id="2147483809" r:id="rId19"/>
    <p:sldLayoutId id="2147483810" r:id="rId20"/>
    <p:sldLayoutId id="2147483811" r:id="rId21"/>
    <p:sldLayoutId id="2147483812" r:id="rId22"/>
    <p:sldLayoutId id="2147483813" r:id="rId23"/>
    <p:sldLayoutId id="2147483814" r:id="rId24"/>
    <p:sldLayoutId id="2147483815" r:id="rId25"/>
    <p:sldLayoutId id="2147483816" r:id="rId26"/>
    <p:sldLayoutId id="2147483817" r:id="rId27"/>
    <p:sldLayoutId id="2147483818" r:id="rId28"/>
    <p:sldLayoutId id="2147483819" r:id="rId29"/>
    <p:sldLayoutId id="2147483820" r:id="rId30"/>
    <p:sldLayoutId id="2147483821" r:id="rId31"/>
    <p:sldLayoutId id="2147483822" r:id="rId32"/>
    <p:sldLayoutId id="2147483823" r:id="rId33"/>
    <p:sldLayoutId id="2147483824" r:id="rId34"/>
    <p:sldLayoutId id="2147483825" r:id="rId35"/>
    <p:sldLayoutId id="2147483826" r:id="rId36"/>
    <p:sldLayoutId id="2147483827" r:id="rId37"/>
  </p:sldLayoutIdLst>
  <p:transition>
    <p:fade/>
  </p:transition>
  <p:hf sldNum="0" hdr="0" ft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guide id="55" pos="368">
          <p15:clr>
            <a:srgbClr val="C35EA4"/>
          </p15:clr>
        </p15:guide>
        <p15:guide id="56" pos="7313">
          <p15:clr>
            <a:srgbClr val="C35EA4"/>
          </p15:clr>
        </p15:guide>
        <p15:guide id="57" orient="horz" pos="369">
          <p15:clr>
            <a:srgbClr val="C35EA4"/>
          </p15:clr>
        </p15:guide>
        <p15:guide id="58" orient="horz" pos="3949">
          <p15:clr>
            <a:srgbClr val="C35EA4"/>
          </p15:clr>
        </p15:guide>
        <p15:guide id="59" orient="horz" pos="184">
          <p15:clr>
            <a:srgbClr val="A4A3A4"/>
          </p15:clr>
        </p15:guide>
        <p15:guide id="60" pos="185">
          <p15:clr>
            <a:srgbClr val="A4A3A4"/>
          </p15:clr>
        </p15:guide>
        <p15:guide id="61" orient="horz" pos="4135">
          <p15:clr>
            <a:srgbClr val="A4A3A4"/>
          </p15:clr>
        </p15:guide>
        <p15:guide id="62"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71.xml"/></Relationships>
</file>

<file path=ppt/slides/_rels/slide20.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39.webp"/><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6DD0D8-F096-17F3-98B3-579892770EE6}"/>
              </a:ext>
            </a:extLst>
          </p:cNvPr>
          <p:cNvPicPr>
            <a:picLocks noChangeAspect="1"/>
          </p:cNvPicPr>
          <p:nvPr/>
        </p:nvPicPr>
        <p:blipFill>
          <a:blip r:embed="rId2"/>
          <a:stretch>
            <a:fillRect/>
          </a:stretch>
        </p:blipFill>
        <p:spPr>
          <a:xfrm>
            <a:off x="1183758" y="463868"/>
            <a:ext cx="9824484" cy="5464098"/>
          </a:xfrm>
          <a:prstGeom prst="rect">
            <a:avLst/>
          </a:prstGeom>
        </p:spPr>
      </p:pic>
    </p:spTree>
    <p:extLst>
      <p:ext uri="{BB962C8B-B14F-4D97-AF65-F5344CB8AC3E}">
        <p14:creationId xmlns:p14="http://schemas.microsoft.com/office/powerpoint/2010/main" val="2751837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00F947-410F-35D0-9696-E5A3B91B3929}"/>
              </a:ext>
            </a:extLst>
          </p:cNvPr>
          <p:cNvSpPr txBox="1"/>
          <p:nvPr/>
        </p:nvSpPr>
        <p:spPr>
          <a:xfrm>
            <a:off x="1106905" y="863895"/>
            <a:ext cx="8349916" cy="427809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Vulnerability and Control Deficiency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Vulnerabilities are weaknesses, gaps or holes in an enterprise people, processes or technologies that provide an opportunity for a threat actor to exploit, which create consequences that may impact the enterprise.</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National Institute of Standards and Technology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(NIST) Special Publication 800-30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Revision 1: Guide to Conducting Risk Assessments provides a list of vulnerabilities to consider.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Many vulnerabilities are conditions that exist in systems and must be identified so that they can be addressed.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purpose of vulnerability identification is to find the problems before they are found by an adversary and exploited.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This is why an enterprise should conduct regular vulnerability assessments and penetration tests to identify, validate and classify its vulnerabilities.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Where vulnerabilities exist, there is a potential for risk.</a:t>
            </a:r>
          </a:p>
        </p:txBody>
      </p:sp>
    </p:spTree>
    <p:extLst>
      <p:ext uri="{BB962C8B-B14F-4D97-AF65-F5344CB8AC3E}">
        <p14:creationId xmlns:p14="http://schemas.microsoft.com/office/powerpoint/2010/main" val="477938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E2B9E3-E05A-B5B0-2908-BF7C97D1E035}"/>
              </a:ext>
            </a:extLst>
          </p:cNvPr>
          <p:cNvSpPr txBox="1"/>
          <p:nvPr/>
        </p:nvSpPr>
        <p:spPr>
          <a:xfrm>
            <a:off x="1644316" y="332000"/>
            <a:ext cx="9512968" cy="53860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Note: Other sources of vulnerabilities include: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National Vulnerability Database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nvd.nist.gov</a:t>
            </a:r>
            <a:endPar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Common Weakness Enumeration at </a:t>
            </a:r>
            <a:r>
              <a:rPr kumimoji="0" lang="en-US" sz="1800" b="0" i="0" u="none" strike="noStrike" kern="1200" cap="none" spc="0" normalizeH="0" baseline="0" noProof="0" dirty="0" err="1">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nvd.nist</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gov/vuln/</a:t>
            </a:r>
            <a:r>
              <a:rPr kumimoji="0" lang="en-US" sz="1800" b="0" i="0" u="none" strike="noStrike" kern="1200" cap="none" spc="0" normalizeH="0" baseline="0" noProof="0" dirty="0" err="1">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eategories</a:t>
            </a:r>
            <a:endPar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Common Vulnerabilities and Exposures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eve.mitre.org</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fr-FR"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Exploit </a:t>
            </a:r>
            <a:r>
              <a:rPr kumimoji="0" lang="fr-FR" sz="16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mn-cs"/>
              </a:rPr>
              <a:t>Database</a:t>
            </a:r>
            <a:r>
              <a:rPr kumimoji="0" lang="fr-FR"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t>
            </a:r>
            <a:r>
              <a:rPr kumimoji="0" lang="fr-FR"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exploit-db.com</a:t>
            </a:r>
            <a:endPar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Community Driven Vulnerability Database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vulndb.org</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nn-NO"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Vulnerability Database Catalog at </a:t>
            </a:r>
            <a:r>
              <a:rPr kumimoji="0" lang="nn-NO"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www. first.org/global/sigs/vrdx/vdb-catalog</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Packet Storm Security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packetstormsecurity.com</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Rapid7 Vulnerability and Exploit Database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rapid7.com/</a:t>
            </a:r>
            <a:r>
              <a:rPr kumimoji="0" lang="en-US" sz="1800" b="0" i="0" u="none" strike="noStrike" kern="1200" cap="none" spc="0" normalizeH="0" baseline="0" noProof="0" dirty="0" err="1">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db</a:t>
            </a:r>
            <a:endPar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mn-cs"/>
              </a:rPr>
              <a:t>CXSecurity</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Free Vulnerability Database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cxsecurity.com/exploit!</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Vulnerability Lab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vulnerability-lab.com</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Oday-today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www-.0day.today</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Harmonized Threat and Risk </a:t>
            </a:r>
            <a:r>
              <a:rPr kumimoji="0" lang="en-US" sz="16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mn-cs"/>
              </a:rPr>
              <a:t>Assesment</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www.ese-cst.ge.ca</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Open Web Application Security Project (OWASP)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www.owasp.org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2072533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72C2F1-92D5-0355-6B26-41CF9074CEAB}"/>
              </a:ext>
            </a:extLst>
          </p:cNvPr>
          <p:cNvSpPr txBox="1"/>
          <p:nvPr/>
        </p:nvSpPr>
        <p:spPr>
          <a:xfrm>
            <a:off x="1387642" y="1034006"/>
            <a:ext cx="7483642" cy="43858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Sources of Vulnerabilities</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Vulnerabilities can be found in most places within and external to the enterprise. Sources of vulnerabilities are discussed in the following sections.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Network </a:t>
            </a: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Vulnerabilities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Network vulnerabilities are often related to misconfiguration of equipment, poor architecture or traffic interception. </a:t>
            </a: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Misconfiguration is a common problem with network equipment that is not properly installed, operated or maintained. </a:t>
            </a: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Any open services are a potential attack vector that can be exploited by an attacker, so network equipment should be hardened by disabling any unneeded services, ports or protocols.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257913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72300A-AB3D-0D5B-EE78-20652775D726}"/>
              </a:ext>
            </a:extLst>
          </p:cNvPr>
          <p:cNvSpPr txBox="1"/>
          <p:nvPr/>
        </p:nvSpPr>
        <p:spPr>
          <a:xfrm>
            <a:off x="1323473" y="307683"/>
            <a:ext cx="7764379" cy="52168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Physical Access</a:t>
            </a: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Physical security goes far beyond theft.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Threat agents that are able to gain physical access to systems have the potential to bypass nearly every other type of control.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With access to server rooms, network cabling, information systems equipment and buildings, an attacker can circumvent passwords, install skimmer to intercept data communications and take logical ownership of systems or devices.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With more than 20 percent of incidents related to misuse of systems by insiders who may already have an advantage in terms of gaining physical access, the need for strong physical security is clear and growing.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Testing for physical security vulnerabilities include testing access control systems, testing locks, security guards, fire suppression systems, heating ventilation and air conditioning controls, lighting, cameras, motion sensors and physical entrance.</a:t>
            </a:r>
          </a:p>
          <a:p>
            <a:pPr marL="457200" marR="0" lvl="1" indent="0" algn="l" defTabSz="914400" rtl="0" eaLnBrk="1" fontAlgn="auto" latinLnBrk="0" hangingPunct="1">
              <a:lnSpc>
                <a:spcPct val="100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over the last few years, physical security concerns are still very valid and are a reliable method for gaining initial access to an environment (figure 2.9).</a:t>
            </a:r>
          </a:p>
        </p:txBody>
      </p:sp>
    </p:spTree>
    <p:extLst>
      <p:ext uri="{BB962C8B-B14F-4D97-AF65-F5344CB8AC3E}">
        <p14:creationId xmlns:p14="http://schemas.microsoft.com/office/powerpoint/2010/main" val="1235368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B1F03C-FA92-49BC-B166-B1C423063BF3}"/>
              </a:ext>
            </a:extLst>
          </p:cNvPr>
          <p:cNvPicPr>
            <a:picLocks noChangeAspect="1"/>
          </p:cNvPicPr>
          <p:nvPr/>
        </p:nvPicPr>
        <p:blipFill rotWithShape="1">
          <a:blip r:embed="rId2"/>
          <a:srcRect b="5964"/>
          <a:stretch/>
        </p:blipFill>
        <p:spPr>
          <a:xfrm>
            <a:off x="990600" y="304800"/>
            <a:ext cx="9979443" cy="5943600"/>
          </a:xfrm>
          <a:prstGeom prst="rect">
            <a:avLst/>
          </a:prstGeom>
        </p:spPr>
      </p:pic>
    </p:spTree>
    <p:extLst>
      <p:ext uri="{BB962C8B-B14F-4D97-AF65-F5344CB8AC3E}">
        <p14:creationId xmlns:p14="http://schemas.microsoft.com/office/powerpoint/2010/main" val="263869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E4647D-B8B9-CD01-6ACC-8D650A444A0E}"/>
              </a:ext>
            </a:extLst>
          </p:cNvPr>
          <p:cNvSpPr txBox="1"/>
          <p:nvPr/>
        </p:nvSpPr>
        <p:spPr>
          <a:xfrm>
            <a:off x="1371599" y="216112"/>
            <a:ext cx="7355307" cy="57861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Applications and Web-facing Services</a:t>
            </a: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Applications in general, web applications in particular, are among the most common entry points currently used by attackers. </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Many applications are written to support business function without due regard to the security requirements of the applications and may be vulnerable to buffer overflows, logic flaws, injection attacks, bugs, incorrect control over user access and many other common vulnerabilities. </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The risk practitioner can use tools from the Open Web Application Security Project (OWASP)? to test web-facing applications for well-known and documented vulnerabilities whose presence can lead to data compromise or system failure.</a:t>
            </a:r>
            <a:endParaRPr kumimoji="0" lang="en-US" sz="2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Demi" panose="020E0802020502020306" pitchFamily="34" charset="0"/>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Utilities</a:t>
            </a: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Information systems rely on controlled environmental conditions, including clean and steady power and controls over humidity and temperature.</a:t>
            </a:r>
          </a:p>
          <a:p>
            <a:pPr marL="742950" marR="0" lvl="1"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 The risk practitioner should ensure that the enterprise is prepared for power failure or other environmental conditions in order to avert conditions that may lead to system failure. </a:t>
            </a:r>
          </a:p>
          <a:p>
            <a:pPr marL="742950" marR="0" lvl="1"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Having an uninterruptible power supply (UPS), backup generators and surge protectors can protect equipment from damage or failure</a:t>
            </a:r>
          </a:p>
        </p:txBody>
      </p:sp>
    </p:spTree>
    <p:extLst>
      <p:ext uri="{BB962C8B-B14F-4D97-AF65-F5344CB8AC3E}">
        <p14:creationId xmlns:p14="http://schemas.microsoft.com/office/powerpoint/2010/main" val="236075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ED23C1-4B5F-72D8-60BB-B23584493312}"/>
              </a:ext>
            </a:extLst>
          </p:cNvPr>
          <p:cNvSpPr txBox="1"/>
          <p:nvPr/>
        </p:nvSpPr>
        <p:spPr>
          <a:xfrm>
            <a:off x="1540041" y="206750"/>
            <a:ext cx="6705601" cy="61555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Supply Chain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Many enterprises rely on products, raw materials and supplies that originate from various locations around the world, and any interruption in the supply chain may affect their ability to function.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For example, a shortage in supply of fuel to an airport would impact all flight operations.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Reliance upon a supply chain should be documented even if it is understood that the risk is one that is accepted by senior management.</a:t>
            </a: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Equipment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As equipment ages, it becomes less efficient, effective and potentially unable to support business functions.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Equipment is often provided at the time of production with a mean time between failure (MTBF) rating that indicates its anticipated life span and when it should be scheduled for removal or replacement.</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There are multiple threats that older equipment can pose to enterprises, and each needs to be investigated and considered in the full context of the business value provided and benefits yielded.</a:t>
            </a: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3751558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E4F8C9-8168-40D1-B19C-67E34D5FA0A4}"/>
              </a:ext>
            </a:extLst>
          </p:cNvPr>
          <p:cNvSpPr/>
          <p:nvPr/>
        </p:nvSpPr>
        <p:spPr>
          <a:xfrm>
            <a:off x="1371600" y="304800"/>
            <a:ext cx="5984966" cy="617092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Cloud Computing</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US National Institute of Standards and Technology (NIST) defines cloud computing as a model for enabling convenient, on-demand network access to a shared pool of configurable computing resources (e.g., networks, servers, storage, applications, and services) that can be rapidly provisioned and released with minimal management effort</a:t>
            </a: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five essential characteristics of the cloud include:</a:t>
            </a:r>
            <a:endPar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On-demand self-service” Computing capabilities can be provisioned without human interaction from the service provider.</a:t>
            </a:r>
          </a:p>
          <a:p>
            <a:pPr marL="800100" marR="0" lvl="1" indent="-342900" algn="l" defTabSz="457200" rtl="0" eaLnBrk="1" fontAlgn="auto" latinLnBrk="0" hangingPunct="1">
              <a:lnSpc>
                <a:spcPct val="100000"/>
              </a:lnSpc>
              <a:spcBef>
                <a:spcPts val="0"/>
              </a:spcBef>
              <a:spcAft>
                <a:spcPts val="60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Broad network access” Computing capabilities are available over the network and can be accessed by diverse client platforms.</a:t>
            </a:r>
          </a:p>
          <a:p>
            <a:pPr marL="800100" marR="0" lvl="1" indent="-342900" algn="l" defTabSz="457200" rtl="0" eaLnBrk="1" fontAlgn="auto" latinLnBrk="0" hangingPunct="1">
              <a:lnSpc>
                <a:spcPct val="100000"/>
              </a:lnSpc>
              <a:spcBef>
                <a:spcPts val="0"/>
              </a:spcBef>
              <a:spcAft>
                <a:spcPts val="60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Resource pooling” Computer resources are pooled to support a multitenant model.</a:t>
            </a:r>
          </a:p>
          <a:p>
            <a:pPr marL="800100" marR="0" lvl="1" indent="-342900" algn="l" defTabSz="457200" rtl="0" eaLnBrk="1" fontAlgn="auto" latinLnBrk="0" hangingPunct="1">
              <a:lnSpc>
                <a:spcPct val="100000"/>
              </a:lnSpc>
              <a:spcBef>
                <a:spcPts val="0"/>
              </a:spcBef>
              <a:spcAft>
                <a:spcPts val="60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Elasticity” Resources can scale up or down rapidly and, in some cases, automatically, in response to business demands.</a:t>
            </a:r>
          </a:p>
          <a:p>
            <a:pPr marL="800100" marR="0" lvl="1" indent="-342900" algn="l" defTabSz="457200" rtl="0" eaLnBrk="1" fontAlgn="auto" latinLnBrk="0" hangingPunct="1">
              <a:lnSpc>
                <a:spcPct val="100000"/>
              </a:lnSpc>
              <a:spcBef>
                <a:spcPts val="0"/>
              </a:spcBef>
              <a:spcAft>
                <a:spcPts val="60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Measured service” Resource utilization can be optimized by leveraging charge-per-use capabilities</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t>
            </a:r>
          </a:p>
          <a:p>
            <a:pPr marL="800100" marR="0" lvl="1" indent="-342900" algn="l" defTabSz="457200" rtl="0" eaLnBrk="1" fontAlgn="auto" latinLnBrk="0" hangingPunct="1">
              <a:lnSpc>
                <a:spcPct val="100000"/>
              </a:lnSpc>
              <a:spcBef>
                <a:spcPts val="0"/>
              </a:spcBef>
              <a:spcAft>
                <a:spcPts val="600"/>
              </a:spcAft>
              <a:buClrTx/>
              <a:buSzTx/>
              <a:buFont typeface="+mj-lt"/>
              <a:buAutoNum type="alphaL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2227137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59DF8A-3A9A-4F42-B983-E6D35337F8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363477"/>
          </a:xfrm>
          <a:prstGeom prst="rect">
            <a:avLst/>
          </a:prstGeom>
        </p:spPr>
      </p:pic>
    </p:spTree>
    <p:extLst>
      <p:ext uri="{BB962C8B-B14F-4D97-AF65-F5344CB8AC3E}">
        <p14:creationId xmlns:p14="http://schemas.microsoft.com/office/powerpoint/2010/main" val="2693492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FC5303-3648-4864-ACC1-A070D603D407}"/>
              </a:ext>
            </a:extLst>
          </p:cNvPr>
          <p:cNvSpPr/>
          <p:nvPr/>
        </p:nvSpPr>
        <p:spPr>
          <a:xfrm>
            <a:off x="1976846" y="1551695"/>
            <a:ext cx="7193280" cy="2539157"/>
          </a:xfrm>
          <a:prstGeom prst="rect">
            <a:avLst/>
          </a:prstGeom>
        </p:spPr>
        <p:txBody>
          <a:bodyPr wrap="square">
            <a:spAutoFit/>
          </a:bodyPr>
          <a:lstStyle/>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cloud sourcing model can be thought of as being composed of three primary service models (figure 2.3) and four deployment models (figure 2.4). </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As cloud services have evolved, a variety of other services and permutations have become available. </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Overall risk and benefits differ per model</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so when enterprises consider different types of service and. deployment models, they should consider the risk that accompanies them.</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It should be noted that a large variety of services, platforms and software are currently available under each of areas.</a:t>
            </a:r>
          </a:p>
        </p:txBody>
      </p:sp>
    </p:spTree>
    <p:extLst>
      <p:ext uri="{BB962C8B-B14F-4D97-AF65-F5344CB8AC3E}">
        <p14:creationId xmlns:p14="http://schemas.microsoft.com/office/powerpoint/2010/main" val="2192196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0EB2C3-B0DD-4C1B-9A3C-3B1ECEB56193}"/>
              </a:ext>
            </a:extLst>
          </p:cNvPr>
          <p:cNvPicPr>
            <a:picLocks noChangeAspect="1"/>
          </p:cNvPicPr>
          <p:nvPr/>
        </p:nvPicPr>
        <p:blipFill>
          <a:blip r:embed="rId2"/>
          <a:stretch>
            <a:fillRect/>
          </a:stretch>
        </p:blipFill>
        <p:spPr>
          <a:xfrm>
            <a:off x="542992" y="896984"/>
            <a:ext cx="11106016" cy="4736238"/>
          </a:xfrm>
          <a:prstGeom prst="rect">
            <a:avLst/>
          </a:prstGeom>
        </p:spPr>
      </p:pic>
    </p:spTree>
    <p:extLst>
      <p:ext uri="{BB962C8B-B14F-4D97-AF65-F5344CB8AC3E}">
        <p14:creationId xmlns:p14="http://schemas.microsoft.com/office/powerpoint/2010/main" val="3973835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ED3482-0DCD-45F7-B4EA-F5E3C3F67688}"/>
              </a:ext>
            </a:extLst>
          </p:cNvPr>
          <p:cNvPicPr>
            <a:picLocks noChangeAspect="1"/>
          </p:cNvPicPr>
          <p:nvPr/>
        </p:nvPicPr>
        <p:blipFill>
          <a:blip r:embed="rId2"/>
          <a:stretch>
            <a:fillRect/>
          </a:stretch>
        </p:blipFill>
        <p:spPr>
          <a:xfrm>
            <a:off x="469841" y="418012"/>
            <a:ext cx="10976352" cy="5574166"/>
          </a:xfrm>
          <a:prstGeom prst="rect">
            <a:avLst/>
          </a:prstGeom>
        </p:spPr>
      </p:pic>
    </p:spTree>
    <p:extLst>
      <p:ext uri="{BB962C8B-B14F-4D97-AF65-F5344CB8AC3E}">
        <p14:creationId xmlns:p14="http://schemas.microsoft.com/office/powerpoint/2010/main" val="3466314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C40C61-51EE-49F6-B895-9E0422E385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219826"/>
          </a:xfrm>
          <a:prstGeom prst="rect">
            <a:avLst/>
          </a:prstGeom>
        </p:spPr>
      </p:pic>
    </p:spTree>
    <p:extLst>
      <p:ext uri="{BB962C8B-B14F-4D97-AF65-F5344CB8AC3E}">
        <p14:creationId xmlns:p14="http://schemas.microsoft.com/office/powerpoint/2010/main" val="1015775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16BDF3-B888-4CF8-AB37-3D0C758DA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40" y="2"/>
            <a:ext cx="12125324" cy="6229349"/>
          </a:xfrm>
          <a:prstGeom prst="rect">
            <a:avLst/>
          </a:prstGeom>
        </p:spPr>
      </p:pic>
    </p:spTree>
    <p:extLst>
      <p:ext uri="{BB962C8B-B14F-4D97-AF65-F5344CB8AC3E}">
        <p14:creationId xmlns:p14="http://schemas.microsoft.com/office/powerpoint/2010/main" val="121336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6E8B3A-E1A3-48BA-A361-D527BE7367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40" y="2"/>
            <a:ext cx="12125324" cy="6229349"/>
          </a:xfrm>
          <a:prstGeom prst="rect">
            <a:avLst/>
          </a:prstGeom>
        </p:spPr>
      </p:pic>
    </p:spTree>
    <p:extLst>
      <p:ext uri="{BB962C8B-B14F-4D97-AF65-F5344CB8AC3E}">
        <p14:creationId xmlns:p14="http://schemas.microsoft.com/office/powerpoint/2010/main" val="1808817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684275" y="364491"/>
            <a:ext cx="10515600" cy="933958"/>
          </a:xfrm>
        </p:spPr>
        <p:txBody>
          <a:bodyPr>
            <a:normAutofit/>
          </a:bodyPr>
          <a:lstStyle/>
          <a:p>
            <a:r>
              <a:rPr lang="en-US" sz="3600" dirty="0">
                <a:latin typeface="Segoe UI Semibold (Headings)"/>
              </a:rPr>
              <a:t>Define Infrastructure as a Service (IaaS)</a:t>
            </a:r>
            <a:endParaRPr lang="en-US" sz="3600" dirty="0"/>
          </a:p>
        </p:txBody>
      </p:sp>
      <p:sp>
        <p:nvSpPr>
          <p:cNvPr id="6" name="Text Placeholder 5"/>
          <p:cNvSpPr>
            <a:spLocks noGrp="1"/>
          </p:cNvSpPr>
          <p:nvPr>
            <p:ph type="body" sz="quarter" idx="10"/>
          </p:nvPr>
        </p:nvSpPr>
        <p:spPr>
          <a:xfrm>
            <a:off x="684275" y="2733959"/>
            <a:ext cx="4472941" cy="1936364"/>
          </a:xfrm>
        </p:spPr>
        <p:txBody>
          <a:bodyPr>
            <a:normAutofit/>
          </a:bodyPr>
          <a:lstStyle/>
          <a:p>
            <a:r>
              <a:rPr lang="en-US" dirty="0">
                <a:latin typeface="Segoe UI Semilight" panose="020B0402040204020203" pitchFamily="34" charset="0"/>
                <a:cs typeface="Segoe UI Semilight" panose="020B0402040204020203" pitchFamily="34" charset="0"/>
              </a:rPr>
              <a:t>Build pay-as-you-go IT infrastructure by renting servers, virtual machines, storage, networks, and operating systems from a cloud provider.</a:t>
            </a:r>
          </a:p>
        </p:txBody>
      </p:sp>
      <p:pic>
        <p:nvPicPr>
          <p:cNvPr id="5" name="Picture 4" descr="IaaS is encompassing the following three icons: Servers and storage, Networking firewalls and security, and Datacenter physical plant and building.">
            <a:extLst>
              <a:ext uri="{FF2B5EF4-FFF2-40B4-BE49-F238E27FC236}">
                <a16:creationId xmlns:a16="http://schemas.microsoft.com/office/drawing/2014/main" id="{37CCC6CC-3378-418A-A85F-803240191429}"/>
              </a:ext>
            </a:extLst>
          </p:cNvPr>
          <p:cNvPicPr>
            <a:picLocks noChangeAspect="1"/>
          </p:cNvPicPr>
          <p:nvPr/>
        </p:nvPicPr>
        <p:blipFill>
          <a:blip r:embed="rId3"/>
          <a:stretch>
            <a:fillRect/>
          </a:stretch>
        </p:blipFill>
        <p:spPr>
          <a:xfrm>
            <a:off x="5361709" y="1298449"/>
            <a:ext cx="6646580" cy="4326677"/>
          </a:xfrm>
          <a:prstGeom prst="rect">
            <a:avLst/>
          </a:prstGeom>
        </p:spPr>
      </p:pic>
    </p:spTree>
    <p:extLst>
      <p:ext uri="{BB962C8B-B14F-4D97-AF65-F5344CB8AC3E}">
        <p14:creationId xmlns:p14="http://schemas.microsoft.com/office/powerpoint/2010/main" val="1278500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684275" y="364491"/>
            <a:ext cx="10515600" cy="933958"/>
          </a:xfrm>
        </p:spPr>
        <p:txBody>
          <a:bodyPr>
            <a:normAutofit/>
          </a:bodyPr>
          <a:lstStyle/>
          <a:p>
            <a:r>
              <a:rPr lang="en-US" sz="3600" dirty="0">
                <a:latin typeface="Segoe UI Semibold (Headings)"/>
              </a:rPr>
              <a:t>Define Platform as a Service (PaaS)</a:t>
            </a:r>
            <a:endParaRPr lang="en-US" sz="3600" dirty="0"/>
          </a:p>
        </p:txBody>
      </p:sp>
      <p:pic>
        <p:nvPicPr>
          <p:cNvPr id="5" name="Picture 4" descr="PaaS encompasses IaaS. The IaaS icons are Servers and Storage, Networking firewalls and security, and Datacenter physical plant and security. In addition to the IaaS icons, PaaS icons include an Operating systems icon, and a Development tools, database management, and business analytics icons.">
            <a:extLst>
              <a:ext uri="{FF2B5EF4-FFF2-40B4-BE49-F238E27FC236}">
                <a16:creationId xmlns:a16="http://schemas.microsoft.com/office/drawing/2014/main" id="{762123AF-6EB1-42A3-B858-5CB39542AC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55" y="2005262"/>
            <a:ext cx="7867149" cy="3407985"/>
          </a:xfrm>
          <a:prstGeom prst="rect">
            <a:avLst/>
          </a:prstGeom>
        </p:spPr>
      </p:pic>
      <p:sp>
        <p:nvSpPr>
          <p:cNvPr id="6" name="Text Placeholder 5"/>
          <p:cNvSpPr>
            <a:spLocks noGrp="1"/>
          </p:cNvSpPr>
          <p:nvPr>
            <p:ph type="body" sz="quarter" idx="10"/>
          </p:nvPr>
        </p:nvSpPr>
        <p:spPr>
          <a:xfrm>
            <a:off x="8377427" y="2763194"/>
            <a:ext cx="3814573" cy="2300420"/>
          </a:xfrm>
        </p:spPr>
        <p:txBody>
          <a:bodyPr>
            <a:normAutofit/>
          </a:bodyPr>
          <a:lstStyle/>
          <a:p>
            <a:r>
              <a:rPr lang="en-US" dirty="0">
                <a:latin typeface="Segoe UI Semilight" panose="020B0402040204020203" pitchFamily="34" charset="0"/>
                <a:cs typeface="Segoe UI Semilight" panose="020B0402040204020203" pitchFamily="34" charset="0"/>
              </a:rPr>
              <a:t>Provides environment for building, testing, and deploying software applications; without focusing on managing underlying infrastructure.</a:t>
            </a:r>
          </a:p>
        </p:txBody>
      </p:sp>
    </p:spTree>
    <p:extLst>
      <p:ext uri="{BB962C8B-B14F-4D97-AF65-F5344CB8AC3E}">
        <p14:creationId xmlns:p14="http://schemas.microsoft.com/office/powerpoint/2010/main" val="2249075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684275" y="364491"/>
            <a:ext cx="10515600" cy="933958"/>
          </a:xfrm>
        </p:spPr>
        <p:txBody>
          <a:bodyPr>
            <a:normAutofit/>
          </a:bodyPr>
          <a:lstStyle/>
          <a:p>
            <a:r>
              <a:rPr lang="en-US" sz="3600" dirty="0">
                <a:latin typeface="Segoe UI Semibold (Headings)"/>
              </a:rPr>
              <a:t>Define Software as a Service (SaaS)</a:t>
            </a:r>
            <a:endParaRPr lang="en-US" sz="3600" dirty="0"/>
          </a:p>
        </p:txBody>
      </p:sp>
      <p:sp>
        <p:nvSpPr>
          <p:cNvPr id="6" name="Text Placeholder 5"/>
          <p:cNvSpPr>
            <a:spLocks noGrp="1"/>
          </p:cNvSpPr>
          <p:nvPr>
            <p:ph type="body" sz="quarter" idx="10"/>
          </p:nvPr>
        </p:nvSpPr>
        <p:spPr>
          <a:xfrm>
            <a:off x="626548" y="5161886"/>
            <a:ext cx="11240774" cy="1331623"/>
          </a:xfrm>
        </p:spPr>
        <p:txBody>
          <a:bodyPr>
            <a:noAutofit/>
          </a:bodyPr>
          <a:lstStyle/>
          <a:p>
            <a:pPr marL="0" indent="0">
              <a:buNone/>
            </a:pPr>
            <a:r>
              <a:rPr lang="en-US" dirty="0">
                <a:latin typeface="Segoe UI Semilight" panose="020B0402040204020203" pitchFamily="34" charset="0"/>
                <a:cs typeface="Segoe UI Semilight" panose="020B0402040204020203" pitchFamily="34" charset="0"/>
              </a:rPr>
              <a:t>Users connect to and use cloud-based apps over the internet: for example, Microsoft Office 365, email, and calendars.</a:t>
            </a:r>
            <a:endParaRPr lang="en-US" dirty="0">
              <a:solidFill>
                <a:schemeClr val="bg1"/>
              </a:solidFill>
              <a:latin typeface="Segoe UI Semilight" panose="020B0402040204020203" pitchFamily="34" charset="0"/>
              <a:cs typeface="Segoe UI Semilight" panose="020B0402040204020203" pitchFamily="34" charset="0"/>
            </a:endParaRPr>
          </a:p>
        </p:txBody>
      </p:sp>
      <p:pic>
        <p:nvPicPr>
          <p:cNvPr id="7" name="Picture 6" descr="SaaS encompasses PaaS, which encompasses IaaS. The IaaS icons are Servers and Storage, Networking firewalls and security, and Datacenter physical plant and security. In addition to the IaaS icons, PaaS icons include an Operating systems icon, and a Development tools, database management, and business analytics icon. The SaaS icon includes all of the PaaS icon and a Hosted applications and apps icon.">
            <a:extLst>
              <a:ext uri="{FF2B5EF4-FFF2-40B4-BE49-F238E27FC236}">
                <a16:creationId xmlns:a16="http://schemas.microsoft.com/office/drawing/2014/main" id="{59190E1F-A53C-40E4-A200-B8E2EC4D4B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548" y="1010313"/>
            <a:ext cx="10577254" cy="4151573"/>
          </a:xfrm>
          <a:prstGeom prst="rect">
            <a:avLst/>
          </a:prstGeom>
        </p:spPr>
      </p:pic>
    </p:spTree>
    <p:extLst>
      <p:ext uri="{BB962C8B-B14F-4D97-AF65-F5344CB8AC3E}">
        <p14:creationId xmlns:p14="http://schemas.microsoft.com/office/powerpoint/2010/main" val="834699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CC478C-327A-4F70-BA0A-9D28A3E781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3" y="0"/>
            <a:ext cx="12180094" cy="6304547"/>
          </a:xfrm>
          <a:prstGeom prst="rect">
            <a:avLst/>
          </a:prstGeom>
        </p:spPr>
      </p:pic>
    </p:spTree>
    <p:extLst>
      <p:ext uri="{BB962C8B-B14F-4D97-AF65-F5344CB8AC3E}">
        <p14:creationId xmlns:p14="http://schemas.microsoft.com/office/powerpoint/2010/main" val="4263083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E8312F-AC23-42BF-BAC0-4BB02C55E5FF}"/>
              </a:ext>
            </a:extLst>
          </p:cNvPr>
          <p:cNvSpPr/>
          <p:nvPr/>
        </p:nvSpPr>
        <p:spPr>
          <a:xfrm>
            <a:off x="574765" y="197031"/>
            <a:ext cx="8708572" cy="643253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Cloud Business Advantages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Cloud computing offers enterprise decision makers:</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Optimized resource utilization”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Enterprises typically use a small percentage of their server computing resources. By using a cloud solution, resources become available when needed and are liberated when no longer needed; there is near-perfect alignment with actual demand.</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Cost savings”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Increased server utilization plus the transition of computational capability from acquired and maintained computers to rented cloud services change the computing cost paradigm from a capital expenditure (CAPEX) to an operational expenditure (OPEX), with potentially significant up-front and total cost savings. Flexible, on-demand services enable solution testing without significant capital investments and provide transparency of usage charges to drive behavioral change within enterprises.</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Better responsiveness”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On-demand, agile, scalable and flexible services that can be implemented quickly provide enterprises with the ability to respond to changing requirements and peak periods.</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Reduced time for implementation”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Cloud computing provides processing power and data storage as needed and at the capacity needed, in near-real time, not requiring the weeks or months (or CAPEX) that accrue when a new business initiative is brought online </a:t>
            </a:r>
            <a:r>
              <a:rPr kumimoji="0" lang="en-US" sz="14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mn-cs"/>
              </a:rPr>
              <a:t>ina</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traditional IT enterprise.</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Resilience”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large, highly resilient environment reduces the potential for system failure. The failure of one component of a cloud- based system has less impact on overall service availability and reduces the risk of downtime.</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2073594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81EA11-78A7-9255-78C8-8397C5FBF364}"/>
              </a:ext>
            </a:extLst>
          </p:cNvPr>
          <p:cNvSpPr txBox="1"/>
          <p:nvPr/>
        </p:nvSpPr>
        <p:spPr>
          <a:xfrm>
            <a:off x="802105" y="356755"/>
            <a:ext cx="60960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Big Data</a:t>
            </a:r>
          </a:p>
        </p:txBody>
      </p:sp>
      <p:sp>
        <p:nvSpPr>
          <p:cNvPr id="5" name="TextBox 4">
            <a:extLst>
              <a:ext uri="{FF2B5EF4-FFF2-40B4-BE49-F238E27FC236}">
                <a16:creationId xmlns:a16="http://schemas.microsoft.com/office/drawing/2014/main" id="{2CE61232-A18A-B680-12BF-A0A0CC88E59D}"/>
              </a:ext>
            </a:extLst>
          </p:cNvPr>
          <p:cNvSpPr txBox="1"/>
          <p:nvPr/>
        </p:nvSpPr>
        <p:spPr>
          <a:xfrm>
            <a:off x="914400" y="879975"/>
            <a:ext cx="6324600" cy="206210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Big Data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is a collection of data that is huge in volume, yet growing exponentially with time. It is a data with so large size and complexity that none of traditional data management tools can store it or process it efficiently</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Big Data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analytics examples includes stock exchanges, social media sites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Big Data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could be 1) Structured, 2) Unstructured, 3) Semi-structured</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Improved customer service, better operational efficiency, Better Decision Making are few advantages of </a:t>
            </a: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Big data</a:t>
            </a:r>
          </a:p>
        </p:txBody>
      </p:sp>
      <p:sp>
        <p:nvSpPr>
          <p:cNvPr id="7" name="TextBox 6">
            <a:extLst>
              <a:ext uri="{FF2B5EF4-FFF2-40B4-BE49-F238E27FC236}">
                <a16:creationId xmlns:a16="http://schemas.microsoft.com/office/drawing/2014/main" id="{3874E205-2C55-89E1-C12D-646B1BC3E12C}"/>
              </a:ext>
            </a:extLst>
          </p:cNvPr>
          <p:cNvSpPr txBox="1"/>
          <p:nvPr/>
        </p:nvSpPr>
        <p:spPr>
          <a:xfrm>
            <a:off x="316831" y="3443806"/>
            <a:ext cx="6769769" cy="200054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What is an Example of Big Data?</a:t>
            </a: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New York Stock Exchange is an example of Big Data that generates about one terabyte of new trade data per day.</a:t>
            </a: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Social Media .The statistic shows that 500+terabytes of new data get ingested into the databases of social media site Facebook, every day. This data is mainly generated in terms of photo and video uploads, message exchanges, putting comments etc.</a:t>
            </a:r>
          </a:p>
        </p:txBody>
      </p:sp>
      <p:pic>
        <p:nvPicPr>
          <p:cNvPr id="4" name="Picture 3">
            <a:extLst>
              <a:ext uri="{FF2B5EF4-FFF2-40B4-BE49-F238E27FC236}">
                <a16:creationId xmlns:a16="http://schemas.microsoft.com/office/drawing/2014/main" id="{C03F1508-039D-8008-1FFD-6376B667B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8895" y="1458662"/>
            <a:ext cx="4872107" cy="3940675"/>
          </a:xfrm>
          <a:prstGeom prst="rect">
            <a:avLst/>
          </a:prstGeom>
        </p:spPr>
      </p:pic>
    </p:spTree>
    <p:extLst>
      <p:ext uri="{BB962C8B-B14F-4D97-AF65-F5344CB8AC3E}">
        <p14:creationId xmlns:p14="http://schemas.microsoft.com/office/powerpoint/2010/main" val="2881450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A69658-4D8D-B906-CDF3-55AD51F73062}"/>
              </a:ext>
            </a:extLst>
          </p:cNvPr>
          <p:cNvSpPr txBox="1"/>
          <p:nvPr/>
        </p:nvSpPr>
        <p:spPr>
          <a:xfrm>
            <a:off x="1933071" y="461210"/>
            <a:ext cx="6641433" cy="495520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Some of the challenges enterprises commonly face associated with big data include the following:</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Data ownership is often not clearly defined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Marketing or other departments can obtain the data needed by their business units without considering the costs or risk associated with using the data.</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Evolving regulatory requirements impact data governance.  The lack of a clear data governance structure makes it harder to respond to emerging or changing international data laws.</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Siloed departmental and organizational structures result in disaggregated datasets and data analytics challenges.</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Data flood can result in quality problems. Big data is of no value if it cannot contribute to better business decision making.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Lack of skilled staff to conduct data analysis creates a barrier to effective data governance.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good working knowledge of data analytics becomes critical to the success of an enterprise</a:t>
            </a:r>
          </a:p>
        </p:txBody>
      </p:sp>
    </p:spTree>
    <p:extLst>
      <p:ext uri="{BB962C8B-B14F-4D97-AF65-F5344CB8AC3E}">
        <p14:creationId xmlns:p14="http://schemas.microsoft.com/office/powerpoint/2010/main" val="1858563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82F13B-1852-F76D-70A4-2571BD18363F}"/>
              </a:ext>
            </a:extLst>
          </p:cNvPr>
          <p:cNvSpPr txBox="1"/>
          <p:nvPr/>
        </p:nvSpPr>
        <p:spPr>
          <a:xfrm>
            <a:off x="304800" y="152400"/>
            <a:ext cx="6172200" cy="692497"/>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Risk Factors</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pic>
        <p:nvPicPr>
          <p:cNvPr id="4" name="Picture 3">
            <a:extLst>
              <a:ext uri="{FF2B5EF4-FFF2-40B4-BE49-F238E27FC236}">
                <a16:creationId xmlns:a16="http://schemas.microsoft.com/office/drawing/2014/main" id="{7177DDA3-4199-5754-2A4F-EEA674743180}"/>
              </a:ext>
            </a:extLst>
          </p:cNvPr>
          <p:cNvPicPr>
            <a:picLocks noChangeAspect="1"/>
          </p:cNvPicPr>
          <p:nvPr/>
        </p:nvPicPr>
        <p:blipFill rotWithShape="1">
          <a:blip r:embed="rId2"/>
          <a:srcRect l="17014" r="13448"/>
          <a:stretch/>
        </p:blipFill>
        <p:spPr>
          <a:xfrm>
            <a:off x="6858000" y="381000"/>
            <a:ext cx="5225139" cy="5450694"/>
          </a:xfrm>
          <a:prstGeom prst="rect">
            <a:avLst/>
          </a:prstGeom>
        </p:spPr>
      </p:pic>
      <p:pic>
        <p:nvPicPr>
          <p:cNvPr id="5" name="Picture 4">
            <a:extLst>
              <a:ext uri="{FF2B5EF4-FFF2-40B4-BE49-F238E27FC236}">
                <a16:creationId xmlns:a16="http://schemas.microsoft.com/office/drawing/2014/main" id="{3A5C2D9B-0CD8-3F5A-C996-DD4D29DA2F35}"/>
              </a:ext>
            </a:extLst>
          </p:cNvPr>
          <p:cNvPicPr>
            <a:picLocks noChangeAspect="1"/>
          </p:cNvPicPr>
          <p:nvPr/>
        </p:nvPicPr>
        <p:blipFill>
          <a:blip r:embed="rId3"/>
          <a:stretch>
            <a:fillRect/>
          </a:stretch>
        </p:blipFill>
        <p:spPr>
          <a:xfrm>
            <a:off x="190500" y="1295400"/>
            <a:ext cx="6477000" cy="3352800"/>
          </a:xfrm>
          <a:prstGeom prst="rect">
            <a:avLst/>
          </a:prstGeom>
        </p:spPr>
      </p:pic>
    </p:spTree>
    <p:extLst>
      <p:ext uri="{BB962C8B-B14F-4D97-AF65-F5344CB8AC3E}">
        <p14:creationId xmlns:p14="http://schemas.microsoft.com/office/powerpoint/2010/main" val="1455990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BC9C0B-DE90-444B-5F72-1E5A0323C09D}"/>
              </a:ext>
            </a:extLst>
          </p:cNvPr>
          <p:cNvSpPr txBox="1"/>
          <p:nvPr/>
        </p:nvSpPr>
        <p:spPr>
          <a:xfrm>
            <a:off x="152400" y="2667000"/>
            <a:ext cx="5791200"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As shown in Figure 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latin typeface="Berlin Sans FB" panose="020E0602020502020306" pitchFamily="34" charset="0"/>
              </a:rPr>
              <a:t>A</a:t>
            </a: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2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Threats</a:t>
            </a:r>
            <a:r>
              <a:rPr kumimoji="0" lang="en-US" sz="12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are actions that can result in risk to a system.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 </a:t>
            </a:r>
            <a:r>
              <a:rPr kumimoji="0" lang="en-US" sz="12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threat actor</a:t>
            </a:r>
            <a:r>
              <a:rPr kumimoji="0" lang="en-US" sz="12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is the source of the threat on the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7030A0"/>
                </a:solidFill>
                <a:effectLst>
                  <a:outerShdw blurRad="38100" dist="38100" dir="2700000" algn="tl">
                    <a:srgbClr val="000000">
                      <a:alpha val="43137"/>
                    </a:srgbClr>
                  </a:outerShdw>
                </a:effectLst>
                <a:latin typeface="Berlin Sans FB" panose="020E0602020502020306" pitchFamily="34" charset="0"/>
              </a:rPr>
              <a:t>A</a:t>
            </a:r>
            <a:r>
              <a:rPr kumimoji="0" lang="en-US" sz="12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a:t>
            </a:r>
            <a:r>
              <a:rPr kumimoji="0" lang="en-US" sz="12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Threat Vectors </a:t>
            </a:r>
            <a:r>
              <a:rPr kumimoji="0" lang="en-US" sz="12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are the methods that threat actors use to attack a vulnerability in a system in order to achieve their objective.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7030A0"/>
                </a:solidFill>
                <a:effectLst>
                  <a:outerShdw blurRad="38100" dist="38100" dir="2700000" algn="tl">
                    <a:srgbClr val="000000">
                      <a:alpha val="43137"/>
                    </a:srgbClr>
                  </a:outerShdw>
                </a:effectLst>
                <a:latin typeface="Berlin Sans FB" panose="020E0602020502020306" pitchFamily="34" charset="0"/>
              </a:rPr>
              <a:t>A</a:t>
            </a:r>
            <a:r>
              <a:rPr kumimoji="0" lang="en-US" sz="12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Threat Agent is the </a:t>
            </a:r>
            <a:r>
              <a:rPr kumimoji="0" lang="en-US" sz="12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individual or group that acts, or has the power to, exploit a vulnerability or conduct other damaging activities.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Examples of threat agents </a:t>
            </a:r>
            <a:r>
              <a:rPr kumimoji="0" lang="en-US" sz="12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are malicious hackers, organized crime, insiders (including system administrators and developers), terrorists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Threat actors that lack the ability to act may not pose a significant risk.</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Similarly, properly protected assets that are not vulnerable to threat events present no risk from attack.</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For example, if a virus has been written to exploit a vulnerability on a system, the virus can only have an impact if the system has not been patched to eliminate the vulnerability. After the patch has been applied, the virus poses no threat to the system.</a:t>
            </a:r>
          </a:p>
        </p:txBody>
      </p:sp>
      <p:pic>
        <p:nvPicPr>
          <p:cNvPr id="4" name="Picture 3">
            <a:extLst>
              <a:ext uri="{FF2B5EF4-FFF2-40B4-BE49-F238E27FC236}">
                <a16:creationId xmlns:a16="http://schemas.microsoft.com/office/drawing/2014/main" id="{A7278D98-D2C2-C7A8-D402-848BAC117F8A}"/>
              </a:ext>
            </a:extLst>
          </p:cNvPr>
          <p:cNvPicPr>
            <a:picLocks noChangeAspect="1"/>
          </p:cNvPicPr>
          <p:nvPr/>
        </p:nvPicPr>
        <p:blipFill rotWithShape="1">
          <a:blip r:embed="rId2"/>
          <a:srcRect l="10126" t="701" r="11172" b="8596"/>
          <a:stretch/>
        </p:blipFill>
        <p:spPr>
          <a:xfrm>
            <a:off x="838200" y="228600"/>
            <a:ext cx="5105400" cy="2299304"/>
          </a:xfrm>
          <a:prstGeom prst="rect">
            <a:avLst/>
          </a:prstGeom>
        </p:spPr>
      </p:pic>
      <p:pic>
        <p:nvPicPr>
          <p:cNvPr id="2" name="Picture 1">
            <a:extLst>
              <a:ext uri="{FF2B5EF4-FFF2-40B4-BE49-F238E27FC236}">
                <a16:creationId xmlns:a16="http://schemas.microsoft.com/office/drawing/2014/main" id="{DD1DCEDF-56D1-2D23-1247-E469450749AD}"/>
              </a:ext>
            </a:extLst>
          </p:cNvPr>
          <p:cNvPicPr>
            <a:picLocks noChangeAspect="1"/>
          </p:cNvPicPr>
          <p:nvPr/>
        </p:nvPicPr>
        <p:blipFill>
          <a:blip r:embed="rId3"/>
          <a:stretch>
            <a:fillRect/>
          </a:stretch>
        </p:blipFill>
        <p:spPr>
          <a:xfrm>
            <a:off x="7162800" y="149002"/>
            <a:ext cx="3962400" cy="2670398"/>
          </a:xfrm>
          <a:prstGeom prst="rect">
            <a:avLst/>
          </a:prstGeom>
        </p:spPr>
      </p:pic>
      <p:pic>
        <p:nvPicPr>
          <p:cNvPr id="5" name="Picture 4">
            <a:extLst>
              <a:ext uri="{FF2B5EF4-FFF2-40B4-BE49-F238E27FC236}">
                <a16:creationId xmlns:a16="http://schemas.microsoft.com/office/drawing/2014/main" id="{15632341-BA7A-0586-943F-50A031F9650E}"/>
              </a:ext>
            </a:extLst>
          </p:cNvPr>
          <p:cNvPicPr>
            <a:picLocks noChangeAspect="1"/>
          </p:cNvPicPr>
          <p:nvPr/>
        </p:nvPicPr>
        <p:blipFill rotWithShape="1">
          <a:blip r:embed="rId4"/>
          <a:srcRect b="7219"/>
          <a:stretch/>
        </p:blipFill>
        <p:spPr>
          <a:xfrm>
            <a:off x="5902539" y="2895600"/>
            <a:ext cx="6262107" cy="3245930"/>
          </a:xfrm>
          <a:prstGeom prst="rect">
            <a:avLst/>
          </a:prstGeom>
        </p:spPr>
      </p:pic>
      <p:sp>
        <p:nvSpPr>
          <p:cNvPr id="7" name="TextBox 6">
            <a:extLst>
              <a:ext uri="{FF2B5EF4-FFF2-40B4-BE49-F238E27FC236}">
                <a16:creationId xmlns:a16="http://schemas.microsoft.com/office/drawing/2014/main" id="{73930F9E-85D7-0302-F895-2A2D8DA2B3E1}"/>
              </a:ext>
            </a:extLst>
          </p:cNvPr>
          <p:cNvSpPr txBox="1"/>
          <p:nvPr/>
        </p:nvSpPr>
        <p:spPr>
          <a:xfrm>
            <a:off x="8077200" y="6018788"/>
            <a:ext cx="5867400" cy="369332"/>
          </a:xfrm>
          <a:prstGeom prst="rect">
            <a:avLst/>
          </a:prstGeom>
          <a:noFill/>
        </p:spPr>
        <p:txBody>
          <a:bodyPr wrap="square">
            <a:spAutoFit/>
          </a:bodyPr>
          <a:lstStyle/>
          <a:p>
            <a:r>
              <a:rPr lang="en-US" b="1" dirty="0"/>
              <a:t>Common Cyber Attack Vectors</a:t>
            </a:r>
          </a:p>
        </p:txBody>
      </p:sp>
    </p:spTree>
    <p:extLst>
      <p:ext uri="{BB962C8B-B14F-4D97-AF65-F5344CB8AC3E}">
        <p14:creationId xmlns:p14="http://schemas.microsoft.com/office/powerpoint/2010/main" val="4146741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4774F6-0E7D-E880-61AF-30D64BF2BBFA}"/>
              </a:ext>
            </a:extLst>
          </p:cNvPr>
          <p:cNvSpPr txBox="1"/>
          <p:nvPr/>
        </p:nvSpPr>
        <p:spPr>
          <a:xfrm>
            <a:off x="1130969" y="498519"/>
            <a:ext cx="8414084" cy="4893647"/>
          </a:xfrm>
          <a:prstGeom prst="rect">
            <a:avLst/>
          </a:prstGeom>
          <a:noFill/>
        </p:spPr>
        <p:txBody>
          <a:bodyPr wrap="square">
            <a:spAutoFit/>
          </a:bodyPr>
          <a:lstStyle/>
          <a:p>
            <a:pPr marL="685800" marR="0" lvl="1"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first step in avoiding a threat is identifying it. </a:t>
            </a:r>
          </a:p>
          <a:p>
            <a:pPr marL="685800" marR="0" lvl="1"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Knowledge of threats and the motivations, strategy and techniques of those who perpetrate threats is key, so that a threat may be managed before it becomes reality. </a:t>
            </a:r>
          </a:p>
          <a:p>
            <a:pPr marL="685800" marR="0" lvl="1"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 enterprise needs to know its own weaknesses, strengths, vulnerabilities and the gaps in the security fabric. </a:t>
            </a:r>
          </a:p>
          <a:p>
            <a:pPr marL="685800" marR="0" lvl="1"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Any gaps in the security fabric can easily be exploited.</a:t>
            </a:r>
          </a:p>
          <a:p>
            <a:pPr marL="685800" marR="0" lvl="1"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better the risk practitioner understands the mind of the attacker or the source of the threat, the more effective the risk management activities will be in countering the threat.</a:t>
            </a:r>
          </a:p>
          <a:p>
            <a:pPr marL="685800" marR="0" lvl="1"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threat and vulnerability landscape is always changing.</a:t>
            </a:r>
          </a:p>
          <a:p>
            <a:pPr marL="685800" marR="0" lvl="1"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 The risk practitioner must proactively seek out threats, vulnerabilities and controls through regular assessments, testing, observation and analysis in order to be able to identify risk.</a:t>
            </a:r>
          </a:p>
          <a:p>
            <a:pPr marL="685800" marR="0" lvl="1"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Risk logs (known as risk register) can be used as a tool to manage the risk generated during the identification process. </a:t>
            </a:r>
          </a:p>
          <a:p>
            <a:pPr marL="685800" marR="0" lvl="1"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Because risk is cyclical and ongoing, risk logs are living documents, which need to be updated to ensure the entire enterprise understands how risk is being approached and managed. </a:t>
            </a:r>
          </a:p>
        </p:txBody>
      </p:sp>
    </p:spTree>
    <p:extLst>
      <p:ext uri="{BB962C8B-B14F-4D97-AF65-F5344CB8AC3E}">
        <p14:creationId xmlns:p14="http://schemas.microsoft.com/office/powerpoint/2010/main" val="7431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F06D42-D180-48C8-C862-682D6C511EC5}"/>
              </a:ext>
            </a:extLst>
          </p:cNvPr>
          <p:cNvPicPr>
            <a:picLocks noChangeAspect="1"/>
          </p:cNvPicPr>
          <p:nvPr/>
        </p:nvPicPr>
        <p:blipFill>
          <a:blip r:embed="rId2"/>
          <a:stretch>
            <a:fillRect/>
          </a:stretch>
        </p:blipFill>
        <p:spPr>
          <a:xfrm>
            <a:off x="2514600" y="1905000"/>
            <a:ext cx="8059479" cy="3304936"/>
          </a:xfrm>
          <a:prstGeom prst="rect">
            <a:avLst/>
          </a:prstGeom>
        </p:spPr>
      </p:pic>
      <p:sp>
        <p:nvSpPr>
          <p:cNvPr id="4" name="TextBox 3">
            <a:extLst>
              <a:ext uri="{FF2B5EF4-FFF2-40B4-BE49-F238E27FC236}">
                <a16:creationId xmlns:a16="http://schemas.microsoft.com/office/drawing/2014/main" id="{66043814-9543-E8AB-2320-C5498395162A}"/>
              </a:ext>
            </a:extLst>
          </p:cNvPr>
          <p:cNvSpPr txBox="1"/>
          <p:nvPr/>
        </p:nvSpPr>
        <p:spPr>
          <a:xfrm>
            <a:off x="762000" y="228600"/>
            <a:ext cx="990600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sng" strike="noStrike" kern="1200" cap="none" spc="0" normalizeH="0" baseline="0" noProof="0" dirty="0">
                <a:ln>
                  <a:noFill/>
                </a:ln>
                <a:solidFill>
                  <a:srgbClr val="C00000"/>
                </a:solidFill>
                <a:effectLst/>
                <a:uLnTx/>
                <a:uFillTx/>
                <a:latin typeface="Calibri Light" panose="020F0302020204030204"/>
                <a:ea typeface="+mn-ea"/>
                <a:cs typeface="+mn-cs"/>
              </a:rPr>
              <a:t>Integration of Risk Management into Other Processes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Calibri Light" panose="020F0302020204030204"/>
                <a:ea typeface="+mn-ea"/>
                <a:cs typeface="+mn-cs"/>
              </a:rPr>
              <a:t>the concept of risk should be integrated into several IT and business processes in an organization. </a:t>
            </a:r>
          </a:p>
        </p:txBody>
      </p:sp>
    </p:spTree>
    <p:extLst>
      <p:ext uri="{BB962C8B-B14F-4D97-AF65-F5344CB8AC3E}">
        <p14:creationId xmlns:p14="http://schemas.microsoft.com/office/powerpoint/2010/main" val="2785079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DAD465-A8B2-6E70-D3F0-31575EB25333}"/>
              </a:ext>
            </a:extLst>
          </p:cNvPr>
          <p:cNvPicPr>
            <a:picLocks noChangeAspect="1"/>
          </p:cNvPicPr>
          <p:nvPr/>
        </p:nvPicPr>
        <p:blipFill>
          <a:blip r:embed="rId2"/>
          <a:stretch>
            <a:fillRect/>
          </a:stretch>
        </p:blipFill>
        <p:spPr>
          <a:xfrm>
            <a:off x="914400" y="838200"/>
            <a:ext cx="8173779" cy="4191000"/>
          </a:xfrm>
          <a:prstGeom prst="rect">
            <a:avLst/>
          </a:prstGeom>
        </p:spPr>
      </p:pic>
    </p:spTree>
    <p:extLst>
      <p:ext uri="{BB962C8B-B14F-4D97-AF65-F5344CB8AC3E}">
        <p14:creationId xmlns:p14="http://schemas.microsoft.com/office/powerpoint/2010/main" val="2766227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33EF2F-66B8-E938-F93B-ADE43164DA40}"/>
              </a:ext>
            </a:extLst>
          </p:cNvPr>
          <p:cNvPicPr>
            <a:picLocks noChangeAspect="1"/>
          </p:cNvPicPr>
          <p:nvPr/>
        </p:nvPicPr>
        <p:blipFill>
          <a:blip r:embed="rId2"/>
          <a:stretch>
            <a:fillRect/>
          </a:stretch>
        </p:blipFill>
        <p:spPr>
          <a:xfrm>
            <a:off x="838201" y="609601"/>
            <a:ext cx="8839200" cy="4694112"/>
          </a:xfrm>
          <a:prstGeom prst="rect">
            <a:avLst/>
          </a:prstGeom>
        </p:spPr>
      </p:pic>
    </p:spTree>
    <p:extLst>
      <p:ext uri="{BB962C8B-B14F-4D97-AF65-F5344CB8AC3E}">
        <p14:creationId xmlns:p14="http://schemas.microsoft.com/office/powerpoint/2010/main" val="54009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8848A0-706F-E7D1-DF11-5D89C59D10D2}"/>
              </a:ext>
            </a:extLst>
          </p:cNvPr>
          <p:cNvPicPr>
            <a:picLocks noChangeAspect="1"/>
          </p:cNvPicPr>
          <p:nvPr/>
        </p:nvPicPr>
        <p:blipFill>
          <a:blip r:embed="rId2"/>
          <a:stretch>
            <a:fillRect/>
          </a:stretch>
        </p:blipFill>
        <p:spPr>
          <a:xfrm>
            <a:off x="990600" y="838200"/>
            <a:ext cx="8034988" cy="4343400"/>
          </a:xfrm>
          <a:prstGeom prst="rect">
            <a:avLst/>
          </a:prstGeom>
        </p:spPr>
      </p:pic>
    </p:spTree>
    <p:extLst>
      <p:ext uri="{BB962C8B-B14F-4D97-AF65-F5344CB8AC3E}">
        <p14:creationId xmlns:p14="http://schemas.microsoft.com/office/powerpoint/2010/main" val="82529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A00FF3-D096-68CB-B5E1-77F32834A194}"/>
              </a:ext>
            </a:extLst>
          </p:cNvPr>
          <p:cNvPicPr>
            <a:picLocks noChangeAspect="1"/>
          </p:cNvPicPr>
          <p:nvPr/>
        </p:nvPicPr>
        <p:blipFill>
          <a:blip r:embed="rId2"/>
          <a:stretch>
            <a:fillRect/>
          </a:stretch>
        </p:blipFill>
        <p:spPr>
          <a:xfrm>
            <a:off x="257907" y="228637"/>
            <a:ext cx="7088554" cy="3108606"/>
          </a:xfrm>
          <a:prstGeom prst="rect">
            <a:avLst/>
          </a:prstGeom>
        </p:spPr>
      </p:pic>
      <p:pic>
        <p:nvPicPr>
          <p:cNvPr id="5" name="Picture 4">
            <a:extLst>
              <a:ext uri="{FF2B5EF4-FFF2-40B4-BE49-F238E27FC236}">
                <a16:creationId xmlns:a16="http://schemas.microsoft.com/office/drawing/2014/main" id="{77F21BC9-C3DA-4AB4-5FDC-92303588050F}"/>
              </a:ext>
            </a:extLst>
          </p:cNvPr>
          <p:cNvPicPr>
            <a:picLocks noChangeAspect="1"/>
          </p:cNvPicPr>
          <p:nvPr/>
        </p:nvPicPr>
        <p:blipFill>
          <a:blip r:embed="rId3"/>
          <a:stretch>
            <a:fillRect/>
          </a:stretch>
        </p:blipFill>
        <p:spPr>
          <a:xfrm>
            <a:off x="3352800" y="3048000"/>
            <a:ext cx="7708179" cy="3108606"/>
          </a:xfrm>
          <a:prstGeom prst="rect">
            <a:avLst/>
          </a:prstGeom>
        </p:spPr>
      </p:pic>
    </p:spTree>
    <p:extLst>
      <p:ext uri="{BB962C8B-B14F-4D97-AF65-F5344CB8AC3E}">
        <p14:creationId xmlns:p14="http://schemas.microsoft.com/office/powerpoint/2010/main" val="3954595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2F6249-A571-35FC-4812-A6FBCE5EFF93}"/>
              </a:ext>
            </a:extLst>
          </p:cNvPr>
          <p:cNvPicPr>
            <a:picLocks noChangeAspect="1"/>
          </p:cNvPicPr>
          <p:nvPr/>
        </p:nvPicPr>
        <p:blipFill>
          <a:blip r:embed="rId2"/>
          <a:stretch>
            <a:fillRect/>
          </a:stretch>
        </p:blipFill>
        <p:spPr>
          <a:xfrm>
            <a:off x="228600" y="228600"/>
            <a:ext cx="9144000" cy="4406019"/>
          </a:xfrm>
          <a:prstGeom prst="rect">
            <a:avLst/>
          </a:prstGeom>
        </p:spPr>
      </p:pic>
      <p:pic>
        <p:nvPicPr>
          <p:cNvPr id="2" name="Picture 1">
            <a:extLst>
              <a:ext uri="{FF2B5EF4-FFF2-40B4-BE49-F238E27FC236}">
                <a16:creationId xmlns:a16="http://schemas.microsoft.com/office/drawing/2014/main" id="{7CCDCCDC-85DF-3358-5396-93F71FE88428}"/>
              </a:ext>
            </a:extLst>
          </p:cNvPr>
          <p:cNvPicPr>
            <a:picLocks noChangeAspect="1"/>
          </p:cNvPicPr>
          <p:nvPr/>
        </p:nvPicPr>
        <p:blipFill>
          <a:blip r:embed="rId3"/>
          <a:stretch>
            <a:fillRect/>
          </a:stretch>
        </p:blipFill>
        <p:spPr>
          <a:xfrm>
            <a:off x="2790092" y="4495800"/>
            <a:ext cx="8413209" cy="1755800"/>
          </a:xfrm>
          <a:prstGeom prst="rect">
            <a:avLst/>
          </a:prstGeom>
        </p:spPr>
      </p:pic>
    </p:spTree>
    <p:extLst>
      <p:ext uri="{BB962C8B-B14F-4D97-AF65-F5344CB8AC3E}">
        <p14:creationId xmlns:p14="http://schemas.microsoft.com/office/powerpoint/2010/main" val="4057101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B1D175-6015-E926-7ED5-EC9EBD20194E}"/>
              </a:ext>
            </a:extLst>
          </p:cNvPr>
          <p:cNvPicPr>
            <a:picLocks noChangeAspect="1"/>
          </p:cNvPicPr>
          <p:nvPr/>
        </p:nvPicPr>
        <p:blipFill>
          <a:blip r:embed="rId2"/>
          <a:stretch>
            <a:fillRect/>
          </a:stretch>
        </p:blipFill>
        <p:spPr>
          <a:xfrm>
            <a:off x="1143000" y="914400"/>
            <a:ext cx="7853916" cy="4255194"/>
          </a:xfrm>
          <a:prstGeom prst="rect">
            <a:avLst/>
          </a:prstGeom>
        </p:spPr>
      </p:pic>
    </p:spTree>
    <p:extLst>
      <p:ext uri="{BB962C8B-B14F-4D97-AF65-F5344CB8AC3E}">
        <p14:creationId xmlns:p14="http://schemas.microsoft.com/office/powerpoint/2010/main" val="21034783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27D06B-E627-84B8-0F0F-2DCBDFE39ECD}"/>
              </a:ext>
            </a:extLst>
          </p:cNvPr>
          <p:cNvPicPr>
            <a:picLocks noChangeAspect="1"/>
          </p:cNvPicPr>
          <p:nvPr/>
        </p:nvPicPr>
        <p:blipFill>
          <a:blip r:embed="rId3"/>
          <a:stretch>
            <a:fillRect/>
          </a:stretch>
        </p:blipFill>
        <p:spPr>
          <a:xfrm>
            <a:off x="762000" y="457200"/>
            <a:ext cx="10024152" cy="5389086"/>
          </a:xfrm>
          <a:prstGeom prst="rect">
            <a:avLst/>
          </a:prstGeom>
        </p:spPr>
      </p:pic>
    </p:spTree>
    <p:extLst>
      <p:ext uri="{BB962C8B-B14F-4D97-AF65-F5344CB8AC3E}">
        <p14:creationId xmlns:p14="http://schemas.microsoft.com/office/powerpoint/2010/main" val="3546615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1D548E-D95F-9A5C-57FD-84E109F21C69}"/>
              </a:ext>
            </a:extLst>
          </p:cNvPr>
          <p:cNvPicPr>
            <a:picLocks noChangeAspect="1"/>
          </p:cNvPicPr>
          <p:nvPr/>
        </p:nvPicPr>
        <p:blipFill>
          <a:blip r:embed="rId2"/>
          <a:stretch>
            <a:fillRect/>
          </a:stretch>
        </p:blipFill>
        <p:spPr>
          <a:xfrm>
            <a:off x="838199" y="1219200"/>
            <a:ext cx="7924801" cy="4013004"/>
          </a:xfrm>
          <a:prstGeom prst="rect">
            <a:avLst/>
          </a:prstGeom>
        </p:spPr>
      </p:pic>
    </p:spTree>
    <p:extLst>
      <p:ext uri="{BB962C8B-B14F-4D97-AF65-F5344CB8AC3E}">
        <p14:creationId xmlns:p14="http://schemas.microsoft.com/office/powerpoint/2010/main" val="33638132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DCD781-EA35-4843-237A-487E2E1A0075}"/>
              </a:ext>
            </a:extLst>
          </p:cNvPr>
          <p:cNvPicPr>
            <a:picLocks noChangeAspect="1"/>
          </p:cNvPicPr>
          <p:nvPr/>
        </p:nvPicPr>
        <p:blipFill>
          <a:blip r:embed="rId2"/>
          <a:stretch>
            <a:fillRect/>
          </a:stretch>
        </p:blipFill>
        <p:spPr>
          <a:xfrm>
            <a:off x="1219200" y="1066800"/>
            <a:ext cx="7860724" cy="4067125"/>
          </a:xfrm>
          <a:prstGeom prst="rect">
            <a:avLst/>
          </a:prstGeom>
        </p:spPr>
      </p:pic>
    </p:spTree>
    <p:extLst>
      <p:ext uri="{BB962C8B-B14F-4D97-AF65-F5344CB8AC3E}">
        <p14:creationId xmlns:p14="http://schemas.microsoft.com/office/powerpoint/2010/main" val="35182205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BA99DA-36B1-DE02-3674-6350A18224C3}"/>
              </a:ext>
            </a:extLst>
          </p:cNvPr>
          <p:cNvPicPr>
            <a:picLocks noChangeAspect="1"/>
          </p:cNvPicPr>
          <p:nvPr/>
        </p:nvPicPr>
        <p:blipFill>
          <a:blip r:embed="rId2"/>
          <a:stretch>
            <a:fillRect/>
          </a:stretch>
        </p:blipFill>
        <p:spPr>
          <a:xfrm>
            <a:off x="1066800" y="838200"/>
            <a:ext cx="8044483" cy="4028428"/>
          </a:xfrm>
          <a:prstGeom prst="rect">
            <a:avLst/>
          </a:prstGeom>
        </p:spPr>
      </p:pic>
    </p:spTree>
    <p:extLst>
      <p:ext uri="{BB962C8B-B14F-4D97-AF65-F5344CB8AC3E}">
        <p14:creationId xmlns:p14="http://schemas.microsoft.com/office/powerpoint/2010/main" val="3359913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E9C788-C4B8-51E6-54EB-8F45E5358D96}"/>
              </a:ext>
            </a:extLst>
          </p:cNvPr>
          <p:cNvPicPr>
            <a:picLocks noChangeAspect="1"/>
          </p:cNvPicPr>
          <p:nvPr/>
        </p:nvPicPr>
        <p:blipFill>
          <a:blip r:embed="rId2"/>
          <a:stretch>
            <a:fillRect/>
          </a:stretch>
        </p:blipFill>
        <p:spPr>
          <a:xfrm>
            <a:off x="871870" y="581722"/>
            <a:ext cx="7933753" cy="4371278"/>
          </a:xfrm>
          <a:prstGeom prst="rect">
            <a:avLst/>
          </a:prstGeom>
        </p:spPr>
      </p:pic>
    </p:spTree>
    <p:extLst>
      <p:ext uri="{BB962C8B-B14F-4D97-AF65-F5344CB8AC3E}">
        <p14:creationId xmlns:p14="http://schemas.microsoft.com/office/powerpoint/2010/main" val="9916912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9AA0DF-2682-424C-AF54-E8C52734E09E}"/>
              </a:ext>
            </a:extLst>
          </p:cNvPr>
          <p:cNvPicPr>
            <a:picLocks noChangeAspect="1"/>
          </p:cNvPicPr>
          <p:nvPr/>
        </p:nvPicPr>
        <p:blipFill>
          <a:blip r:embed="rId2"/>
          <a:stretch>
            <a:fillRect/>
          </a:stretch>
        </p:blipFill>
        <p:spPr>
          <a:xfrm>
            <a:off x="685801" y="914400"/>
            <a:ext cx="7772400" cy="4130357"/>
          </a:xfrm>
          <a:prstGeom prst="rect">
            <a:avLst/>
          </a:prstGeom>
        </p:spPr>
      </p:pic>
      <p:sp>
        <p:nvSpPr>
          <p:cNvPr id="4" name="TextBox 3">
            <a:extLst>
              <a:ext uri="{FF2B5EF4-FFF2-40B4-BE49-F238E27FC236}">
                <a16:creationId xmlns:a16="http://schemas.microsoft.com/office/drawing/2014/main" id="{0B8831D7-B3E2-9839-5420-F7B50B5F8347}"/>
              </a:ext>
            </a:extLst>
          </p:cNvPr>
          <p:cNvSpPr txBox="1"/>
          <p:nvPr/>
        </p:nvSpPr>
        <p:spPr>
          <a:xfrm>
            <a:off x="5105399" y="5042803"/>
            <a:ext cx="6400799" cy="1031051"/>
          </a:xfrm>
          <a:prstGeom prst="rect">
            <a:avLst/>
          </a:prstGeom>
          <a:noFill/>
        </p:spPr>
        <p:txBody>
          <a:bodyPr wrap="square">
            <a:spAutoFit/>
          </a:bodyPr>
          <a:lstStyle/>
          <a:p>
            <a:pPr marL="285750" indent="-285750">
              <a:spcBef>
                <a:spcPts val="600"/>
              </a:spcBef>
              <a:buFont typeface="Wingdings" panose="05000000000000000000" pitchFamily="2" charset="2"/>
              <a:buChar char="§"/>
            </a:pPr>
            <a:r>
              <a:rPr lang="en-US" sz="1400" dirty="0">
                <a:solidFill>
                  <a:srgbClr val="FF0000"/>
                </a:solidFill>
                <a:effectLst>
                  <a:outerShdw blurRad="38100" dist="38100" dir="2700000" algn="tl">
                    <a:srgbClr val="000000">
                      <a:alpha val="43137"/>
                    </a:srgbClr>
                  </a:outerShdw>
                </a:effectLst>
                <a:latin typeface="Berlin Sans FB" panose="020E0602020502020306" pitchFamily="34" charset="0"/>
              </a:rPr>
              <a:t>An SDLC (software development life cycle) is a big-picture breakdown of all the steps involved in software creation (planning, coding, testing, deploying, etc.). </a:t>
            </a:r>
          </a:p>
          <a:p>
            <a:pPr marL="285750" indent="-285750">
              <a:spcBef>
                <a:spcPts val="600"/>
              </a:spcBef>
              <a:buFont typeface="Wingdings" panose="05000000000000000000" pitchFamily="2" charset="2"/>
              <a:buChar char="§"/>
            </a:pPr>
            <a:r>
              <a:rPr lang="en-US" sz="1400" dirty="0">
                <a:solidFill>
                  <a:srgbClr val="FF0000"/>
                </a:solidFill>
                <a:effectLst>
                  <a:outerShdw blurRad="38100" dist="38100" dir="2700000" algn="tl">
                    <a:srgbClr val="000000">
                      <a:alpha val="43137"/>
                    </a:srgbClr>
                  </a:outerShdw>
                </a:effectLst>
                <a:latin typeface="Berlin Sans FB" panose="020E0602020502020306" pitchFamily="34" charset="0"/>
              </a:rPr>
              <a:t>Companies define custom SDLCs to create a predictable, iterative framework that guides the team through all major stages of development.</a:t>
            </a:r>
          </a:p>
        </p:txBody>
      </p:sp>
    </p:spTree>
    <p:extLst>
      <p:ext uri="{BB962C8B-B14F-4D97-AF65-F5344CB8AC3E}">
        <p14:creationId xmlns:p14="http://schemas.microsoft.com/office/powerpoint/2010/main" val="3823754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81976C-D4E4-5F9F-563D-1401465F1753}"/>
              </a:ext>
            </a:extLst>
          </p:cNvPr>
          <p:cNvPicPr>
            <a:picLocks noChangeAspect="1"/>
          </p:cNvPicPr>
          <p:nvPr/>
        </p:nvPicPr>
        <p:blipFill rotWithShape="1">
          <a:blip r:embed="rId2"/>
          <a:srcRect t="6117"/>
          <a:stretch/>
        </p:blipFill>
        <p:spPr>
          <a:xfrm>
            <a:off x="1757916" y="1371600"/>
            <a:ext cx="9100167" cy="4906364"/>
          </a:xfrm>
          <a:prstGeom prst="rect">
            <a:avLst/>
          </a:prstGeom>
        </p:spPr>
      </p:pic>
      <p:sp>
        <p:nvSpPr>
          <p:cNvPr id="4" name="TextBox 3">
            <a:extLst>
              <a:ext uri="{FF2B5EF4-FFF2-40B4-BE49-F238E27FC236}">
                <a16:creationId xmlns:a16="http://schemas.microsoft.com/office/drawing/2014/main" id="{AB9EFA4A-B7F8-281B-DF95-5620419BF676}"/>
              </a:ext>
            </a:extLst>
          </p:cNvPr>
          <p:cNvSpPr txBox="1"/>
          <p:nvPr/>
        </p:nvSpPr>
        <p:spPr>
          <a:xfrm>
            <a:off x="533400" y="228600"/>
            <a:ext cx="9448800" cy="1077218"/>
          </a:xfrm>
          <a:prstGeom prst="rect">
            <a:avLst/>
          </a:prstGeom>
          <a:noFill/>
        </p:spPr>
        <p:txBody>
          <a:bodyPr wrap="square">
            <a:spAutoFit/>
          </a:bodyPr>
          <a:lstStyle/>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ahnschrift" panose="020B0502040204020203" pitchFamily="34" charset="0"/>
                <a:ea typeface="+mn-ea"/>
                <a:cs typeface="+mn-cs"/>
              </a:rPr>
              <a:t>An SDLC approach is made up of a number of distinct phases  each with a defined set of activities and outcomes.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ahnschrift" panose="020B0502040204020203" pitchFamily="34" charset="0"/>
                <a:ea typeface="+mn-ea"/>
                <a:cs typeface="+mn-cs"/>
              </a:rPr>
              <a:t> Each phase has defined goals and activities to perform with assigned responsibilities, expected outcomes and target completion dates.</a:t>
            </a:r>
          </a:p>
        </p:txBody>
      </p:sp>
    </p:spTree>
    <p:extLst>
      <p:ext uri="{BB962C8B-B14F-4D97-AF65-F5344CB8AC3E}">
        <p14:creationId xmlns:p14="http://schemas.microsoft.com/office/powerpoint/2010/main" val="1675862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548662-CF37-2F21-46D5-253337FE7709}"/>
              </a:ext>
            </a:extLst>
          </p:cNvPr>
          <p:cNvPicPr>
            <a:picLocks noChangeAspect="1"/>
          </p:cNvPicPr>
          <p:nvPr/>
        </p:nvPicPr>
        <p:blipFill rotWithShape="1">
          <a:blip r:embed="rId2">
            <a:extLst>
              <a:ext uri="{28A0092B-C50C-407E-A947-70E740481C1C}">
                <a14:useLocalDpi xmlns:a14="http://schemas.microsoft.com/office/drawing/2010/main" val="0"/>
              </a:ext>
            </a:extLst>
          </a:blip>
          <a:srcRect l="5001" t="10574" r="19999" b="11877"/>
          <a:stretch/>
        </p:blipFill>
        <p:spPr>
          <a:xfrm>
            <a:off x="562360" y="574659"/>
            <a:ext cx="4876800" cy="2861056"/>
          </a:xfrm>
          <a:prstGeom prst="rect">
            <a:avLst/>
          </a:prstGeom>
        </p:spPr>
      </p:pic>
      <p:sp>
        <p:nvSpPr>
          <p:cNvPr id="6" name="TextBox 5">
            <a:extLst>
              <a:ext uri="{FF2B5EF4-FFF2-40B4-BE49-F238E27FC236}">
                <a16:creationId xmlns:a16="http://schemas.microsoft.com/office/drawing/2014/main" id="{2EC6B584-4CDE-8A9C-2EDD-A94CA1A18D9A}"/>
              </a:ext>
            </a:extLst>
          </p:cNvPr>
          <p:cNvSpPr txBox="1"/>
          <p:nvPr/>
        </p:nvSpPr>
        <p:spPr>
          <a:xfrm>
            <a:off x="76200" y="3927673"/>
            <a:ext cx="5486401" cy="2246769"/>
          </a:xfrm>
          <a:prstGeom prst="rect">
            <a:avLst/>
          </a:prstGeom>
          <a:noFill/>
        </p:spPr>
        <p:txBody>
          <a:bodyPr wrap="square">
            <a:spAutoFit/>
          </a:bodyPr>
          <a:lstStyle/>
          <a:p>
            <a:pPr marL="342900" indent="-342900">
              <a:spcBef>
                <a:spcPts val="600"/>
              </a:spcBef>
              <a:buFont typeface="+mj-lt"/>
              <a:buAutoNum type="arabicPeriod"/>
            </a:pP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The waterfall is the oldest SDLC methodology used for the Software Development Life Cycle.</a:t>
            </a:r>
          </a:p>
          <a:p>
            <a:pPr marL="342900" indent="-342900">
              <a:spcBef>
                <a:spcPts val="600"/>
              </a:spcBef>
              <a:buFont typeface="+mj-lt"/>
              <a:buAutoNum type="arabicPeriod"/>
            </a:pP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As per the waterfall model, the software development process goes through all the software development lifecycle phases without any overlapping. </a:t>
            </a:r>
          </a:p>
          <a:p>
            <a:pPr marL="342900" indent="-342900">
              <a:spcBef>
                <a:spcPts val="600"/>
              </a:spcBef>
              <a:buFont typeface="+mj-lt"/>
              <a:buAutoNum type="arabicPeriod"/>
            </a:pP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It is a linear-sequential life cycle model, so any stage in the development process can begin only after completing the previous one. </a:t>
            </a:r>
          </a:p>
          <a:p>
            <a:pPr marL="342900" indent="-342900">
              <a:spcBef>
                <a:spcPts val="600"/>
              </a:spcBef>
              <a:buFont typeface="+mj-lt"/>
              <a:buAutoNum type="arabicPeriod"/>
            </a:pP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Teams are mainly large, and everyone on the team works within their silos.</a:t>
            </a:r>
          </a:p>
          <a:p>
            <a:pPr marL="342900" indent="-342900">
              <a:spcBef>
                <a:spcPts val="600"/>
              </a:spcBef>
              <a:buFont typeface="+mj-lt"/>
              <a:buAutoNum type="arabicPeriod"/>
            </a:pP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The development team enters the coding phase of the software once the entire architecture, data structures, and functional software designs are ready. Only after then integration and validation will get started.</a:t>
            </a:r>
          </a:p>
        </p:txBody>
      </p:sp>
      <p:sp>
        <p:nvSpPr>
          <p:cNvPr id="8" name="TextBox 7">
            <a:extLst>
              <a:ext uri="{FF2B5EF4-FFF2-40B4-BE49-F238E27FC236}">
                <a16:creationId xmlns:a16="http://schemas.microsoft.com/office/drawing/2014/main" id="{AFBB76B0-E91E-C7EB-AA1C-AF2ACCB5A77F}"/>
              </a:ext>
            </a:extLst>
          </p:cNvPr>
          <p:cNvSpPr txBox="1"/>
          <p:nvPr/>
        </p:nvSpPr>
        <p:spPr>
          <a:xfrm>
            <a:off x="5867400" y="3992376"/>
            <a:ext cx="6248400" cy="2246769"/>
          </a:xfrm>
          <a:prstGeom prst="rect">
            <a:avLst/>
          </a:prstGeom>
          <a:noFill/>
        </p:spPr>
        <p:txBody>
          <a:bodyPr wrap="square">
            <a:spAutoFit/>
          </a:bodyPr>
          <a:lstStyle/>
          <a:p>
            <a:pPr marL="342900" indent="-342900">
              <a:spcBef>
                <a:spcPts val="600"/>
              </a:spcBef>
              <a:buFont typeface="+mj-lt"/>
              <a:buAutoNum type="arabicPeriod"/>
            </a:pP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Today, according to </a:t>
            </a:r>
            <a:r>
              <a:rPr lang="en-US" sz="1200" dirty="0" err="1">
                <a:solidFill>
                  <a:srgbClr val="002060"/>
                </a:solidFill>
                <a:effectLst>
                  <a:outerShdw blurRad="38100" dist="38100" dir="2700000" algn="tl">
                    <a:srgbClr val="000000">
                      <a:alpha val="43137"/>
                    </a:srgbClr>
                  </a:outerShdw>
                </a:effectLst>
                <a:latin typeface="Berlin Sans FB" panose="020E0602020502020306" pitchFamily="34" charset="0"/>
              </a:rPr>
              <a:t>StackOverflow</a:t>
            </a: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 85% of developers use Agile approaches while working on software products. </a:t>
            </a:r>
          </a:p>
          <a:p>
            <a:pPr marL="342900" indent="-342900">
              <a:spcBef>
                <a:spcPts val="600"/>
              </a:spcBef>
              <a:buFont typeface="+mj-lt"/>
              <a:buAutoNum type="arabicPeriod"/>
            </a:pP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The Agile SDLC model presupposes breaking the development into smaller iterations (so-called sprints) rather than building a product as an integral. The sprints usually last 2-4 weeks and focus on product increment.</a:t>
            </a:r>
          </a:p>
          <a:p>
            <a:pPr marL="342900" indent="-342900">
              <a:spcBef>
                <a:spcPts val="600"/>
              </a:spcBef>
              <a:buFont typeface="+mj-lt"/>
              <a:buAutoNum type="arabicPeriod"/>
            </a:pP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Agile is gradually becoming a mainstream technology expanding its reach beyond coding.</a:t>
            </a:r>
          </a:p>
          <a:p>
            <a:pPr marL="342900" indent="-342900">
              <a:spcBef>
                <a:spcPts val="600"/>
              </a:spcBef>
              <a:buFont typeface="+mj-lt"/>
              <a:buAutoNum type="arabicPeriod"/>
            </a:pP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 It is more focused on an interactive approach as it enables clients, developers, and testers to work together throughout the entire project. </a:t>
            </a:r>
          </a:p>
          <a:p>
            <a:pPr marL="342900" indent="-342900">
              <a:spcBef>
                <a:spcPts val="600"/>
              </a:spcBef>
              <a:buFont typeface="+mj-lt"/>
              <a:buAutoNum type="arabicPeriod"/>
            </a:pPr>
            <a:r>
              <a:rPr lang="en-US" sz="1200" dirty="0">
                <a:solidFill>
                  <a:srgbClr val="002060"/>
                </a:solidFill>
                <a:effectLst>
                  <a:outerShdw blurRad="38100" dist="38100" dir="2700000" algn="tl">
                    <a:srgbClr val="000000">
                      <a:alpha val="43137"/>
                    </a:srgbClr>
                  </a:outerShdw>
                </a:effectLst>
                <a:latin typeface="Berlin Sans FB" panose="020E0602020502020306" pitchFamily="34" charset="0"/>
              </a:rPr>
              <a:t>The Agile model allows you to promptly receive up-to-date feedback from the users and adjust the development according to it.</a:t>
            </a:r>
          </a:p>
        </p:txBody>
      </p:sp>
      <p:sp>
        <p:nvSpPr>
          <p:cNvPr id="10" name="TextBox 9">
            <a:extLst>
              <a:ext uri="{FF2B5EF4-FFF2-40B4-BE49-F238E27FC236}">
                <a16:creationId xmlns:a16="http://schemas.microsoft.com/office/drawing/2014/main" id="{3747C8A4-458D-EBDA-DB7F-D522B5B69471}"/>
              </a:ext>
            </a:extLst>
          </p:cNvPr>
          <p:cNvSpPr txBox="1"/>
          <p:nvPr/>
        </p:nvSpPr>
        <p:spPr>
          <a:xfrm>
            <a:off x="2759714" y="82701"/>
            <a:ext cx="7899560" cy="523220"/>
          </a:xfrm>
          <a:prstGeom prst="rect">
            <a:avLst/>
          </a:prstGeom>
          <a:noFill/>
        </p:spPr>
        <p:txBody>
          <a:bodyPr wrap="square">
            <a:spAutoFit/>
          </a:bodyPr>
          <a:lstStyle/>
          <a:p>
            <a:r>
              <a:rPr lang="en-US" sz="2800" b="1" dirty="0">
                <a:solidFill>
                  <a:srgbClr val="C00000"/>
                </a:solidFill>
              </a:rPr>
              <a:t>Popular Software Development Life Cycle Models</a:t>
            </a:r>
          </a:p>
        </p:txBody>
      </p:sp>
      <p:pic>
        <p:nvPicPr>
          <p:cNvPr id="11" name="Picture 10">
            <a:extLst>
              <a:ext uri="{FF2B5EF4-FFF2-40B4-BE49-F238E27FC236}">
                <a16:creationId xmlns:a16="http://schemas.microsoft.com/office/drawing/2014/main" id="{177A540D-B425-3D66-AF1E-732E43C07695}"/>
              </a:ext>
            </a:extLst>
          </p:cNvPr>
          <p:cNvPicPr>
            <a:picLocks noChangeAspect="1"/>
          </p:cNvPicPr>
          <p:nvPr/>
        </p:nvPicPr>
        <p:blipFill rotWithShape="1">
          <a:blip r:embed="rId3"/>
          <a:srcRect t="3200"/>
          <a:stretch/>
        </p:blipFill>
        <p:spPr>
          <a:xfrm>
            <a:off x="6248401" y="457200"/>
            <a:ext cx="5384960" cy="3477565"/>
          </a:xfrm>
          <a:prstGeom prst="rect">
            <a:avLst/>
          </a:prstGeom>
        </p:spPr>
      </p:pic>
    </p:spTree>
    <p:extLst>
      <p:ext uri="{BB962C8B-B14F-4D97-AF65-F5344CB8AC3E}">
        <p14:creationId xmlns:p14="http://schemas.microsoft.com/office/powerpoint/2010/main" val="5500947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00BA67-4D85-40D6-C72A-74EE575A9483}"/>
              </a:ext>
            </a:extLst>
          </p:cNvPr>
          <p:cNvPicPr>
            <a:picLocks noChangeAspect="1"/>
          </p:cNvPicPr>
          <p:nvPr/>
        </p:nvPicPr>
        <p:blipFill>
          <a:blip r:embed="rId2"/>
          <a:stretch>
            <a:fillRect/>
          </a:stretch>
        </p:blipFill>
        <p:spPr>
          <a:xfrm>
            <a:off x="1143000" y="762000"/>
            <a:ext cx="8119730" cy="4139632"/>
          </a:xfrm>
          <a:prstGeom prst="rect">
            <a:avLst/>
          </a:prstGeom>
        </p:spPr>
      </p:pic>
    </p:spTree>
    <p:extLst>
      <p:ext uri="{BB962C8B-B14F-4D97-AF65-F5344CB8AC3E}">
        <p14:creationId xmlns:p14="http://schemas.microsoft.com/office/powerpoint/2010/main" val="417351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D4DFDE-6562-B338-F3AD-DB01A9341F27}"/>
              </a:ext>
            </a:extLst>
          </p:cNvPr>
          <p:cNvPicPr>
            <a:picLocks noChangeAspect="1"/>
          </p:cNvPicPr>
          <p:nvPr/>
        </p:nvPicPr>
        <p:blipFill>
          <a:blip r:embed="rId2"/>
          <a:stretch>
            <a:fillRect/>
          </a:stretch>
        </p:blipFill>
        <p:spPr>
          <a:xfrm>
            <a:off x="914400" y="685800"/>
            <a:ext cx="8683149" cy="4800600"/>
          </a:xfrm>
          <a:prstGeom prst="rect">
            <a:avLst/>
          </a:prstGeom>
        </p:spPr>
      </p:pic>
    </p:spTree>
    <p:extLst>
      <p:ext uri="{BB962C8B-B14F-4D97-AF65-F5344CB8AC3E}">
        <p14:creationId xmlns:p14="http://schemas.microsoft.com/office/powerpoint/2010/main" val="3277413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AA6C01-15FB-FEC7-8995-5835D6019E42}"/>
              </a:ext>
            </a:extLst>
          </p:cNvPr>
          <p:cNvPicPr>
            <a:picLocks noChangeAspect="1"/>
          </p:cNvPicPr>
          <p:nvPr/>
        </p:nvPicPr>
        <p:blipFill>
          <a:blip r:embed="rId2"/>
          <a:stretch>
            <a:fillRect/>
          </a:stretch>
        </p:blipFill>
        <p:spPr>
          <a:xfrm>
            <a:off x="762000" y="1066800"/>
            <a:ext cx="7903221" cy="3933641"/>
          </a:xfrm>
          <a:prstGeom prst="rect">
            <a:avLst/>
          </a:prstGeom>
        </p:spPr>
      </p:pic>
    </p:spTree>
    <p:extLst>
      <p:ext uri="{BB962C8B-B14F-4D97-AF65-F5344CB8AC3E}">
        <p14:creationId xmlns:p14="http://schemas.microsoft.com/office/powerpoint/2010/main" val="21610838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E9044B-2B55-3BA9-6F78-E7C2537A6904}"/>
              </a:ext>
            </a:extLst>
          </p:cNvPr>
          <p:cNvPicPr>
            <a:picLocks noChangeAspect="1"/>
          </p:cNvPicPr>
          <p:nvPr/>
        </p:nvPicPr>
        <p:blipFill>
          <a:blip r:embed="rId2"/>
          <a:stretch>
            <a:fillRect/>
          </a:stretch>
        </p:blipFill>
        <p:spPr>
          <a:xfrm>
            <a:off x="685800" y="838200"/>
            <a:ext cx="8222512" cy="4457474"/>
          </a:xfrm>
          <a:prstGeom prst="rect">
            <a:avLst/>
          </a:prstGeom>
        </p:spPr>
      </p:pic>
    </p:spTree>
    <p:extLst>
      <p:ext uri="{BB962C8B-B14F-4D97-AF65-F5344CB8AC3E}">
        <p14:creationId xmlns:p14="http://schemas.microsoft.com/office/powerpoint/2010/main" val="13035856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CBF3E3-B5ED-E52A-50C6-850C0DA750D9}"/>
              </a:ext>
            </a:extLst>
          </p:cNvPr>
          <p:cNvPicPr>
            <a:picLocks noChangeAspect="1"/>
          </p:cNvPicPr>
          <p:nvPr/>
        </p:nvPicPr>
        <p:blipFill>
          <a:blip r:embed="rId2"/>
          <a:stretch>
            <a:fillRect/>
          </a:stretch>
        </p:blipFill>
        <p:spPr>
          <a:xfrm>
            <a:off x="1295400" y="1295400"/>
            <a:ext cx="7595835" cy="3505200"/>
          </a:xfrm>
          <a:prstGeom prst="rect">
            <a:avLst/>
          </a:prstGeom>
        </p:spPr>
      </p:pic>
    </p:spTree>
    <p:extLst>
      <p:ext uri="{BB962C8B-B14F-4D97-AF65-F5344CB8AC3E}">
        <p14:creationId xmlns:p14="http://schemas.microsoft.com/office/powerpoint/2010/main" val="1048017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F7262C-F5E8-6D82-21CA-751C71AD9FF6}"/>
              </a:ext>
            </a:extLst>
          </p:cNvPr>
          <p:cNvPicPr>
            <a:picLocks noChangeAspect="1"/>
          </p:cNvPicPr>
          <p:nvPr/>
        </p:nvPicPr>
        <p:blipFill>
          <a:blip r:embed="rId2"/>
          <a:stretch>
            <a:fillRect/>
          </a:stretch>
        </p:blipFill>
        <p:spPr>
          <a:xfrm>
            <a:off x="1371600" y="1143000"/>
            <a:ext cx="7303288" cy="3838360"/>
          </a:xfrm>
          <a:prstGeom prst="rect">
            <a:avLst/>
          </a:prstGeom>
        </p:spPr>
      </p:pic>
    </p:spTree>
    <p:extLst>
      <p:ext uri="{BB962C8B-B14F-4D97-AF65-F5344CB8AC3E}">
        <p14:creationId xmlns:p14="http://schemas.microsoft.com/office/powerpoint/2010/main" val="2756089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DA64BF-DA27-CF7E-4AC7-35D0509D2601}"/>
              </a:ext>
            </a:extLst>
          </p:cNvPr>
          <p:cNvPicPr>
            <a:picLocks noChangeAspect="1"/>
          </p:cNvPicPr>
          <p:nvPr/>
        </p:nvPicPr>
        <p:blipFill>
          <a:blip r:embed="rId2"/>
          <a:stretch>
            <a:fillRect/>
          </a:stretch>
        </p:blipFill>
        <p:spPr>
          <a:xfrm>
            <a:off x="737936" y="670833"/>
            <a:ext cx="9144000" cy="4650059"/>
          </a:xfrm>
          <a:prstGeom prst="rect">
            <a:avLst/>
          </a:prstGeom>
        </p:spPr>
      </p:pic>
    </p:spTree>
    <p:extLst>
      <p:ext uri="{BB962C8B-B14F-4D97-AF65-F5344CB8AC3E}">
        <p14:creationId xmlns:p14="http://schemas.microsoft.com/office/powerpoint/2010/main" val="38054703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9BD708-8F3E-A221-2A39-D66CA3D95D9D}"/>
              </a:ext>
            </a:extLst>
          </p:cNvPr>
          <p:cNvPicPr>
            <a:picLocks noChangeAspect="1"/>
          </p:cNvPicPr>
          <p:nvPr/>
        </p:nvPicPr>
        <p:blipFill>
          <a:blip r:embed="rId2"/>
          <a:stretch>
            <a:fillRect/>
          </a:stretch>
        </p:blipFill>
        <p:spPr>
          <a:xfrm>
            <a:off x="1066800" y="762000"/>
            <a:ext cx="8000160" cy="4294619"/>
          </a:xfrm>
          <a:prstGeom prst="rect">
            <a:avLst/>
          </a:prstGeom>
        </p:spPr>
      </p:pic>
    </p:spTree>
    <p:extLst>
      <p:ext uri="{BB962C8B-B14F-4D97-AF65-F5344CB8AC3E}">
        <p14:creationId xmlns:p14="http://schemas.microsoft.com/office/powerpoint/2010/main" val="1191016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7C54F8-BD46-8B10-1A6A-70EC31CB10D3}"/>
              </a:ext>
            </a:extLst>
          </p:cNvPr>
          <p:cNvPicPr>
            <a:picLocks noChangeAspect="1"/>
          </p:cNvPicPr>
          <p:nvPr/>
        </p:nvPicPr>
        <p:blipFill>
          <a:blip r:embed="rId2"/>
          <a:stretch>
            <a:fillRect/>
          </a:stretch>
        </p:blipFill>
        <p:spPr>
          <a:xfrm>
            <a:off x="914400" y="914400"/>
            <a:ext cx="8070858" cy="4184832"/>
          </a:xfrm>
          <a:prstGeom prst="rect">
            <a:avLst/>
          </a:prstGeom>
        </p:spPr>
      </p:pic>
    </p:spTree>
    <p:extLst>
      <p:ext uri="{BB962C8B-B14F-4D97-AF65-F5344CB8AC3E}">
        <p14:creationId xmlns:p14="http://schemas.microsoft.com/office/powerpoint/2010/main" val="17958445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601A37-A35A-0F2C-7571-4DD82D18D7A0}"/>
              </a:ext>
            </a:extLst>
          </p:cNvPr>
          <p:cNvPicPr>
            <a:picLocks noChangeAspect="1"/>
          </p:cNvPicPr>
          <p:nvPr/>
        </p:nvPicPr>
        <p:blipFill>
          <a:blip r:embed="rId2"/>
          <a:stretch>
            <a:fillRect/>
          </a:stretch>
        </p:blipFill>
        <p:spPr>
          <a:xfrm>
            <a:off x="1447800" y="1143000"/>
            <a:ext cx="6349414" cy="3352800"/>
          </a:xfrm>
          <a:prstGeom prst="rect">
            <a:avLst/>
          </a:prstGeom>
        </p:spPr>
      </p:pic>
    </p:spTree>
    <p:extLst>
      <p:ext uri="{BB962C8B-B14F-4D97-AF65-F5344CB8AC3E}">
        <p14:creationId xmlns:p14="http://schemas.microsoft.com/office/powerpoint/2010/main" val="14007550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68593F-18B7-FEC6-C0F4-5B4D107F7565}"/>
              </a:ext>
            </a:extLst>
          </p:cNvPr>
          <p:cNvPicPr>
            <a:picLocks noChangeAspect="1"/>
          </p:cNvPicPr>
          <p:nvPr/>
        </p:nvPicPr>
        <p:blipFill>
          <a:blip r:embed="rId2"/>
          <a:stretch>
            <a:fillRect/>
          </a:stretch>
        </p:blipFill>
        <p:spPr>
          <a:xfrm>
            <a:off x="990600" y="838200"/>
            <a:ext cx="7836398" cy="3886200"/>
          </a:xfrm>
          <a:prstGeom prst="rect">
            <a:avLst/>
          </a:prstGeom>
        </p:spPr>
      </p:pic>
    </p:spTree>
    <p:extLst>
      <p:ext uri="{BB962C8B-B14F-4D97-AF65-F5344CB8AC3E}">
        <p14:creationId xmlns:p14="http://schemas.microsoft.com/office/powerpoint/2010/main" val="11500081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1DEC04-A7EA-F21C-83E8-1FA6DE01F5A2}"/>
              </a:ext>
            </a:extLst>
          </p:cNvPr>
          <p:cNvPicPr>
            <a:picLocks noChangeAspect="1"/>
          </p:cNvPicPr>
          <p:nvPr/>
        </p:nvPicPr>
        <p:blipFill>
          <a:blip r:embed="rId2"/>
          <a:stretch>
            <a:fillRect/>
          </a:stretch>
        </p:blipFill>
        <p:spPr>
          <a:xfrm>
            <a:off x="990600" y="914400"/>
            <a:ext cx="7956884" cy="3493266"/>
          </a:xfrm>
          <a:prstGeom prst="rect">
            <a:avLst/>
          </a:prstGeom>
        </p:spPr>
      </p:pic>
    </p:spTree>
    <p:extLst>
      <p:ext uri="{BB962C8B-B14F-4D97-AF65-F5344CB8AC3E}">
        <p14:creationId xmlns:p14="http://schemas.microsoft.com/office/powerpoint/2010/main" val="39947888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572AB2-8ED9-CFDF-B3C1-9C64FE4B7C62}"/>
              </a:ext>
            </a:extLst>
          </p:cNvPr>
          <p:cNvPicPr>
            <a:picLocks noChangeAspect="1"/>
          </p:cNvPicPr>
          <p:nvPr/>
        </p:nvPicPr>
        <p:blipFill>
          <a:blip r:embed="rId2"/>
          <a:stretch>
            <a:fillRect/>
          </a:stretch>
        </p:blipFill>
        <p:spPr>
          <a:xfrm>
            <a:off x="1066800" y="990600"/>
            <a:ext cx="7533947" cy="4162046"/>
          </a:xfrm>
          <a:prstGeom prst="rect">
            <a:avLst/>
          </a:prstGeom>
        </p:spPr>
      </p:pic>
    </p:spTree>
    <p:extLst>
      <p:ext uri="{BB962C8B-B14F-4D97-AF65-F5344CB8AC3E}">
        <p14:creationId xmlns:p14="http://schemas.microsoft.com/office/powerpoint/2010/main" val="1861210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B862EA-3CCA-6E49-BEA4-BD9E6279AC5C}"/>
              </a:ext>
            </a:extLst>
          </p:cNvPr>
          <p:cNvPicPr>
            <a:picLocks noChangeAspect="1"/>
          </p:cNvPicPr>
          <p:nvPr/>
        </p:nvPicPr>
        <p:blipFill>
          <a:blip r:embed="rId2"/>
          <a:stretch>
            <a:fillRect/>
          </a:stretch>
        </p:blipFill>
        <p:spPr>
          <a:xfrm>
            <a:off x="838200" y="914400"/>
            <a:ext cx="7573737" cy="4145026"/>
          </a:xfrm>
          <a:prstGeom prst="rect">
            <a:avLst/>
          </a:prstGeom>
        </p:spPr>
      </p:pic>
    </p:spTree>
    <p:extLst>
      <p:ext uri="{BB962C8B-B14F-4D97-AF65-F5344CB8AC3E}">
        <p14:creationId xmlns:p14="http://schemas.microsoft.com/office/powerpoint/2010/main" val="6286977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4F776D-54E6-0CB2-AE96-58B15683D745}"/>
              </a:ext>
            </a:extLst>
          </p:cNvPr>
          <p:cNvPicPr>
            <a:picLocks noChangeAspect="1"/>
          </p:cNvPicPr>
          <p:nvPr/>
        </p:nvPicPr>
        <p:blipFill>
          <a:blip r:embed="rId2"/>
          <a:stretch>
            <a:fillRect/>
          </a:stretch>
        </p:blipFill>
        <p:spPr>
          <a:xfrm>
            <a:off x="685800" y="1143000"/>
            <a:ext cx="7776994" cy="3733800"/>
          </a:xfrm>
          <a:prstGeom prst="rect">
            <a:avLst/>
          </a:prstGeom>
        </p:spPr>
      </p:pic>
    </p:spTree>
    <p:extLst>
      <p:ext uri="{BB962C8B-B14F-4D97-AF65-F5344CB8AC3E}">
        <p14:creationId xmlns:p14="http://schemas.microsoft.com/office/powerpoint/2010/main" val="25059459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4D4CA1-85D9-CEA9-F5B8-1049838E6F66}"/>
              </a:ext>
            </a:extLst>
          </p:cNvPr>
          <p:cNvPicPr>
            <a:picLocks noChangeAspect="1"/>
          </p:cNvPicPr>
          <p:nvPr/>
        </p:nvPicPr>
        <p:blipFill>
          <a:blip r:embed="rId2"/>
          <a:stretch>
            <a:fillRect/>
          </a:stretch>
        </p:blipFill>
        <p:spPr>
          <a:xfrm>
            <a:off x="914400" y="914400"/>
            <a:ext cx="8202579" cy="4038600"/>
          </a:xfrm>
          <a:prstGeom prst="rect">
            <a:avLst/>
          </a:prstGeom>
        </p:spPr>
      </p:pic>
    </p:spTree>
    <p:extLst>
      <p:ext uri="{BB962C8B-B14F-4D97-AF65-F5344CB8AC3E}">
        <p14:creationId xmlns:p14="http://schemas.microsoft.com/office/powerpoint/2010/main" val="42769127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E0537-BAFB-7894-3BE6-DE8B3864F120}"/>
              </a:ext>
            </a:extLst>
          </p:cNvPr>
          <p:cNvPicPr>
            <a:picLocks noChangeAspect="1"/>
          </p:cNvPicPr>
          <p:nvPr/>
        </p:nvPicPr>
        <p:blipFill>
          <a:blip r:embed="rId2"/>
          <a:stretch>
            <a:fillRect/>
          </a:stretch>
        </p:blipFill>
        <p:spPr>
          <a:xfrm>
            <a:off x="1066800" y="533400"/>
            <a:ext cx="7591685" cy="4585597"/>
          </a:xfrm>
          <a:prstGeom prst="rect">
            <a:avLst/>
          </a:prstGeom>
        </p:spPr>
      </p:pic>
    </p:spTree>
    <p:extLst>
      <p:ext uri="{BB962C8B-B14F-4D97-AF65-F5344CB8AC3E}">
        <p14:creationId xmlns:p14="http://schemas.microsoft.com/office/powerpoint/2010/main" val="10853199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BB8C73-B6FE-AB27-905A-83B1FA6E5461}"/>
              </a:ext>
            </a:extLst>
          </p:cNvPr>
          <p:cNvPicPr>
            <a:picLocks noChangeAspect="1"/>
          </p:cNvPicPr>
          <p:nvPr/>
        </p:nvPicPr>
        <p:blipFill>
          <a:blip r:embed="rId2"/>
          <a:stretch>
            <a:fillRect/>
          </a:stretch>
        </p:blipFill>
        <p:spPr>
          <a:xfrm>
            <a:off x="609600" y="1219200"/>
            <a:ext cx="8417467" cy="3556847"/>
          </a:xfrm>
          <a:prstGeom prst="rect">
            <a:avLst/>
          </a:prstGeom>
        </p:spPr>
      </p:pic>
    </p:spTree>
    <p:extLst>
      <p:ext uri="{BB962C8B-B14F-4D97-AF65-F5344CB8AC3E}">
        <p14:creationId xmlns:p14="http://schemas.microsoft.com/office/powerpoint/2010/main" val="19230082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A8B542-75A8-D5B3-B8DD-C2A71B37A996}"/>
              </a:ext>
            </a:extLst>
          </p:cNvPr>
          <p:cNvPicPr>
            <a:picLocks noChangeAspect="1"/>
          </p:cNvPicPr>
          <p:nvPr/>
        </p:nvPicPr>
        <p:blipFill>
          <a:blip r:embed="rId2"/>
          <a:stretch>
            <a:fillRect/>
          </a:stretch>
        </p:blipFill>
        <p:spPr>
          <a:xfrm>
            <a:off x="762000" y="838200"/>
            <a:ext cx="8060412" cy="4169424"/>
          </a:xfrm>
          <a:prstGeom prst="rect">
            <a:avLst/>
          </a:prstGeom>
        </p:spPr>
      </p:pic>
    </p:spTree>
    <p:extLst>
      <p:ext uri="{BB962C8B-B14F-4D97-AF65-F5344CB8AC3E}">
        <p14:creationId xmlns:p14="http://schemas.microsoft.com/office/powerpoint/2010/main" val="946311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F8B5DD-811A-6C4A-6D85-7415DD921391}"/>
              </a:ext>
            </a:extLst>
          </p:cNvPr>
          <p:cNvPicPr>
            <a:picLocks noChangeAspect="1"/>
          </p:cNvPicPr>
          <p:nvPr/>
        </p:nvPicPr>
        <p:blipFill>
          <a:blip r:embed="rId2"/>
          <a:stretch>
            <a:fillRect/>
          </a:stretch>
        </p:blipFill>
        <p:spPr>
          <a:xfrm>
            <a:off x="1417674" y="1628078"/>
            <a:ext cx="9356651" cy="3601844"/>
          </a:xfrm>
          <a:prstGeom prst="rect">
            <a:avLst/>
          </a:prstGeom>
        </p:spPr>
      </p:pic>
    </p:spTree>
    <p:extLst>
      <p:ext uri="{BB962C8B-B14F-4D97-AF65-F5344CB8AC3E}">
        <p14:creationId xmlns:p14="http://schemas.microsoft.com/office/powerpoint/2010/main" val="280947151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2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4.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383</TotalTime>
  <Words>2775</Words>
  <Application>Microsoft Office PowerPoint</Application>
  <PresentationFormat>Widescreen</PresentationFormat>
  <Paragraphs>170</Paragraphs>
  <Slides>61</Slides>
  <Notes>4</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61</vt:i4>
      </vt:variant>
    </vt:vector>
  </HeadingPairs>
  <TitlesOfParts>
    <vt:vector size="78" baseType="lpstr">
      <vt:lpstr>Arial</vt:lpstr>
      <vt:lpstr>Bahnschrift</vt:lpstr>
      <vt:lpstr>Berlin Sans FB</vt:lpstr>
      <vt:lpstr>Berlin Sans FB Demi</vt:lpstr>
      <vt:lpstr>Calibri</vt:lpstr>
      <vt:lpstr>Calibri Light</vt:lpstr>
      <vt:lpstr>Courier New</vt:lpstr>
      <vt:lpstr>Segoe UI</vt:lpstr>
      <vt:lpstr>Segoe UI Semibold</vt:lpstr>
      <vt:lpstr>Segoe UI Semibold (Headings)</vt:lpstr>
      <vt:lpstr>Segoe UI Semilight</vt:lpstr>
      <vt:lpstr>Symbol</vt:lpstr>
      <vt:lpstr>Wingdings</vt:lpstr>
      <vt:lpstr>Retrospect</vt:lpstr>
      <vt:lpstr>1_Retrospect</vt:lpstr>
      <vt:lpstr>2_Retrospect</vt:lpstr>
      <vt:lpstr>Azure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Define Infrastructure as a Service (IaaS)</vt:lpstr>
      <vt:lpstr>Define Platform as a Service (PaaS)</vt:lpstr>
      <vt:lpstr>Define Software as a Service (SaaS)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Certified in Risk and Information Systems Control (CRISC)</dc:title>
  <dc:creator>AbuBaker Shaban</dc:creator>
  <cp:lastModifiedBy>YOUSSRY KHATTAB</cp:lastModifiedBy>
  <cp:revision>13</cp:revision>
  <dcterms:created xsi:type="dcterms:W3CDTF">2023-05-17T09:05:35Z</dcterms:created>
  <dcterms:modified xsi:type="dcterms:W3CDTF">2023-06-19T23:36:57Z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2021-10-28T00:00:00Z</vt:filetime>
  </property>
  <property fmtid="{D5CDD505-2E9C-101B-9397-08002B2CF9AE}" pid="3" name="Creator">
    <vt:lpwstr>Microsoft® PowerPoint® 2019</vt:lpwstr>
  </property>
  <property fmtid="{D5CDD505-2E9C-101B-9397-08002B2CF9AE}" pid="4" name="LastSaved">
    <vt:filetime>2023-05-17T00:00:00Z</vt:filetime>
  </property>
  <property fmtid="{D5CDD505-2E9C-101B-9397-08002B2CF9AE}" pid="5" name="Producer">
    <vt:lpwstr>Microsoft® PowerPoint® 2019</vt:lpwstr>
  </property>
</Properties>
</file>
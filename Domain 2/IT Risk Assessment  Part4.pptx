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2.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13" r:id="rId2"/>
  </p:sldMasterIdLst>
  <p:notesMasterIdLst>
    <p:notesMasterId r:id="rId64"/>
  </p:notesMasterIdLst>
  <p:sldIdLst>
    <p:sldId id="307" r:id="rId3"/>
    <p:sldId id="258" r:id="rId4"/>
    <p:sldId id="260" r:id="rId5"/>
    <p:sldId id="271" r:id="rId6"/>
    <p:sldId id="272" r:id="rId7"/>
    <p:sldId id="273" r:id="rId8"/>
    <p:sldId id="274" r:id="rId9"/>
    <p:sldId id="275" r:id="rId10"/>
    <p:sldId id="276" r:id="rId11"/>
    <p:sldId id="277" r:id="rId12"/>
    <p:sldId id="278" r:id="rId13"/>
    <p:sldId id="453" r:id="rId14"/>
    <p:sldId id="454" r:id="rId15"/>
    <p:sldId id="456" r:id="rId16"/>
    <p:sldId id="455" r:id="rId17"/>
    <p:sldId id="2152" r:id="rId18"/>
    <p:sldId id="2151" r:id="rId19"/>
    <p:sldId id="458" r:id="rId20"/>
    <p:sldId id="459" r:id="rId21"/>
    <p:sldId id="280" r:id="rId22"/>
    <p:sldId id="281" r:id="rId23"/>
    <p:sldId id="285" r:id="rId24"/>
    <p:sldId id="2153" r:id="rId25"/>
    <p:sldId id="1084" r:id="rId26"/>
    <p:sldId id="1081" r:id="rId27"/>
    <p:sldId id="1098" r:id="rId28"/>
    <p:sldId id="1099" r:id="rId29"/>
    <p:sldId id="1100" r:id="rId30"/>
    <p:sldId id="1082" r:id="rId31"/>
    <p:sldId id="1251" r:id="rId32"/>
    <p:sldId id="1124" r:id="rId33"/>
    <p:sldId id="1102" r:id="rId34"/>
    <p:sldId id="1104" r:id="rId35"/>
    <p:sldId id="1105" r:id="rId36"/>
    <p:sldId id="1106" r:id="rId37"/>
    <p:sldId id="1107" r:id="rId38"/>
    <p:sldId id="1108" r:id="rId39"/>
    <p:sldId id="1110" r:id="rId40"/>
    <p:sldId id="1111" r:id="rId41"/>
    <p:sldId id="1113" r:id="rId42"/>
    <p:sldId id="1114" r:id="rId43"/>
    <p:sldId id="1087" r:id="rId44"/>
    <p:sldId id="1088" r:id="rId45"/>
    <p:sldId id="1089" r:id="rId46"/>
    <p:sldId id="1272" r:id="rId47"/>
    <p:sldId id="1120" r:id="rId48"/>
    <p:sldId id="475" r:id="rId49"/>
    <p:sldId id="476" r:id="rId50"/>
    <p:sldId id="1980" r:id="rId51"/>
    <p:sldId id="478" r:id="rId52"/>
    <p:sldId id="479" r:id="rId53"/>
    <p:sldId id="1620" r:id="rId54"/>
    <p:sldId id="1929" r:id="rId55"/>
    <p:sldId id="480" r:id="rId56"/>
    <p:sldId id="481" r:id="rId57"/>
    <p:sldId id="301" r:id="rId58"/>
    <p:sldId id="302" r:id="rId59"/>
    <p:sldId id="303" r:id="rId60"/>
    <p:sldId id="304" r:id="rId61"/>
    <p:sldId id="305" r:id="rId62"/>
    <p:sldId id="306"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A8ACD-1C5F-4251-938C-2E95B6C034FB}" type="datetimeFigureOut">
              <a:rPr lang="en-US" smtClean="0"/>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79C7C-72F5-4C2B-ABA4-4A36F6861000}" type="slidenum">
              <a:rPr lang="en-US" smtClean="0"/>
              <a:t>‹#›</a:t>
            </a:fld>
            <a:endParaRPr lang="en-US"/>
          </a:p>
        </p:txBody>
      </p:sp>
    </p:spTree>
    <p:extLst>
      <p:ext uri="{BB962C8B-B14F-4D97-AF65-F5344CB8AC3E}">
        <p14:creationId xmlns:p14="http://schemas.microsoft.com/office/powerpoint/2010/main" val="1012365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79C7C-72F5-4C2B-ABA4-4A36F6861000}" type="slidenum">
              <a:rPr lang="en-US" smtClean="0"/>
              <a:t>21</a:t>
            </a:fld>
            <a:endParaRPr lang="en-US"/>
          </a:p>
        </p:txBody>
      </p:sp>
    </p:spTree>
    <p:extLst>
      <p:ext uri="{BB962C8B-B14F-4D97-AF65-F5344CB8AC3E}">
        <p14:creationId xmlns:p14="http://schemas.microsoft.com/office/powerpoint/2010/main" val="2893758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79C7C-72F5-4C2B-ABA4-4A36F6861000}" type="slidenum">
              <a:rPr lang="en-US" smtClean="0"/>
              <a:t>55</a:t>
            </a:fld>
            <a:endParaRPr lang="en-US"/>
          </a:p>
        </p:txBody>
      </p:sp>
    </p:spTree>
    <p:extLst>
      <p:ext uri="{BB962C8B-B14F-4D97-AF65-F5344CB8AC3E}">
        <p14:creationId xmlns:p14="http://schemas.microsoft.com/office/powerpoint/2010/main" val="4077140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43FBB-0A8B-A0C0-A7A9-A792F15B47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68FE33-EF78-EFD2-D055-78A70DDC78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BACE30-CAB2-7F2A-3C80-AF1EA6B1F062}"/>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5" name="Footer Placeholder 4">
            <a:extLst>
              <a:ext uri="{FF2B5EF4-FFF2-40B4-BE49-F238E27FC236}">
                <a16:creationId xmlns:a16="http://schemas.microsoft.com/office/drawing/2014/main" id="{F0D8BA9F-161E-3423-86F8-B54E65CD1F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498D0-54AC-0579-278D-EE3FA4D1103B}"/>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1755578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98898-F102-F276-9EF8-610EF29FC1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C3798B-E2D0-AAC6-C6DC-3055F27AEB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2CBE84-12CE-04F8-E155-BAC56E6194B8}"/>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5" name="Footer Placeholder 4">
            <a:extLst>
              <a:ext uri="{FF2B5EF4-FFF2-40B4-BE49-F238E27FC236}">
                <a16:creationId xmlns:a16="http://schemas.microsoft.com/office/drawing/2014/main" id="{8D526426-ED0D-4DF1-5D2D-17DBB099DB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165609-3253-0121-EAD7-1AFBCD84364E}"/>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2015358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52375-7609-9865-652F-62F3A056DD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0B7CE-41F7-50C6-0ED0-0573C1B224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D7519A-2AA9-D64F-1F2F-FF4666556ACF}"/>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5" name="Footer Placeholder 4">
            <a:extLst>
              <a:ext uri="{FF2B5EF4-FFF2-40B4-BE49-F238E27FC236}">
                <a16:creationId xmlns:a16="http://schemas.microsoft.com/office/drawing/2014/main" id="{66F03824-1F3F-0318-19E8-93EE2118E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CC80C2-C96F-1715-B111-845166D6D7B5}"/>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214952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5DFB-F106-4453-B4D1-FCA5FBF285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BF145D-D6CE-E3FF-2A54-9587E2CB9A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7A680F-2A93-9576-0526-44F168457F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38DFA-B752-23C9-5C32-938C82EC9228}"/>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6" name="Footer Placeholder 5">
            <a:extLst>
              <a:ext uri="{FF2B5EF4-FFF2-40B4-BE49-F238E27FC236}">
                <a16:creationId xmlns:a16="http://schemas.microsoft.com/office/drawing/2014/main" id="{A075F75F-AB17-8987-6894-BA4B733B69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DA597A-4CE4-1490-6764-10EF63F08F7A}"/>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427421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6998D-9873-1F9C-0B6D-EEB1D51F46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087831-9A4F-48AA-D16F-683856F37B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D6FCE9-9013-852F-A165-C94DD964C6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A4FC0C-BB47-AE47-011C-FECF411C39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3980FB-03AE-F6A2-C040-EDAF4F388B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FCC4B2-6B37-7ED8-4F82-73F6D6F5C53F}"/>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8" name="Footer Placeholder 7">
            <a:extLst>
              <a:ext uri="{FF2B5EF4-FFF2-40B4-BE49-F238E27FC236}">
                <a16:creationId xmlns:a16="http://schemas.microsoft.com/office/drawing/2014/main" id="{2BA4565E-D0FD-633F-69E2-DF70B35834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EE1461-9784-C052-55DD-FFFA523D9396}"/>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296186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9CEF5-5EE2-8E04-F235-A5640294E6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41B094-F214-DC9F-409A-43054DE8787A}"/>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4" name="Footer Placeholder 3">
            <a:extLst>
              <a:ext uri="{FF2B5EF4-FFF2-40B4-BE49-F238E27FC236}">
                <a16:creationId xmlns:a16="http://schemas.microsoft.com/office/drawing/2014/main" id="{C463B3D8-64FC-14FE-2DF6-86E5CF1960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8B8744-A07C-32E6-8F34-76935B4DC6F5}"/>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271921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CB4D42-39FB-DEE7-AF6D-854C7FD1AFBE}"/>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3" name="Footer Placeholder 2">
            <a:extLst>
              <a:ext uri="{FF2B5EF4-FFF2-40B4-BE49-F238E27FC236}">
                <a16:creationId xmlns:a16="http://schemas.microsoft.com/office/drawing/2014/main" id="{3AF89621-7E41-2687-314D-9A24DBD3FE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655BC4-DCBF-7801-F3C2-6EC665C55524}"/>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447900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8C27-4249-C330-1CAD-EFD5F510AE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A3A991-7A8B-9F6A-C6F6-409D990080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016945-35A8-E9D6-4320-51EEF6DCC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A4D0FA-E42E-F72C-F829-0C5AB75EC294}"/>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6" name="Footer Placeholder 5">
            <a:extLst>
              <a:ext uri="{FF2B5EF4-FFF2-40B4-BE49-F238E27FC236}">
                <a16:creationId xmlns:a16="http://schemas.microsoft.com/office/drawing/2014/main" id="{218C8F14-1A59-2BB3-2006-8A75A74C31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AE609F-A9EF-5439-733F-57F6215B1505}"/>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1034554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426C9-E4A5-BDC7-AC18-22CF96E0E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100901-7FD3-965B-63F4-C92A9D13FB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E82BDF-10DC-EA09-8B4C-A75C53A12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A4E13-7A55-4E68-64C5-65ECA6BB43FE}"/>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6" name="Footer Placeholder 5">
            <a:extLst>
              <a:ext uri="{FF2B5EF4-FFF2-40B4-BE49-F238E27FC236}">
                <a16:creationId xmlns:a16="http://schemas.microsoft.com/office/drawing/2014/main" id="{15C518F2-4147-B920-AF4B-60042E1AB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5B52B-AB93-E05C-EAA1-A483476539BC}"/>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2395963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56951-854F-D402-2F2A-B4C3EDBB71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0F568B-CC78-FA22-A4EA-7E7F52C3A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4078C6-F04D-720F-F8C9-BB75D5C499D3}"/>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5" name="Footer Placeholder 4">
            <a:extLst>
              <a:ext uri="{FF2B5EF4-FFF2-40B4-BE49-F238E27FC236}">
                <a16:creationId xmlns:a16="http://schemas.microsoft.com/office/drawing/2014/main" id="{CAC7F047-5D90-133E-49BF-3F6DC02C16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FC5D10-7F77-BE34-3444-BC0A2599CE10}"/>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4173437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3A6FE9-CDDB-E1DF-7450-0CA349758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F17E8A-6D7E-4BBF-199F-E51BB25F2C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01830D-4716-6C1A-D317-6BE16CC14388}"/>
              </a:ext>
            </a:extLst>
          </p:cNvPr>
          <p:cNvSpPr>
            <a:spLocks noGrp="1"/>
          </p:cNvSpPr>
          <p:nvPr>
            <p:ph type="dt" sz="half" idx="10"/>
          </p:nvPr>
        </p:nvSpPr>
        <p:spPr/>
        <p:txBody>
          <a:bodyPr/>
          <a:lstStyle/>
          <a:p>
            <a:fld id="{48766017-D9ED-4458-AFEE-829163A32C9D}" type="datetimeFigureOut">
              <a:rPr lang="en-US" smtClean="0"/>
              <a:t>6/20/2023</a:t>
            </a:fld>
            <a:endParaRPr lang="en-US"/>
          </a:p>
        </p:txBody>
      </p:sp>
      <p:sp>
        <p:nvSpPr>
          <p:cNvPr id="5" name="Footer Placeholder 4">
            <a:extLst>
              <a:ext uri="{FF2B5EF4-FFF2-40B4-BE49-F238E27FC236}">
                <a16:creationId xmlns:a16="http://schemas.microsoft.com/office/drawing/2014/main" id="{A1E6E2C8-EE71-A043-3071-4C7D93EF4B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12061B-A870-2537-93FA-2335DA442CE4}"/>
              </a:ext>
            </a:extLst>
          </p:cNvPr>
          <p:cNvSpPr>
            <a:spLocks noGrp="1"/>
          </p:cNvSpPr>
          <p:nvPr>
            <p:ph type="sldNum" sz="quarter" idx="12"/>
          </p:nvPr>
        </p:nvSpPr>
        <p:spPr/>
        <p:txBody>
          <a:bodyPr/>
          <a:lstStyle/>
          <a:p>
            <a:fld id="{B8AAE1CC-0B00-4EAE-8B21-503C5285487E}" type="slidenum">
              <a:rPr lang="en-US" smtClean="0"/>
              <a:t>‹#›</a:t>
            </a:fld>
            <a:endParaRPr lang="en-US"/>
          </a:p>
        </p:txBody>
      </p:sp>
    </p:spTree>
    <p:extLst>
      <p:ext uri="{BB962C8B-B14F-4D97-AF65-F5344CB8AC3E}">
        <p14:creationId xmlns:p14="http://schemas.microsoft.com/office/powerpoint/2010/main" val="2675172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6036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02579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181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45588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687667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84616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25912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D8BD707-D9CF-40AE-B4C6-C98DA3205C09}" type="datetimeFigureOut">
              <a:rPr lang="en-US" smtClean="0"/>
              <a:t>6/20/2023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0267660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928196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87766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70556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511154-F660-CFCA-E0D9-4FD6AAE53B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A0B978-22EE-E9DA-C854-820C1CCD85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7B1FD3-E6B6-6696-B625-7D65BAB319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766017-D9ED-4458-AFEE-829163A32C9D}" type="datetimeFigureOut">
              <a:rPr lang="en-US" smtClean="0"/>
              <a:t>6/20/2023</a:t>
            </a:fld>
            <a:endParaRPr lang="en-US"/>
          </a:p>
        </p:txBody>
      </p:sp>
      <p:sp>
        <p:nvSpPr>
          <p:cNvPr id="5" name="Footer Placeholder 4">
            <a:extLst>
              <a:ext uri="{FF2B5EF4-FFF2-40B4-BE49-F238E27FC236}">
                <a16:creationId xmlns:a16="http://schemas.microsoft.com/office/drawing/2014/main" id="{1DB5CE59-CBC4-C1A7-452D-3C763964E0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FC84B5-6BE8-259F-0033-FDC3D5F202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AAE1CC-0B00-4EAE-8B21-503C5285487E}" type="slidenum">
              <a:rPr lang="en-US" smtClean="0"/>
              <a:t>‹#›</a:t>
            </a:fld>
            <a:endParaRPr lang="en-US"/>
          </a:p>
        </p:txBody>
      </p:sp>
    </p:spTree>
    <p:extLst>
      <p:ext uri="{BB962C8B-B14F-4D97-AF65-F5344CB8AC3E}">
        <p14:creationId xmlns:p14="http://schemas.microsoft.com/office/powerpoint/2010/main" val="503489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766017-D9ED-4458-AFEE-829163A32C9D}" type="datetimeFigureOut">
              <a:rPr lang="en-US" smtClean="0"/>
              <a:t>6/20/2023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8AAE1CC-0B00-4EAE-8B21-503C5285487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539600"/>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18.xml"/><Relationship Id="rId4" Type="http://schemas.openxmlformats.org/officeDocument/2006/relationships/image" Target="../media/image32.emf"/></Relationships>
</file>

<file path=ppt/slides/_rels/slide4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2996945"/>
            <a:ext cx="9296400" cy="1367041"/>
          </a:xfrm>
          <a:prstGeom prst="rect">
            <a:avLst/>
          </a:prstGeom>
        </p:spPr>
        <p:txBody>
          <a:bodyPr vert="horz" wrap="square" lIns="0" tIns="12700" rIns="0" bIns="0" rtlCol="0">
            <a:spAutoFit/>
          </a:bodyPr>
          <a:lstStyle/>
          <a:p>
            <a:pPr marL="12700">
              <a:spcBef>
                <a:spcPts val="100"/>
              </a:spcBef>
            </a:pPr>
            <a:r>
              <a:rPr lang="en-US" sz="4400" b="1" dirty="0">
                <a:solidFill>
                  <a:srgbClr val="C00000"/>
                </a:solidFill>
                <a:latin typeface="Calibri"/>
                <a:cs typeface="Calibri"/>
              </a:rPr>
              <a:t>Risk</a:t>
            </a:r>
            <a:r>
              <a:rPr lang="en-US" sz="4400" b="1" spc="-15" dirty="0">
                <a:solidFill>
                  <a:srgbClr val="C00000"/>
                </a:solidFill>
                <a:latin typeface="Calibri"/>
                <a:cs typeface="Calibri"/>
              </a:rPr>
              <a:t> </a:t>
            </a:r>
            <a:r>
              <a:rPr lang="en-US" sz="4400" b="1" spc="-5" dirty="0">
                <a:solidFill>
                  <a:srgbClr val="C00000"/>
                </a:solidFill>
                <a:latin typeface="Calibri"/>
                <a:cs typeface="Calibri"/>
              </a:rPr>
              <a:t>Assessment </a:t>
            </a:r>
            <a:r>
              <a:rPr lang="en-US" sz="4400" b="1" dirty="0">
                <a:solidFill>
                  <a:srgbClr val="C00000"/>
                </a:solidFill>
                <a:latin typeface="Calibri"/>
                <a:cs typeface="Calibri"/>
              </a:rPr>
              <a:t>and </a:t>
            </a:r>
            <a:r>
              <a:rPr lang="en-US" sz="4400" b="1" spc="-5" dirty="0">
                <a:solidFill>
                  <a:srgbClr val="C00000"/>
                </a:solidFill>
                <a:latin typeface="Calibri"/>
                <a:cs typeface="Calibri"/>
              </a:rPr>
              <a:t>Analysis</a:t>
            </a:r>
            <a:br>
              <a:rPr lang="en-US" sz="4400" dirty="0">
                <a:solidFill>
                  <a:srgbClr val="C00000"/>
                </a:solidFill>
                <a:latin typeface="Calibri"/>
                <a:cs typeface="Calibri"/>
              </a:rPr>
            </a:br>
            <a:endParaRPr sz="4400" dirty="0">
              <a:latin typeface="Calibri"/>
              <a:cs typeface="Calibri"/>
            </a:endParaRPr>
          </a:p>
        </p:txBody>
      </p:sp>
      <p:sp>
        <p:nvSpPr>
          <p:cNvPr id="4" name="TextBox 3">
            <a:extLst>
              <a:ext uri="{FF2B5EF4-FFF2-40B4-BE49-F238E27FC236}">
                <a16:creationId xmlns:a16="http://schemas.microsoft.com/office/drawing/2014/main" id="{E9EFDD9C-BC15-2A2A-E198-2FEC0CFA3F85}"/>
              </a:ext>
            </a:extLst>
          </p:cNvPr>
          <p:cNvSpPr txBox="1"/>
          <p:nvPr/>
        </p:nvSpPr>
        <p:spPr>
          <a:xfrm>
            <a:off x="685800" y="1752600"/>
            <a:ext cx="11658600" cy="852926"/>
          </a:xfrm>
          <a:prstGeom prst="rect">
            <a:avLst/>
          </a:prstGeom>
          <a:noFill/>
        </p:spPr>
        <p:txBody>
          <a:bodyPr wrap="square">
            <a:spAutoFit/>
          </a:bodyPr>
          <a:lstStyle/>
          <a:p>
            <a:pPr marL="12700" marR="5080" lvl="0" indent="0" algn="l" defTabSz="457200" rtl="0" eaLnBrk="1" fontAlgn="auto" latinLnBrk="0" hangingPunct="1">
              <a:lnSpc>
                <a:spcPts val="6480"/>
              </a:lnSpc>
              <a:spcBef>
                <a:spcPts val="915"/>
              </a:spcBef>
              <a:spcAft>
                <a:spcPts val="0"/>
              </a:spcAft>
              <a:buClrTx/>
              <a:buSzTx/>
              <a:buFontTx/>
              <a:buNone/>
              <a:tabLst/>
              <a:defRPr/>
            </a:pPr>
            <a:r>
              <a:rPr kumimoji="0" lang="en-US" sz="4000" b="1" i="0" u="none" strike="noStrike" kern="1200" cap="none" spc="-5" normalizeH="0" baseline="0" noProof="0" dirty="0">
                <a:ln>
                  <a:noFill/>
                </a:ln>
                <a:solidFill>
                  <a:srgbClr val="7030A0"/>
                </a:solidFill>
                <a:effectLst/>
                <a:uLnTx/>
                <a:uFillTx/>
                <a:latin typeface="Calibri Light"/>
                <a:ea typeface="+mn-ea"/>
                <a:cs typeface="Calibri Light"/>
              </a:rPr>
              <a:t>Certified </a:t>
            </a:r>
            <a:r>
              <a:rPr kumimoji="0" lang="en-US" sz="4000" b="1" i="0" u="none" strike="noStrike" kern="1200" cap="none" spc="0" normalizeH="0" baseline="0" noProof="0" dirty="0">
                <a:ln>
                  <a:noFill/>
                </a:ln>
                <a:solidFill>
                  <a:srgbClr val="7030A0"/>
                </a:solidFill>
                <a:effectLst/>
                <a:uLnTx/>
                <a:uFillTx/>
                <a:latin typeface="Calibri Light"/>
                <a:ea typeface="+mn-ea"/>
                <a:cs typeface="Calibri Light"/>
              </a:rPr>
              <a:t>in </a:t>
            </a:r>
            <a:r>
              <a:rPr kumimoji="0" lang="en-US" sz="4000" b="1" i="0" u="none" strike="noStrike" kern="1200" cap="none" spc="-10" normalizeH="0" baseline="0" noProof="0" dirty="0">
                <a:ln>
                  <a:noFill/>
                </a:ln>
                <a:solidFill>
                  <a:srgbClr val="7030A0"/>
                </a:solidFill>
                <a:effectLst/>
                <a:uLnTx/>
                <a:uFillTx/>
                <a:latin typeface="Calibri Light"/>
                <a:ea typeface="+mn-ea"/>
                <a:cs typeface="Calibri Light"/>
              </a:rPr>
              <a:t>Risk </a:t>
            </a:r>
            <a:r>
              <a:rPr kumimoji="0" lang="en-US" sz="4000" b="1" i="0" u="none" strike="noStrike" kern="1200" cap="none" spc="0" normalizeH="0" baseline="0" noProof="0" dirty="0">
                <a:ln>
                  <a:noFill/>
                </a:ln>
                <a:solidFill>
                  <a:srgbClr val="7030A0"/>
                </a:solidFill>
                <a:effectLst/>
                <a:uLnTx/>
                <a:uFillTx/>
                <a:latin typeface="Calibri Light"/>
                <a:ea typeface="+mn-ea"/>
                <a:cs typeface="Calibri Light"/>
              </a:rPr>
              <a:t>and </a:t>
            </a:r>
            <a:r>
              <a:rPr kumimoji="0" lang="en-US" sz="4000" b="1" i="0" u="none" strike="noStrike" kern="1200" cap="none" spc="-25" normalizeH="0" baseline="0" noProof="0" dirty="0">
                <a:ln>
                  <a:noFill/>
                </a:ln>
                <a:solidFill>
                  <a:srgbClr val="7030A0"/>
                </a:solidFill>
                <a:effectLst/>
                <a:uLnTx/>
                <a:uFillTx/>
                <a:latin typeface="Calibri Light"/>
                <a:ea typeface="+mn-ea"/>
                <a:cs typeface="Calibri Light"/>
              </a:rPr>
              <a:t>Information </a:t>
            </a:r>
            <a:r>
              <a:rPr kumimoji="0" lang="en-US" sz="4000" b="1" i="0" u="none" strike="noStrike" kern="1200" cap="none" spc="-1345" normalizeH="0" baseline="0" noProof="0" dirty="0">
                <a:ln>
                  <a:noFill/>
                </a:ln>
                <a:solidFill>
                  <a:srgbClr val="7030A0"/>
                </a:solidFill>
                <a:effectLst/>
                <a:uLnTx/>
                <a:uFillTx/>
                <a:latin typeface="Calibri Light"/>
                <a:ea typeface="+mn-ea"/>
                <a:cs typeface="Calibri Light"/>
              </a:rPr>
              <a:t> </a:t>
            </a:r>
            <a:r>
              <a:rPr kumimoji="0" lang="en-US" sz="4000" b="1" i="0" u="none" strike="noStrike" kern="1200" cap="none" spc="-45" normalizeH="0" baseline="0" noProof="0" dirty="0">
                <a:ln>
                  <a:noFill/>
                </a:ln>
                <a:solidFill>
                  <a:srgbClr val="7030A0"/>
                </a:solidFill>
                <a:effectLst/>
                <a:uLnTx/>
                <a:uFillTx/>
                <a:latin typeface="Calibri Light"/>
                <a:ea typeface="+mn-ea"/>
                <a:cs typeface="Calibri Light"/>
              </a:rPr>
              <a:t>Systems</a:t>
            </a:r>
            <a:r>
              <a:rPr kumimoji="0" lang="en-US" sz="4000" b="1" i="0" u="none" strike="noStrike" kern="1200" cap="none" spc="15" normalizeH="0" baseline="0" noProof="0" dirty="0">
                <a:ln>
                  <a:noFill/>
                </a:ln>
                <a:solidFill>
                  <a:srgbClr val="7030A0"/>
                </a:solidFill>
                <a:effectLst/>
                <a:uLnTx/>
                <a:uFillTx/>
                <a:latin typeface="Calibri Light"/>
                <a:ea typeface="+mn-ea"/>
                <a:cs typeface="Calibri Light"/>
              </a:rPr>
              <a:t> </a:t>
            </a:r>
            <a:r>
              <a:rPr kumimoji="0" lang="en-US" sz="4000" b="1" i="0" u="none" strike="noStrike" kern="1200" cap="none" spc="-30" normalizeH="0" baseline="0" noProof="0" dirty="0">
                <a:ln>
                  <a:noFill/>
                </a:ln>
                <a:solidFill>
                  <a:srgbClr val="7030A0"/>
                </a:solidFill>
                <a:effectLst/>
                <a:uLnTx/>
                <a:uFillTx/>
                <a:latin typeface="Calibri Light"/>
                <a:ea typeface="+mn-ea"/>
                <a:cs typeface="Calibri Light"/>
              </a:rPr>
              <a:t>Control</a:t>
            </a:r>
            <a:r>
              <a:rPr kumimoji="0" lang="en-US" sz="4000" b="1" i="0" u="none" strike="noStrike" kern="1200" cap="none" spc="-15" normalizeH="0" baseline="0" noProof="0" dirty="0">
                <a:ln>
                  <a:noFill/>
                </a:ln>
                <a:solidFill>
                  <a:srgbClr val="7030A0"/>
                </a:solidFill>
                <a:effectLst/>
                <a:uLnTx/>
                <a:uFillTx/>
                <a:latin typeface="Calibri Light"/>
                <a:ea typeface="+mn-ea"/>
                <a:cs typeface="Calibri Light"/>
              </a:rPr>
              <a:t> </a:t>
            </a:r>
            <a:r>
              <a:rPr kumimoji="0" lang="en-US" sz="4000" b="1" i="0" u="none" strike="noStrike" kern="1200" cap="none" spc="0" normalizeH="0" baseline="0" noProof="0" dirty="0">
                <a:ln>
                  <a:noFill/>
                </a:ln>
                <a:solidFill>
                  <a:srgbClr val="7030A0"/>
                </a:solidFill>
                <a:effectLst/>
                <a:uLnTx/>
                <a:uFillTx/>
                <a:latin typeface="Calibri Light"/>
                <a:ea typeface="+mn-ea"/>
                <a:cs typeface="Calibri Light"/>
              </a:rPr>
              <a:t>(CRISC)</a:t>
            </a:r>
          </a:p>
        </p:txBody>
      </p:sp>
    </p:spTree>
    <p:extLst>
      <p:ext uri="{BB962C8B-B14F-4D97-AF65-F5344CB8AC3E}">
        <p14:creationId xmlns:p14="http://schemas.microsoft.com/office/powerpoint/2010/main" val="1308326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10" dirty="0">
                <a:solidFill>
                  <a:srgbClr val="074891"/>
                </a:solidFill>
                <a:uFill>
                  <a:solidFill>
                    <a:srgbClr val="000000"/>
                  </a:solidFill>
                </a:uFill>
              </a:rPr>
              <a:t>Objectives</a:t>
            </a:r>
            <a:br>
              <a:rPr lang="en-US" sz="4400" u="heavy" spc="-10" dirty="0">
                <a:solidFill>
                  <a:srgbClr val="074891"/>
                </a:solidFill>
                <a:uFill>
                  <a:solidFill>
                    <a:srgbClr val="000000"/>
                  </a:solidFill>
                </a:uFill>
              </a:rPr>
            </a:br>
            <a:endParaRPr sz="4400" dirty="0"/>
          </a:p>
        </p:txBody>
      </p:sp>
      <p:sp>
        <p:nvSpPr>
          <p:cNvPr id="3" name="object 3"/>
          <p:cNvSpPr txBox="1"/>
          <p:nvPr/>
        </p:nvSpPr>
        <p:spPr>
          <a:xfrm>
            <a:off x="1236345" y="1371600"/>
            <a:ext cx="10038716" cy="3009798"/>
          </a:xfrm>
          <a:prstGeom prst="rect">
            <a:avLst/>
          </a:prstGeom>
        </p:spPr>
        <p:txBody>
          <a:bodyPr vert="horz" wrap="square" lIns="0" tIns="97790" rIns="0" bIns="0" rtlCol="0">
            <a:spAutoFit/>
          </a:bodyPr>
          <a:lstStyle/>
          <a:p>
            <a:pPr marL="12700" marR="0" lvl="0" indent="0" algn="l" defTabSz="457200" rtl="0" eaLnBrk="1" fontAlgn="auto" latinLnBrk="0" hangingPunct="1">
              <a:lnSpc>
                <a:spcPct val="100000"/>
              </a:lnSpc>
              <a:spcBef>
                <a:spcPts val="770"/>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this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chapter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you</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will</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1361440" lvl="1" indent="-457200" algn="l" defTabSz="457200" rtl="0" eaLnBrk="1" fontAlgn="auto" latinLnBrk="0" hangingPunct="1">
              <a:lnSpc>
                <a:spcPts val="3030"/>
              </a:lnSpc>
              <a:spcBef>
                <a:spcPts val="1045"/>
              </a:spcBef>
              <a:spcAft>
                <a:spcPts val="0"/>
              </a:spcAft>
              <a:buClrTx/>
              <a:buSzTx/>
              <a:buFont typeface="+mj-lt"/>
              <a:buAutoNum type="arabicPeriod"/>
              <a:tabLst>
                <a:tab pos="241935" algn="l"/>
              </a:tabLst>
              <a:defRPr/>
            </a:pPr>
            <a:r>
              <a:rPr kumimoji="0" sz="2000" b="0" i="0" u="none" strike="noStrike" kern="1200" cap="none" spc="-20" normalizeH="0" baseline="0" noProof="0" dirty="0">
                <a:ln>
                  <a:noFill/>
                </a:ln>
                <a:solidFill>
                  <a:prstClr val="black"/>
                </a:solidFill>
                <a:effectLst/>
                <a:uLnTx/>
                <a:uFillTx/>
                <a:latin typeface="Calibri"/>
                <a:ea typeface="+mn-ea"/>
                <a:cs typeface="Calibri"/>
              </a:rPr>
              <a:t>Review</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processes</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risk</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identification,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evaluation,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assessment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0" lvl="1" indent="-457200" algn="l" defTabSz="457200" rtl="0" eaLnBrk="1" fontAlgn="auto" latinLnBrk="0" hangingPunct="1">
              <a:lnSpc>
                <a:spcPct val="100000"/>
              </a:lnSpc>
              <a:spcBef>
                <a:spcPts val="610"/>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Learn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about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qualitative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quantitative</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assessment</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techniques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0" lvl="1" indent="-457200" algn="l" defTabSz="457200" rtl="0" eaLnBrk="1" fontAlgn="auto" latinLnBrk="0" hangingPunct="1">
              <a:lnSpc>
                <a:spcPct val="100000"/>
              </a:lnSpc>
              <a:spcBef>
                <a:spcPts val="660"/>
              </a:spcBef>
              <a:spcAft>
                <a:spcPts val="0"/>
              </a:spcAft>
              <a:buClrTx/>
              <a:buSzTx/>
              <a:buFont typeface="+mj-lt"/>
              <a:buAutoNum type="arabicPeriod"/>
              <a:tabLst>
                <a:tab pos="241935" algn="l"/>
              </a:tabLst>
              <a:defRPr/>
            </a:pPr>
            <a:r>
              <a:rPr kumimoji="0" sz="2000" b="0" i="0" u="none" strike="noStrike" kern="1200" cap="none" spc="-20" normalizeH="0" baseline="0" noProof="0" dirty="0">
                <a:ln>
                  <a:noFill/>
                </a:ln>
                <a:solidFill>
                  <a:prstClr val="black"/>
                </a:solidFill>
                <a:effectLst/>
                <a:uLnTx/>
                <a:uFillTx/>
                <a:latin typeface="Calibri"/>
                <a:ea typeface="+mn-ea"/>
                <a:cs typeface="Calibri"/>
              </a:rPr>
              <a:t>Understand</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how</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evaluate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existing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controls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effectiveness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902335" lvl="1" indent="-457200" algn="l" defTabSz="457200" rtl="0" eaLnBrk="1" fontAlgn="auto" latinLnBrk="0" hangingPunct="1">
              <a:lnSpc>
                <a:spcPts val="3020"/>
              </a:lnSpc>
              <a:spcBef>
                <a:spcPts val="1060"/>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Assess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gaps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between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current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target </a:t>
            </a:r>
            <a:r>
              <a:rPr kumimoji="0" sz="2000" b="0" i="0" u="none" strike="noStrike" kern="1200" cap="none" spc="-25" normalizeH="0" baseline="0" noProof="0" dirty="0">
                <a:ln>
                  <a:noFill/>
                </a:ln>
                <a:solidFill>
                  <a:prstClr val="black"/>
                </a:solidFill>
                <a:effectLst/>
                <a:uLnTx/>
                <a:uFillTx/>
                <a:latin typeface="Calibri"/>
                <a:ea typeface="+mn-ea"/>
                <a:cs typeface="Calibri"/>
              </a:rPr>
              <a:t>states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 IT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environment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0" lvl="1" indent="-457200" algn="l" defTabSz="457200" rtl="0" eaLnBrk="1" fontAlgn="auto" latinLnBrk="0" hangingPunct="1">
              <a:lnSpc>
                <a:spcPct val="100000"/>
              </a:lnSpc>
              <a:spcBef>
                <a:spcPts val="620"/>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Consider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ownership</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accountability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during</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analysis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0" lvl="1" indent="-457200" algn="l" defTabSz="457200" rtl="0" eaLnBrk="1" fontAlgn="auto" latinLnBrk="0" hangingPunct="1">
              <a:lnSpc>
                <a:spcPct val="100000"/>
              </a:lnSpc>
              <a:spcBef>
                <a:spcPts val="665"/>
              </a:spcBef>
              <a:spcAft>
                <a:spcPts val="0"/>
              </a:spcAft>
              <a:buClrTx/>
              <a:buSzTx/>
              <a:buFont typeface="+mj-lt"/>
              <a:buAutoNum type="arabicPeriod"/>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10" normalizeH="0" baseline="0" noProof="0" dirty="0">
                <a:ln>
                  <a:noFill/>
                </a:ln>
                <a:solidFill>
                  <a:prstClr val="black"/>
                </a:solidFill>
                <a:effectLst/>
                <a:uLnTx/>
                <a:uFillTx/>
                <a:latin typeface="Calibri"/>
                <a:ea typeface="+mn-ea"/>
                <a:cs typeface="Calibri"/>
              </a:rPr>
              <a:t> able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report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results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appropriate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levels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10" normalizeH="0" baseline="0" noProof="0" dirty="0">
                <a:ln>
                  <a:noFill/>
                </a:ln>
                <a:solidFill>
                  <a:prstClr val="black"/>
                </a:solidFill>
                <a:effectLst/>
                <a:uLnTx/>
                <a:uFillTx/>
                <a:latin typeface="Calibri"/>
                <a:ea typeface="+mn-ea"/>
                <a:cs typeface="Calibri"/>
              </a:rPr>
              <a:t>management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10" dirty="0">
                <a:solidFill>
                  <a:srgbClr val="074891"/>
                </a:solidFill>
                <a:uFill>
                  <a:solidFill>
                    <a:srgbClr val="000000"/>
                  </a:solidFill>
                </a:uFill>
              </a:rPr>
              <a:t>Risk Assessment Processes</a:t>
            </a:r>
            <a:br>
              <a:rPr lang="en-US" sz="4400" u="heavy" spc="-45" dirty="0">
                <a:uFill>
                  <a:solidFill>
                    <a:srgbClr val="000000"/>
                  </a:solidFill>
                </a:uFill>
              </a:rPr>
            </a:br>
            <a:endParaRPr sz="4400" dirty="0"/>
          </a:p>
        </p:txBody>
      </p:sp>
      <p:sp>
        <p:nvSpPr>
          <p:cNvPr id="3" name="object 3"/>
          <p:cNvSpPr txBox="1"/>
          <p:nvPr/>
        </p:nvSpPr>
        <p:spPr>
          <a:xfrm>
            <a:off x="1143001" y="1328686"/>
            <a:ext cx="8610600" cy="3501087"/>
          </a:xfrm>
          <a:prstGeom prst="rect">
            <a:avLst/>
          </a:prstGeom>
        </p:spPr>
        <p:txBody>
          <a:bodyPr vert="horz" wrap="square" lIns="0" tIns="121920" rIns="0" bIns="0" rtlCol="0">
            <a:spAutoFit/>
          </a:bodyPr>
          <a:lstStyle/>
          <a:p>
            <a:pPr marL="241300" marR="170180" lvl="0" indent="-229235" algn="l" defTabSz="457200" rtl="0" eaLnBrk="1" fontAlgn="auto" latinLnBrk="0" hangingPunct="1">
              <a:lnSpc>
                <a:spcPct val="70000"/>
              </a:lnSpc>
              <a:spcBef>
                <a:spcPts val="960"/>
              </a:spcBef>
              <a:spcAft>
                <a:spcPts val="0"/>
              </a:spcAft>
              <a:buClrTx/>
              <a:buSzTx/>
              <a:buFont typeface="Arial MT"/>
              <a:buChar char="•"/>
              <a:tabLst>
                <a:tab pos="241935" algn="l"/>
              </a:tabLst>
              <a:defRPr/>
            </a:pPr>
            <a:r>
              <a:rPr kumimoji="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Assessment</a:t>
            </a:r>
            <a:r>
              <a:rPr kumimoji="0" b="1"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25" normalizeH="0" baseline="0" noProof="0" dirty="0">
                <a:ln>
                  <a:noFill/>
                </a:ln>
                <a:solidFill>
                  <a:prstClr val="black"/>
                </a:solidFill>
                <a:effectLst/>
                <a:uLnTx/>
                <a:uFillTx/>
                <a:latin typeface="Calibri"/>
                <a:ea typeface="+mn-ea"/>
                <a:cs typeface="Calibri"/>
              </a:rPr>
              <a:t>refers</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to</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15" normalizeH="0" baseline="0" noProof="0" dirty="0">
                <a:ln>
                  <a:noFill/>
                </a:ln>
                <a:solidFill>
                  <a:prstClr val="black"/>
                </a:solidFill>
                <a:effectLst/>
                <a:uLnTx/>
                <a:uFillTx/>
                <a:latin typeface="Calibri"/>
                <a:ea typeface="+mn-ea"/>
                <a:cs typeface="Calibri"/>
              </a:rPr>
              <a:t>overall</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combination</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of</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steps</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of</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identifying, </a:t>
            </a:r>
            <a:r>
              <a:rPr kumimoji="0" b="0" i="0" u="none" strike="noStrike" kern="1200" cap="none" spc="-5" normalizeH="0" baseline="0" noProof="0" dirty="0">
                <a:ln>
                  <a:noFill/>
                </a:ln>
                <a:solidFill>
                  <a:prstClr val="black"/>
                </a:solidFill>
                <a:effectLst/>
                <a:uLnTx/>
                <a:uFillTx/>
                <a:latin typeface="Calibri"/>
                <a:ea typeface="+mn-ea"/>
                <a:cs typeface="Calibri"/>
              </a:rPr>
              <a:t>evaluating, </a:t>
            </a:r>
            <a:r>
              <a:rPr kumimoji="0" b="0" i="0" u="none" strike="noStrike" kern="1200" cap="none" spc="-52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analyzing</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risk.</a:t>
            </a:r>
          </a:p>
          <a:p>
            <a:pPr marL="241300" marR="0" lvl="0" indent="-229235" algn="l" defTabSz="457200" rtl="0" eaLnBrk="1" fontAlgn="auto" latinLnBrk="0" hangingPunct="1">
              <a:lnSpc>
                <a:spcPts val="2450"/>
              </a:lnSpc>
              <a:spcBef>
                <a:spcPts val="135"/>
              </a:spcBef>
              <a:spcAft>
                <a:spcPts val="0"/>
              </a:spcAft>
              <a:buClrTx/>
              <a:buSzTx/>
              <a:buFont typeface="Arial MT"/>
              <a:buChar char="•"/>
              <a:tabLst>
                <a:tab pos="241935" algn="l"/>
              </a:tabLst>
              <a:defRPr/>
            </a:pPr>
            <a:r>
              <a:rPr kumimoji="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Risk Identification </a:t>
            </a:r>
            <a:r>
              <a:rPr kumimoji="0" b="0" i="0" u="none" strike="noStrike" kern="1200" cap="none" spc="-15" normalizeH="0" baseline="0" noProof="0" dirty="0">
                <a:ln>
                  <a:noFill/>
                </a:ln>
                <a:solidFill>
                  <a:prstClr val="black"/>
                </a:solidFill>
                <a:effectLst/>
                <a:uLnTx/>
                <a:uFillTx/>
                <a:latin typeface="Calibri"/>
                <a:ea typeface="+mn-ea"/>
                <a:cs typeface="Calibri"/>
              </a:rPr>
              <a:t>involves</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identifying </a:t>
            </a:r>
            <a:r>
              <a:rPr kumimoji="0" b="0" i="0" u="none" strike="noStrike" kern="1200" cap="none" spc="0" normalizeH="0" baseline="0" noProof="0" dirty="0">
                <a:ln>
                  <a:noFill/>
                </a:ln>
                <a:solidFill>
                  <a:prstClr val="black"/>
                </a:solidFill>
                <a:effectLst/>
                <a:uLnTx/>
                <a:uFillTx/>
                <a:latin typeface="Calibri"/>
                <a:ea typeface="+mn-ea"/>
                <a:cs typeface="Calibri"/>
              </a:rPr>
              <a:t>the</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threats,</a:t>
            </a:r>
            <a:r>
              <a:rPr kumimoji="0" b="0" i="0" u="none" strike="noStrike" kern="1200" cap="none" spc="-5" normalizeH="0" baseline="0" noProof="0" dirty="0">
                <a:ln>
                  <a:noFill/>
                </a:ln>
                <a:solidFill>
                  <a:prstClr val="black"/>
                </a:solidFill>
                <a:effectLst/>
                <a:uLnTx/>
                <a:uFillTx/>
                <a:latin typeface="Calibri"/>
                <a:ea typeface="+mn-ea"/>
                <a:cs typeface="Calibri"/>
              </a:rPr>
              <a:t> vulnerabilities,</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assets, </a:t>
            </a:r>
            <a:r>
              <a:rPr kumimoji="0" b="0" i="0" u="none" strike="noStrike" kern="1200" cap="none" spc="0" normalizeH="0" baseline="0" noProof="0" dirty="0">
                <a:ln>
                  <a:noFill/>
                </a:ln>
                <a:solidFill>
                  <a:prstClr val="black"/>
                </a:solidFill>
                <a:effectLst/>
                <a:uLnTx/>
                <a:uFillTx/>
                <a:latin typeface="Calibri"/>
                <a:ea typeface="+mn-ea"/>
                <a:cs typeface="Calibri"/>
              </a:rPr>
              <a:t>and</a:t>
            </a:r>
          </a:p>
          <a:p>
            <a:pPr marL="241300" marR="0" lvl="0" indent="0" algn="l" defTabSz="457200" rtl="0" eaLnBrk="1" fontAlgn="auto" latinLnBrk="0" hangingPunct="1">
              <a:lnSpc>
                <a:spcPts val="2450"/>
              </a:lnSpc>
              <a:spcBef>
                <a:spcPts val="0"/>
              </a:spcBef>
              <a:spcAft>
                <a:spcPts val="0"/>
              </a:spcAft>
              <a:buClrTx/>
              <a:buSzTx/>
              <a:buFontTx/>
              <a:buNone/>
              <a:tabLst/>
              <a:defRPr/>
            </a:pPr>
            <a:r>
              <a:rPr kumimoji="0" b="0" i="0" u="none" strike="noStrike" kern="1200" cap="none" spc="-10" normalizeH="0" baseline="0" noProof="0" dirty="0">
                <a:ln>
                  <a:noFill/>
                </a:ln>
                <a:solidFill>
                  <a:prstClr val="black"/>
                </a:solidFill>
                <a:effectLst/>
                <a:uLnTx/>
                <a:uFillTx/>
                <a:latin typeface="Calibri"/>
                <a:ea typeface="+mn-ea"/>
                <a:cs typeface="Calibri"/>
              </a:rPr>
              <a:t>existing</a:t>
            </a:r>
            <a:r>
              <a:rPr kumimoji="0" b="0" i="0" u="none" strike="noStrike" kern="1200" cap="none" spc="-60"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controls.</a:t>
            </a:r>
            <a:endParaRPr kumimoji="0" b="0" i="0" u="none" strike="noStrike" kern="1200" cap="none" spc="0"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ct val="70000"/>
              </a:lnSpc>
              <a:spcBef>
                <a:spcPts val="1005"/>
              </a:spcBef>
              <a:spcAft>
                <a:spcPts val="0"/>
              </a:spcAft>
              <a:buClrTx/>
              <a:buSzTx/>
              <a:buFont typeface="Arial MT"/>
              <a:buChar char="•"/>
              <a:tabLst>
                <a:tab pos="241935" algn="l"/>
              </a:tabLst>
              <a:defRPr/>
            </a:pPr>
            <a:r>
              <a:rPr kumimoji="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Evaluation </a:t>
            </a:r>
            <a:r>
              <a:rPr kumimoji="0" b="0" i="0" u="none" strike="noStrike" kern="1200" cap="none" spc="-15" normalizeH="0" baseline="0" noProof="0" dirty="0">
                <a:ln>
                  <a:noFill/>
                </a:ln>
                <a:solidFill>
                  <a:prstClr val="black"/>
                </a:solidFill>
                <a:effectLst/>
                <a:uLnTx/>
                <a:uFillTx/>
                <a:latin typeface="Calibri"/>
                <a:ea typeface="+mn-ea"/>
                <a:cs typeface="Calibri"/>
              </a:rPr>
              <a:t>focuses </a:t>
            </a:r>
            <a:r>
              <a:rPr kumimoji="0" b="0" i="0" u="none" strike="noStrike" kern="1200" cap="none" spc="-5" normalizeH="0" baseline="0" noProof="0" dirty="0">
                <a:ln>
                  <a:noFill/>
                </a:ln>
                <a:solidFill>
                  <a:prstClr val="black"/>
                </a:solidFill>
                <a:effectLst/>
                <a:uLnTx/>
                <a:uFillTx/>
                <a:latin typeface="Calibri"/>
                <a:ea typeface="+mn-ea"/>
                <a:cs typeface="Calibri"/>
              </a:rPr>
              <a:t>on determining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10" normalizeH="0" baseline="0" noProof="0" dirty="0">
                <a:ln>
                  <a:noFill/>
                </a:ln>
                <a:solidFill>
                  <a:prstClr val="black"/>
                </a:solidFill>
                <a:effectLst/>
                <a:uLnTx/>
                <a:uFillTx/>
                <a:latin typeface="Calibri"/>
                <a:ea typeface="+mn-ea"/>
                <a:cs typeface="Calibri"/>
              </a:rPr>
              <a:t>likelihood </a:t>
            </a:r>
            <a:r>
              <a:rPr kumimoji="0" b="0" i="0" u="none" strike="noStrike" kern="1200" cap="none" spc="0" normalizeH="0" baseline="0" noProof="0" dirty="0">
                <a:ln>
                  <a:noFill/>
                </a:ln>
                <a:solidFill>
                  <a:prstClr val="black"/>
                </a:solidFill>
                <a:effectLst/>
                <a:uLnTx/>
                <a:uFillTx/>
                <a:latin typeface="Calibri"/>
                <a:ea typeface="+mn-ea"/>
                <a:cs typeface="Calibri"/>
              </a:rPr>
              <a:t>and impact if the </a:t>
            </a:r>
            <a:r>
              <a:rPr kumimoji="0" b="0" i="0" u="none" strike="noStrike" kern="1200" cap="none" spc="-5" normalizeH="0" baseline="0" noProof="0" dirty="0">
                <a:ln>
                  <a:noFill/>
                </a:ln>
                <a:solidFill>
                  <a:prstClr val="black"/>
                </a:solidFill>
                <a:effectLst/>
                <a:uLnTx/>
                <a:uFillTx/>
                <a:latin typeface="Calibri"/>
                <a:ea typeface="+mn-ea"/>
                <a:cs typeface="Calibri"/>
              </a:rPr>
              <a:t>vulnerabilities </a:t>
            </a:r>
            <a:r>
              <a:rPr kumimoji="0" b="0" i="0" u="none" strike="noStrike" kern="1200" cap="none" spc="-530"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are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exploited by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10" normalizeH="0" baseline="0" noProof="0" dirty="0">
                <a:ln>
                  <a:noFill/>
                </a:ln>
                <a:solidFill>
                  <a:prstClr val="black"/>
                </a:solidFill>
                <a:effectLst/>
                <a:uLnTx/>
                <a:uFillTx/>
                <a:latin typeface="Calibri"/>
                <a:ea typeface="+mn-ea"/>
                <a:cs typeface="Calibri"/>
              </a:rPr>
              <a:t>threats,</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resulting</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in </a:t>
            </a:r>
            <a:r>
              <a:rPr kumimoji="0" b="0" i="0" u="none" strike="noStrike" kern="1200" cap="none" spc="-10" normalizeH="0" baseline="0" noProof="0" dirty="0">
                <a:ln>
                  <a:noFill/>
                </a:ln>
                <a:solidFill>
                  <a:prstClr val="black"/>
                </a:solidFill>
                <a:effectLst/>
                <a:uLnTx/>
                <a:uFillTx/>
                <a:latin typeface="Calibri"/>
                <a:ea typeface="+mn-ea"/>
                <a:cs typeface="Calibri"/>
              </a:rPr>
              <a:t>damage </a:t>
            </a:r>
            <a:r>
              <a:rPr kumimoji="0" b="0" i="0" u="none" strike="noStrike" kern="1200" cap="none" spc="-15" normalizeH="0" baseline="0" noProof="0" dirty="0">
                <a:ln>
                  <a:noFill/>
                </a:ln>
                <a:solidFill>
                  <a:prstClr val="black"/>
                </a:solidFill>
                <a:effectLst/>
                <a:uLnTx/>
                <a:uFillTx/>
                <a:latin typeface="Calibri"/>
                <a:ea typeface="+mn-ea"/>
                <a:cs typeface="Calibri"/>
              </a:rPr>
              <a:t>to</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5" normalizeH="0" baseline="0" noProof="0" dirty="0">
                <a:ln>
                  <a:noFill/>
                </a:ln>
                <a:solidFill>
                  <a:prstClr val="black"/>
                </a:solidFill>
                <a:effectLst/>
                <a:uLnTx/>
                <a:uFillTx/>
                <a:latin typeface="Calibri"/>
                <a:ea typeface="+mn-ea"/>
                <a:cs typeface="Calibri"/>
              </a:rPr>
              <a:t>asset</a:t>
            </a:r>
            <a:endParaRPr kumimoji="0" b="0" i="0" u="none" strike="noStrike" kern="1200" cap="none" spc="0" normalizeH="0" baseline="0" noProof="0" dirty="0">
              <a:ln>
                <a:noFill/>
              </a:ln>
              <a:solidFill>
                <a:prstClr val="black"/>
              </a:solidFill>
              <a:effectLst/>
              <a:uLnTx/>
              <a:uFillTx/>
              <a:latin typeface="Calibri"/>
              <a:ea typeface="+mn-ea"/>
              <a:cs typeface="Calibri"/>
            </a:endParaRPr>
          </a:p>
          <a:p>
            <a:pPr marL="241300" marR="19685" lvl="0" indent="-229235" algn="l" defTabSz="457200" rtl="0" eaLnBrk="1" fontAlgn="auto" latinLnBrk="0" hangingPunct="1">
              <a:lnSpc>
                <a:spcPct val="70000"/>
              </a:lnSpc>
              <a:spcBef>
                <a:spcPts val="1000"/>
              </a:spcBef>
              <a:spcAft>
                <a:spcPts val="0"/>
              </a:spcAft>
              <a:buClrTx/>
              <a:buSzTx/>
              <a:buFont typeface="Arial MT"/>
              <a:buChar char="•"/>
              <a:tabLst>
                <a:tab pos="241935" algn="l"/>
              </a:tabLst>
              <a:defRPr/>
            </a:pPr>
            <a:r>
              <a:rPr kumimoji="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Risk analysis </a:t>
            </a:r>
            <a:r>
              <a:rPr kumimoji="0" b="0" i="0" u="none" strike="noStrike" kern="1200" cap="none" spc="-5" normalizeH="0" baseline="0" noProof="0" dirty="0">
                <a:ln>
                  <a:noFill/>
                </a:ln>
                <a:solidFill>
                  <a:prstClr val="black"/>
                </a:solidFill>
                <a:effectLst/>
                <a:uLnTx/>
                <a:uFillTx/>
                <a:latin typeface="Calibri"/>
                <a:ea typeface="+mn-ea"/>
                <a:cs typeface="Calibri"/>
              </a:rPr>
              <a:t>puts everything </a:t>
            </a:r>
            <a:r>
              <a:rPr kumimoji="0" b="0" i="0" u="none" strike="noStrike" kern="1200" cap="none" spc="-10" normalizeH="0" baseline="0" noProof="0" dirty="0">
                <a:ln>
                  <a:noFill/>
                </a:ln>
                <a:solidFill>
                  <a:prstClr val="black"/>
                </a:solidFill>
                <a:effectLst/>
                <a:uLnTx/>
                <a:uFillTx/>
                <a:latin typeface="Calibri"/>
                <a:ea typeface="+mn-ea"/>
                <a:cs typeface="Calibri"/>
              </a:rPr>
              <a:t>together </a:t>
            </a:r>
            <a:r>
              <a:rPr kumimoji="0" b="0" i="0" u="none" strike="noStrike" kern="1200" cap="none" spc="0" normalizeH="0" baseline="0" noProof="0" dirty="0">
                <a:ln>
                  <a:noFill/>
                </a:ln>
                <a:solidFill>
                  <a:prstClr val="black"/>
                </a:solidFill>
                <a:effectLst/>
                <a:uLnTx/>
                <a:uFillTx/>
                <a:latin typeface="Calibri"/>
                <a:ea typeface="+mn-ea"/>
                <a:cs typeface="Calibri"/>
              </a:rPr>
              <a:t>and </a:t>
            </a:r>
            <a:r>
              <a:rPr kumimoji="0" b="0" i="0" u="none" strike="noStrike" kern="1200" cap="none" spc="-15" normalizeH="0" baseline="0" noProof="0" dirty="0">
                <a:ln>
                  <a:noFill/>
                </a:ln>
                <a:solidFill>
                  <a:prstClr val="black"/>
                </a:solidFill>
                <a:effectLst/>
                <a:uLnTx/>
                <a:uFillTx/>
                <a:latin typeface="Calibri"/>
                <a:ea typeface="+mn-ea"/>
                <a:cs typeface="Calibri"/>
              </a:rPr>
              <a:t>informs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15" normalizeH="0" baseline="0" noProof="0" dirty="0">
                <a:ln>
                  <a:noFill/>
                </a:ln>
                <a:solidFill>
                  <a:prstClr val="black"/>
                </a:solidFill>
                <a:effectLst/>
                <a:uLnTx/>
                <a:uFillTx/>
                <a:latin typeface="Calibri"/>
                <a:ea typeface="+mn-ea"/>
                <a:cs typeface="Calibri"/>
              </a:rPr>
              <a:t>organization </a:t>
            </a:r>
            <a:r>
              <a:rPr kumimoji="0" b="0" i="0" u="none" strike="noStrike" kern="1200" cap="none" spc="0" normalizeH="0" baseline="0" noProof="0" dirty="0">
                <a:ln>
                  <a:noFill/>
                </a:ln>
                <a:solidFill>
                  <a:prstClr val="black"/>
                </a:solidFill>
                <a:effectLst/>
                <a:uLnTx/>
                <a:uFillTx/>
                <a:latin typeface="Calibri"/>
                <a:ea typeface="+mn-ea"/>
                <a:cs typeface="Calibri"/>
              </a:rPr>
              <a:t>about the </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realistic</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risk</a:t>
            </a:r>
            <a:r>
              <a:rPr kumimoji="0" b="0" i="0" u="none" strike="noStrike" kern="1200" cap="none" spc="-15" normalizeH="0" baseline="0" noProof="0" dirty="0">
                <a:ln>
                  <a:noFill/>
                </a:ln>
                <a:solidFill>
                  <a:prstClr val="black"/>
                </a:solidFill>
                <a:effectLst/>
                <a:uLnTx/>
                <a:uFillTx/>
                <a:latin typeface="Calibri"/>
                <a:ea typeface="+mn-ea"/>
                <a:cs typeface="Calibri"/>
              </a:rPr>
              <a:t> involved</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 </a:t>
            </a:r>
            <a:r>
              <a:rPr kumimoji="0" b="0" i="0" u="none" strike="noStrike" kern="1200" cap="none" spc="-10" normalizeH="0" baseline="0" noProof="0" dirty="0">
                <a:ln>
                  <a:noFill/>
                </a:ln>
                <a:solidFill>
                  <a:prstClr val="black"/>
                </a:solidFill>
                <a:effectLst/>
                <a:uLnTx/>
                <a:uFillTx/>
                <a:latin typeface="Calibri"/>
                <a:ea typeface="+mn-ea"/>
                <a:cs typeface="Calibri"/>
              </a:rPr>
              <a:t>helps</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determine</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how</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effective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existing</a:t>
            </a:r>
            <a:r>
              <a:rPr kumimoji="0" b="0" i="0" u="none" strike="noStrike" kern="1200" cap="none" spc="-30"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controls are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 </a:t>
            </a:r>
            <a:r>
              <a:rPr kumimoji="0" b="0" i="0" u="none" strike="noStrike" kern="1200" cap="none" spc="-53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what</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gaps</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exist </a:t>
            </a:r>
            <a:r>
              <a:rPr kumimoji="0" b="0" i="0" u="none" strike="noStrike" kern="1200" cap="none" spc="-5" normalizeH="0" baseline="0" noProof="0" dirty="0">
                <a:ln>
                  <a:noFill/>
                </a:ln>
                <a:solidFill>
                  <a:prstClr val="black"/>
                </a:solidFill>
                <a:effectLst/>
                <a:uLnTx/>
                <a:uFillTx/>
                <a:latin typeface="Calibri"/>
                <a:ea typeface="+mn-ea"/>
                <a:cs typeface="Calibri"/>
              </a:rPr>
              <a:t>between </a:t>
            </a:r>
            <a:r>
              <a:rPr kumimoji="0" b="0" i="0" u="none" strike="noStrike" kern="1200" cap="none" spc="-10" normalizeH="0" baseline="0" noProof="0" dirty="0">
                <a:ln>
                  <a:noFill/>
                </a:ln>
                <a:solidFill>
                  <a:prstClr val="black"/>
                </a:solidFill>
                <a:effectLst/>
                <a:uLnTx/>
                <a:uFillTx/>
                <a:latin typeface="Calibri"/>
                <a:ea typeface="+mn-ea"/>
                <a:cs typeface="Calibri"/>
              </a:rPr>
              <a:t>current</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desired</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20" normalizeH="0" baseline="0" noProof="0" dirty="0">
                <a:ln>
                  <a:noFill/>
                </a:ln>
                <a:solidFill>
                  <a:prstClr val="black"/>
                </a:solidFill>
                <a:effectLst/>
                <a:uLnTx/>
                <a:uFillTx/>
                <a:latin typeface="Calibri"/>
                <a:ea typeface="+mn-ea"/>
                <a:cs typeface="Calibri"/>
              </a:rPr>
              <a:t>states</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of</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risk.</a:t>
            </a:r>
          </a:p>
          <a:p>
            <a:pPr marL="241300" marR="213360" lvl="0" indent="-229235" algn="l" defTabSz="457200" rtl="0" eaLnBrk="1" fontAlgn="auto" latinLnBrk="0" hangingPunct="1">
              <a:lnSpc>
                <a:spcPct val="70000"/>
              </a:lnSpc>
              <a:spcBef>
                <a:spcPts val="994"/>
              </a:spcBef>
              <a:spcAft>
                <a:spcPts val="0"/>
              </a:spcAft>
              <a:buClrTx/>
              <a:buSzTx/>
              <a:buFont typeface="Arial MT"/>
              <a:buChar char="•"/>
              <a:tabLst>
                <a:tab pos="241935" algn="l"/>
              </a:tabLst>
              <a:defRPr/>
            </a:pPr>
            <a:r>
              <a:rPr kumimoji="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Risk assessment </a:t>
            </a:r>
            <a:r>
              <a:rPr kumimoji="0" b="0" i="0" u="none" strike="noStrike" kern="1200" cap="none" spc="-10" normalizeH="0" baseline="0" noProof="0" dirty="0">
                <a:ln>
                  <a:noFill/>
                </a:ln>
                <a:solidFill>
                  <a:prstClr val="black"/>
                </a:solidFill>
                <a:effectLst/>
                <a:uLnTx/>
                <a:uFillTx/>
                <a:latin typeface="Calibri"/>
                <a:ea typeface="+mn-ea"/>
                <a:cs typeface="Calibri"/>
              </a:rPr>
              <a:t>processes</a:t>
            </a:r>
            <a:r>
              <a:rPr kumimoji="0" b="0" i="0" u="none" strike="noStrike" kern="1200" cap="none" spc="-15" normalizeH="0" baseline="0" noProof="0" dirty="0">
                <a:ln>
                  <a:noFill/>
                </a:ln>
                <a:solidFill>
                  <a:prstClr val="black"/>
                </a:solidFill>
                <a:effectLst/>
                <a:uLnTx/>
                <a:uFillTx/>
                <a:latin typeface="Calibri"/>
                <a:ea typeface="+mn-ea"/>
                <a:cs typeface="Calibri"/>
              </a:rPr>
              <a:t> may</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include</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risk</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identification</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piece</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depending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upon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framework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standard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you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are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using</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In </a:t>
            </a:r>
            <a:r>
              <a:rPr kumimoji="0" b="0" i="0" u="none" strike="noStrike" kern="1200" cap="none" spc="-10" normalizeH="0" baseline="0" noProof="0" dirty="0">
                <a:ln>
                  <a:noFill/>
                </a:ln>
                <a:solidFill>
                  <a:prstClr val="black"/>
                </a:solidFill>
                <a:effectLst/>
                <a:uLnTx/>
                <a:uFillTx/>
                <a:latin typeface="Calibri"/>
                <a:ea typeface="+mn-ea"/>
                <a:cs typeface="Calibri"/>
              </a:rPr>
              <a:t>general, </a:t>
            </a:r>
            <a:r>
              <a:rPr kumimoji="0" b="0" i="0" u="none" strike="noStrike" kern="1200" cap="none" spc="0" normalizeH="0" baseline="0" noProof="0" dirty="0">
                <a:ln>
                  <a:noFill/>
                </a:ln>
                <a:solidFill>
                  <a:prstClr val="black"/>
                </a:solidFill>
                <a:effectLst/>
                <a:uLnTx/>
                <a:uFillTx/>
                <a:latin typeface="Calibri"/>
                <a:ea typeface="+mn-ea"/>
                <a:cs typeface="Calibri"/>
              </a:rPr>
              <a:t>this </a:t>
            </a:r>
            <a:r>
              <a:rPr kumimoji="0" b="0" i="0" u="none" strike="noStrike" kern="1200" cap="none" spc="-10" normalizeH="0" baseline="0" noProof="0" dirty="0">
                <a:ln>
                  <a:noFill/>
                </a:ln>
                <a:solidFill>
                  <a:prstClr val="black"/>
                </a:solidFill>
                <a:effectLst/>
                <a:uLnTx/>
                <a:uFillTx/>
                <a:latin typeface="Calibri"/>
                <a:ea typeface="+mn-ea"/>
                <a:cs typeface="Calibri"/>
              </a:rPr>
              <a:t>process </a:t>
            </a:r>
            <a:r>
              <a:rPr kumimoji="0" b="0" i="0" u="none" strike="noStrike" kern="1200" cap="none" spc="0" normalizeH="0" baseline="0" noProof="0" dirty="0">
                <a:ln>
                  <a:noFill/>
                </a:ln>
                <a:solidFill>
                  <a:prstClr val="black"/>
                </a:solidFill>
                <a:effectLst/>
                <a:uLnTx/>
                <a:uFillTx/>
                <a:latin typeface="Calibri"/>
                <a:ea typeface="+mn-ea"/>
                <a:cs typeface="Calibri"/>
              </a:rPr>
              <a:t>includes </a:t>
            </a:r>
            <a:r>
              <a:rPr kumimoji="0" b="0" i="0" u="none" strike="noStrike" kern="1200" cap="none" spc="-53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threat source </a:t>
            </a:r>
            <a:r>
              <a:rPr kumimoji="0" b="0" i="0" u="none" strike="noStrike" kern="1200" cap="none" spc="0" normalizeH="0" baseline="0" noProof="0" dirty="0">
                <a:ln>
                  <a:noFill/>
                </a:ln>
                <a:solidFill>
                  <a:prstClr val="black"/>
                </a:solidFill>
                <a:effectLst/>
                <a:uLnTx/>
                <a:uFillTx/>
                <a:latin typeface="Calibri"/>
                <a:ea typeface="+mn-ea"/>
                <a:cs typeface="Calibri"/>
              </a:rPr>
              <a:t>and </a:t>
            </a:r>
            <a:r>
              <a:rPr kumimoji="0" b="0" i="0" u="none" strike="noStrike" kern="1200" cap="none" spc="-15" normalizeH="0" baseline="0" noProof="0" dirty="0">
                <a:ln>
                  <a:noFill/>
                </a:ln>
                <a:solidFill>
                  <a:prstClr val="black"/>
                </a:solidFill>
                <a:effectLst/>
                <a:uLnTx/>
                <a:uFillTx/>
                <a:latin typeface="Calibri"/>
                <a:ea typeface="+mn-ea"/>
                <a:cs typeface="Calibri"/>
              </a:rPr>
              <a:t>event </a:t>
            </a:r>
            <a:r>
              <a:rPr kumimoji="0" b="0" i="0" u="none" strike="noStrike" kern="1200" cap="none" spc="-5" normalizeH="0" baseline="0" noProof="0" dirty="0">
                <a:ln>
                  <a:noFill/>
                </a:ln>
                <a:solidFill>
                  <a:prstClr val="black"/>
                </a:solidFill>
                <a:effectLst/>
                <a:uLnTx/>
                <a:uFillTx/>
                <a:latin typeface="Calibri"/>
                <a:ea typeface="+mn-ea"/>
                <a:cs typeface="Calibri"/>
              </a:rPr>
              <a:t>identification, vulnerability identification, </a:t>
            </a:r>
            <a:r>
              <a:rPr kumimoji="0" b="0" i="0" u="none" strike="noStrike" kern="1200" cap="none" spc="-15" normalizeH="0" baseline="0" noProof="0" dirty="0">
                <a:ln>
                  <a:noFill/>
                </a:ln>
                <a:solidFill>
                  <a:prstClr val="black"/>
                </a:solidFill>
                <a:effectLst/>
                <a:uLnTx/>
                <a:uFillTx/>
                <a:latin typeface="Calibri"/>
                <a:ea typeface="+mn-ea"/>
                <a:cs typeface="Calibri"/>
              </a:rPr>
              <a:t>control </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analysis, </a:t>
            </a:r>
            <a:r>
              <a:rPr kumimoji="0" b="0" i="0" u="none" strike="noStrike" kern="1200" cap="none" spc="-10" normalizeH="0" baseline="0" noProof="0" dirty="0">
                <a:ln>
                  <a:noFill/>
                </a:ln>
                <a:solidFill>
                  <a:prstClr val="black"/>
                </a:solidFill>
                <a:effectLst/>
                <a:uLnTx/>
                <a:uFillTx/>
                <a:latin typeface="Calibri"/>
                <a:ea typeface="+mn-ea"/>
                <a:cs typeface="Calibri"/>
              </a:rPr>
              <a:t>likelihood </a:t>
            </a:r>
            <a:r>
              <a:rPr kumimoji="0" b="0" i="0" u="none" strike="noStrike" kern="1200" cap="none" spc="-5" normalizeH="0" baseline="0" noProof="0" dirty="0">
                <a:ln>
                  <a:noFill/>
                </a:ln>
                <a:solidFill>
                  <a:prstClr val="black"/>
                </a:solidFill>
                <a:effectLst/>
                <a:uLnTx/>
                <a:uFillTx/>
                <a:latin typeface="Calibri"/>
                <a:ea typeface="+mn-ea"/>
                <a:cs typeface="Calibri"/>
              </a:rPr>
              <a:t>determination, </a:t>
            </a:r>
            <a:r>
              <a:rPr kumimoji="0" b="0" i="0" u="none" strike="noStrike" kern="1200" cap="none" spc="0" normalizeH="0" baseline="0" noProof="0" dirty="0">
                <a:ln>
                  <a:noFill/>
                </a:ln>
                <a:solidFill>
                  <a:prstClr val="black"/>
                </a:solidFill>
                <a:effectLst/>
                <a:uLnTx/>
                <a:uFillTx/>
                <a:latin typeface="Calibri"/>
                <a:ea typeface="+mn-ea"/>
                <a:cs typeface="Calibri"/>
              </a:rPr>
              <a:t>impact </a:t>
            </a:r>
            <a:r>
              <a:rPr kumimoji="0" b="0" i="0" u="none" strike="noStrike" kern="1200" cap="none" spc="-5" normalizeH="0" baseline="0" noProof="0" dirty="0">
                <a:ln>
                  <a:noFill/>
                </a:ln>
                <a:solidFill>
                  <a:prstClr val="black"/>
                </a:solidFill>
                <a:effectLst/>
                <a:uLnTx/>
                <a:uFillTx/>
                <a:latin typeface="Calibri"/>
                <a:ea typeface="+mn-ea"/>
                <a:cs typeface="Calibri"/>
              </a:rPr>
              <a:t>analysis, </a:t>
            </a:r>
            <a:r>
              <a:rPr kumimoji="0" b="0" i="0" u="none" strike="noStrike" kern="1200" cap="none" spc="0" normalizeH="0" baseline="0" noProof="0" dirty="0">
                <a:ln>
                  <a:noFill/>
                </a:ln>
                <a:solidFill>
                  <a:prstClr val="black"/>
                </a:solidFill>
                <a:effectLst/>
                <a:uLnTx/>
                <a:uFillTx/>
                <a:latin typeface="Calibri"/>
                <a:ea typeface="+mn-ea"/>
                <a:cs typeface="Calibri"/>
              </a:rPr>
              <a:t>risk </a:t>
            </a:r>
            <a:r>
              <a:rPr kumimoji="0" b="0" i="0" u="none" strike="noStrike" kern="1200" cap="none" spc="-5" normalizeH="0" baseline="0" noProof="0" dirty="0">
                <a:ln>
                  <a:noFill/>
                </a:ln>
                <a:solidFill>
                  <a:prstClr val="black"/>
                </a:solidFill>
                <a:effectLst/>
                <a:uLnTx/>
                <a:uFillTx/>
                <a:latin typeface="Calibri"/>
                <a:ea typeface="+mn-ea"/>
                <a:cs typeface="Calibri"/>
              </a:rPr>
              <a:t>determination, </a:t>
            </a:r>
            <a:r>
              <a:rPr kumimoji="0" b="0" i="0" u="none" strike="noStrike" kern="1200" cap="none" spc="-15" normalizeH="0" baseline="0" noProof="0" dirty="0">
                <a:ln>
                  <a:noFill/>
                </a:ln>
                <a:solidFill>
                  <a:prstClr val="black"/>
                </a:solidFill>
                <a:effectLst/>
                <a:uLnTx/>
                <a:uFillTx/>
                <a:latin typeface="Calibri"/>
                <a:ea typeface="+mn-ea"/>
                <a:cs typeface="Calibri"/>
              </a:rPr>
              <a:t>control </a:t>
            </a:r>
            <a:r>
              <a:rPr kumimoji="0" b="0" i="0" u="none" strike="noStrike" kern="1200" cap="none" spc="-10" normalizeH="0" baseline="0" noProof="0" dirty="0">
                <a:ln>
                  <a:noFill/>
                </a:ln>
                <a:solidFill>
                  <a:prstClr val="black"/>
                </a:solidFill>
                <a:effectLst/>
                <a:uLnTx/>
                <a:uFillTx/>
                <a:latin typeface="Calibri"/>
                <a:ea typeface="+mn-ea"/>
                <a:cs typeface="Calibri"/>
              </a:rPr>
              <a:t> recommendations,</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a:t>
            </a:r>
            <a:r>
              <a:rPr kumimoji="0" b="0" i="0" u="none" strike="noStrike" kern="1200" cap="none" spc="-5" normalizeH="0" baseline="0" noProof="0" dirty="0">
                <a:ln>
                  <a:noFill/>
                </a:ln>
                <a:solidFill>
                  <a:prstClr val="black"/>
                </a:solidFill>
                <a:effectLst/>
                <a:uLnTx/>
                <a:uFillTx/>
                <a:latin typeface="Calibri"/>
                <a:ea typeface="+mn-ea"/>
                <a:cs typeface="Calibri"/>
              </a:rPr>
              <a:t> results</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documentation.</a:t>
            </a:r>
            <a:endParaRPr kumimoji="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252418" y="1362549"/>
            <a:ext cx="8387716" cy="3070071"/>
          </a:xfrm>
          <a:prstGeom prst="rect">
            <a:avLst/>
          </a:prstGeom>
        </p:spPr>
        <p:txBody>
          <a:bodyPr vert="horz" wrap="square" lIns="0" tIns="60960" rIns="0" bIns="0" rtlCol="0">
            <a:spAutoFit/>
          </a:bodyPr>
          <a:lstStyle/>
          <a:p>
            <a:pPr marL="241300" marR="5080" lvl="0" indent="-229235" algn="l" defTabSz="457200" rtl="0" eaLnBrk="1" fontAlgn="auto" latinLnBrk="0" hangingPunct="1">
              <a:lnSpc>
                <a:spcPts val="3020"/>
              </a:lnSpc>
              <a:spcBef>
                <a:spcPts val="480"/>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Uses</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combination</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25" normalizeH="0" baseline="0" noProof="0" dirty="0">
                <a:ln>
                  <a:noFill/>
                </a:ln>
                <a:solidFill>
                  <a:prstClr val="black"/>
                </a:solidFill>
                <a:effectLst/>
                <a:uLnTx/>
                <a:uFillTx/>
                <a:latin typeface="Calibri"/>
                <a:ea typeface="+mn-ea"/>
                <a:cs typeface="Calibri"/>
              </a:rPr>
              <a:t>four</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methods,</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designed</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collect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various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types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15" normalizeH="0" baseline="0" noProof="0" dirty="0">
                <a:ln>
                  <a:noFill/>
                </a:ln>
                <a:solidFill>
                  <a:prstClr val="black"/>
                </a:solidFill>
                <a:effectLst/>
                <a:uLnTx/>
                <a:uFillTx/>
                <a:latin typeface="Calibri"/>
                <a:ea typeface="+mn-ea"/>
                <a:cs typeface="Calibri"/>
              </a:rPr>
              <a:t>qualitative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quantitative</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data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from</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different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sources.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635"/>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Methods</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complement</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support</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one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40" normalizeH="0" baseline="0" noProof="0" dirty="0">
                <a:ln>
                  <a:noFill/>
                </a:ln>
                <a:solidFill>
                  <a:prstClr val="black"/>
                </a:solidFill>
                <a:effectLst/>
                <a:uLnTx/>
                <a:uFillTx/>
                <a:latin typeface="Calibri"/>
                <a:ea typeface="+mn-ea"/>
                <a:cs typeface="Calibri"/>
              </a:rPr>
              <a:t>another.</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660"/>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The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four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main </a:t>
            </a:r>
            <a:r>
              <a:rPr kumimoji="0" sz="2400" b="0" i="0" u="none" strike="noStrike" kern="1200" cap="none" spc="-10" normalizeH="0" baseline="0" noProof="0" dirty="0">
                <a:ln>
                  <a:noFill/>
                </a:ln>
                <a:solidFill>
                  <a:prstClr val="black"/>
                </a:solidFill>
                <a:effectLst/>
                <a:uLnTx/>
                <a:uFillTx/>
                <a:latin typeface="Calibri"/>
                <a:ea typeface="+mn-ea"/>
                <a:cs typeface="Calibri"/>
              </a:rPr>
              <a:t>methods</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20" normalizeH="0" baseline="0" noProof="0" dirty="0">
                <a:ln>
                  <a:noFill/>
                </a:ln>
                <a:solidFill>
                  <a:prstClr val="black"/>
                </a:solidFill>
                <a:effectLst/>
                <a:uLnTx/>
                <a:uFillTx/>
                <a:latin typeface="Calibri"/>
                <a:ea typeface="+mn-ea"/>
                <a:cs typeface="Calibri"/>
              </a:rPr>
              <a:t>data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collection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are: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44"/>
              </a:spcBef>
              <a:spcAft>
                <a:spcPts val="0"/>
              </a:spcAft>
              <a:buClrTx/>
              <a:buSzTx/>
              <a:buFont typeface="Arial MT"/>
              <a:buChar char="•"/>
              <a:tabLst>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Conducting</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interviews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04"/>
              </a:spcBef>
              <a:spcAft>
                <a:spcPts val="0"/>
              </a:spcAft>
              <a:buClrTx/>
              <a:buSzTx/>
              <a:buFont typeface="Arial MT"/>
              <a:buChar char="•"/>
              <a:tabLst>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Reviewing</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documentation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15"/>
              </a:spcBef>
              <a:spcAft>
                <a:spcPts val="0"/>
              </a:spcAft>
              <a:buClrTx/>
              <a:buSzTx/>
              <a:buFont typeface="Arial MT"/>
              <a:buChar char="•"/>
              <a:tabLst>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Observing</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systems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5" normalizeH="0" baseline="0" noProof="0" dirty="0">
                <a:ln>
                  <a:noFill/>
                </a:ln>
                <a:solidFill>
                  <a:prstClr val="black"/>
                </a:solidFill>
                <a:effectLst/>
                <a:uLnTx/>
                <a:uFillTx/>
                <a:latin typeface="Calibri"/>
                <a:ea typeface="+mn-ea"/>
                <a:cs typeface="Calibri"/>
              </a:rPr>
              <a:t>assets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operation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15"/>
              </a:spcBef>
              <a:spcAft>
                <a:spcPts val="0"/>
              </a:spcAft>
              <a:buClrTx/>
              <a:buSzTx/>
              <a:buFont typeface="Arial MT"/>
              <a:buChar char="•"/>
              <a:tabLst>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Performing</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technical</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testing</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5" name="TextBox 4">
            <a:extLst>
              <a:ext uri="{FF2B5EF4-FFF2-40B4-BE49-F238E27FC236}">
                <a16:creationId xmlns:a16="http://schemas.microsoft.com/office/drawing/2014/main" id="{261FCB54-BD82-1225-C833-31CC7DD72C16}"/>
              </a:ext>
            </a:extLst>
          </p:cNvPr>
          <p:cNvSpPr txBox="1"/>
          <p:nvPr/>
        </p:nvSpPr>
        <p:spPr>
          <a:xfrm>
            <a:off x="406546" y="464498"/>
            <a:ext cx="10988283" cy="707886"/>
          </a:xfrm>
          <a:prstGeom prst="rect">
            <a:avLst/>
          </a:prstGeom>
          <a:noFill/>
        </p:spPr>
        <p:txBody>
          <a:bodyPr wrap="square">
            <a:spAutoFit/>
          </a:bodyPr>
          <a:lstStyle/>
          <a:p>
            <a:r>
              <a:rPr kumimoji="0" lang="en-US" sz="4000" b="0" i="0" u="sng" strike="noStrike" kern="1200" cap="none" spc="-10" normalizeH="0" baseline="0" noProof="0" dirty="0">
                <a:ln>
                  <a:noFill/>
                </a:ln>
                <a:solidFill>
                  <a:srgbClr val="074891"/>
                </a:solidFill>
                <a:effectLst/>
                <a:uLnTx/>
                <a:uFill>
                  <a:solidFill>
                    <a:srgbClr val="000000"/>
                  </a:solidFill>
                </a:uFill>
                <a:latin typeface="Century Gothic" panose="020B0502020202020204"/>
                <a:ea typeface="+mj-ea"/>
                <a:cs typeface="+mj-cs"/>
              </a:rPr>
              <a:t>Collecting Data for the Assessment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35" dirty="0">
                <a:solidFill>
                  <a:srgbClr val="074891"/>
                </a:solidFill>
                <a:uFill>
                  <a:solidFill>
                    <a:srgbClr val="000000"/>
                  </a:solidFill>
                </a:uFill>
              </a:rPr>
              <a:t>Conducting</a:t>
            </a:r>
            <a:r>
              <a:rPr sz="4400" u="sng" spc="-125" dirty="0">
                <a:solidFill>
                  <a:srgbClr val="074891"/>
                </a:solidFill>
                <a:uFill>
                  <a:solidFill>
                    <a:srgbClr val="000000"/>
                  </a:solidFill>
                </a:uFill>
              </a:rPr>
              <a:t> </a:t>
            </a:r>
            <a:r>
              <a:rPr sz="4400" u="sng" spc="-40" dirty="0">
                <a:solidFill>
                  <a:srgbClr val="074891"/>
                </a:solidFill>
                <a:uFill>
                  <a:solidFill>
                    <a:srgbClr val="000000"/>
                  </a:solidFill>
                </a:uFill>
              </a:rPr>
              <a:t>Interviews</a:t>
            </a:r>
            <a:br>
              <a:rPr lang="en-US" sz="4400" u="heavy" spc="-40" dirty="0">
                <a:solidFill>
                  <a:srgbClr val="074891"/>
                </a:solidFill>
                <a:uFill>
                  <a:solidFill>
                    <a:srgbClr val="000000"/>
                  </a:solidFill>
                </a:uFill>
              </a:rPr>
            </a:br>
            <a:endParaRPr sz="4400" dirty="0"/>
          </a:p>
        </p:txBody>
      </p:sp>
      <p:sp>
        <p:nvSpPr>
          <p:cNvPr id="3" name="object 3"/>
          <p:cNvSpPr txBox="1"/>
          <p:nvPr/>
        </p:nvSpPr>
        <p:spPr>
          <a:xfrm>
            <a:off x="1143000" y="1344775"/>
            <a:ext cx="8387715" cy="4274119"/>
          </a:xfrm>
          <a:prstGeom prst="rect">
            <a:avLst/>
          </a:prstGeom>
        </p:spPr>
        <p:txBody>
          <a:bodyPr vert="horz" wrap="square" lIns="0" tIns="13335" rIns="0" bIns="0" rtlCol="0">
            <a:spAutoFit/>
          </a:bodyPr>
          <a:lstStyle/>
          <a:p>
            <a:pPr marL="241300" marR="0" lvl="0" indent="-229235" algn="l" defTabSz="457200" rtl="0" eaLnBrk="1" fontAlgn="auto" latinLnBrk="0" hangingPunct="1">
              <a:lnSpc>
                <a:spcPct val="100000"/>
              </a:lnSpc>
              <a:spcBef>
                <a:spcPts val="105"/>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One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0" normalizeH="0" baseline="0" noProof="0" dirty="0">
                <a:ln>
                  <a:noFill/>
                </a:ln>
                <a:solidFill>
                  <a:prstClr val="black"/>
                </a:solidFill>
                <a:effectLst/>
                <a:uLnTx/>
                <a:uFillTx/>
                <a:latin typeface="Calibri"/>
                <a:ea typeface="+mn-ea"/>
                <a:cs typeface="Calibri"/>
              </a:rPr>
              <a:t>the</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best</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methods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start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collecting</a:t>
            </a:r>
            <a:r>
              <a:rPr kumimoji="0" sz="2400" b="0" i="0" u="none" strike="noStrike" kern="1200" cap="none" spc="-15" normalizeH="0" baseline="0" noProof="0" dirty="0">
                <a:ln>
                  <a:noFill/>
                </a:ln>
                <a:solidFill>
                  <a:prstClr val="black"/>
                </a:solidFill>
                <a:effectLst/>
                <a:uLnTx/>
                <a:uFillTx/>
                <a:latin typeface="Calibri"/>
                <a:ea typeface="+mn-ea"/>
                <a:cs typeface="Calibri"/>
              </a:rPr>
              <a:t> data</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77470" lvl="0" indent="-229235" algn="l" defTabSz="457200" rtl="0" eaLnBrk="1" fontAlgn="auto" latinLnBrk="0" hangingPunct="1">
              <a:lnSpc>
                <a:spcPct val="70000"/>
              </a:lnSpc>
              <a:spcBef>
                <a:spcPts val="995"/>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Interviews </a:t>
            </a:r>
            <a:r>
              <a:rPr kumimoji="0" sz="2400" b="0" i="0" u="none" strike="noStrike" kern="1200" cap="none" spc="-5" normalizeH="0" baseline="0" noProof="0" dirty="0">
                <a:ln>
                  <a:noFill/>
                </a:ln>
                <a:solidFill>
                  <a:prstClr val="black"/>
                </a:solidFill>
                <a:effectLst/>
                <a:uLnTx/>
                <a:uFillTx/>
                <a:latin typeface="Calibri"/>
                <a:ea typeface="+mn-ea"/>
                <a:cs typeface="Calibri"/>
              </a:rPr>
              <a:t>should be scheduled </a:t>
            </a:r>
            <a:r>
              <a:rPr kumimoji="0" sz="2400" b="0" i="0" u="none" strike="noStrike" kern="1200" cap="none" spc="0" normalizeH="0" baseline="0" noProof="0" dirty="0">
                <a:ln>
                  <a:noFill/>
                </a:ln>
                <a:solidFill>
                  <a:prstClr val="black"/>
                </a:solidFill>
                <a:effectLst/>
                <a:uLnTx/>
                <a:uFillTx/>
                <a:latin typeface="Calibri"/>
                <a:ea typeface="+mn-ea"/>
                <a:cs typeface="Calibri"/>
              </a:rPr>
              <a:t>with </a:t>
            </a:r>
            <a:r>
              <a:rPr kumimoji="0" sz="2400" b="0" i="0" u="none" strike="noStrike" kern="1200" cap="none" spc="-30" normalizeH="0" baseline="0" noProof="0" dirty="0">
                <a:ln>
                  <a:noFill/>
                </a:ln>
                <a:solidFill>
                  <a:prstClr val="black"/>
                </a:solidFill>
                <a:effectLst/>
                <a:uLnTx/>
                <a:uFillTx/>
                <a:latin typeface="Calibri"/>
                <a:ea typeface="+mn-ea"/>
                <a:cs typeface="Calibri"/>
              </a:rPr>
              <a:t>key </a:t>
            </a:r>
            <a:r>
              <a:rPr kumimoji="0" sz="2400" b="0" i="0" u="none" strike="noStrike" kern="1200" cap="none" spc="-10" normalizeH="0" baseline="0" noProof="0" dirty="0">
                <a:ln>
                  <a:noFill/>
                </a:ln>
                <a:solidFill>
                  <a:prstClr val="black"/>
                </a:solidFill>
                <a:effectLst/>
                <a:uLnTx/>
                <a:uFillTx/>
                <a:latin typeface="Calibri"/>
                <a:ea typeface="+mn-ea"/>
                <a:cs typeface="Calibri"/>
              </a:rPr>
              <a:t>personnel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10" normalizeH="0" baseline="0" noProof="0" dirty="0">
                <a:ln>
                  <a:noFill/>
                </a:ln>
                <a:solidFill>
                  <a:prstClr val="black"/>
                </a:solidFill>
                <a:effectLst/>
                <a:uLnTx/>
                <a:uFillTx/>
                <a:latin typeface="Calibri"/>
                <a:ea typeface="+mn-ea"/>
                <a:cs typeface="Calibri"/>
              </a:rPr>
              <a:t>consist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15" normalizeH="0" baseline="0" noProof="0" dirty="0">
                <a:ln>
                  <a:noFill/>
                </a:ln>
                <a:solidFill>
                  <a:prstClr val="black"/>
                </a:solidFill>
                <a:effectLst/>
                <a:uLnTx/>
                <a:uFillTx/>
                <a:latin typeface="Calibri"/>
                <a:ea typeface="+mn-ea"/>
                <a:cs typeface="Calibri"/>
              </a:rPr>
              <a:t>relevant </a:t>
            </a:r>
            <a:r>
              <a:rPr kumimoji="0" sz="2400" b="0" i="0" u="none" strike="noStrike" kern="1200" cap="none" spc="-57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questions</a:t>
            </a:r>
            <a:r>
              <a:rPr kumimoji="0" sz="2400" b="0" i="0" u="none" strike="noStrike" kern="1200" cap="none" spc="-4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that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45" normalizeH="0" baseline="0" noProof="0" dirty="0">
                <a:ln>
                  <a:noFill/>
                </a:ln>
                <a:solidFill>
                  <a:prstClr val="black"/>
                </a:solidFill>
                <a:effectLst/>
                <a:uLnTx/>
                <a:uFillTx/>
                <a:latin typeface="Calibri"/>
                <a:ea typeface="+mn-ea"/>
                <a:cs typeface="Calibri"/>
              </a:rPr>
              <a:t>answer.</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180340" lvl="0" indent="-229235" algn="l" defTabSz="457200" rtl="0" eaLnBrk="1" fontAlgn="auto" latinLnBrk="0" hangingPunct="1">
              <a:lnSpc>
                <a:spcPct val="70000"/>
              </a:lnSpc>
              <a:spcBef>
                <a:spcPts val="1000"/>
              </a:spcBef>
              <a:spcAft>
                <a:spcPts val="0"/>
              </a:spcAft>
              <a:buClrTx/>
              <a:buSzTx/>
              <a:buFont typeface="Arial MT"/>
              <a:buChar char="•"/>
              <a:tabLst>
                <a:tab pos="241935" algn="l"/>
              </a:tabLst>
              <a:defRPr/>
            </a:pPr>
            <a:r>
              <a:rPr kumimoji="0" sz="180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Key personnel: </a:t>
            </a:r>
            <a:r>
              <a:rPr kumimoji="0" sz="2400" b="0" i="0" u="none" strike="noStrike" kern="1200" cap="none" spc="-5" normalizeH="0" baseline="0" noProof="0" dirty="0">
                <a:ln>
                  <a:noFill/>
                </a:ln>
                <a:solidFill>
                  <a:prstClr val="black"/>
                </a:solidFill>
                <a:effectLst/>
                <a:uLnTx/>
                <a:uFillTx/>
                <a:latin typeface="Calibri"/>
                <a:ea typeface="+mn-ea"/>
                <a:cs typeface="Calibri"/>
              </a:rPr>
              <a:t>people</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with</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direct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knowledge of</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important</a:t>
            </a:r>
            <a:r>
              <a:rPr kumimoji="0" sz="2400" b="0" i="0" u="none" strike="noStrike" kern="1200" cap="none" spc="0" normalizeH="0" baseline="0" noProof="0" dirty="0">
                <a:ln>
                  <a:noFill/>
                </a:ln>
                <a:solidFill>
                  <a:prstClr val="black"/>
                </a:solidFill>
                <a:effectLst/>
                <a:uLnTx/>
                <a:uFillTx/>
                <a:latin typeface="Calibri"/>
                <a:ea typeface="+mn-ea"/>
                <a:cs typeface="Calibri"/>
              </a:rPr>
              <a:t> aspects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0" normalizeH="0" baseline="0" noProof="0" dirty="0">
                <a:ln>
                  <a:noFill/>
                </a:ln>
                <a:solidFill>
                  <a:prstClr val="black"/>
                </a:solidFill>
                <a:effectLst/>
                <a:uLnTx/>
                <a:uFillTx/>
                <a:latin typeface="Calibri"/>
                <a:ea typeface="+mn-ea"/>
                <a:cs typeface="Calibri"/>
              </a:rPr>
              <a:t>the </a:t>
            </a:r>
            <a:r>
              <a:rPr kumimoji="0" sz="2400" b="0" i="0" u="none" strike="noStrike" kern="1200" cap="none" spc="-57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asset,</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relevant</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threats</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5" normalizeH="0" baseline="0" noProof="0" dirty="0">
                <a:ln>
                  <a:noFill/>
                </a:ln>
                <a:solidFill>
                  <a:prstClr val="black"/>
                </a:solidFill>
                <a:effectLst/>
                <a:uLnTx/>
                <a:uFillTx/>
                <a:latin typeface="Calibri"/>
                <a:ea typeface="+mn-ea"/>
                <a:cs typeface="Calibri"/>
              </a:rPr>
              <a:t>vulnerabilities,</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controls.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447040" lvl="0" indent="-229235" algn="l" defTabSz="457200" rtl="0" eaLnBrk="1" fontAlgn="auto" latinLnBrk="0" hangingPunct="1">
              <a:lnSpc>
                <a:spcPct val="70000"/>
              </a:lnSpc>
              <a:spcBef>
                <a:spcPts val="1005"/>
              </a:spcBef>
              <a:spcAft>
                <a:spcPts val="0"/>
              </a:spcAft>
              <a:buClrTx/>
              <a:buSzTx/>
              <a:buFont typeface="Arial MT"/>
              <a:buChar char="•"/>
              <a:tabLst>
                <a:tab pos="241935" algn="l"/>
              </a:tabLst>
              <a:defRPr/>
            </a:pPr>
            <a:r>
              <a:rPr kumimoji="0" sz="180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Questions</a:t>
            </a:r>
            <a:r>
              <a:rPr kumimoji="0" sz="2400" b="1"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relating </a:t>
            </a:r>
            <a:r>
              <a:rPr kumimoji="0" sz="2400" b="0" i="0" u="none" strike="noStrike" kern="1200" cap="none" spc="-15" normalizeH="0" baseline="0" noProof="0" dirty="0">
                <a:ln>
                  <a:noFill/>
                </a:ln>
                <a:solidFill>
                  <a:prstClr val="black"/>
                </a:solidFill>
                <a:effectLst/>
                <a:uLnTx/>
                <a:uFillTx/>
                <a:latin typeface="Calibri"/>
                <a:ea typeface="+mn-ea"/>
                <a:cs typeface="Calibri"/>
              </a:rPr>
              <a:t>to </a:t>
            </a:r>
            <a:r>
              <a:rPr kumimoji="0" sz="2400" b="0" i="0" u="none" strike="noStrike" kern="1200" cap="none" spc="-5" normalizeH="0" baseline="0" noProof="0" dirty="0">
                <a:ln>
                  <a:noFill/>
                </a:ln>
                <a:solidFill>
                  <a:prstClr val="black"/>
                </a:solidFill>
                <a:effectLst/>
                <a:uLnTx/>
                <a:uFillTx/>
                <a:latin typeface="Calibri"/>
                <a:ea typeface="+mn-ea"/>
                <a:cs typeface="Calibri"/>
              </a:rPr>
              <a:t>security </a:t>
            </a:r>
            <a:r>
              <a:rPr kumimoji="0" sz="2400" b="0" i="0" u="none" strike="noStrike" kern="1200" cap="none" spc="-10" normalizeH="0" baseline="0" noProof="0" dirty="0">
                <a:ln>
                  <a:noFill/>
                </a:ln>
                <a:solidFill>
                  <a:prstClr val="black"/>
                </a:solidFill>
                <a:effectLst/>
                <a:uLnTx/>
                <a:uFillTx/>
                <a:latin typeface="Calibri"/>
                <a:ea typeface="+mn-ea"/>
                <a:cs typeface="Calibri"/>
              </a:rPr>
              <a:t>posture, processes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10" normalizeH="0" baseline="0" noProof="0" dirty="0">
                <a:ln>
                  <a:noFill/>
                </a:ln>
                <a:solidFill>
                  <a:prstClr val="black"/>
                </a:solidFill>
                <a:effectLst/>
                <a:uLnTx/>
                <a:uFillTx/>
                <a:latin typeface="Calibri"/>
                <a:ea typeface="+mn-ea"/>
                <a:cs typeface="Calibri"/>
              </a:rPr>
              <a:t>procedures, </a:t>
            </a:r>
            <a:r>
              <a:rPr kumimoji="0" sz="2400" b="0" i="0" u="none" strike="noStrike" kern="1200" cap="none" spc="-5" normalizeH="0" baseline="0" noProof="0" dirty="0">
                <a:ln>
                  <a:noFill/>
                </a:ln>
                <a:solidFill>
                  <a:prstClr val="black"/>
                </a:solidFill>
                <a:effectLst/>
                <a:uLnTx/>
                <a:uFillTx/>
                <a:latin typeface="Calibri"/>
                <a:ea typeface="+mn-ea"/>
                <a:cs typeface="Calibri"/>
              </a:rPr>
              <a:t>asset </a:t>
            </a:r>
            <a:r>
              <a:rPr kumimoji="0" sz="2400" b="0" i="0" u="none" strike="noStrike" kern="1200" cap="none" spc="-57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characteristics,</a:t>
            </a:r>
            <a:r>
              <a:rPr kumimoji="0" sz="2400" b="0" i="0" u="none" strike="noStrike" kern="1200" cap="none" spc="-5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implemented</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security</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controls.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652780" lvl="0" indent="-229235" algn="l" defTabSz="457200" rtl="0" eaLnBrk="1" fontAlgn="auto" latinLnBrk="0" hangingPunct="1">
              <a:lnSpc>
                <a:spcPct val="70000"/>
              </a:lnSpc>
              <a:spcBef>
                <a:spcPts val="1000"/>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The </a:t>
            </a:r>
            <a:r>
              <a:rPr kumimoji="0" sz="2400" b="0" i="0" u="none" strike="noStrike" kern="1200" cap="none" spc="0" normalizeH="0" baseline="0" noProof="0" dirty="0">
                <a:ln>
                  <a:noFill/>
                </a:ln>
                <a:solidFill>
                  <a:prstClr val="black"/>
                </a:solidFill>
                <a:effectLst/>
                <a:uLnTx/>
                <a:uFillTx/>
                <a:latin typeface="Calibri"/>
                <a:ea typeface="+mn-ea"/>
                <a:cs typeface="Calibri"/>
              </a:rPr>
              <a:t>assessor </a:t>
            </a:r>
            <a:r>
              <a:rPr kumimoji="0" sz="2400" b="0" i="0" u="none" strike="noStrike" kern="1200" cap="none" spc="-5" normalizeH="0" baseline="0" noProof="0" dirty="0">
                <a:ln>
                  <a:noFill/>
                </a:ln>
                <a:solidFill>
                  <a:prstClr val="black"/>
                </a:solidFill>
                <a:effectLst/>
                <a:uLnTx/>
                <a:uFillTx/>
                <a:latin typeface="Calibri"/>
                <a:ea typeface="+mn-ea"/>
                <a:cs typeface="Calibri"/>
              </a:rPr>
              <a:t>should </a:t>
            </a:r>
            <a:r>
              <a:rPr kumimoji="0" sz="2400" b="0" i="0" u="none" strike="noStrike" kern="1200" cap="none" spc="-15" normalizeH="0" baseline="0" noProof="0" dirty="0">
                <a:ln>
                  <a:noFill/>
                </a:ln>
                <a:solidFill>
                  <a:prstClr val="black"/>
                </a:solidFill>
                <a:effectLst/>
                <a:uLnTx/>
                <a:uFillTx/>
                <a:latin typeface="Calibri"/>
                <a:ea typeface="+mn-ea"/>
                <a:cs typeface="Calibri"/>
              </a:rPr>
              <a:t>carefully </a:t>
            </a:r>
            <a:r>
              <a:rPr kumimoji="0" sz="2400" b="0" i="0" u="none" strike="noStrike" kern="1200" cap="none" spc="-20" normalizeH="0" baseline="0" noProof="0" dirty="0">
                <a:ln>
                  <a:noFill/>
                </a:ln>
                <a:solidFill>
                  <a:prstClr val="black"/>
                </a:solidFill>
                <a:effectLst/>
                <a:uLnTx/>
                <a:uFillTx/>
                <a:latin typeface="Calibri"/>
                <a:ea typeface="+mn-ea"/>
                <a:cs typeface="Calibri"/>
              </a:rPr>
              <a:t>record </a:t>
            </a:r>
            <a:r>
              <a:rPr kumimoji="0" sz="2400" b="0" i="0" u="none" strike="noStrike" kern="1200" cap="none" spc="-5" normalizeH="0" baseline="0" noProof="0" dirty="0">
                <a:ln>
                  <a:noFill/>
                </a:ln>
                <a:solidFill>
                  <a:prstClr val="black"/>
                </a:solidFill>
                <a:effectLst/>
                <a:uLnTx/>
                <a:uFillTx/>
                <a:latin typeface="Calibri"/>
                <a:ea typeface="+mn-ea"/>
                <a:cs typeface="Calibri"/>
              </a:rPr>
              <a:t>interview results through </a:t>
            </a:r>
            <a:r>
              <a:rPr kumimoji="0" sz="2400" b="0" i="0" u="none" strike="noStrike" kern="1200" cap="none" spc="-10" normalizeH="0" baseline="0" noProof="0" dirty="0">
                <a:ln>
                  <a:noFill/>
                </a:ln>
                <a:solidFill>
                  <a:prstClr val="black"/>
                </a:solidFill>
                <a:effectLst/>
                <a:uLnTx/>
                <a:uFillTx/>
                <a:latin typeface="Calibri"/>
                <a:ea typeface="+mn-ea"/>
                <a:cs typeface="Calibri"/>
              </a:rPr>
              <a:t>concise </a:t>
            </a:r>
            <a:r>
              <a:rPr kumimoji="0" sz="2400" b="0" i="0" u="none" strike="noStrike" kern="1200" cap="none" spc="-57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meeting</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notes</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recording </a:t>
            </a:r>
            <a:r>
              <a:rPr kumimoji="0" sz="2400" b="0" i="0" u="none" strike="noStrike" kern="1200" cap="none" spc="-5" normalizeH="0" baseline="0" noProof="0" dirty="0">
                <a:ln>
                  <a:noFill/>
                </a:ln>
                <a:solidFill>
                  <a:prstClr val="black"/>
                </a:solidFill>
                <a:effectLst/>
                <a:uLnTx/>
                <a:uFillTx/>
                <a:latin typeface="Calibri"/>
                <a:ea typeface="+mn-ea"/>
                <a:cs typeface="Calibri"/>
              </a:rPr>
              <a:t>devices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ts val="2650"/>
              </a:lnSpc>
              <a:spcBef>
                <a:spcPts val="60"/>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Interview</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considered</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subjective</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nature, </a:t>
            </a:r>
            <a:r>
              <a:rPr kumimoji="0" sz="2400" b="0" i="0" u="none" strike="noStrike" kern="1200" cap="none" spc="-5" normalizeH="0" baseline="0" noProof="0" dirty="0">
                <a:ln>
                  <a:noFill/>
                </a:ln>
                <a:solidFill>
                  <a:prstClr val="black"/>
                </a:solidFill>
                <a:effectLst/>
                <a:uLnTx/>
                <a:uFillTx/>
                <a:latin typeface="Calibri"/>
                <a:ea typeface="+mn-ea"/>
                <a:cs typeface="Calibri"/>
              </a:rPr>
              <a:t>but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used</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starting point</a:t>
            </a:r>
            <a:r>
              <a:rPr kumimoji="0" lang="en-US"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gather</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knowledge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facts </a:t>
            </a:r>
            <a:r>
              <a:rPr kumimoji="0" sz="2400" b="0" i="0" u="none" strike="noStrike" kern="1200" cap="none" spc="0" normalizeH="0" baseline="0" noProof="0" dirty="0">
                <a:ln>
                  <a:noFill/>
                </a:ln>
                <a:solidFill>
                  <a:prstClr val="black"/>
                </a:solidFill>
                <a:effectLst/>
                <a:uLnTx/>
                <a:uFillTx/>
                <a:latin typeface="Calibri"/>
                <a:ea typeface="+mn-ea"/>
                <a:cs typeface="Calibri"/>
              </a:rPr>
              <a:t>about 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system</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that </a:t>
            </a:r>
            <a:r>
              <a:rPr kumimoji="0" sz="2400" b="0" i="0" u="none" strike="noStrike" kern="1200" cap="none" spc="-10" normalizeH="0" baseline="0" noProof="0" dirty="0">
                <a:ln>
                  <a:noFill/>
                </a:ln>
                <a:solidFill>
                  <a:prstClr val="black"/>
                </a:solidFill>
                <a:effectLst/>
                <a:uLnTx/>
                <a:uFillTx/>
                <a:latin typeface="Calibri"/>
                <a:ea typeface="+mn-ea"/>
                <a:cs typeface="Calibri"/>
              </a:rPr>
              <a:t>can</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be</a:t>
            </a:r>
            <a:r>
              <a:rPr kumimoji="0" sz="2400" b="0" i="0" u="none" strike="noStrike" kern="1200" cap="none" spc="-10" normalizeH="0" baseline="0" noProof="0" dirty="0">
                <a:ln>
                  <a:noFill/>
                </a:ln>
                <a:solidFill>
                  <a:prstClr val="black"/>
                </a:solidFill>
                <a:effectLst/>
                <a:uLnTx/>
                <a:uFillTx/>
                <a:latin typeface="Calibri"/>
                <a:ea typeface="+mn-ea"/>
                <a:cs typeface="Calibri"/>
              </a:rPr>
              <a:t> later </a:t>
            </a:r>
            <a:r>
              <a:rPr kumimoji="0" sz="2400" b="0" i="0" u="none" strike="noStrike" kern="1200" cap="none" spc="-5" normalizeH="0" baseline="0" noProof="0" dirty="0">
                <a:ln>
                  <a:noFill/>
                </a:ln>
                <a:solidFill>
                  <a:prstClr val="black"/>
                </a:solidFill>
                <a:effectLst/>
                <a:uLnTx/>
                <a:uFillTx/>
                <a:latin typeface="Calibri"/>
                <a:ea typeface="+mn-ea"/>
                <a:cs typeface="Calibri"/>
              </a:rPr>
              <a:t>verified </a:t>
            </a:r>
            <a:r>
              <a:rPr kumimoji="0" sz="2400" b="0" i="0" u="none" strike="noStrike" kern="1200" cap="none" spc="-57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using</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50" normalizeH="0" baseline="0" noProof="0" dirty="0">
                <a:ln>
                  <a:noFill/>
                </a:ln>
                <a:solidFill>
                  <a:prstClr val="black"/>
                </a:solidFill>
                <a:effectLst/>
                <a:uLnTx/>
                <a:uFillTx/>
                <a:latin typeface="Calibri"/>
                <a:ea typeface="+mn-ea"/>
                <a:cs typeface="Calibri"/>
              </a:rPr>
              <a:t>other.</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50" dirty="0">
                <a:solidFill>
                  <a:srgbClr val="074891"/>
                </a:solidFill>
                <a:uFill>
                  <a:solidFill>
                    <a:srgbClr val="000000"/>
                  </a:solidFill>
                </a:uFill>
              </a:rPr>
              <a:t>Documentation</a:t>
            </a:r>
            <a:r>
              <a:rPr sz="4400" u="heavy" spc="-120" dirty="0">
                <a:solidFill>
                  <a:srgbClr val="074891"/>
                </a:solidFill>
                <a:uFill>
                  <a:solidFill>
                    <a:srgbClr val="000000"/>
                  </a:solidFill>
                </a:uFill>
              </a:rPr>
              <a:t> </a:t>
            </a:r>
            <a:r>
              <a:rPr sz="4400" u="heavy" spc="-55" dirty="0">
                <a:solidFill>
                  <a:srgbClr val="074891"/>
                </a:solidFill>
                <a:uFill>
                  <a:solidFill>
                    <a:srgbClr val="000000"/>
                  </a:solidFill>
                </a:uFill>
              </a:rPr>
              <a:t>Reviews</a:t>
            </a:r>
            <a:br>
              <a:rPr lang="en-US" sz="4400" u="heavy" spc="-55" dirty="0">
                <a:solidFill>
                  <a:srgbClr val="074891"/>
                </a:solidFill>
                <a:uFill>
                  <a:solidFill>
                    <a:srgbClr val="000000"/>
                  </a:solidFill>
                </a:uFill>
              </a:rPr>
            </a:br>
            <a:endParaRPr sz="4400" dirty="0"/>
          </a:p>
        </p:txBody>
      </p:sp>
      <p:sp>
        <p:nvSpPr>
          <p:cNvPr id="3" name="object 3"/>
          <p:cNvSpPr txBox="1"/>
          <p:nvPr/>
        </p:nvSpPr>
        <p:spPr>
          <a:xfrm>
            <a:off x="1012507" y="1441767"/>
            <a:ext cx="8055293" cy="3678956"/>
          </a:xfrm>
          <a:prstGeom prst="rect">
            <a:avLst/>
          </a:prstGeom>
        </p:spPr>
        <p:txBody>
          <a:bodyPr vert="horz" wrap="square" lIns="0" tIns="92075" rIns="0" bIns="0" rtlCol="0">
            <a:spAutoFit/>
          </a:bodyPr>
          <a:lstStyle/>
          <a:p>
            <a:pPr marL="241300" marR="403225" lvl="0" indent="-229235" algn="l" defTabSz="457200" rtl="0" eaLnBrk="1" fontAlgn="auto" latinLnBrk="0" hangingPunct="1">
              <a:lnSpc>
                <a:spcPct val="80000"/>
              </a:lnSpc>
              <a:spcBef>
                <a:spcPts val="725"/>
              </a:spcBef>
              <a:spcAft>
                <a:spcPts val="0"/>
              </a:spcAft>
              <a:buClrTx/>
              <a:buSzTx/>
              <a:buFont typeface="Arial MT"/>
              <a:buChar char="•"/>
              <a:tabLst>
                <a:tab pos="241935" algn="l"/>
              </a:tabLst>
              <a:defRPr/>
            </a:pPr>
            <a:r>
              <a:rPr kumimoji="0" sz="2000" b="0" i="0" u="none" strike="noStrike" kern="1200" cap="none" spc="0" normalizeH="0" baseline="0" noProof="0" dirty="0">
                <a:ln>
                  <a:noFill/>
                </a:ln>
                <a:solidFill>
                  <a:prstClr val="black"/>
                </a:solidFill>
                <a:effectLst/>
                <a:uLnTx/>
                <a:uFillTx/>
                <a:latin typeface="Calibri"/>
                <a:ea typeface="+mn-ea"/>
                <a:cs typeface="Calibri"/>
              </a:rPr>
              <a:t>A </a:t>
            </a:r>
            <a:r>
              <a:rPr kumimoji="0" sz="2000" b="0" i="0" u="none" strike="noStrike" kern="1200" cap="none" spc="-10" normalizeH="0" baseline="0" noProof="0" dirty="0">
                <a:ln>
                  <a:noFill/>
                </a:ln>
                <a:solidFill>
                  <a:prstClr val="black"/>
                </a:solidFill>
                <a:effectLst/>
                <a:uLnTx/>
                <a:uFillTx/>
                <a:latin typeface="Calibri"/>
                <a:ea typeface="+mn-ea"/>
                <a:cs typeface="Calibri"/>
              </a:rPr>
              <a:t>well-documented </a:t>
            </a:r>
            <a:r>
              <a:rPr kumimoji="0" sz="2000" b="0" i="0" u="none" strike="noStrike" kern="1200" cap="none" spc="-20" normalizeH="0" baseline="0" noProof="0" dirty="0">
                <a:ln>
                  <a:noFill/>
                </a:ln>
                <a:solidFill>
                  <a:prstClr val="black"/>
                </a:solidFill>
                <a:effectLst/>
                <a:uLnTx/>
                <a:uFillTx/>
                <a:latin typeface="Calibri"/>
                <a:ea typeface="+mn-ea"/>
                <a:cs typeface="Calibri"/>
              </a:rPr>
              <a:t>system </a:t>
            </a:r>
            <a:r>
              <a:rPr kumimoji="0" sz="2000" b="0" i="0" u="none" strike="noStrike" kern="1200" cap="none" spc="-10" normalizeH="0" baseline="0" noProof="0" dirty="0">
                <a:ln>
                  <a:noFill/>
                </a:ln>
                <a:solidFill>
                  <a:prstClr val="black"/>
                </a:solidFill>
                <a:effectLst/>
                <a:uLnTx/>
                <a:uFillTx/>
                <a:latin typeface="Calibri"/>
                <a:ea typeface="+mn-ea"/>
                <a:cs typeface="Calibri"/>
              </a:rPr>
              <a:t>indicates </a:t>
            </a:r>
            <a:r>
              <a:rPr kumimoji="0" sz="2000" b="0" i="0" u="none" strike="noStrike" kern="1200" cap="none" spc="-5" normalizeH="0" baseline="0" noProof="0" dirty="0">
                <a:ln>
                  <a:noFill/>
                </a:ln>
                <a:solidFill>
                  <a:prstClr val="black"/>
                </a:solidFill>
                <a:effectLst/>
                <a:uLnTx/>
                <a:uFillTx/>
                <a:latin typeface="Calibri"/>
                <a:ea typeface="+mn-ea"/>
                <a:cs typeface="Calibri"/>
              </a:rPr>
              <a:t>what </a:t>
            </a:r>
            <a:r>
              <a:rPr kumimoji="0" sz="2000" b="0" i="0" u="none" strike="noStrike" kern="1200" cap="none" spc="0" normalizeH="0" baseline="0" noProof="0" dirty="0">
                <a:ln>
                  <a:noFill/>
                </a:ln>
                <a:solidFill>
                  <a:prstClr val="black"/>
                </a:solidFill>
                <a:effectLst/>
                <a:uLnTx/>
                <a:uFillTx/>
                <a:latin typeface="Calibri"/>
                <a:ea typeface="+mn-ea"/>
                <a:cs typeface="Calibri"/>
              </a:rPr>
              <a:t>its </a:t>
            </a:r>
            <a:r>
              <a:rPr kumimoji="0" sz="2000" b="0" i="0" u="none" strike="noStrike" kern="1200" cap="none" spc="-5" normalizeH="0" baseline="0" noProof="0" dirty="0">
                <a:ln>
                  <a:noFill/>
                </a:ln>
                <a:solidFill>
                  <a:prstClr val="black"/>
                </a:solidFill>
                <a:effectLst/>
                <a:uLnTx/>
                <a:uFillTx/>
                <a:latin typeface="Calibri"/>
                <a:ea typeface="+mn-ea"/>
                <a:cs typeface="Calibri"/>
              </a:rPr>
              <a:t>characteristics, security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requirements,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5" normalizeH="0" baseline="0" noProof="0" dirty="0">
                <a:ln>
                  <a:noFill/>
                </a:ln>
                <a:solidFill>
                  <a:prstClr val="black"/>
                </a:solidFill>
                <a:effectLst/>
                <a:uLnTx/>
                <a:uFillTx/>
                <a:latin typeface="Calibri"/>
                <a:ea typeface="+mn-ea"/>
                <a:cs typeface="Calibri"/>
              </a:rPr>
              <a:t>whether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5" normalizeH="0" baseline="0" noProof="0" dirty="0">
                <a:ln>
                  <a:noFill/>
                </a:ln>
                <a:solidFill>
                  <a:prstClr val="black"/>
                </a:solidFill>
                <a:effectLst/>
                <a:uLnTx/>
                <a:uFillTx/>
                <a:latin typeface="Calibri"/>
                <a:ea typeface="+mn-ea"/>
                <a:cs typeface="Calibri"/>
              </a:rPr>
              <a:t>people responsible </a:t>
            </a:r>
            <a:r>
              <a:rPr kumimoji="0" sz="2000" b="0" i="0" u="none" strike="noStrike" kern="1200" cap="none" spc="-25" normalizeH="0" baseline="0" noProof="0" dirty="0">
                <a:ln>
                  <a:noFill/>
                </a:ln>
                <a:solidFill>
                  <a:prstClr val="black"/>
                </a:solidFill>
                <a:effectLst/>
                <a:uLnTx/>
                <a:uFillTx/>
                <a:latin typeface="Calibri"/>
                <a:ea typeface="+mn-ea"/>
                <a:cs typeface="Calibri"/>
              </a:rPr>
              <a:t>for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20" normalizeH="0" baseline="0" noProof="0" dirty="0">
                <a:ln>
                  <a:noFill/>
                </a:ln>
                <a:solidFill>
                  <a:prstClr val="black"/>
                </a:solidFill>
                <a:effectLst/>
                <a:uLnTx/>
                <a:uFillTx/>
                <a:latin typeface="Calibri"/>
                <a:ea typeface="+mn-ea"/>
                <a:cs typeface="Calibri"/>
              </a:rPr>
              <a:t>system have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defined</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processes</a:t>
            </a:r>
            <a:r>
              <a:rPr kumimoji="0" sz="2000" b="0" i="0" u="none" strike="noStrike" kern="1200" cap="none" spc="-5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place</a:t>
            </a:r>
            <a:r>
              <a:rPr kumimoji="0" sz="2000" b="0" i="0" u="none" strike="noStrike" kern="1200" cap="none" spc="-10" normalizeH="0" baseline="0" noProof="0" dirty="0">
                <a:ln>
                  <a:noFill/>
                </a:ln>
                <a:solidFill>
                  <a:prstClr val="black"/>
                </a:solidFill>
                <a:effectLst/>
                <a:uLnTx/>
                <a:uFillTx/>
                <a:latin typeface="Calibri"/>
                <a:ea typeface="+mn-ea"/>
                <a:cs typeface="Calibri"/>
              </a:rPr>
              <a:t> to</a:t>
            </a:r>
            <a:r>
              <a:rPr kumimoji="0" sz="2000" b="0" i="0" u="none" strike="noStrike" kern="1200" cap="none" spc="-5" normalizeH="0" baseline="0" noProof="0" dirty="0">
                <a:ln>
                  <a:noFill/>
                </a:ln>
                <a:solidFill>
                  <a:prstClr val="black"/>
                </a:solidFill>
                <a:effectLst/>
                <a:uLnTx/>
                <a:uFillTx/>
                <a:latin typeface="Calibri"/>
                <a:ea typeface="+mn-ea"/>
                <a:cs typeface="Calibri"/>
              </a:rPr>
              <a:t> fulfill</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system</a:t>
            </a:r>
            <a:r>
              <a:rPr kumimoji="0" sz="2000" b="0" i="0" u="none" strike="noStrike" kern="1200" cap="none" spc="-4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security</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responsibilities.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ts val="2500"/>
              </a:lnSpc>
              <a:spcBef>
                <a:spcPts val="975"/>
              </a:spcBef>
              <a:spcAft>
                <a:spcPts val="0"/>
              </a:spcAft>
              <a:buClrTx/>
              <a:buSzTx/>
              <a:buFont typeface="Arial MT"/>
              <a:buChar char="•"/>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Documentation </a:t>
            </a:r>
            <a:r>
              <a:rPr kumimoji="0" sz="2000" b="0" i="0" u="none" strike="noStrike" kern="1200" cap="none" spc="-5" normalizeH="0" baseline="0" noProof="0" dirty="0">
                <a:ln>
                  <a:noFill/>
                </a:ln>
                <a:solidFill>
                  <a:prstClr val="black"/>
                </a:solidFill>
                <a:effectLst/>
                <a:uLnTx/>
                <a:uFillTx/>
                <a:latin typeface="Calibri"/>
                <a:ea typeface="+mn-ea"/>
                <a:cs typeface="Calibri"/>
              </a:rPr>
              <a:t>gives </a:t>
            </a:r>
            <a:r>
              <a:rPr kumimoji="0" sz="2000" b="0" i="0" u="none" strike="noStrike" kern="1200" cap="none" spc="-10" normalizeH="0" baseline="0" noProof="0" dirty="0">
                <a:ln>
                  <a:noFill/>
                </a:ln>
                <a:solidFill>
                  <a:prstClr val="black"/>
                </a:solidFill>
                <a:effectLst/>
                <a:uLnTx/>
                <a:uFillTx/>
                <a:latin typeface="Calibri"/>
                <a:ea typeface="+mn-ea"/>
                <a:cs typeface="Calibri"/>
              </a:rPr>
              <a:t>information </a:t>
            </a:r>
            <a:r>
              <a:rPr kumimoji="0" sz="2000" b="0" i="0" u="none" strike="noStrike" kern="1200" cap="none" spc="-5" normalizeH="0" baseline="0" noProof="0" dirty="0">
                <a:ln>
                  <a:noFill/>
                </a:ln>
                <a:solidFill>
                  <a:prstClr val="black"/>
                </a:solidFill>
                <a:effectLst/>
                <a:uLnTx/>
                <a:uFillTx/>
                <a:latin typeface="Calibri"/>
                <a:ea typeface="+mn-ea"/>
                <a:cs typeface="Calibri"/>
              </a:rPr>
              <a:t>on </a:t>
            </a:r>
            <a:r>
              <a:rPr kumimoji="0" sz="2000" b="0" i="0" u="none" strike="noStrike" kern="1200" cap="none" spc="-10" normalizeH="0" baseline="0" noProof="0" dirty="0">
                <a:ln>
                  <a:noFill/>
                </a:ln>
                <a:solidFill>
                  <a:prstClr val="black"/>
                </a:solidFill>
                <a:effectLst/>
                <a:uLnTx/>
                <a:uFillTx/>
                <a:latin typeface="Calibri"/>
                <a:ea typeface="+mn-ea"/>
                <a:cs typeface="Calibri"/>
              </a:rPr>
              <a:t>how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20" normalizeH="0" baseline="0" noProof="0" dirty="0">
                <a:ln>
                  <a:noFill/>
                </a:ln>
                <a:solidFill>
                  <a:prstClr val="black"/>
                </a:solidFill>
                <a:effectLst/>
                <a:uLnTx/>
                <a:uFillTx/>
                <a:latin typeface="Calibri"/>
                <a:ea typeface="+mn-ea"/>
                <a:cs typeface="Calibri"/>
              </a:rPr>
              <a:t>system </a:t>
            </a:r>
            <a:r>
              <a:rPr kumimoji="0" sz="2000" b="0" i="0" u="none" strike="noStrike" kern="1200" cap="none" spc="0" normalizeH="0" baseline="0" noProof="0" dirty="0">
                <a:ln>
                  <a:noFill/>
                </a:ln>
                <a:solidFill>
                  <a:prstClr val="black"/>
                </a:solidFill>
                <a:effectLst/>
                <a:uLnTx/>
                <a:uFillTx/>
                <a:latin typeface="Calibri"/>
                <a:ea typeface="+mn-ea"/>
                <a:cs typeface="Calibri"/>
              </a:rPr>
              <a:t>is </a:t>
            </a:r>
            <a:r>
              <a:rPr kumimoji="0" sz="2000" b="0" i="0" u="none" strike="noStrike" kern="1200" cap="none" spc="-10" normalizeH="0" baseline="0" noProof="0" dirty="0">
                <a:ln>
                  <a:noFill/>
                </a:ln>
                <a:solidFill>
                  <a:prstClr val="black"/>
                </a:solidFill>
                <a:effectLst/>
                <a:uLnTx/>
                <a:uFillTx/>
                <a:latin typeface="Calibri"/>
                <a:ea typeface="+mn-ea"/>
                <a:cs typeface="Calibri"/>
              </a:rPr>
              <a:t>routinely </a:t>
            </a:r>
            <a:r>
              <a:rPr kumimoji="0" sz="2000" b="0" i="0" u="none" strike="noStrike" kern="1200" cap="none" spc="-5" normalizeH="0" baseline="0" noProof="0" dirty="0">
                <a:ln>
                  <a:noFill/>
                </a:ln>
                <a:solidFill>
                  <a:prstClr val="black"/>
                </a:solidFill>
                <a:effectLst/>
                <a:uLnTx/>
                <a:uFillTx/>
                <a:latin typeface="Calibri"/>
                <a:ea typeface="+mn-ea"/>
                <a:cs typeface="Calibri"/>
              </a:rPr>
              <a:t>used,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whether </a:t>
            </a:r>
            <a:r>
              <a:rPr kumimoji="0" sz="2000" b="0" i="0" u="none" strike="noStrike" kern="1200" cap="none" spc="0" normalizeH="0" baseline="0" noProof="0" dirty="0">
                <a:ln>
                  <a:noFill/>
                </a:ln>
                <a:solidFill>
                  <a:prstClr val="black"/>
                </a:solidFill>
                <a:effectLst/>
                <a:uLnTx/>
                <a:uFillTx/>
                <a:latin typeface="Calibri"/>
                <a:ea typeface="+mn-ea"/>
                <a:cs typeface="Calibri"/>
              </a:rPr>
              <a:t>a </a:t>
            </a:r>
            <a:r>
              <a:rPr kumimoji="0" sz="2000" b="0" i="0" u="none" strike="noStrike" kern="1200" cap="none" spc="-5" normalizeH="0" baseline="0" noProof="0" dirty="0">
                <a:ln>
                  <a:noFill/>
                </a:ln>
                <a:solidFill>
                  <a:prstClr val="black"/>
                </a:solidFill>
                <a:effectLst/>
                <a:uLnTx/>
                <a:uFillTx/>
                <a:latin typeface="Calibri"/>
                <a:ea typeface="+mn-ea"/>
                <a:cs typeface="Calibri"/>
              </a:rPr>
              <a:t>security </a:t>
            </a:r>
            <a:r>
              <a:rPr kumimoji="0" sz="2000" b="0" i="0" u="none" strike="noStrike" kern="1200" cap="none" spc="-15" normalizeH="0" baseline="0" noProof="0" dirty="0">
                <a:ln>
                  <a:noFill/>
                </a:ln>
                <a:solidFill>
                  <a:prstClr val="black"/>
                </a:solidFill>
                <a:effectLst/>
                <a:uLnTx/>
                <a:uFillTx/>
                <a:latin typeface="Calibri"/>
                <a:ea typeface="+mn-ea"/>
                <a:cs typeface="Calibri"/>
              </a:rPr>
              <a:t>patch program </a:t>
            </a:r>
            <a:r>
              <a:rPr kumimoji="0" sz="2000" b="0" i="0" u="none" strike="noStrike" kern="1200" cap="none" spc="0" normalizeH="0" baseline="0" noProof="0" dirty="0">
                <a:ln>
                  <a:noFill/>
                </a:ln>
                <a:solidFill>
                  <a:prstClr val="black"/>
                </a:solidFill>
                <a:effectLst/>
                <a:uLnTx/>
                <a:uFillTx/>
                <a:latin typeface="Calibri"/>
                <a:ea typeface="+mn-ea"/>
                <a:cs typeface="Calibri"/>
              </a:rPr>
              <a:t>is in </a:t>
            </a:r>
            <a:r>
              <a:rPr kumimoji="0" sz="2000" b="0" i="0" u="none" strike="noStrike" kern="1200" cap="none" spc="-5" normalizeH="0" baseline="0" noProof="0" dirty="0">
                <a:ln>
                  <a:noFill/>
                </a:ln>
                <a:solidFill>
                  <a:prstClr val="black"/>
                </a:solidFill>
                <a:effectLst/>
                <a:uLnTx/>
                <a:uFillTx/>
                <a:latin typeface="Calibri"/>
                <a:ea typeface="+mn-ea"/>
                <a:cs typeface="Calibri"/>
              </a:rPr>
              <a:t>place, </a:t>
            </a:r>
            <a:r>
              <a:rPr kumimoji="0" sz="2000" b="0" i="0" u="none" strike="noStrike" kern="1200" cap="none" spc="0" normalizeH="0" baseline="0" noProof="0" dirty="0">
                <a:ln>
                  <a:noFill/>
                </a:ln>
                <a:solidFill>
                  <a:prstClr val="black"/>
                </a:solidFill>
                <a:effectLst/>
                <a:uLnTx/>
                <a:uFillTx/>
                <a:latin typeface="Calibri"/>
                <a:ea typeface="+mn-ea"/>
                <a:cs typeface="Calibri"/>
              </a:rPr>
              <a:t>who </a:t>
            </a:r>
            <a:r>
              <a:rPr kumimoji="0" sz="2000" b="0" i="0" u="none" strike="noStrike" kern="1200" cap="none" spc="-5" normalizeH="0" baseline="0" noProof="0" dirty="0">
                <a:ln>
                  <a:noFill/>
                </a:ln>
                <a:solidFill>
                  <a:prstClr val="black"/>
                </a:solidFill>
                <a:effectLst/>
                <a:uLnTx/>
                <a:uFillTx/>
                <a:latin typeface="Calibri"/>
                <a:ea typeface="+mn-ea"/>
                <a:cs typeface="Calibri"/>
              </a:rPr>
              <a:t>has </a:t>
            </a:r>
            <a:r>
              <a:rPr kumimoji="0" sz="2000" b="0" i="0" u="none" strike="noStrike" kern="1200" cap="none" spc="0" normalizeH="0" baseline="0" noProof="0" dirty="0">
                <a:ln>
                  <a:noFill/>
                </a:ln>
                <a:solidFill>
                  <a:prstClr val="black"/>
                </a:solidFill>
                <a:effectLst/>
                <a:uLnTx/>
                <a:uFillTx/>
                <a:latin typeface="Calibri"/>
                <a:ea typeface="+mn-ea"/>
                <a:cs typeface="Calibri"/>
              </a:rPr>
              <a:t>access </a:t>
            </a:r>
            <a:r>
              <a:rPr kumimoji="0" sz="2000" b="0" i="0" u="none" strike="noStrike" kern="1200" cap="none" spc="-15" normalizeH="0" baseline="0" noProof="0" dirty="0">
                <a:ln>
                  <a:noFill/>
                </a:ln>
                <a:solidFill>
                  <a:prstClr val="black"/>
                </a:solidFill>
                <a:effectLst/>
                <a:uLnTx/>
                <a:uFillTx/>
                <a:latin typeface="Calibri"/>
                <a:ea typeface="+mn-ea"/>
                <a:cs typeface="Calibri"/>
              </a:rPr>
              <a:t>to </a:t>
            </a:r>
            <a:r>
              <a:rPr kumimoji="0" sz="2000" b="0" i="0" u="none" strike="noStrike" kern="1200" cap="none" spc="-20" normalizeH="0" baseline="0" noProof="0" dirty="0">
                <a:ln>
                  <a:noFill/>
                </a:ln>
                <a:solidFill>
                  <a:prstClr val="black"/>
                </a:solidFill>
                <a:effectLst/>
                <a:uLnTx/>
                <a:uFillTx/>
                <a:latin typeface="Calibri"/>
                <a:ea typeface="+mn-ea"/>
                <a:cs typeface="Calibri"/>
              </a:rPr>
              <a:t>systems </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15" normalizeH="0" baseline="0" noProof="0" dirty="0">
                <a:ln>
                  <a:noFill/>
                </a:ln>
                <a:solidFill>
                  <a:prstClr val="black"/>
                </a:solidFill>
                <a:effectLst/>
                <a:uLnTx/>
                <a:uFillTx/>
                <a:latin typeface="Calibri"/>
                <a:ea typeface="+mn-ea"/>
                <a:cs typeface="Calibri"/>
              </a:rPr>
              <a:t>data, </a:t>
            </a:r>
            <a:r>
              <a:rPr kumimoji="0" sz="2000" b="0" i="0" u="none" strike="noStrike" kern="1200" cap="none" spc="-10" normalizeH="0" baseline="0" noProof="0" dirty="0">
                <a:ln>
                  <a:noFill/>
                </a:ln>
                <a:solidFill>
                  <a:prstClr val="black"/>
                </a:solidFill>
                <a:effectLst/>
                <a:uLnTx/>
                <a:uFillTx/>
                <a:latin typeface="Calibri"/>
                <a:ea typeface="+mn-ea"/>
                <a:cs typeface="Calibri"/>
              </a:rPr>
              <a:t>what </a:t>
            </a:r>
            <a:r>
              <a:rPr kumimoji="0" sz="2000" b="0" i="0" u="none" strike="noStrike" kern="1200" cap="none" spc="-5" normalizeH="0" baseline="0" noProof="0" dirty="0">
                <a:ln>
                  <a:noFill/>
                </a:ln>
                <a:solidFill>
                  <a:prstClr val="black"/>
                </a:solidFill>
                <a:effectLst/>
                <a:uLnTx/>
                <a:uFillTx/>
                <a:latin typeface="Calibri"/>
                <a:ea typeface="+mn-ea"/>
                <a:cs typeface="Calibri"/>
              </a:rPr>
              <a:t>policies </a:t>
            </a:r>
            <a:r>
              <a:rPr kumimoji="0" sz="2000" b="0" i="0" u="none" strike="noStrike" kern="1200" cap="none" spc="-15" normalizeH="0" baseline="0" noProof="0" dirty="0">
                <a:ln>
                  <a:noFill/>
                </a:ln>
                <a:solidFill>
                  <a:prstClr val="black"/>
                </a:solidFill>
                <a:effectLst/>
                <a:uLnTx/>
                <a:uFillTx/>
                <a:latin typeface="Calibri"/>
                <a:ea typeface="+mn-ea"/>
                <a:cs typeface="Calibri"/>
              </a:rPr>
              <a:t>exist to </a:t>
            </a:r>
            <a:r>
              <a:rPr kumimoji="0" sz="2000" b="0" i="0" u="none" strike="noStrike" kern="1200" cap="none" spc="-5" normalizeH="0" baseline="0" noProof="0" dirty="0">
                <a:ln>
                  <a:noFill/>
                </a:ln>
                <a:solidFill>
                  <a:prstClr val="black"/>
                </a:solidFill>
                <a:effectLst/>
                <a:uLnTx/>
                <a:uFillTx/>
                <a:latin typeface="Calibri"/>
                <a:ea typeface="+mn-ea"/>
                <a:cs typeface="Calibri"/>
              </a:rPr>
              <a:t>define security </a:t>
            </a:r>
            <a:r>
              <a:rPr kumimoji="0" sz="2000" b="0" i="0" u="none" strike="noStrike" kern="1200" cap="none" spc="-10" normalizeH="0" baseline="0" noProof="0" dirty="0">
                <a:ln>
                  <a:noFill/>
                </a:ln>
                <a:solidFill>
                  <a:prstClr val="black"/>
                </a:solidFill>
                <a:effectLst/>
                <a:uLnTx/>
                <a:uFillTx/>
                <a:latin typeface="Calibri"/>
                <a:ea typeface="+mn-ea"/>
                <a:cs typeface="Calibri"/>
              </a:rPr>
              <a:t>requirements,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10" normalizeH="0" baseline="0" noProof="0" dirty="0">
                <a:ln>
                  <a:noFill/>
                </a:ln>
                <a:solidFill>
                  <a:prstClr val="black"/>
                </a:solidFill>
                <a:effectLst/>
                <a:uLnTx/>
                <a:uFillTx/>
                <a:latin typeface="Calibri"/>
                <a:ea typeface="+mn-ea"/>
                <a:cs typeface="Calibri"/>
              </a:rPr>
              <a:t>how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system</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securely</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configured.</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395"/>
              </a:spcBef>
              <a:spcAft>
                <a:spcPts val="0"/>
              </a:spcAft>
              <a:buClrTx/>
              <a:buSzTx/>
              <a:buFont typeface="Arial MT"/>
              <a:buChar char="•"/>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Documentation</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can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either</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paper-based</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electronic.</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72390" lvl="0" indent="-229235" algn="l" defTabSz="457200" rtl="0" eaLnBrk="1" fontAlgn="auto" latinLnBrk="0" hangingPunct="1">
              <a:lnSpc>
                <a:spcPts val="2500"/>
              </a:lnSpc>
              <a:spcBef>
                <a:spcPts val="975"/>
              </a:spcBef>
              <a:spcAft>
                <a:spcPts val="0"/>
              </a:spcAft>
              <a:buClrTx/>
              <a:buSzTx/>
              <a:buFont typeface="Arial MT"/>
              <a:buChar char="•"/>
              <a:tabLst>
                <a:tab pos="2419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Documentation </a:t>
            </a:r>
            <a:r>
              <a:rPr kumimoji="0" sz="2000" b="0" i="0" u="none" strike="noStrike" kern="1200" cap="none" spc="0" normalizeH="0" baseline="0" noProof="0" dirty="0">
                <a:ln>
                  <a:noFill/>
                </a:ln>
                <a:solidFill>
                  <a:prstClr val="black"/>
                </a:solidFill>
                <a:effectLst/>
                <a:uLnTx/>
                <a:uFillTx/>
                <a:latin typeface="Calibri"/>
                <a:ea typeface="+mn-ea"/>
                <a:cs typeface="Calibri"/>
              </a:rPr>
              <a:t>also </a:t>
            </a:r>
            <a:r>
              <a:rPr kumimoji="0" sz="2000" b="0" i="0" u="none" strike="noStrike" kern="1200" cap="none" spc="-5" normalizeH="0" baseline="0" noProof="0" dirty="0">
                <a:ln>
                  <a:noFill/>
                </a:ln>
                <a:solidFill>
                  <a:prstClr val="black"/>
                </a:solidFill>
                <a:effectLst/>
                <a:uLnTx/>
                <a:uFillTx/>
                <a:latin typeface="Calibri"/>
                <a:ea typeface="+mn-ea"/>
                <a:cs typeface="Calibri"/>
              </a:rPr>
              <a:t>serves </a:t>
            </a:r>
            <a:r>
              <a:rPr kumimoji="0" sz="2000" b="0" i="0" u="none" strike="noStrike" kern="1200" cap="none" spc="-15" normalizeH="0" baseline="0" noProof="0" dirty="0">
                <a:ln>
                  <a:noFill/>
                </a:ln>
                <a:solidFill>
                  <a:prstClr val="black"/>
                </a:solidFill>
                <a:effectLst/>
                <a:uLnTx/>
                <a:uFillTx/>
                <a:latin typeface="Calibri"/>
                <a:ea typeface="+mn-ea"/>
                <a:cs typeface="Calibri"/>
              </a:rPr>
              <a:t>to </a:t>
            </a:r>
            <a:r>
              <a:rPr kumimoji="0" sz="2000" b="0" i="0" u="none" strike="noStrike" kern="1200" cap="none" spc="-5" normalizeH="0" baseline="0" noProof="0" dirty="0">
                <a:ln>
                  <a:noFill/>
                </a:ln>
                <a:solidFill>
                  <a:prstClr val="black"/>
                </a:solidFill>
                <a:effectLst/>
                <a:uLnTx/>
                <a:uFillTx/>
                <a:latin typeface="Calibri"/>
                <a:ea typeface="+mn-ea"/>
                <a:cs typeface="Calibri"/>
              </a:rPr>
              <a:t>verify </a:t>
            </a:r>
            <a:r>
              <a:rPr kumimoji="0" sz="2000" b="0" i="0" u="none" strike="noStrike" kern="1200" cap="none" spc="-15" normalizeH="0" baseline="0" noProof="0" dirty="0">
                <a:ln>
                  <a:noFill/>
                </a:ln>
                <a:solidFill>
                  <a:prstClr val="black"/>
                </a:solidFill>
                <a:effectLst/>
                <a:uLnTx/>
                <a:uFillTx/>
                <a:latin typeface="Calibri"/>
                <a:ea typeface="+mn-ea"/>
                <a:cs typeface="Calibri"/>
              </a:rPr>
              <a:t>data </a:t>
            </a:r>
            <a:r>
              <a:rPr kumimoji="0" sz="2000" b="0" i="0" u="none" strike="noStrike" kern="1200" cap="none" spc="-10" normalizeH="0" baseline="0" noProof="0" dirty="0">
                <a:ln>
                  <a:noFill/>
                </a:ln>
                <a:solidFill>
                  <a:prstClr val="black"/>
                </a:solidFill>
                <a:effectLst/>
                <a:uLnTx/>
                <a:uFillTx/>
                <a:latin typeface="Calibri"/>
                <a:ea typeface="+mn-ea"/>
                <a:cs typeface="Calibri"/>
              </a:rPr>
              <a:t>collected from </a:t>
            </a:r>
            <a:r>
              <a:rPr kumimoji="0" sz="2000" b="0" i="0" u="none" strike="noStrike" kern="1200" cap="none" spc="-5" normalizeH="0" baseline="0" noProof="0" dirty="0">
                <a:ln>
                  <a:noFill/>
                </a:ln>
                <a:solidFill>
                  <a:prstClr val="black"/>
                </a:solidFill>
                <a:effectLst/>
                <a:uLnTx/>
                <a:uFillTx/>
                <a:latin typeface="Calibri"/>
                <a:ea typeface="+mn-ea"/>
                <a:cs typeface="Calibri"/>
              </a:rPr>
              <a:t>other sources,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such</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interviews.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35" normalizeH="0" baseline="0" noProof="0" dirty="0">
                <a:ln>
                  <a:noFill/>
                </a:ln>
                <a:solidFill>
                  <a:prstClr val="black"/>
                </a:solidFill>
                <a:effectLst/>
                <a:uLnTx/>
                <a:uFillTx/>
                <a:latin typeface="Calibri"/>
                <a:ea typeface="+mn-ea"/>
                <a:cs typeface="Calibri"/>
              </a:rPr>
              <a:t>Remember,</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 the </a:t>
            </a:r>
            <a:r>
              <a:rPr kumimoji="0" sz="2000" b="0" i="0" u="none" strike="noStrike" kern="1200" cap="none" spc="-5" normalizeH="0" baseline="0" noProof="0" dirty="0">
                <a:ln>
                  <a:noFill/>
                </a:ln>
                <a:solidFill>
                  <a:prstClr val="black"/>
                </a:solidFill>
                <a:effectLst/>
                <a:uLnTx/>
                <a:uFillTx/>
                <a:latin typeface="Calibri"/>
                <a:ea typeface="+mn-ea"/>
                <a:cs typeface="Calibri"/>
              </a:rPr>
              <a:t>security</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assessor</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world,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if</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you</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don’t </a:t>
            </a:r>
            <a:r>
              <a:rPr kumimoji="0" sz="2000" b="0" i="0" u="none" strike="noStrike" kern="1200" cap="none" spc="-57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document</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it, then</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you</a:t>
            </a:r>
            <a:r>
              <a:rPr kumimoji="0" sz="2000" b="0" i="0" u="none" strike="noStrike" kern="1200" cap="none" spc="-5" normalizeH="0" baseline="0" noProof="0" dirty="0">
                <a:ln>
                  <a:noFill/>
                </a:ln>
                <a:solidFill>
                  <a:prstClr val="black"/>
                </a:solidFill>
                <a:effectLst/>
                <a:uLnTx/>
                <a:uFillTx/>
                <a:latin typeface="Calibri"/>
                <a:ea typeface="+mn-ea"/>
                <a:cs typeface="Calibri"/>
              </a:rPr>
              <a:t> can’t</a:t>
            </a:r>
            <a:r>
              <a:rPr kumimoji="0" sz="2000" b="0" i="0" u="none" strike="noStrike" kern="1200" cap="none" spc="-15" normalizeH="0" baseline="0" noProof="0" dirty="0">
                <a:ln>
                  <a:noFill/>
                </a:ln>
                <a:solidFill>
                  <a:prstClr val="black"/>
                </a:solidFill>
                <a:effectLst/>
                <a:uLnTx/>
                <a:uFillTx/>
                <a:latin typeface="Calibri"/>
                <a:ea typeface="+mn-ea"/>
                <a:cs typeface="Calibri"/>
              </a:rPr>
              <a:t> prove </a:t>
            </a:r>
            <a:r>
              <a:rPr kumimoji="0" sz="2000" b="0" i="0" u="none" strike="noStrike" kern="1200" cap="none" spc="-5" normalizeH="0" baseline="0" noProof="0" dirty="0">
                <a:ln>
                  <a:noFill/>
                </a:ln>
                <a:solidFill>
                  <a:prstClr val="black"/>
                </a:solidFill>
                <a:effectLst/>
                <a:uLnTx/>
                <a:uFillTx/>
                <a:latin typeface="Calibri"/>
                <a:ea typeface="+mn-ea"/>
                <a:cs typeface="Calibri"/>
              </a:rPr>
              <a:t>that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you</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do</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979661" cy="1306127"/>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000" u="sng" spc="-60" dirty="0">
                <a:solidFill>
                  <a:srgbClr val="074891"/>
                </a:solidFill>
                <a:uFill>
                  <a:solidFill>
                    <a:srgbClr val="000000"/>
                  </a:solidFill>
                </a:uFill>
              </a:rPr>
              <a:t>System</a:t>
            </a:r>
            <a:r>
              <a:rPr sz="4000" u="sng" spc="-125" dirty="0">
                <a:solidFill>
                  <a:srgbClr val="074891"/>
                </a:solidFill>
                <a:uFill>
                  <a:solidFill>
                    <a:srgbClr val="000000"/>
                  </a:solidFill>
                </a:uFill>
              </a:rPr>
              <a:t> </a:t>
            </a:r>
            <a:r>
              <a:rPr sz="4000" u="sng" spc="-40" dirty="0">
                <a:solidFill>
                  <a:srgbClr val="074891"/>
                </a:solidFill>
                <a:uFill>
                  <a:solidFill>
                    <a:srgbClr val="000000"/>
                  </a:solidFill>
                </a:uFill>
              </a:rPr>
              <a:t>Observation</a:t>
            </a:r>
            <a:r>
              <a:rPr sz="4000" u="sng" spc="-105" dirty="0">
                <a:solidFill>
                  <a:srgbClr val="074891"/>
                </a:solidFill>
                <a:uFill>
                  <a:solidFill>
                    <a:srgbClr val="000000"/>
                  </a:solidFill>
                </a:uFill>
              </a:rPr>
              <a:t> </a:t>
            </a:r>
            <a:r>
              <a:rPr sz="4000" u="sng" spc="-20" dirty="0">
                <a:solidFill>
                  <a:srgbClr val="074891"/>
                </a:solidFill>
                <a:uFill>
                  <a:solidFill>
                    <a:srgbClr val="000000"/>
                  </a:solidFill>
                </a:uFill>
              </a:rPr>
              <a:t>and</a:t>
            </a:r>
            <a:r>
              <a:rPr sz="4000" u="sng" spc="-90" dirty="0">
                <a:solidFill>
                  <a:srgbClr val="074891"/>
                </a:solidFill>
                <a:uFill>
                  <a:solidFill>
                    <a:srgbClr val="000000"/>
                  </a:solidFill>
                </a:uFill>
              </a:rPr>
              <a:t> </a:t>
            </a:r>
            <a:r>
              <a:rPr sz="4000" u="sng" spc="-55" dirty="0">
                <a:solidFill>
                  <a:srgbClr val="074891"/>
                </a:solidFill>
                <a:uFill>
                  <a:solidFill>
                    <a:srgbClr val="000000"/>
                  </a:solidFill>
                </a:uFill>
              </a:rPr>
              <a:t>Verification</a:t>
            </a:r>
            <a:br>
              <a:rPr lang="en-US" sz="4000" u="heavy" spc="-55" dirty="0">
                <a:solidFill>
                  <a:srgbClr val="074891"/>
                </a:solidFill>
                <a:uFill>
                  <a:solidFill>
                    <a:srgbClr val="000000"/>
                  </a:solidFill>
                </a:uFill>
              </a:rPr>
            </a:br>
            <a:endParaRPr sz="4400" dirty="0"/>
          </a:p>
        </p:txBody>
      </p:sp>
      <p:sp>
        <p:nvSpPr>
          <p:cNvPr id="3" name="object 3"/>
          <p:cNvSpPr txBox="1"/>
          <p:nvPr/>
        </p:nvSpPr>
        <p:spPr>
          <a:xfrm>
            <a:off x="1371600" y="1752600"/>
            <a:ext cx="8458200" cy="2510174"/>
          </a:xfrm>
          <a:prstGeom prst="rect">
            <a:avLst/>
          </a:prstGeom>
        </p:spPr>
        <p:txBody>
          <a:bodyPr vert="horz" wrap="square" lIns="0" tIns="54610" rIns="0" bIns="0" rtlCol="0">
            <a:spAutoFit/>
          </a:bodyPr>
          <a:lstStyle/>
          <a:p>
            <a:pPr marL="241300" marR="530860" lvl="0" indent="-229235" algn="l" defTabSz="457200" rtl="0" eaLnBrk="1" fontAlgn="auto" latinLnBrk="0" hangingPunct="1">
              <a:lnSpc>
                <a:spcPct val="90000"/>
              </a:lnSpc>
              <a:spcBef>
                <a:spcPts val="430"/>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Observing</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system</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in</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operation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verify</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err="1">
                <a:ln>
                  <a:noFill/>
                </a:ln>
                <a:solidFill>
                  <a:prstClr val="black"/>
                </a:solidFill>
                <a:effectLst/>
                <a:uLnTx/>
                <a:uFillTx/>
                <a:latin typeface="Calibri"/>
                <a:ea typeface="+mn-ea"/>
                <a:cs typeface="Calibri"/>
              </a:rPr>
              <a:t>whet</a:t>
            </a:r>
            <a:r>
              <a:rPr kumimoji="0" lang="en-US" sz="2400" b="0" i="0" u="none" strike="noStrike" kern="1200" cap="none" spc="-5" normalizeH="0" baseline="0" noProof="0" dirty="0" err="1">
                <a:ln>
                  <a:noFill/>
                </a:ln>
                <a:solidFill>
                  <a:prstClr val="black"/>
                </a:solidFill>
                <a:effectLst/>
                <a:uLnTx/>
                <a:uFillTx/>
                <a:latin typeface="Calibri"/>
                <a:ea typeface="+mn-ea"/>
                <a:cs typeface="Calibri"/>
              </a:rPr>
              <a:t>whether</a:t>
            </a:r>
            <a:r>
              <a:rPr kumimoji="0" lang="en-US" sz="2400" b="0" i="0" u="none" strike="noStrike" kern="1200" cap="none" spc="-5" normalizeH="0" baseline="0" noProof="0" dirty="0">
                <a:ln>
                  <a:noFill/>
                </a:ln>
                <a:solidFill>
                  <a:prstClr val="black"/>
                </a:solidFill>
                <a:effectLst/>
                <a:uLnTx/>
                <a:uFillTx/>
                <a:latin typeface="Calibri"/>
                <a:ea typeface="+mn-ea"/>
                <a:cs typeface="Calibri"/>
              </a:rPr>
              <a:t> its</a:t>
            </a:r>
            <a:r>
              <a:rPr kumimoji="0" lang="en-US" sz="2400" b="0" i="0" u="none" strike="noStrike" kern="1200" cap="none" spc="15" normalizeH="0" baseline="0" noProof="0" dirty="0">
                <a:ln>
                  <a:noFill/>
                </a:ln>
                <a:solidFill>
                  <a:prstClr val="black"/>
                </a:solidFill>
                <a:effectLst/>
                <a:uLnTx/>
                <a:uFillTx/>
                <a:latin typeface="Calibri"/>
                <a:ea typeface="+mn-ea"/>
                <a:cs typeface="Calibri"/>
              </a:rPr>
              <a:t> </a:t>
            </a:r>
            <a:r>
              <a:rPr kumimoji="0" lang="en-US" sz="2400" b="0" i="0" u="none" strike="noStrike" kern="1200" cap="none" spc="-10" normalizeH="0" baseline="0" noProof="0" dirty="0">
                <a:ln>
                  <a:noFill/>
                </a:ln>
                <a:solidFill>
                  <a:prstClr val="black"/>
                </a:solidFill>
                <a:effectLst/>
                <a:uLnTx/>
                <a:uFillTx/>
                <a:latin typeface="Calibri"/>
                <a:ea typeface="+mn-ea"/>
                <a:cs typeface="Calibri"/>
              </a:rPr>
              <a:t>security</a:t>
            </a:r>
            <a:r>
              <a:rPr kumimoji="0" lang="en-US" sz="2400" b="0" i="0" u="none" strike="noStrike" kern="1200" cap="none" spc="20"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functions</a:t>
            </a:r>
            <a:r>
              <a:rPr kumimoji="0" lang="en-US" sz="2400" b="0" i="0" u="none" strike="noStrike" kern="1200" cap="none" spc="55"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and</a:t>
            </a:r>
            <a:r>
              <a:rPr kumimoji="0" lang="en-US" sz="2400" b="0" i="0" u="none" strike="noStrike" kern="1200" cap="none" spc="5" normalizeH="0" baseline="0" noProof="0" dirty="0">
                <a:ln>
                  <a:noFill/>
                </a:ln>
                <a:solidFill>
                  <a:prstClr val="black"/>
                </a:solidFill>
                <a:effectLst/>
                <a:uLnTx/>
                <a:uFillTx/>
                <a:latin typeface="Calibri"/>
                <a:ea typeface="+mn-ea"/>
                <a:cs typeface="Calibri"/>
              </a:rPr>
              <a:t> </a:t>
            </a:r>
            <a:r>
              <a:rPr kumimoji="0" lang="en-US" sz="2400" b="0" i="0" u="none" strike="noStrike" kern="1200" cap="none" spc="-20" normalizeH="0" baseline="0" noProof="0" dirty="0">
                <a:ln>
                  <a:noFill/>
                </a:ln>
                <a:solidFill>
                  <a:prstClr val="black"/>
                </a:solidFill>
                <a:effectLst/>
                <a:uLnTx/>
                <a:uFillTx/>
                <a:latin typeface="Calibri"/>
                <a:ea typeface="+mn-ea"/>
                <a:cs typeface="Calibri"/>
              </a:rPr>
              <a:t>controls</a:t>
            </a:r>
            <a:r>
              <a:rPr kumimoji="0" lang="en-US" sz="2400" b="0" i="0" u="none" strike="noStrike" kern="1200" cap="none" spc="20" normalizeH="0" baseline="0" noProof="0" dirty="0">
                <a:ln>
                  <a:noFill/>
                </a:ln>
                <a:solidFill>
                  <a:prstClr val="black"/>
                </a:solidFill>
                <a:effectLst/>
                <a:uLnTx/>
                <a:uFillTx/>
                <a:latin typeface="Calibri"/>
                <a:ea typeface="+mn-ea"/>
                <a:cs typeface="Calibri"/>
              </a:rPr>
              <a:t> </a:t>
            </a:r>
            <a:r>
              <a:rPr kumimoji="0" lang="en-US" sz="2400" b="0" i="0" u="none" strike="noStrike" kern="1200" cap="none" spc="-15" normalizeH="0" baseline="0" noProof="0" dirty="0">
                <a:ln>
                  <a:noFill/>
                </a:ln>
                <a:solidFill>
                  <a:prstClr val="black"/>
                </a:solidFill>
                <a:effectLst/>
                <a:uLnTx/>
                <a:uFillTx/>
                <a:latin typeface="Calibri"/>
                <a:ea typeface="+mn-ea"/>
                <a:cs typeface="Calibri"/>
              </a:rPr>
              <a:t>are</a:t>
            </a:r>
            <a:r>
              <a:rPr kumimoji="0" lang="en-US" sz="2400" b="0" i="0" u="none" strike="noStrike" kern="1200" cap="none" spc="5"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actually</a:t>
            </a:r>
            <a:r>
              <a:rPr kumimoji="0" lang="en-US" sz="2400" b="0" i="0" u="none" strike="noStrike" kern="1200" cap="none" spc="-10" normalizeH="0" baseline="0" noProof="0" dirty="0">
                <a:ln>
                  <a:noFill/>
                </a:ln>
                <a:solidFill>
                  <a:prstClr val="black"/>
                </a:solidFill>
                <a:effectLst/>
                <a:uLnTx/>
                <a:uFillTx/>
                <a:latin typeface="Calibri"/>
                <a:ea typeface="+mn-ea"/>
                <a:cs typeface="Calibri"/>
              </a:rPr>
              <a:t> working</a:t>
            </a:r>
            <a:r>
              <a:rPr kumimoji="0" lang="en-US" sz="2400" b="0" i="0" u="none" strike="noStrike" kern="1200" cap="none" spc="0" normalizeH="0" baseline="0" noProof="0" dirty="0">
                <a:ln>
                  <a:noFill/>
                </a:ln>
                <a:solidFill>
                  <a:prstClr val="black"/>
                </a:solidFill>
                <a:effectLst/>
                <a:uLnTx/>
                <a:uFillTx/>
                <a:latin typeface="Calibri"/>
                <a:ea typeface="+mn-ea"/>
                <a:cs typeface="Calibri"/>
              </a:rPr>
              <a:t> </a:t>
            </a:r>
            <a:r>
              <a:rPr kumimoji="0" lang="en-US" sz="2400" b="0" i="0" u="none" strike="noStrike" kern="1200" cap="none" spc="-5" normalizeH="0" baseline="0" noProof="0" dirty="0">
                <a:ln>
                  <a:noFill/>
                </a:ln>
                <a:solidFill>
                  <a:prstClr val="black"/>
                </a:solidFill>
                <a:effectLst/>
                <a:uLnTx/>
                <a:uFillTx/>
                <a:latin typeface="Calibri"/>
                <a:ea typeface="+mn-ea"/>
                <a:cs typeface="Calibri"/>
              </a:rPr>
              <a:t>as </a:t>
            </a:r>
            <a:r>
              <a:rPr kumimoji="0" sz="2400" b="0" i="0" u="none" strike="noStrike" kern="1200" cap="none" spc="-5" normalizeH="0" baseline="0" noProof="0" dirty="0">
                <a:ln>
                  <a:noFill/>
                </a:ln>
                <a:solidFill>
                  <a:prstClr val="black"/>
                </a:solidFill>
                <a:effectLst/>
                <a:uLnTx/>
                <a:uFillTx/>
                <a:latin typeface="Calibri"/>
                <a:ea typeface="+mn-ea"/>
                <a:cs typeface="Calibri"/>
              </a:rPr>
              <a:t>her</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secure</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 </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intended</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protect</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systems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data.</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5080" lvl="0" indent="-229235" algn="l" defTabSz="457200" rtl="0" eaLnBrk="1" fontAlgn="auto" latinLnBrk="0" hangingPunct="1">
              <a:lnSpc>
                <a:spcPct val="90000"/>
              </a:lnSpc>
              <a:spcBef>
                <a:spcPts val="1010"/>
              </a:spcBef>
              <a:spcAft>
                <a:spcPts val="0"/>
              </a:spcAft>
              <a:buClrTx/>
              <a:buSzTx/>
              <a:buFont typeface="Arial MT"/>
              <a:buChar char="•"/>
              <a:tabLst>
                <a:tab pos="241935" algn="l"/>
                <a:tab pos="5153660"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An</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assessor</a:t>
            </a:r>
            <a:r>
              <a:rPr kumimoji="0" sz="2400" b="0" i="0" u="none" strike="noStrike" kern="1200" cap="none" spc="6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can</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easily</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determine</a:t>
            </a:r>
            <a:r>
              <a:rPr kumimoji="0" lang="en-US"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whether a</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control</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is </a:t>
            </a:r>
            <a:r>
              <a:rPr kumimoji="0" sz="2400" b="0" i="0" u="none" strike="noStrike" kern="1200" cap="none" spc="-10" normalizeH="0" baseline="0" noProof="0" dirty="0">
                <a:ln>
                  <a:noFill/>
                </a:ln>
                <a:solidFill>
                  <a:prstClr val="black"/>
                </a:solidFill>
                <a:effectLst/>
                <a:uLnTx/>
                <a:uFillTx/>
                <a:latin typeface="Calibri"/>
                <a:ea typeface="+mn-ea"/>
                <a:cs typeface="Calibri"/>
              </a:rPr>
              <a:t>functioning</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by </a:t>
            </a:r>
            <a:r>
              <a:rPr kumimoji="0" sz="2400" b="0" i="0" u="none" strike="noStrike" kern="1200" cap="none" spc="-10" normalizeH="0" baseline="0" noProof="0" dirty="0">
                <a:ln>
                  <a:noFill/>
                </a:ln>
                <a:solidFill>
                  <a:prstClr val="black"/>
                </a:solidFill>
                <a:effectLst/>
                <a:uLnTx/>
                <a:uFillTx/>
                <a:latin typeface="Calibri"/>
                <a:ea typeface="+mn-ea"/>
                <a:cs typeface="Calibri"/>
              </a:rPr>
              <a:t> observing</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30" normalizeH="0" baseline="0" noProof="0" dirty="0">
                <a:ln>
                  <a:noFill/>
                </a:ln>
                <a:solidFill>
                  <a:prstClr val="black"/>
                </a:solidFill>
                <a:effectLst/>
                <a:uLnTx/>
                <a:uFillTx/>
                <a:latin typeface="Calibri"/>
                <a:ea typeface="+mn-ea"/>
                <a:cs typeface="Calibri"/>
              </a:rPr>
              <a:t>system</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operator</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perform</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security</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function</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by</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visually </a:t>
            </a:r>
            <a:r>
              <a:rPr kumimoji="0" sz="2400" b="0" i="0" u="none" strike="noStrike" kern="1200" cap="none" spc="-6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inspecting</a:t>
            </a:r>
            <a:r>
              <a:rPr kumimoji="0" sz="2400" b="0" i="0" u="none" strike="noStrike" kern="1200" cap="none" spc="4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control</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to</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make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sure</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it is</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place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and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implemented </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35" normalizeH="0" baseline="0" noProof="0" dirty="0">
                <a:ln>
                  <a:noFill/>
                </a:ln>
                <a:solidFill>
                  <a:prstClr val="black"/>
                </a:solidFill>
                <a:effectLst/>
                <a:uLnTx/>
                <a:uFillTx/>
                <a:latin typeface="Calibri"/>
                <a:ea typeface="+mn-ea"/>
                <a:cs typeface="Calibri"/>
              </a:rPr>
              <a:t>properly.</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37685"/>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60" dirty="0">
                <a:solidFill>
                  <a:srgbClr val="074891"/>
                </a:solidFill>
                <a:uFill>
                  <a:solidFill>
                    <a:srgbClr val="000000"/>
                  </a:solidFill>
                </a:uFill>
              </a:rPr>
              <a:t>System</a:t>
            </a:r>
            <a:r>
              <a:rPr sz="4400" u="sng" spc="-150" dirty="0">
                <a:solidFill>
                  <a:srgbClr val="074891"/>
                </a:solidFill>
                <a:uFill>
                  <a:solidFill>
                    <a:srgbClr val="000000"/>
                  </a:solidFill>
                </a:uFill>
              </a:rPr>
              <a:t> </a:t>
            </a:r>
            <a:r>
              <a:rPr sz="4400" u="sng" spc="-90" dirty="0">
                <a:solidFill>
                  <a:srgbClr val="074891"/>
                </a:solidFill>
                <a:uFill>
                  <a:solidFill>
                    <a:srgbClr val="000000"/>
                  </a:solidFill>
                </a:uFill>
              </a:rPr>
              <a:t>Testing</a:t>
            </a:r>
            <a:br>
              <a:rPr lang="en-US" sz="4400" u="heavy" spc="-90" dirty="0">
                <a:solidFill>
                  <a:srgbClr val="074891"/>
                </a:solidFill>
                <a:uFill>
                  <a:solidFill>
                    <a:srgbClr val="000000"/>
                  </a:solidFill>
                </a:uFill>
              </a:rPr>
            </a:br>
            <a:endParaRPr sz="4400" dirty="0"/>
          </a:p>
        </p:txBody>
      </p:sp>
      <p:sp>
        <p:nvSpPr>
          <p:cNvPr id="3" name="object 3"/>
          <p:cNvSpPr txBox="1"/>
          <p:nvPr/>
        </p:nvSpPr>
        <p:spPr>
          <a:xfrm>
            <a:off x="1447800" y="1127388"/>
            <a:ext cx="6719277" cy="4313360"/>
          </a:xfrm>
          <a:prstGeom prst="rect">
            <a:avLst/>
          </a:prstGeom>
        </p:spPr>
        <p:txBody>
          <a:bodyPr vert="horz" wrap="square" lIns="0" tIns="47625" rIns="0" bIns="0" rtlCol="0">
            <a:spAutoFit/>
          </a:bodyPr>
          <a:lstStyle/>
          <a:p>
            <a:pPr marL="241300" marR="0" lvl="0" indent="-229235" algn="l" defTabSz="457200" rtl="0" eaLnBrk="1" fontAlgn="auto" latinLnBrk="0" hangingPunct="1">
              <a:lnSpc>
                <a:spcPct val="100000"/>
              </a:lnSpc>
              <a:spcBef>
                <a:spcPts val="725"/>
              </a:spcBef>
              <a:spcAft>
                <a:spcPts val="0"/>
              </a:spcAft>
              <a:buClrTx/>
              <a:buSzTx/>
              <a:buFont typeface="Arial MT"/>
              <a:buChar char="•"/>
              <a:tabLst>
                <a:tab pos="241300" algn="l"/>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System</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Security</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testing</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includes:</a:t>
            </a:r>
          </a:p>
          <a:p>
            <a:pPr marL="812165" marR="0" lvl="1" indent="-342900" algn="l" defTabSz="457200" rtl="0" eaLnBrk="1" fontAlgn="auto" latinLnBrk="0" hangingPunct="1">
              <a:lnSpc>
                <a:spcPct val="100000"/>
              </a:lnSpc>
              <a:spcBef>
                <a:spcPts val="295"/>
              </a:spcBef>
              <a:spcAft>
                <a:spcPts val="0"/>
              </a:spcAft>
              <a:buClrTx/>
              <a:buSzTx/>
              <a:buFont typeface="+mj-lt"/>
              <a:buAutoNum type="arabicPeriod"/>
              <a:tabLst>
                <a:tab pos="698500" algn="l"/>
                <a:tab pos="699135" algn="l"/>
              </a:tabLst>
              <a:defRPr/>
            </a:pPr>
            <a:r>
              <a:rPr kumimoji="0" sz="1800" b="0" i="0" u="none" strike="noStrike" kern="1200" cap="none" spc="-20" normalizeH="0" baseline="0" noProof="0" dirty="0">
                <a:ln>
                  <a:noFill/>
                </a:ln>
                <a:solidFill>
                  <a:prstClr val="black"/>
                </a:solidFill>
                <a:effectLst/>
                <a:uLnTx/>
                <a:uFillTx/>
                <a:latin typeface="Calibri"/>
                <a:ea typeface="+mn-ea"/>
                <a:cs typeface="Calibri"/>
              </a:rPr>
              <a:t>Various</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types</a:t>
            </a:r>
            <a:r>
              <a:rPr kumimoji="0" sz="1800" b="0" i="0" u="none" strike="noStrike" kern="1200" cap="none" spc="-5" normalizeH="0" baseline="0" noProof="0" dirty="0">
                <a:ln>
                  <a:noFill/>
                </a:ln>
                <a:solidFill>
                  <a:prstClr val="black"/>
                </a:solidFill>
                <a:effectLst/>
                <a:uLnTx/>
                <a:uFillTx/>
                <a:latin typeface="Calibri"/>
                <a:ea typeface="+mn-ea"/>
                <a:cs typeface="Calibri"/>
              </a:rPr>
              <a:t> of host-based</a:t>
            </a:r>
            <a:r>
              <a:rPr kumimoji="0" sz="1800" b="0" i="0" u="none" strike="noStrike" kern="1200" cap="none" spc="0" normalizeH="0" baseline="0" noProof="0" dirty="0">
                <a:ln>
                  <a:noFill/>
                </a:ln>
                <a:solidFill>
                  <a:prstClr val="black"/>
                </a:solidFill>
                <a:effectLst/>
                <a:uLnTx/>
                <a:uFillTx/>
                <a:latin typeface="Calibri"/>
                <a:ea typeface="+mn-ea"/>
                <a:cs typeface="Calibri"/>
              </a:rPr>
              <a:t> and</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network</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scans</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812800" marR="5080" lvl="1" indent="-342900" algn="l" defTabSz="457200" rtl="0" eaLnBrk="1" fontAlgn="auto" latinLnBrk="0" hangingPunct="1">
              <a:lnSpc>
                <a:spcPts val="1939"/>
              </a:lnSpc>
              <a:spcBef>
                <a:spcPts val="540"/>
              </a:spcBef>
              <a:spcAft>
                <a:spcPts val="0"/>
              </a:spcAft>
              <a:buClrTx/>
              <a:buSzTx/>
              <a:buFont typeface="+mj-lt"/>
              <a:buAutoNum type="arabicPeriod"/>
              <a:tabLst>
                <a:tab pos="698500" algn="l"/>
                <a:tab pos="699135" algn="l"/>
              </a:tabLst>
              <a:defRPr/>
            </a:pPr>
            <a:r>
              <a:rPr kumimoji="0" sz="1800" b="0" i="0" u="none" strike="noStrike" kern="1200" cap="none" spc="-5" normalizeH="0" baseline="0" noProof="0" dirty="0">
                <a:ln>
                  <a:noFill/>
                </a:ln>
                <a:solidFill>
                  <a:prstClr val="black"/>
                </a:solidFill>
                <a:effectLst/>
                <a:uLnTx/>
                <a:uFillTx/>
                <a:latin typeface="Calibri"/>
                <a:ea typeface="+mn-ea"/>
                <a:cs typeface="Calibri"/>
              </a:rPr>
              <a:t>In-depth</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examination</a:t>
            </a:r>
            <a:r>
              <a:rPr kumimoji="0" sz="1800" b="0" i="0" u="none" strike="noStrike" kern="1200" cap="none" spc="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of</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patches</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updates,</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configuration</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settings,</a:t>
            </a:r>
            <a:r>
              <a:rPr kumimoji="0" sz="1800" b="0" i="0" u="none" strike="noStrike" kern="1200" cap="none" spc="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user</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accounts,</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2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other</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security </a:t>
            </a:r>
            <a:r>
              <a:rPr kumimoji="0" sz="1800" b="0" i="0" u="none" strike="noStrike" kern="1200" cap="none" spc="-39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settings.</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ct val="100000"/>
              </a:lnSpc>
              <a:spcBef>
                <a:spcPts val="260"/>
              </a:spcBef>
              <a:spcAft>
                <a:spcPts val="0"/>
              </a:spcAft>
              <a:buClrTx/>
              <a:buSzTx/>
              <a:buFont typeface="+mj-lt"/>
              <a:buAutoNum type="arabicPeriod"/>
              <a:tabLst>
                <a:tab pos="698500" algn="l"/>
                <a:tab pos="699135" algn="l"/>
              </a:tabLst>
              <a:defRPr/>
            </a:pPr>
            <a:r>
              <a:rPr kumimoji="0" sz="1800" b="0" i="0" u="none" strike="noStrike" kern="1200" cap="none" spc="-5" normalizeH="0" baseline="0" noProof="0" dirty="0">
                <a:ln>
                  <a:noFill/>
                </a:ln>
                <a:solidFill>
                  <a:prstClr val="black"/>
                </a:solidFill>
                <a:effectLst/>
                <a:uLnTx/>
                <a:uFillTx/>
                <a:latin typeface="Calibri"/>
                <a:ea typeface="+mn-ea"/>
                <a:cs typeface="Calibri"/>
              </a:rPr>
              <a:t>Rights,</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permissions,</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privileges </a:t>
            </a:r>
            <a:r>
              <a:rPr kumimoji="0" sz="1800" b="0" i="0" u="none" strike="noStrike" kern="1200" cap="none" spc="-10" normalizeH="0" baseline="0" noProof="0" dirty="0">
                <a:ln>
                  <a:noFill/>
                </a:ln>
                <a:solidFill>
                  <a:prstClr val="black"/>
                </a:solidFill>
                <a:effectLst/>
                <a:uLnTx/>
                <a:uFillTx/>
                <a:latin typeface="Calibri"/>
                <a:ea typeface="+mn-ea"/>
                <a:cs typeface="Calibri"/>
              </a:rPr>
              <a:t>examination</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ct val="100000"/>
              </a:lnSpc>
              <a:spcBef>
                <a:spcPts val="280"/>
              </a:spcBef>
              <a:spcAft>
                <a:spcPts val="0"/>
              </a:spcAft>
              <a:buClrTx/>
              <a:buSzTx/>
              <a:buFont typeface="+mj-lt"/>
              <a:buAutoNum type="arabicPeriod"/>
              <a:tabLst>
                <a:tab pos="698500" algn="l"/>
                <a:tab pos="699135" algn="l"/>
              </a:tabLst>
              <a:defRPr/>
            </a:pPr>
            <a:r>
              <a:rPr kumimoji="0" sz="1800" b="0" i="0" u="none" strike="noStrike" kern="1200" cap="none" spc="-10" normalizeH="0" baseline="0" noProof="0" dirty="0">
                <a:ln>
                  <a:noFill/>
                </a:ln>
                <a:solidFill>
                  <a:prstClr val="black"/>
                </a:solidFill>
                <a:effectLst/>
                <a:uLnTx/>
                <a:uFillTx/>
                <a:latin typeface="Calibri"/>
                <a:ea typeface="+mn-ea"/>
                <a:cs typeface="Calibri"/>
              </a:rPr>
              <a:t>Network</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15" normalizeH="0" baseline="0" noProof="0" dirty="0">
                <a:ln>
                  <a:noFill/>
                </a:ln>
                <a:solidFill>
                  <a:prstClr val="black"/>
                </a:solidFill>
                <a:effectLst/>
                <a:uLnTx/>
                <a:uFillTx/>
                <a:latin typeface="Calibri"/>
                <a:ea typeface="+mn-ea"/>
                <a:cs typeface="Calibri"/>
              </a:rPr>
              <a:t>protocols</a:t>
            </a:r>
            <a:r>
              <a:rPr kumimoji="0" sz="1800" b="0" i="0" u="none" strike="noStrike" kern="1200" cap="none" spc="2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connections</a:t>
            </a:r>
            <a:r>
              <a:rPr kumimoji="0" sz="1800" b="0" i="0" u="none" strike="noStrike" kern="1200" cap="none" spc="3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are</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studied,</a:t>
            </a:r>
            <a:r>
              <a:rPr kumimoji="0" sz="1800" b="0" i="0" u="none" strike="noStrike" kern="1200" cap="none" spc="3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the</a:t>
            </a:r>
            <a:r>
              <a:rPr kumimoji="0" sz="1800" b="0" i="0" u="none" strike="noStrike" kern="1200" cap="none" spc="2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network</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15" normalizeH="0" baseline="0" noProof="0" dirty="0">
                <a:ln>
                  <a:noFill/>
                </a:ln>
                <a:solidFill>
                  <a:prstClr val="black"/>
                </a:solidFill>
                <a:effectLst/>
                <a:uLnTx/>
                <a:uFillTx/>
                <a:latin typeface="Calibri"/>
                <a:ea typeface="+mn-ea"/>
                <a:cs typeface="Calibri"/>
              </a:rPr>
              <a:t>architecture</a:t>
            </a:r>
            <a:r>
              <a:rPr kumimoji="0" sz="1800" b="0" i="0" u="none" strike="noStrike" kern="1200" cap="none" spc="5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examination.</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ct val="100000"/>
              </a:lnSpc>
              <a:spcBef>
                <a:spcPts val="290"/>
              </a:spcBef>
              <a:spcAft>
                <a:spcPts val="0"/>
              </a:spcAft>
              <a:buClrTx/>
              <a:buSzTx/>
              <a:buFont typeface="+mj-lt"/>
              <a:buAutoNum type="arabicPeriod"/>
              <a:tabLst>
                <a:tab pos="698500" algn="l"/>
                <a:tab pos="699135" algn="l"/>
              </a:tabLst>
              <a:defRPr/>
            </a:pPr>
            <a:r>
              <a:rPr kumimoji="0" sz="1800" b="0" i="0" u="none" strike="noStrike" kern="1200" cap="none" spc="-5" normalizeH="0" baseline="0" noProof="0" dirty="0">
                <a:ln>
                  <a:noFill/>
                </a:ln>
                <a:solidFill>
                  <a:prstClr val="black"/>
                </a:solidFill>
                <a:effectLst/>
                <a:uLnTx/>
                <a:uFillTx/>
                <a:latin typeface="Calibri"/>
                <a:ea typeface="+mn-ea"/>
                <a:cs typeface="Calibri"/>
              </a:rPr>
              <a:t>Application </a:t>
            </a:r>
            <a:r>
              <a:rPr kumimoji="0" sz="1800" b="0" i="0" u="none" strike="noStrike" kern="1200" cap="none" spc="-10" normalizeH="0" baseline="0" noProof="0" dirty="0">
                <a:ln>
                  <a:noFill/>
                </a:ln>
                <a:solidFill>
                  <a:prstClr val="black"/>
                </a:solidFill>
                <a:effectLst/>
                <a:uLnTx/>
                <a:uFillTx/>
                <a:latin typeface="Calibri"/>
                <a:ea typeface="+mn-ea"/>
                <a:cs typeface="Calibri"/>
              </a:rPr>
              <a:t>software</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code</a:t>
            </a:r>
            <a:r>
              <a:rPr kumimoji="0" sz="1800" b="0" i="0" u="none" strike="noStrike" kern="1200" cap="none" spc="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reviews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testing.</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ct val="100000"/>
              </a:lnSpc>
              <a:spcBef>
                <a:spcPts val="285"/>
              </a:spcBef>
              <a:spcAft>
                <a:spcPts val="0"/>
              </a:spcAft>
              <a:buClrTx/>
              <a:buSzTx/>
              <a:buFont typeface="+mj-lt"/>
              <a:buAutoNum type="arabicPeriod"/>
              <a:tabLst>
                <a:tab pos="698500" algn="l"/>
                <a:tab pos="699135" algn="l"/>
              </a:tabLst>
              <a:defRPr/>
            </a:pPr>
            <a:r>
              <a:rPr kumimoji="0" sz="1800" b="0" i="0" u="none" strike="noStrike" kern="1200" cap="none" spc="-5" normalizeH="0" baseline="0" noProof="0" dirty="0">
                <a:ln>
                  <a:noFill/>
                </a:ln>
                <a:solidFill>
                  <a:prstClr val="black"/>
                </a:solidFill>
                <a:effectLst/>
                <a:uLnTx/>
                <a:uFillTx/>
                <a:latin typeface="Calibri"/>
                <a:ea typeface="+mn-ea"/>
                <a:cs typeface="Calibri"/>
              </a:rPr>
              <a:t>Authentication</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0" normalizeH="0" baseline="0" noProof="0" dirty="0">
                <a:ln>
                  <a:noFill/>
                </a:ln>
                <a:solidFill>
                  <a:prstClr val="black"/>
                </a:solidFill>
                <a:effectLst/>
                <a:uLnTx/>
                <a:uFillTx/>
                <a:latin typeface="Calibri"/>
                <a:ea typeface="+mn-ea"/>
                <a:cs typeface="Calibri"/>
              </a:rPr>
              <a:t>and</a:t>
            </a:r>
            <a:r>
              <a:rPr kumimoji="0" sz="1800" b="0" i="0" u="none" strike="noStrike" kern="1200" cap="none" spc="5"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encryption</a:t>
            </a:r>
            <a:r>
              <a:rPr kumimoji="0" sz="1800" b="0" i="0" u="none" strike="noStrike" kern="1200" cap="none" spc="2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mechanisms</a:t>
            </a:r>
            <a:r>
              <a:rPr kumimoji="0" sz="1800" b="0" i="0" u="none" strike="noStrike" kern="1200" cap="none" spc="0"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examination.</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812165" marR="0" lvl="1" indent="-342900" algn="l" defTabSz="457200" rtl="0" eaLnBrk="1" fontAlgn="auto" latinLnBrk="0" hangingPunct="1">
              <a:lnSpc>
                <a:spcPct val="100000"/>
              </a:lnSpc>
              <a:spcBef>
                <a:spcPts val="275"/>
              </a:spcBef>
              <a:spcAft>
                <a:spcPts val="0"/>
              </a:spcAft>
              <a:buClrTx/>
              <a:buSzTx/>
              <a:buFont typeface="+mj-lt"/>
              <a:buAutoNum type="arabicPeriod"/>
              <a:tabLst>
                <a:tab pos="698500" algn="l"/>
                <a:tab pos="699135" algn="l"/>
              </a:tabLst>
              <a:defRPr/>
            </a:pPr>
            <a:r>
              <a:rPr kumimoji="0" sz="1800" b="0" i="0" u="none" strike="noStrike" kern="1200" cap="none" spc="-15" normalizeH="0" baseline="0" noProof="0" dirty="0">
                <a:ln>
                  <a:noFill/>
                </a:ln>
                <a:solidFill>
                  <a:prstClr val="black"/>
                </a:solidFill>
                <a:effectLst/>
                <a:uLnTx/>
                <a:uFillTx/>
                <a:latin typeface="Calibri"/>
                <a:ea typeface="+mn-ea"/>
                <a:cs typeface="Calibri"/>
              </a:rPr>
              <a:t>Physical</a:t>
            </a:r>
            <a:r>
              <a:rPr kumimoji="0" sz="1800" b="0" i="0" u="none" strike="noStrike" kern="1200" cap="none" spc="-10" normalizeH="0" baseline="0" noProof="0" dirty="0">
                <a:ln>
                  <a:noFill/>
                </a:ln>
                <a:solidFill>
                  <a:prstClr val="black"/>
                </a:solidFill>
                <a:effectLst/>
                <a:uLnTx/>
                <a:uFillTx/>
                <a:latin typeface="Calibri"/>
                <a:ea typeface="+mn-ea"/>
                <a:cs typeface="Calibri"/>
              </a:rPr>
              <a:t> </a:t>
            </a:r>
            <a:r>
              <a:rPr kumimoji="0" sz="1800" b="0" i="0" u="none" strike="noStrike" kern="1200" cap="none" spc="-5" normalizeH="0" baseline="0" noProof="0" dirty="0">
                <a:ln>
                  <a:noFill/>
                </a:ln>
                <a:solidFill>
                  <a:prstClr val="black"/>
                </a:solidFill>
                <a:effectLst/>
                <a:uLnTx/>
                <a:uFillTx/>
                <a:latin typeface="Calibri"/>
                <a:ea typeface="+mn-ea"/>
                <a:cs typeface="Calibri"/>
              </a:rPr>
              <a:t>access</a:t>
            </a:r>
            <a:r>
              <a:rPr kumimoji="0" sz="1800" b="0" i="0" u="none" strike="noStrike" kern="1200" cap="none" spc="0" normalizeH="0" baseline="0" noProof="0" dirty="0">
                <a:ln>
                  <a:noFill/>
                </a:ln>
                <a:solidFill>
                  <a:prstClr val="black"/>
                </a:solidFill>
                <a:effectLst/>
                <a:uLnTx/>
                <a:uFillTx/>
                <a:latin typeface="Calibri"/>
                <a:ea typeface="+mn-ea"/>
                <a:cs typeface="Calibri"/>
              </a:rPr>
              <a:t> </a:t>
            </a:r>
            <a:r>
              <a:rPr kumimoji="0" sz="1800" b="0" i="0" u="none" strike="noStrike" kern="1200" cap="none" spc="-15" normalizeH="0" baseline="0" noProof="0" dirty="0">
                <a:ln>
                  <a:noFill/>
                </a:ln>
                <a:solidFill>
                  <a:prstClr val="black"/>
                </a:solidFill>
                <a:effectLst/>
                <a:uLnTx/>
                <a:uFillTx/>
                <a:latin typeface="Calibri"/>
                <a:ea typeface="+mn-ea"/>
                <a:cs typeface="Calibri"/>
              </a:rPr>
              <a:t>controls</a:t>
            </a:r>
            <a:r>
              <a:rPr kumimoji="0" sz="1800" b="0" i="0" u="none" strike="noStrike" kern="1200" cap="none" spc="15" normalizeH="0" baseline="0" noProof="0" dirty="0">
                <a:ln>
                  <a:noFill/>
                </a:ln>
                <a:solidFill>
                  <a:prstClr val="black"/>
                </a:solidFill>
                <a:effectLst/>
                <a:uLnTx/>
                <a:uFillTx/>
                <a:latin typeface="Calibri"/>
                <a:ea typeface="+mn-ea"/>
                <a:cs typeface="Calibri"/>
              </a:rPr>
              <a:t> </a:t>
            </a:r>
            <a:r>
              <a:rPr kumimoji="0" sz="1800" b="0" i="0" u="none" strike="noStrike" kern="1200" cap="none" spc="-10" normalizeH="0" baseline="0" noProof="0" dirty="0">
                <a:ln>
                  <a:noFill/>
                </a:ln>
                <a:solidFill>
                  <a:prstClr val="black"/>
                </a:solidFill>
                <a:effectLst/>
                <a:uLnTx/>
                <a:uFillTx/>
                <a:latin typeface="Calibri"/>
                <a:ea typeface="+mn-ea"/>
                <a:cs typeface="Calibri"/>
              </a:rPr>
              <a:t>testing.</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a:p>
            <a:pPr marL="241300" marR="280035" lvl="0" indent="-229235" algn="l" defTabSz="457200" rtl="0" eaLnBrk="1" fontAlgn="auto" latinLnBrk="0" hangingPunct="1">
              <a:lnSpc>
                <a:spcPct val="90100"/>
              </a:lnSpc>
              <a:spcBef>
                <a:spcPts val="990"/>
              </a:spcBef>
              <a:spcAft>
                <a:spcPts val="0"/>
              </a:spcAft>
              <a:buClrTx/>
              <a:buSzTx/>
              <a:buFont typeface="Arial MT"/>
              <a:buChar char="•"/>
              <a:tabLst>
                <a:tab pos="241300" algn="l"/>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results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20" normalizeH="0" baseline="0" noProof="0" dirty="0">
                <a:ln>
                  <a:noFill/>
                </a:ln>
                <a:solidFill>
                  <a:prstClr val="black"/>
                </a:solidFill>
                <a:effectLst/>
                <a:uLnTx/>
                <a:uFillTx/>
                <a:latin typeface="Calibri"/>
                <a:ea typeface="+mn-ea"/>
                <a:cs typeface="Calibri"/>
              </a:rPr>
              <a:t>system</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security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assessments</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are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consolidated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with</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results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from</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interviews, </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documentation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reviews,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system</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observations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form</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comprehensive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data</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picture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434"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system</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 asset.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304800"/>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25" dirty="0">
                <a:solidFill>
                  <a:srgbClr val="074891"/>
                </a:solidFill>
                <a:uFill>
                  <a:solidFill>
                    <a:srgbClr val="000000"/>
                  </a:solidFill>
                </a:uFill>
              </a:rPr>
              <a:t>Data</a:t>
            </a:r>
            <a:r>
              <a:rPr sz="4400" u="sng" spc="-15" dirty="0">
                <a:solidFill>
                  <a:srgbClr val="074891"/>
                </a:solidFill>
                <a:uFill>
                  <a:solidFill>
                    <a:srgbClr val="000000"/>
                  </a:solidFill>
                </a:uFill>
              </a:rPr>
              <a:t> </a:t>
            </a:r>
            <a:r>
              <a:rPr sz="4400" u="sng" spc="-5" dirty="0">
                <a:solidFill>
                  <a:srgbClr val="074891"/>
                </a:solidFill>
                <a:uFill>
                  <a:solidFill>
                    <a:srgbClr val="000000"/>
                  </a:solidFill>
                </a:uFill>
              </a:rPr>
              <a:t>Collection</a:t>
            </a:r>
            <a:r>
              <a:rPr sz="4400" u="sng" spc="5" dirty="0">
                <a:solidFill>
                  <a:srgbClr val="074891"/>
                </a:solidFill>
                <a:uFill>
                  <a:solidFill>
                    <a:srgbClr val="000000"/>
                  </a:solidFill>
                </a:uFill>
              </a:rPr>
              <a:t> </a:t>
            </a:r>
            <a:r>
              <a:rPr sz="4400" u="sng" spc="-5" dirty="0">
                <a:solidFill>
                  <a:srgbClr val="074891"/>
                </a:solidFill>
                <a:uFill>
                  <a:solidFill>
                    <a:srgbClr val="000000"/>
                  </a:solidFill>
                </a:uFill>
              </a:rPr>
              <a:t>methods</a:t>
            </a:r>
            <a:br>
              <a:rPr lang="en-US" sz="4400" u="heavy" spc="-5" dirty="0">
                <a:solidFill>
                  <a:srgbClr val="074891"/>
                </a:solidFill>
                <a:uFill>
                  <a:solidFill>
                    <a:srgbClr val="000000"/>
                  </a:solidFill>
                </a:uFill>
              </a:rPr>
            </a:br>
            <a:r>
              <a:rPr sz="4400" u="heavy" spc="-5" dirty="0">
                <a:solidFill>
                  <a:srgbClr val="074891"/>
                </a:solidFill>
                <a:uFill>
                  <a:solidFill>
                    <a:srgbClr val="000000"/>
                  </a:solidFill>
                </a:uFill>
              </a:rPr>
              <a:t>	</a:t>
            </a:r>
            <a:endParaRPr sz="4400" dirty="0"/>
          </a:p>
        </p:txBody>
      </p:sp>
      <p:sp>
        <p:nvSpPr>
          <p:cNvPr id="3" name="object 3"/>
          <p:cNvSpPr txBox="1"/>
          <p:nvPr/>
        </p:nvSpPr>
        <p:spPr>
          <a:xfrm>
            <a:off x="1371600" y="6096000"/>
            <a:ext cx="8797290" cy="330835"/>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000" b="0" i="0" u="none" strike="noStrike" kern="1200" cap="none" spc="0" normalizeH="0" baseline="0" noProof="0" dirty="0">
                <a:ln>
                  <a:noFill/>
                </a:ln>
                <a:solidFill>
                  <a:prstClr val="black"/>
                </a:solidFill>
                <a:effectLst/>
                <a:uLnTx/>
                <a:uFillTx/>
                <a:latin typeface="Calibri"/>
                <a:ea typeface="+mn-ea"/>
                <a:cs typeface="Calibri"/>
              </a:rPr>
              <a:t>Summary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different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collection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methods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you</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can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use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during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assessment.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object 4"/>
          <p:cNvPicPr/>
          <p:nvPr/>
        </p:nvPicPr>
        <p:blipFill>
          <a:blip r:embed="rId2" cstate="print"/>
          <a:stretch>
            <a:fillRect/>
          </a:stretch>
        </p:blipFill>
        <p:spPr>
          <a:xfrm>
            <a:off x="926123" y="1066800"/>
            <a:ext cx="9555497" cy="48326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1046461" cy="1367682"/>
          </a:xfrm>
          <a:prstGeom prst="rect">
            <a:avLst/>
          </a:prstGeom>
        </p:spPr>
        <p:txBody>
          <a:bodyPr vert="horz" wrap="square" lIns="0" tIns="13335" rIns="0" bIns="0" rtlCol="0">
            <a:spAutoFit/>
          </a:bodyPr>
          <a:lstStyle/>
          <a:p>
            <a:pPr marL="12700">
              <a:lnSpc>
                <a:spcPct val="100000"/>
              </a:lnSpc>
              <a:spcBef>
                <a:spcPts val="105"/>
              </a:spcBef>
            </a:pPr>
            <a:r>
              <a:rPr sz="4400" u="sng" spc="-25" dirty="0">
                <a:solidFill>
                  <a:srgbClr val="074891"/>
                </a:solidFill>
                <a:uFill>
                  <a:solidFill>
                    <a:srgbClr val="000000"/>
                  </a:solidFill>
                </a:uFill>
              </a:rPr>
              <a:t>Asset</a:t>
            </a:r>
            <a:r>
              <a:rPr sz="4400" u="sng" spc="-80" dirty="0">
                <a:solidFill>
                  <a:srgbClr val="074891"/>
                </a:solidFill>
                <a:uFill>
                  <a:solidFill>
                    <a:srgbClr val="000000"/>
                  </a:solidFill>
                </a:uFill>
              </a:rPr>
              <a:t> </a:t>
            </a:r>
            <a:r>
              <a:rPr sz="4400" u="sng" spc="-40" dirty="0">
                <a:solidFill>
                  <a:srgbClr val="074891"/>
                </a:solidFill>
                <a:uFill>
                  <a:solidFill>
                    <a:srgbClr val="000000"/>
                  </a:solidFill>
                </a:uFill>
              </a:rPr>
              <a:t>Identification</a:t>
            </a:r>
            <a:r>
              <a:rPr sz="4400" u="sng" spc="-114" dirty="0">
                <a:solidFill>
                  <a:srgbClr val="074891"/>
                </a:solidFill>
                <a:uFill>
                  <a:solidFill>
                    <a:srgbClr val="000000"/>
                  </a:solidFill>
                </a:uFill>
              </a:rPr>
              <a:t> </a:t>
            </a:r>
            <a:r>
              <a:rPr sz="4400" u="sng" spc="-20" dirty="0">
                <a:solidFill>
                  <a:srgbClr val="074891"/>
                </a:solidFill>
                <a:uFill>
                  <a:solidFill>
                    <a:srgbClr val="000000"/>
                  </a:solidFill>
                </a:uFill>
              </a:rPr>
              <a:t>and</a:t>
            </a:r>
            <a:r>
              <a:rPr lang="en-US" sz="4400" u="sng" spc="-20" dirty="0">
                <a:solidFill>
                  <a:srgbClr val="074891"/>
                </a:solidFill>
                <a:uFill>
                  <a:solidFill>
                    <a:srgbClr val="000000"/>
                  </a:solidFill>
                </a:uFill>
              </a:rPr>
              <a:t> </a:t>
            </a:r>
            <a:r>
              <a:rPr sz="4400" u="sng" spc="-45" dirty="0">
                <a:solidFill>
                  <a:srgbClr val="074891"/>
                </a:solidFill>
                <a:uFill>
                  <a:solidFill>
                    <a:srgbClr val="000000"/>
                  </a:solidFill>
                </a:uFill>
              </a:rPr>
              <a:t>Categorization</a:t>
            </a:r>
            <a:br>
              <a:rPr lang="en-US" sz="4400" u="heavy" spc="-45" dirty="0">
                <a:solidFill>
                  <a:srgbClr val="074891"/>
                </a:solidFill>
                <a:uFill>
                  <a:solidFill>
                    <a:srgbClr val="000000"/>
                  </a:solidFill>
                </a:uFill>
              </a:rPr>
            </a:br>
            <a:endParaRPr sz="4400" dirty="0"/>
          </a:p>
        </p:txBody>
      </p:sp>
      <p:sp>
        <p:nvSpPr>
          <p:cNvPr id="3" name="object 3"/>
          <p:cNvSpPr txBox="1"/>
          <p:nvPr/>
        </p:nvSpPr>
        <p:spPr>
          <a:xfrm>
            <a:off x="1371600" y="1447800"/>
            <a:ext cx="8001000" cy="5032916"/>
          </a:xfrm>
          <a:prstGeom prst="rect">
            <a:avLst/>
          </a:prstGeom>
        </p:spPr>
        <p:txBody>
          <a:bodyPr vert="horz" wrap="square" lIns="0" tIns="13335" rIns="0" bIns="0" rtlCol="0">
            <a:spAutoFit/>
          </a:bodyPr>
          <a:lstStyle/>
          <a:p>
            <a:pPr marL="241300" marR="0" lvl="0" indent="-229235" algn="l" defTabSz="457200" rtl="0" eaLnBrk="1" fontAlgn="auto" latinLnBrk="0" hangingPunct="1">
              <a:lnSpc>
                <a:spcPts val="3115"/>
              </a:lnSpc>
              <a:spcBef>
                <a:spcPts val="105"/>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Asset</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identification</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requires: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620"/>
              </a:lnSpc>
              <a:spcBef>
                <a:spcPts val="0"/>
              </a:spcBef>
              <a:spcAft>
                <a:spcPts val="0"/>
              </a:spcAft>
              <a:buClrTx/>
              <a:buSzTx/>
              <a:buFont typeface="Arial MT"/>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Inventory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all</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10" normalizeH="0" baseline="0" noProof="0" dirty="0">
                <a:ln>
                  <a:noFill/>
                </a:ln>
                <a:solidFill>
                  <a:prstClr val="black"/>
                </a:solidFill>
                <a:effectLst/>
                <a:uLnTx/>
                <a:uFillTx/>
                <a:latin typeface="Calibri"/>
                <a:ea typeface="+mn-ea"/>
                <a:cs typeface="Calibri"/>
              </a:rPr>
              <a:t>your</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610"/>
              </a:lnSpc>
              <a:spcBef>
                <a:spcPts val="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Determine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how</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critical</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they</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are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your</a:t>
            </a:r>
            <a:r>
              <a:rPr kumimoji="0" sz="2000" b="0" i="0" u="none" strike="noStrike" kern="1200" cap="none" spc="-5" normalizeH="0" baseline="0" noProof="0" dirty="0">
                <a:ln>
                  <a:noFill/>
                </a:ln>
                <a:solidFill>
                  <a:prstClr val="black"/>
                </a:solidFill>
                <a:effectLst/>
                <a:uLnTx/>
                <a:uFillTx/>
                <a:latin typeface="Calibri"/>
                <a:ea typeface="+mn-ea"/>
                <a:cs typeface="Calibri"/>
              </a:rPr>
              <a:t> business.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615"/>
              </a:lnSpc>
              <a:spcBef>
                <a:spcPts val="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Decide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how</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sensitive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data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they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process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produce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ts val="2630"/>
              </a:lnSpc>
              <a:spcBef>
                <a:spcPts val="0"/>
              </a:spcBef>
              <a:spcAft>
                <a:spcPts val="0"/>
              </a:spcAft>
              <a:buClrTx/>
              <a:buSzTx/>
              <a:buFont typeface="Arial MT"/>
              <a:buChar char="•"/>
              <a:tabLst>
                <a:tab pos="698500" algn="l"/>
                <a:tab pos="6991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Characterize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system</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terms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confidentiality,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integrity,</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availability.</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1050290" lvl="0" indent="-229235" algn="l" defTabSz="457200" rtl="0" eaLnBrk="1" fontAlgn="auto" latinLnBrk="0" hangingPunct="1">
              <a:lnSpc>
                <a:spcPct val="80000"/>
              </a:lnSpc>
              <a:spcBef>
                <a:spcPts val="980"/>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Determining </a:t>
            </a:r>
            <a:r>
              <a:rPr kumimoji="0" sz="2400" b="0" i="0" u="none" strike="noStrike" kern="1200" cap="none" spc="0" normalizeH="0" baseline="0" noProof="0" dirty="0">
                <a:ln>
                  <a:noFill/>
                </a:ln>
                <a:solidFill>
                  <a:prstClr val="black"/>
                </a:solidFill>
                <a:effectLst/>
                <a:uLnTx/>
                <a:uFillTx/>
                <a:latin typeface="Calibri"/>
                <a:ea typeface="+mn-ea"/>
                <a:cs typeface="Calibri"/>
              </a:rPr>
              <a:t>criticality is an </a:t>
            </a:r>
            <a:r>
              <a:rPr kumimoji="0" sz="2400" b="0" i="0" u="none" strike="noStrike" kern="1200" cap="none" spc="-10" normalizeH="0" baseline="0" noProof="0" dirty="0">
                <a:ln>
                  <a:noFill/>
                </a:ln>
                <a:solidFill>
                  <a:prstClr val="black"/>
                </a:solidFill>
                <a:effectLst/>
                <a:uLnTx/>
                <a:uFillTx/>
                <a:latin typeface="Calibri"/>
                <a:ea typeface="+mn-ea"/>
                <a:cs typeface="Calibri"/>
              </a:rPr>
              <a:t>important </a:t>
            </a:r>
            <a:r>
              <a:rPr kumimoji="0" sz="2400" b="0" i="0" u="none" strike="noStrike" kern="1200" cap="none" spc="0" normalizeH="0" baseline="0" noProof="0" dirty="0">
                <a:ln>
                  <a:noFill/>
                </a:ln>
                <a:solidFill>
                  <a:prstClr val="black"/>
                </a:solidFill>
                <a:effectLst/>
                <a:uLnTx/>
                <a:uFillTx/>
                <a:latin typeface="Calibri"/>
                <a:ea typeface="+mn-ea"/>
                <a:cs typeface="Calibri"/>
              </a:rPr>
              <a:t>aspect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0" normalizeH="0" baseline="0" noProof="0" dirty="0">
                <a:ln>
                  <a:noFill/>
                </a:ln>
                <a:solidFill>
                  <a:prstClr val="black"/>
                </a:solidFill>
                <a:effectLst/>
                <a:uLnTx/>
                <a:uFillTx/>
                <a:latin typeface="Calibri"/>
                <a:ea typeface="+mn-ea"/>
                <a:cs typeface="Calibri"/>
              </a:rPr>
              <a:t>the </a:t>
            </a:r>
            <a:r>
              <a:rPr kumimoji="0" sz="2400" b="0" i="0" u="none" strike="noStrike" kern="1200" cap="none" spc="-15" normalizeH="0" baseline="0" noProof="0" dirty="0">
                <a:ln>
                  <a:noFill/>
                </a:ln>
                <a:solidFill>
                  <a:prstClr val="black"/>
                </a:solidFill>
                <a:effectLst/>
                <a:uLnTx/>
                <a:uFillTx/>
                <a:latin typeface="Calibri"/>
                <a:ea typeface="+mn-ea"/>
                <a:cs typeface="Calibri"/>
              </a:rPr>
              <a:t>overall </a:t>
            </a:r>
            <a:r>
              <a:rPr kumimoji="0" sz="2400" b="0" i="0" u="none" strike="noStrike" kern="1200" cap="none" spc="0" normalizeH="0" baseline="0" noProof="0" dirty="0">
                <a:ln>
                  <a:noFill/>
                </a:ln>
                <a:solidFill>
                  <a:prstClr val="black"/>
                </a:solidFill>
                <a:effectLst/>
                <a:uLnTx/>
                <a:uFillTx/>
                <a:latin typeface="Calibri"/>
                <a:ea typeface="+mn-ea"/>
                <a:cs typeface="Calibri"/>
              </a:rPr>
              <a:t>risk </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management</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process</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done</a:t>
            </a:r>
            <a:r>
              <a:rPr kumimoji="0" sz="2400" b="0" i="0" u="none" strike="noStrike" kern="1200" cap="none" spc="-25" normalizeH="0" baseline="0" noProof="0" dirty="0">
                <a:ln>
                  <a:noFill/>
                </a:ln>
                <a:solidFill>
                  <a:prstClr val="black"/>
                </a:solidFill>
                <a:effectLst/>
                <a:uLnTx/>
                <a:uFillTx/>
                <a:latin typeface="Calibri"/>
                <a:ea typeface="+mn-ea"/>
                <a:cs typeface="Calibri"/>
              </a:rPr>
              <a:t> before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any</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assessment</a:t>
            </a:r>
            <a:r>
              <a:rPr kumimoji="0" sz="2400" b="0" i="0" u="none" strike="noStrike" kern="1200" cap="none" spc="-30" normalizeH="0" baseline="0" noProof="0" dirty="0">
                <a:ln>
                  <a:noFill/>
                </a:ln>
                <a:solidFill>
                  <a:prstClr val="black"/>
                </a:solidFill>
                <a:effectLst/>
                <a:uLnTx/>
                <a:uFillTx/>
                <a:latin typeface="Calibri"/>
                <a:ea typeface="+mn-ea"/>
                <a:cs typeface="Calibri"/>
              </a:rPr>
              <a:t> </a:t>
            </a:r>
            <a:r>
              <a:rPr kumimoji="0" sz="2400" b="0" i="0" u="none" strike="noStrike" kern="1200" cap="none" spc="-25" normalizeH="0" baseline="0" noProof="0" dirty="0">
                <a:ln>
                  <a:noFill/>
                </a:ln>
                <a:solidFill>
                  <a:prstClr val="black"/>
                </a:solidFill>
                <a:effectLst/>
                <a:uLnTx/>
                <a:uFillTx/>
                <a:latin typeface="Calibri"/>
                <a:ea typeface="+mn-ea"/>
                <a:cs typeface="Calibri"/>
              </a:rPr>
              <a:t>takes</a:t>
            </a:r>
            <a:r>
              <a:rPr kumimoji="0" sz="2400" b="0" i="0" u="none" strike="noStrike" kern="1200" cap="none" spc="-5" normalizeH="0" baseline="0" noProof="0" dirty="0">
                <a:ln>
                  <a:noFill/>
                </a:ln>
                <a:solidFill>
                  <a:prstClr val="black"/>
                </a:solidFill>
                <a:effectLst/>
                <a:uLnTx/>
                <a:uFillTx/>
                <a:latin typeface="Calibri"/>
                <a:ea typeface="+mn-ea"/>
                <a:cs typeface="Calibri"/>
              </a:rPr>
              <a:t> place.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6350" lvl="0" indent="-229235" algn="l" defTabSz="457200" rtl="0" eaLnBrk="1" fontAlgn="auto" latinLnBrk="0" hangingPunct="1">
              <a:lnSpc>
                <a:spcPct val="80000"/>
              </a:lnSpc>
              <a:spcBef>
                <a:spcPts val="994"/>
              </a:spcBef>
              <a:spcAft>
                <a:spcPts val="0"/>
              </a:spcAft>
              <a:buClrTx/>
              <a:buSzTx/>
              <a:buFont typeface="Arial MT"/>
              <a:buChar char="•"/>
              <a:tabLst>
                <a:tab pos="241935" algn="l"/>
              </a:tabLst>
              <a:defRPr/>
            </a:pPr>
            <a:r>
              <a:rPr kumimoji="0" sz="2400" b="0" i="0" u="none" strike="noStrike" kern="1200" cap="none" spc="-20" normalizeH="0" baseline="0" noProof="0" dirty="0">
                <a:ln>
                  <a:noFill/>
                </a:ln>
                <a:solidFill>
                  <a:prstClr val="black"/>
                </a:solidFill>
                <a:effectLst/>
                <a:uLnTx/>
                <a:uFillTx/>
                <a:latin typeface="Calibri"/>
                <a:ea typeface="+mn-ea"/>
                <a:cs typeface="Calibri"/>
              </a:rPr>
              <a:t>System</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categorization</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helps</a:t>
            </a:r>
            <a:r>
              <a:rPr kumimoji="0" sz="2400" b="0" i="0" u="none" strike="noStrike" kern="1200" cap="none" spc="-15" normalizeH="0" baseline="0" noProof="0" dirty="0">
                <a:ln>
                  <a:noFill/>
                </a:ln>
                <a:solidFill>
                  <a:prstClr val="black"/>
                </a:solidFill>
                <a:effectLst/>
                <a:uLnTx/>
                <a:uFillTx/>
                <a:latin typeface="Calibri"/>
                <a:ea typeface="+mn-ea"/>
                <a:cs typeface="Calibri"/>
              </a:rPr>
              <a:t> you</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assign</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controls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the</a:t>
            </a:r>
            <a:r>
              <a:rPr kumimoji="0" sz="2400" b="0" i="0" u="none" strike="noStrike" kern="1200" cap="none" spc="-5" normalizeH="0" baseline="0" noProof="0" dirty="0">
                <a:ln>
                  <a:noFill/>
                </a:ln>
                <a:solidFill>
                  <a:prstClr val="black"/>
                </a:solidFill>
                <a:effectLst/>
                <a:uLnTx/>
                <a:uFillTx/>
                <a:latin typeface="Calibri"/>
                <a:ea typeface="+mn-ea"/>
                <a:cs typeface="Calibri"/>
              </a:rPr>
              <a:t> asset</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based</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its </a:t>
            </a:r>
            <a:r>
              <a:rPr kumimoji="0" sz="2400" b="0" i="0" u="none" strike="noStrike" kern="1200" cap="none" spc="-57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criticality</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factors.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1642745" lvl="0" indent="-229235" algn="l" defTabSz="457200" rtl="0" eaLnBrk="1" fontAlgn="auto" latinLnBrk="0" hangingPunct="1">
              <a:lnSpc>
                <a:spcPts val="2500"/>
              </a:lnSpc>
              <a:spcBef>
                <a:spcPts val="985"/>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The set of </a:t>
            </a:r>
            <a:r>
              <a:rPr kumimoji="0" sz="2400" b="0" i="0" u="none" strike="noStrike" kern="1200" cap="none" spc="-15" normalizeH="0" baseline="0" noProof="0" dirty="0">
                <a:ln>
                  <a:noFill/>
                </a:ln>
                <a:solidFill>
                  <a:prstClr val="black"/>
                </a:solidFill>
                <a:effectLst/>
                <a:uLnTx/>
                <a:uFillTx/>
                <a:latin typeface="Calibri"/>
                <a:ea typeface="+mn-ea"/>
                <a:cs typeface="Calibri"/>
              </a:rPr>
              <a:t>controls </a:t>
            </a:r>
            <a:r>
              <a:rPr kumimoji="0" sz="2400" b="0" i="0" u="none" strike="noStrike" kern="1200" cap="none" spc="-5" normalizeH="0" baseline="0" noProof="0" dirty="0">
                <a:ln>
                  <a:noFill/>
                </a:ln>
                <a:solidFill>
                  <a:prstClr val="black"/>
                </a:solidFill>
                <a:effectLst/>
                <a:uLnTx/>
                <a:uFillTx/>
                <a:latin typeface="Calibri"/>
                <a:ea typeface="+mn-ea"/>
                <a:cs typeface="Calibri"/>
              </a:rPr>
              <a:t>that </a:t>
            </a:r>
            <a:r>
              <a:rPr kumimoji="0" sz="2400" b="0" i="0" u="none" strike="noStrike" kern="1200" cap="none" spc="-15" normalizeH="0" baseline="0" noProof="0" dirty="0">
                <a:ln>
                  <a:noFill/>
                </a:ln>
                <a:solidFill>
                  <a:prstClr val="black"/>
                </a:solidFill>
                <a:effectLst/>
                <a:uLnTx/>
                <a:uFillTx/>
                <a:latin typeface="Calibri"/>
                <a:ea typeface="+mn-ea"/>
                <a:cs typeface="Calibri"/>
              </a:rPr>
              <a:t>you </a:t>
            </a:r>
            <a:r>
              <a:rPr kumimoji="0" sz="2400" b="0" i="0" u="none" strike="noStrike" kern="1200" cap="none" spc="0" normalizeH="0" baseline="0" noProof="0" dirty="0">
                <a:ln>
                  <a:noFill/>
                </a:ln>
                <a:solidFill>
                  <a:prstClr val="black"/>
                </a:solidFill>
                <a:effectLst/>
                <a:uLnTx/>
                <a:uFillTx/>
                <a:latin typeface="Calibri"/>
                <a:ea typeface="+mn-ea"/>
                <a:cs typeface="Calibri"/>
              </a:rPr>
              <a:t>assign </a:t>
            </a:r>
            <a:r>
              <a:rPr kumimoji="0" sz="2400" b="0" i="0" u="none" strike="noStrike" kern="1200" cap="none" spc="-15" normalizeH="0" baseline="0" noProof="0" dirty="0">
                <a:ln>
                  <a:noFill/>
                </a:ln>
                <a:solidFill>
                  <a:prstClr val="black"/>
                </a:solidFill>
                <a:effectLst/>
                <a:uLnTx/>
                <a:uFillTx/>
                <a:latin typeface="Calibri"/>
                <a:ea typeface="+mn-ea"/>
                <a:cs typeface="Calibri"/>
              </a:rPr>
              <a:t>to </a:t>
            </a:r>
            <a:r>
              <a:rPr kumimoji="0" sz="2400" b="0" i="0" u="none" strike="noStrike" kern="1200" cap="none" spc="0" normalizeH="0" baseline="0" noProof="0" dirty="0">
                <a:ln>
                  <a:noFill/>
                </a:ln>
                <a:solidFill>
                  <a:prstClr val="black"/>
                </a:solidFill>
                <a:effectLst/>
                <a:uLnTx/>
                <a:uFillTx/>
                <a:latin typeface="Calibri"/>
                <a:ea typeface="+mn-ea"/>
                <a:cs typeface="Calibri"/>
              </a:rPr>
              <a:t>each </a:t>
            </a:r>
            <a:r>
              <a:rPr kumimoji="0" sz="2400" b="0" i="0" u="none" strike="noStrike" kern="1200" cap="none" spc="-5" normalizeH="0" baseline="0" noProof="0" dirty="0">
                <a:ln>
                  <a:noFill/>
                </a:ln>
                <a:solidFill>
                  <a:prstClr val="black"/>
                </a:solidFill>
                <a:effectLst/>
                <a:uLnTx/>
                <a:uFillTx/>
                <a:latin typeface="Calibri"/>
                <a:ea typeface="+mn-ea"/>
                <a:cs typeface="Calibri"/>
              </a:rPr>
              <a:t>asset </a:t>
            </a:r>
            <a:r>
              <a:rPr kumimoji="0" sz="2400" b="0" i="0" u="none" strike="noStrike" kern="1200" cap="none" spc="0" normalizeH="0" baseline="0" noProof="0" dirty="0">
                <a:ln>
                  <a:noFill/>
                </a:ln>
                <a:solidFill>
                  <a:prstClr val="black"/>
                </a:solidFill>
                <a:effectLst/>
                <a:uLnTx/>
                <a:uFillTx/>
                <a:latin typeface="Calibri"/>
                <a:ea typeface="+mn-ea"/>
                <a:cs typeface="Calibri"/>
              </a:rPr>
              <a:t>is </a:t>
            </a:r>
            <a:r>
              <a:rPr kumimoji="0" sz="2400" b="0" i="0" u="none" strike="noStrike" kern="1200" cap="none" spc="-5" normalizeH="0" baseline="0" noProof="0" dirty="0">
                <a:ln>
                  <a:noFill/>
                </a:ln>
                <a:solidFill>
                  <a:prstClr val="black"/>
                </a:solidFill>
                <a:effectLst/>
                <a:uLnTx/>
                <a:uFillTx/>
                <a:latin typeface="Calibri"/>
                <a:ea typeface="+mn-ea"/>
                <a:cs typeface="Calibri"/>
              </a:rPr>
              <a:t>assessed </a:t>
            </a:r>
            <a:r>
              <a:rPr kumimoji="0" sz="2400" b="0" i="0" u="none" strike="noStrike" kern="1200" cap="none" spc="-25" normalizeH="0" baseline="0" noProof="0" dirty="0">
                <a:ln>
                  <a:noFill/>
                </a:ln>
                <a:solidFill>
                  <a:prstClr val="black"/>
                </a:solidFill>
                <a:effectLst/>
                <a:uLnTx/>
                <a:uFillTx/>
                <a:latin typeface="Calibri"/>
                <a:ea typeface="+mn-ea"/>
                <a:cs typeface="Calibri"/>
              </a:rPr>
              <a:t>for </a:t>
            </a:r>
            <a:r>
              <a:rPr kumimoji="0" sz="2400" b="0" i="0" u="none" strike="noStrike" kern="1200" cap="none" spc="-57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effectiveness</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in</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both </a:t>
            </a:r>
            <a:r>
              <a:rPr kumimoji="0" sz="2400" b="0" i="0" u="none" strike="noStrike" kern="1200" cap="none" spc="-10" normalizeH="0" baseline="0" noProof="0" dirty="0">
                <a:ln>
                  <a:noFill/>
                </a:ln>
                <a:solidFill>
                  <a:prstClr val="black"/>
                </a:solidFill>
                <a:effectLst/>
                <a:uLnTx/>
                <a:uFillTx/>
                <a:latin typeface="Calibri"/>
                <a:ea typeface="+mn-ea"/>
                <a:cs typeface="Calibri"/>
              </a:rPr>
              <a:t>mitigating</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risk and</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compliance.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0244454" cy="690574"/>
          </a:xfrm>
          <a:prstGeom prst="rect">
            <a:avLst/>
          </a:prstGeom>
        </p:spPr>
        <p:txBody>
          <a:bodyPr vert="horz" wrap="square" lIns="0" tIns="13335" rIns="0" bIns="0" rtlCol="0">
            <a:spAutoFit/>
          </a:bodyPr>
          <a:lstStyle/>
          <a:p>
            <a:pPr marL="12700">
              <a:lnSpc>
                <a:spcPct val="100000"/>
              </a:lnSpc>
              <a:spcBef>
                <a:spcPts val="105"/>
              </a:spcBef>
            </a:pPr>
            <a:r>
              <a:rPr sz="4400" u="sng" spc="-45" dirty="0">
                <a:solidFill>
                  <a:srgbClr val="074891"/>
                </a:solidFill>
                <a:uFill>
                  <a:solidFill>
                    <a:srgbClr val="000000"/>
                  </a:solidFill>
                </a:uFill>
              </a:rPr>
              <a:t>Threat</a:t>
            </a:r>
            <a:r>
              <a:rPr sz="4400" u="sng" spc="-85" dirty="0">
                <a:solidFill>
                  <a:srgbClr val="074891"/>
                </a:solidFill>
                <a:uFill>
                  <a:solidFill>
                    <a:srgbClr val="000000"/>
                  </a:solidFill>
                </a:uFill>
              </a:rPr>
              <a:t> </a:t>
            </a:r>
            <a:r>
              <a:rPr sz="4400" u="sng" spc="-20" dirty="0">
                <a:solidFill>
                  <a:srgbClr val="074891"/>
                </a:solidFill>
                <a:uFill>
                  <a:solidFill>
                    <a:srgbClr val="000000"/>
                  </a:solidFill>
                </a:uFill>
              </a:rPr>
              <a:t>and</a:t>
            </a:r>
            <a:r>
              <a:rPr sz="4400" u="sng" spc="-95" dirty="0">
                <a:solidFill>
                  <a:srgbClr val="074891"/>
                </a:solidFill>
                <a:uFill>
                  <a:solidFill>
                    <a:srgbClr val="000000"/>
                  </a:solidFill>
                </a:uFill>
              </a:rPr>
              <a:t> </a:t>
            </a:r>
            <a:r>
              <a:rPr sz="4400" u="sng" spc="-45" dirty="0">
                <a:solidFill>
                  <a:srgbClr val="074891"/>
                </a:solidFill>
                <a:uFill>
                  <a:solidFill>
                    <a:srgbClr val="000000"/>
                  </a:solidFill>
                </a:uFill>
              </a:rPr>
              <a:t>Vulnerability</a:t>
            </a:r>
            <a:r>
              <a:rPr lang="en-US" sz="4400" u="sng" spc="-45" dirty="0">
                <a:solidFill>
                  <a:srgbClr val="074891"/>
                </a:solidFill>
                <a:uFill>
                  <a:solidFill>
                    <a:srgbClr val="000000"/>
                  </a:solidFill>
                </a:uFill>
              </a:rPr>
              <a:t> </a:t>
            </a:r>
            <a:r>
              <a:rPr sz="4400" u="sng" spc="-40" dirty="0">
                <a:solidFill>
                  <a:srgbClr val="074891"/>
                </a:solidFill>
                <a:uFill>
                  <a:solidFill>
                    <a:srgbClr val="000000"/>
                  </a:solidFill>
                </a:uFill>
              </a:rPr>
              <a:t>Identification</a:t>
            </a:r>
            <a:endParaRPr sz="4400" u="sng" dirty="0"/>
          </a:p>
        </p:txBody>
      </p:sp>
      <p:sp>
        <p:nvSpPr>
          <p:cNvPr id="3" name="object 3"/>
          <p:cNvSpPr txBox="1"/>
          <p:nvPr/>
        </p:nvSpPr>
        <p:spPr>
          <a:xfrm>
            <a:off x="1295400" y="1447800"/>
            <a:ext cx="8627428" cy="4360809"/>
          </a:xfrm>
          <a:prstGeom prst="rect">
            <a:avLst/>
          </a:prstGeom>
        </p:spPr>
        <p:txBody>
          <a:bodyPr vert="horz" wrap="square" lIns="0" tIns="53975" rIns="0" bIns="0" rtlCol="0">
            <a:spAutoFit/>
          </a:bodyPr>
          <a:lstStyle/>
          <a:p>
            <a:pPr marL="241300" marR="8890" lvl="0" indent="-229235" algn="l" defTabSz="457200" rtl="0" eaLnBrk="1" fontAlgn="auto" latinLnBrk="0" hangingPunct="1">
              <a:lnSpc>
                <a:spcPts val="2590"/>
              </a:lnSpc>
              <a:spcBef>
                <a:spcPts val="425"/>
              </a:spcBef>
              <a:spcAft>
                <a:spcPts val="0"/>
              </a:spcAft>
              <a:buClrTx/>
              <a:buSzTx/>
              <a:buFont typeface="Arial MT"/>
              <a:buChar char="•"/>
              <a:tabLst>
                <a:tab pos="241935" algn="l"/>
              </a:tabLst>
              <a:defRPr/>
            </a:pPr>
            <a:r>
              <a:rPr kumimoji="0" sz="200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Vulnerability Assessment: </a:t>
            </a:r>
            <a:r>
              <a:rPr kumimoji="0" sz="2400" b="0" i="0" u="none" strike="noStrike" kern="1200" cap="none" spc="-5" normalizeH="0" baseline="0" noProof="0" dirty="0">
                <a:ln>
                  <a:noFill/>
                </a:ln>
                <a:solidFill>
                  <a:prstClr val="black"/>
                </a:solidFill>
                <a:effectLst/>
                <a:uLnTx/>
                <a:uFillTx/>
                <a:latin typeface="Calibri"/>
                <a:ea typeface="+mn-ea"/>
                <a:cs typeface="Calibri"/>
              </a:rPr>
              <a:t>determine </a:t>
            </a:r>
            <a:r>
              <a:rPr kumimoji="0" sz="2400" b="0" i="0" u="none" strike="noStrike" kern="1200" cap="none" spc="0" normalizeH="0" baseline="0" noProof="0" dirty="0">
                <a:ln>
                  <a:noFill/>
                </a:ln>
                <a:solidFill>
                  <a:prstClr val="black"/>
                </a:solidFill>
                <a:effectLst/>
                <a:uLnTx/>
                <a:uFillTx/>
                <a:latin typeface="Calibri"/>
                <a:ea typeface="+mn-ea"/>
                <a:cs typeface="Calibri"/>
              </a:rPr>
              <a:t>the</a:t>
            </a:r>
            <a:r>
              <a:rPr kumimoji="0" sz="2400" b="0" i="0" u="none" strike="noStrike" kern="1200" cap="none" spc="-5" normalizeH="0" baseline="0" noProof="0" dirty="0">
                <a:ln>
                  <a:noFill/>
                </a:ln>
                <a:solidFill>
                  <a:prstClr val="black"/>
                </a:solidFill>
                <a:effectLst/>
                <a:uLnTx/>
                <a:uFillTx/>
                <a:latin typeface="Calibri"/>
                <a:ea typeface="+mn-ea"/>
                <a:cs typeface="Calibri"/>
              </a:rPr>
              <a:t> vulnerabilities</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inherent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 </a:t>
            </a:r>
            <a:r>
              <a:rPr kumimoji="0" sz="2400" b="0" i="0" u="none" strike="noStrike" kern="1200" cap="none" spc="-5" normalizeH="0" baseline="0" noProof="0" dirty="0">
                <a:ln>
                  <a:noFill/>
                </a:ln>
                <a:solidFill>
                  <a:prstClr val="black"/>
                </a:solidFill>
                <a:effectLst/>
                <a:uLnTx/>
                <a:uFillTx/>
                <a:latin typeface="Calibri"/>
                <a:ea typeface="+mn-ea"/>
                <a:cs typeface="Calibri"/>
              </a:rPr>
              <a:t>asset</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52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the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threat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events</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that</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could exploit</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those</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vulnerabilities.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0" lvl="1" indent="-229235" algn="l" defTabSz="457200" rtl="0" eaLnBrk="1" fontAlgn="auto" latinLnBrk="0" hangingPunct="1">
              <a:lnSpc>
                <a:spcPct val="100000"/>
              </a:lnSpc>
              <a:spcBef>
                <a:spcPts val="254"/>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Information </a:t>
            </a:r>
            <a:r>
              <a:rPr kumimoji="0" sz="2000" b="0" i="0" u="none" strike="noStrike" kern="1200" cap="none" spc="0" normalizeH="0" baseline="0" noProof="0" dirty="0">
                <a:ln>
                  <a:noFill/>
                </a:ln>
                <a:solidFill>
                  <a:prstClr val="black"/>
                </a:solidFill>
                <a:effectLst/>
                <a:uLnTx/>
                <a:uFillTx/>
                <a:latin typeface="Calibri"/>
                <a:ea typeface="+mn-ea"/>
                <a:cs typeface="Calibri"/>
              </a:rPr>
              <a:t>about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weaknesses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inherent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to</a:t>
            </a:r>
            <a:r>
              <a:rPr kumimoji="0" sz="2000" b="0" i="0" u="none" strike="noStrike" kern="1200" cap="none" spc="0" normalizeH="0" baseline="0" noProof="0" dirty="0">
                <a:ln>
                  <a:noFill/>
                </a:ln>
                <a:solidFill>
                  <a:prstClr val="black"/>
                </a:solidFill>
                <a:effectLst/>
                <a:uLnTx/>
                <a:uFillTx/>
                <a:latin typeface="Calibri"/>
                <a:ea typeface="+mn-ea"/>
                <a:cs typeface="Calibri"/>
              </a:rPr>
              <a:t> an</a:t>
            </a:r>
            <a:r>
              <a:rPr kumimoji="0" sz="2000" b="0" i="0" u="none" strike="noStrike" kern="1200" cap="none" spc="-5" normalizeH="0" baseline="0" noProof="0" dirty="0">
                <a:ln>
                  <a:noFill/>
                </a:ln>
                <a:solidFill>
                  <a:prstClr val="black"/>
                </a:solidFill>
                <a:effectLst/>
                <a:uLnTx/>
                <a:uFillTx/>
                <a:latin typeface="Calibri"/>
                <a:ea typeface="+mn-ea"/>
                <a:cs typeface="Calibri"/>
              </a:rPr>
              <a:t> asset.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698500" marR="5080" lvl="1" indent="-228600" algn="l" defTabSz="457200" rtl="0" eaLnBrk="1" fontAlgn="auto" latinLnBrk="0" hangingPunct="1">
              <a:lnSpc>
                <a:spcPts val="2160"/>
              </a:lnSpc>
              <a:spcBef>
                <a:spcPts val="530"/>
              </a:spcBef>
              <a:spcAft>
                <a:spcPts val="0"/>
              </a:spcAft>
              <a:buClrTx/>
              <a:buSzTx/>
              <a:buFont typeface="Arial MT"/>
              <a:buChar char="•"/>
              <a:tabLst>
                <a:tab pos="698500" algn="l"/>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Examining</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all aspects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capability </a:t>
            </a:r>
            <a:r>
              <a:rPr kumimoji="0" sz="2000" b="0" i="0" u="none" strike="noStrike" kern="1200" cap="none" spc="-1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determine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any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vulnerability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has,</a:t>
            </a:r>
            <a:r>
              <a:rPr kumimoji="0" sz="2000" b="0" i="0" u="none" strike="noStrike" kern="1200" cap="none" spc="0" normalizeH="0" baseline="0" noProof="0" dirty="0">
                <a:ln>
                  <a:noFill/>
                </a:ln>
                <a:solidFill>
                  <a:prstClr val="black"/>
                </a:solidFill>
                <a:effectLst/>
                <a:uLnTx/>
                <a:uFillTx/>
                <a:latin typeface="Calibri"/>
                <a:ea typeface="+mn-ea"/>
                <a:cs typeface="Calibri"/>
              </a:rPr>
              <a:t> including </a:t>
            </a:r>
            <a:r>
              <a:rPr kumimoji="0" sz="2000" b="0" i="0" u="none" strike="noStrike" kern="1200" cap="none" spc="-44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physical,</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technical,</a:t>
            </a:r>
            <a:r>
              <a:rPr kumimoji="0" sz="2000" b="0" i="0" u="none" strike="noStrike" kern="1200" cap="none" spc="0" normalizeH="0" baseline="0" noProof="0" dirty="0">
                <a:ln>
                  <a:noFill/>
                </a:ln>
                <a:solidFill>
                  <a:prstClr val="black"/>
                </a:solidFill>
                <a:effectLst/>
                <a:uLnTx/>
                <a:uFillTx/>
                <a:latin typeface="Calibri"/>
                <a:ea typeface="+mn-ea"/>
                <a:cs typeface="Calibri"/>
              </a:rPr>
              <a:t> and </a:t>
            </a:r>
            <a:r>
              <a:rPr kumimoji="0" sz="2000" b="0" i="0" u="none" strike="noStrike" kern="1200" cap="none" spc="-5" normalizeH="0" baseline="0" noProof="0" dirty="0">
                <a:ln>
                  <a:noFill/>
                </a:ln>
                <a:solidFill>
                  <a:prstClr val="black"/>
                </a:solidFill>
                <a:effectLst/>
                <a:uLnTx/>
                <a:uFillTx/>
                <a:latin typeface="Calibri"/>
                <a:ea typeface="+mn-ea"/>
                <a:cs typeface="Calibri"/>
              </a:rPr>
              <a:t>operational.</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344805" lvl="0" indent="-229235" algn="l" defTabSz="457200" rtl="0" eaLnBrk="1" fontAlgn="auto" latinLnBrk="0" hangingPunct="1">
              <a:lnSpc>
                <a:spcPts val="2590"/>
              </a:lnSpc>
              <a:spcBef>
                <a:spcPts val="985"/>
              </a:spcBef>
              <a:spcAft>
                <a:spcPts val="0"/>
              </a:spcAft>
              <a:buClrTx/>
              <a:buSzTx/>
              <a:buFont typeface="Arial MT"/>
              <a:buChar char="•"/>
              <a:tabLst>
                <a:tab pos="241935" algn="l"/>
              </a:tabLst>
              <a:defRPr/>
            </a:pPr>
            <a:r>
              <a:rPr kumimoji="0" sz="200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Threat assessment: </a:t>
            </a:r>
            <a:r>
              <a:rPr kumimoji="0" sz="2400" b="0" i="0" u="none" strike="noStrike" kern="1200" cap="none" spc="-5" normalizeH="0" baseline="0" noProof="0" dirty="0">
                <a:ln>
                  <a:noFill/>
                </a:ln>
                <a:solidFill>
                  <a:prstClr val="black"/>
                </a:solidFill>
                <a:effectLst/>
                <a:uLnTx/>
                <a:uFillTx/>
                <a:latin typeface="Calibri"/>
                <a:ea typeface="+mn-ea"/>
                <a:cs typeface="Calibri"/>
              </a:rPr>
              <a:t>determine</a:t>
            </a:r>
            <a:r>
              <a:rPr kumimoji="0" sz="2400" b="0" i="0" u="none" strike="noStrike" kern="1200" cap="none" spc="-10" normalizeH="0" baseline="0" noProof="0" dirty="0">
                <a:ln>
                  <a:noFill/>
                </a:ln>
                <a:solidFill>
                  <a:prstClr val="black"/>
                </a:solidFill>
                <a:effectLst/>
                <a:uLnTx/>
                <a:uFillTx/>
                <a:latin typeface="Calibri"/>
                <a:ea typeface="+mn-ea"/>
                <a:cs typeface="Calibri"/>
              </a:rPr>
              <a:t> what threats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10" normalizeH="0" baseline="0" noProof="0" dirty="0">
                <a:ln>
                  <a:noFill/>
                </a:ln>
                <a:solidFill>
                  <a:prstClr val="black"/>
                </a:solidFill>
                <a:effectLst/>
                <a:uLnTx/>
                <a:uFillTx/>
                <a:latin typeface="Calibri"/>
                <a:ea typeface="+mn-ea"/>
                <a:cs typeface="Calibri"/>
              </a:rPr>
              <a:t>threat agents</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exist</a:t>
            </a:r>
            <a:r>
              <a:rPr kumimoji="0" sz="2400" b="0" i="0" u="none" strike="noStrike" kern="1200" cap="none" spc="-10" normalizeH="0" baseline="0" noProof="0" dirty="0">
                <a:ln>
                  <a:noFill/>
                </a:ln>
                <a:solidFill>
                  <a:prstClr val="black"/>
                </a:solidFill>
                <a:effectLst/>
                <a:uLnTx/>
                <a:uFillTx/>
                <a:latin typeface="Calibri"/>
                <a:ea typeface="+mn-ea"/>
                <a:cs typeface="Calibri"/>
              </a:rPr>
              <a:t> that could </a:t>
            </a:r>
            <a:r>
              <a:rPr kumimoji="0" sz="2400" b="0" i="0" u="none" strike="noStrike" kern="1200" cap="none" spc="-52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exploit</a:t>
            </a:r>
            <a:r>
              <a:rPr kumimoji="0" sz="2400" b="0" i="0" u="none" strike="noStrike" kern="1200" cap="none" spc="-2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those vulnerabilities.</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698500" marR="1104265" lvl="1" indent="-228600" algn="l" defTabSz="457200" rtl="0" eaLnBrk="1" fontAlgn="auto" latinLnBrk="0" hangingPunct="1">
              <a:lnSpc>
                <a:spcPts val="2160"/>
              </a:lnSpc>
              <a:spcBef>
                <a:spcPts val="520"/>
              </a:spcBef>
              <a:spcAft>
                <a:spcPts val="0"/>
              </a:spcAft>
              <a:buClrTx/>
              <a:buSzTx/>
              <a:buFont typeface="Arial MT"/>
              <a:buChar char="•"/>
              <a:tabLst>
                <a:tab pos="698500" algn="l"/>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internal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external</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human-made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natural</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threats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match</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discovered </a:t>
            </a:r>
            <a:r>
              <a:rPr kumimoji="0" sz="2000" b="0" i="0" u="none" strike="noStrike" kern="1200" cap="none" spc="-44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vulnerability.</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ct val="100000"/>
              </a:lnSpc>
              <a:spcBef>
                <a:spcPts val="660"/>
              </a:spcBef>
              <a:spcAft>
                <a:spcPts val="0"/>
              </a:spcAft>
              <a:buClrTx/>
              <a:buSzTx/>
              <a:buFont typeface="Arial MT"/>
              <a:buChar char="•"/>
              <a:tabLst>
                <a:tab pos="241935" algn="l"/>
              </a:tabLst>
              <a:defRPr/>
            </a:pPr>
            <a:r>
              <a:rPr kumimoji="0" sz="2400" b="0" i="0" u="none" strike="noStrike" kern="1200" cap="none" spc="-5" normalizeH="0" baseline="0" noProof="0" dirty="0">
                <a:ln>
                  <a:noFill/>
                </a:ln>
                <a:solidFill>
                  <a:prstClr val="black"/>
                </a:solidFill>
                <a:effectLst/>
                <a:uLnTx/>
                <a:uFillTx/>
                <a:latin typeface="Calibri"/>
                <a:ea typeface="+mn-ea"/>
                <a:cs typeface="Calibri"/>
              </a:rPr>
              <a:t>Consider</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time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and </a:t>
            </a:r>
            <a:r>
              <a:rPr kumimoji="0" sz="2400" b="0" i="0" u="none" strike="noStrike" kern="1200" cap="none" spc="-10" normalizeH="0" baseline="0" noProof="0" dirty="0">
                <a:ln>
                  <a:noFill/>
                </a:ln>
                <a:solidFill>
                  <a:prstClr val="black"/>
                </a:solidFill>
                <a:effectLst/>
                <a:uLnTx/>
                <a:uFillTx/>
                <a:latin typeface="Calibri"/>
                <a:ea typeface="+mn-ea"/>
                <a:cs typeface="Calibri"/>
              </a:rPr>
              <a:t>location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characteristics</a:t>
            </a:r>
            <a:r>
              <a:rPr kumimoji="0" sz="2400" b="0" i="0" u="none" strike="noStrike" kern="1200" cap="none" spc="-3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of </a:t>
            </a:r>
            <a:r>
              <a:rPr kumimoji="0" sz="2400" b="0" i="0" u="none" strike="noStrike" kern="1200" cap="none" spc="0" normalizeH="0" baseline="0" noProof="0" dirty="0">
                <a:ln>
                  <a:noFill/>
                </a:ln>
                <a:solidFill>
                  <a:prstClr val="black"/>
                </a:solidFill>
                <a:effectLst/>
                <a:uLnTx/>
                <a:uFillTx/>
                <a:latin typeface="Calibri"/>
                <a:ea typeface="+mn-ea"/>
                <a:cs typeface="Calibri"/>
              </a:rPr>
              <a:t>a </a:t>
            </a:r>
            <a:r>
              <a:rPr kumimoji="0" sz="2400" b="0" i="0" u="none" strike="noStrike" kern="1200" cap="none" spc="-10" normalizeH="0" baseline="0" noProof="0" dirty="0">
                <a:ln>
                  <a:noFill/>
                </a:ln>
                <a:solidFill>
                  <a:prstClr val="black"/>
                </a:solidFill>
                <a:effectLst/>
                <a:uLnTx/>
                <a:uFillTx/>
                <a:latin typeface="Calibri"/>
                <a:ea typeface="+mn-ea"/>
                <a:cs typeface="Calibri"/>
              </a:rPr>
              <a:t>potential </a:t>
            </a:r>
            <a:r>
              <a:rPr kumimoji="0" sz="2400" b="0" i="0" u="none" strike="noStrike" kern="1200" cap="none" spc="-5" normalizeH="0" baseline="0" noProof="0" dirty="0">
                <a:ln>
                  <a:noFill/>
                </a:ln>
                <a:solidFill>
                  <a:prstClr val="black"/>
                </a:solidFill>
                <a:effectLst/>
                <a:uLnTx/>
                <a:uFillTx/>
                <a:latin typeface="Calibri"/>
                <a:ea typeface="+mn-ea"/>
                <a:cs typeface="Calibri"/>
              </a:rPr>
              <a:t>scenario.</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41300" marR="0" lvl="0" indent="-229235" algn="l" defTabSz="457200" rtl="0" eaLnBrk="1" fontAlgn="auto" latinLnBrk="0" hangingPunct="1">
              <a:lnSpc>
                <a:spcPts val="2735"/>
              </a:lnSpc>
              <a:spcBef>
                <a:spcPts val="710"/>
              </a:spcBef>
              <a:spcAft>
                <a:spcPts val="0"/>
              </a:spcAft>
              <a:buClrTx/>
              <a:buSzTx/>
              <a:buFont typeface="Arial MT"/>
              <a:buChar char="•"/>
              <a:tabLst>
                <a:tab pos="241935" algn="l"/>
              </a:tabLst>
              <a:defRPr/>
            </a:pPr>
            <a:r>
              <a:rPr kumimoji="0" sz="2400" b="0" i="0" u="none" strike="noStrike" kern="1200" cap="none" spc="-10" normalizeH="0" baseline="0" noProof="0" dirty="0">
                <a:ln>
                  <a:noFill/>
                </a:ln>
                <a:solidFill>
                  <a:prstClr val="black"/>
                </a:solidFill>
                <a:effectLst/>
                <a:uLnTx/>
                <a:uFillTx/>
                <a:latin typeface="Calibri"/>
                <a:ea typeface="+mn-ea"/>
                <a:cs typeface="Calibri"/>
              </a:rPr>
              <a:t>Look</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at</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the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existing</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controls</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you</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have</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place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to</a:t>
            </a:r>
            <a:r>
              <a:rPr kumimoji="0" sz="2400" b="0" i="0" u="none" strike="noStrike" kern="1200" cap="none" spc="-2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determine </a:t>
            </a:r>
            <a:r>
              <a:rPr kumimoji="0" sz="2400" b="0" i="0" u="none" strike="noStrike" kern="1200" cap="none" spc="-10" normalizeH="0" baseline="0" noProof="0" dirty="0">
                <a:ln>
                  <a:noFill/>
                </a:ln>
                <a:solidFill>
                  <a:prstClr val="black"/>
                </a:solidFill>
                <a:effectLst/>
                <a:uLnTx/>
                <a:uFillTx/>
                <a:latin typeface="Calibri"/>
                <a:ea typeface="+mn-ea"/>
                <a:cs typeface="Calibri"/>
              </a:rPr>
              <a:t>how</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20" normalizeH="0" baseline="0" noProof="0" dirty="0">
                <a:ln>
                  <a:noFill/>
                </a:ln>
                <a:solidFill>
                  <a:prstClr val="black"/>
                </a:solidFill>
                <a:effectLst/>
                <a:uLnTx/>
                <a:uFillTx/>
                <a:latin typeface="Calibri"/>
                <a:ea typeface="+mn-ea"/>
                <a:cs typeface="Calibri"/>
              </a:rPr>
              <a:t>effective</a:t>
            </a:r>
            <a:r>
              <a:rPr kumimoji="0" sz="2400" b="0" i="0" u="none" strike="noStrike" kern="1200" cap="none" spc="1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they</a:t>
            </a:r>
            <a:r>
              <a:rPr kumimoji="0" lang="en-US"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5" normalizeH="0" baseline="0" noProof="0" dirty="0">
                <a:ln>
                  <a:noFill/>
                </a:ln>
                <a:solidFill>
                  <a:prstClr val="black"/>
                </a:solidFill>
                <a:effectLst/>
                <a:uLnTx/>
                <a:uFillTx/>
                <a:latin typeface="Calibri"/>
                <a:ea typeface="+mn-ea"/>
                <a:cs typeface="Calibri"/>
              </a:rPr>
              <a:t>are</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in</a:t>
            </a:r>
            <a:r>
              <a:rPr kumimoji="0" sz="2400" b="0" i="0" u="none" strike="noStrike" kern="1200" cap="none" spc="-5"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protecting</a:t>
            </a:r>
            <a:r>
              <a:rPr kumimoji="0" sz="2400" b="0" i="0" u="none" strike="noStrike" kern="1200" cap="none" spc="-40" normalizeH="0" baseline="0" noProof="0" dirty="0">
                <a:ln>
                  <a:noFill/>
                </a:ln>
                <a:solidFill>
                  <a:prstClr val="black"/>
                </a:solidFill>
                <a:effectLst/>
                <a:uLnTx/>
                <a:uFillTx/>
                <a:latin typeface="Calibri"/>
                <a:ea typeface="+mn-ea"/>
                <a:cs typeface="Calibri"/>
              </a:rPr>
              <a:t> </a:t>
            </a:r>
            <a:r>
              <a:rPr kumimoji="0" sz="2400" b="0" i="0" u="none" strike="noStrike" kern="1200" cap="none" spc="0" normalizeH="0" baseline="0" noProof="0" dirty="0">
                <a:ln>
                  <a:noFill/>
                </a:ln>
                <a:solidFill>
                  <a:prstClr val="black"/>
                </a:solidFill>
                <a:effectLst/>
                <a:uLnTx/>
                <a:uFillTx/>
                <a:latin typeface="Calibri"/>
                <a:ea typeface="+mn-ea"/>
                <a:cs typeface="Calibri"/>
              </a:rPr>
              <a:t>an</a:t>
            </a:r>
            <a:r>
              <a:rPr kumimoji="0" sz="2400" b="0" i="0" u="none" strike="noStrike" kern="1200" cap="none" spc="-10"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asset.</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CBD005-8169-B327-59C5-5462E1D17658}"/>
              </a:ext>
            </a:extLst>
          </p:cNvPr>
          <p:cNvSpPr txBox="1"/>
          <p:nvPr/>
        </p:nvSpPr>
        <p:spPr>
          <a:xfrm>
            <a:off x="1550736" y="264421"/>
            <a:ext cx="8373979" cy="27238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Gap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By documenting the desired state or condition of risk that management wants to reach and then carefully analyzing and evaluating the current condition of the organization, the risk practitioner can identify the existence of a risk gap and the scope of actions that may be needed to close the gap.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Gap analysis can be used in iteration to plan deliverables, projects and milestones.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process is illustrated in figure 2.13.</a:t>
            </a:r>
          </a:p>
        </p:txBody>
      </p:sp>
      <p:pic>
        <p:nvPicPr>
          <p:cNvPr id="4" name="Picture 3">
            <a:extLst>
              <a:ext uri="{FF2B5EF4-FFF2-40B4-BE49-F238E27FC236}">
                <a16:creationId xmlns:a16="http://schemas.microsoft.com/office/drawing/2014/main" id="{6A4CA166-B7A3-809F-9F12-1E2AF4E3C18B}"/>
              </a:ext>
            </a:extLst>
          </p:cNvPr>
          <p:cNvPicPr>
            <a:picLocks noChangeAspect="1"/>
          </p:cNvPicPr>
          <p:nvPr/>
        </p:nvPicPr>
        <p:blipFill rotWithShape="1">
          <a:blip r:embed="rId2"/>
          <a:srcRect l="1339" t="40229" r="3610"/>
          <a:stretch/>
        </p:blipFill>
        <p:spPr>
          <a:xfrm>
            <a:off x="1222489" y="3088617"/>
            <a:ext cx="10547479" cy="3221705"/>
          </a:xfrm>
          <a:prstGeom prst="rect">
            <a:avLst/>
          </a:prstGeom>
        </p:spPr>
      </p:pic>
      <p:sp>
        <p:nvSpPr>
          <p:cNvPr id="8" name="TextBox 7">
            <a:extLst>
              <a:ext uri="{FF2B5EF4-FFF2-40B4-BE49-F238E27FC236}">
                <a16:creationId xmlns:a16="http://schemas.microsoft.com/office/drawing/2014/main" id="{DDE95775-EE67-FAA2-6BA6-7D643C48C0BD}"/>
              </a:ext>
            </a:extLst>
          </p:cNvPr>
          <p:cNvSpPr txBox="1"/>
          <p:nvPr/>
        </p:nvSpPr>
        <p:spPr>
          <a:xfrm>
            <a:off x="1749378" y="3738123"/>
            <a:ext cx="6435486" cy="738664"/>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To measure the current state, the risk practitioner may find it beneficial to identify one or more key indicators that relate to goals or performance (i.e., [KGIs] [KPIs])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Desired states are typically linked to risk (i.e., key risk indicators [KRIs]</a:t>
            </a:r>
          </a:p>
        </p:txBody>
      </p:sp>
    </p:spTree>
    <p:extLst>
      <p:ext uri="{BB962C8B-B14F-4D97-AF65-F5344CB8AC3E}">
        <p14:creationId xmlns:p14="http://schemas.microsoft.com/office/powerpoint/2010/main" val="1998041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E883F4-8395-1FF0-578C-679AEA6B83F3}"/>
              </a:ext>
            </a:extLst>
          </p:cNvPr>
          <p:cNvSpPr txBox="1"/>
          <p:nvPr/>
        </p:nvSpPr>
        <p:spPr>
          <a:xfrm>
            <a:off x="1733258" y="251207"/>
            <a:ext cx="9418885" cy="63555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Vulnerability Assessment and Penetration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vulnerability assessment is a careful examination of a target environment to discover any potential points of compromise or weakness.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Vulnerabilities that may be identified by an assessment include:</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Network vulnerabilities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Poor physical access controls ( buildings, offices)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Insecure applications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Poorly designed or implemented web-facing services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Disruption to utilities (e.g., power, telecommunications)</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Unreliable supply chain</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Untrained personnel</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Inefficient or ineffective processes (e.g., change control, incident handling)</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Poorly maintained or old equipment</a:t>
            </a:r>
          </a:p>
          <a:p>
            <a:pPr marL="1714500" marR="0" lvl="3"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assessment may be manual or automated however Automated tools have the ability to filter large amounts of data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assessments may contain data that are not accurate, such as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false positives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that indicate a vulnerability where none exists.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It is important to ensure qualified staff are executing and interpreting results from automated tools.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assessments may also miss the identification of vulnerabilities that require a sequence of chained techniques to exploit.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1724833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57F0BC-C440-0033-E08E-71AD10E779A2}"/>
              </a:ext>
            </a:extLst>
          </p:cNvPr>
          <p:cNvSpPr txBox="1"/>
          <p:nvPr/>
        </p:nvSpPr>
        <p:spPr>
          <a:xfrm>
            <a:off x="1566779" y="461949"/>
            <a:ext cx="8390021" cy="5724644"/>
          </a:xfrm>
          <a:prstGeom prst="rect">
            <a:avLst/>
          </a:prstGeom>
          <a:noFill/>
        </p:spPr>
        <p:txBody>
          <a:bodyPr wrap="square">
            <a:spAutoFit/>
          </a:bodyPr>
          <a:lstStyle/>
          <a:p>
            <a:pPr marL="800100" marR="0" lvl="1"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8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To validate the results of a vulnerability assessment, the organization may conduct a penetration test against a potential vulnerability or attack vector.</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Penetration testing can use the same sort of tools as those used by a real adversary, which can help to establish the extent to which an identified vulnerability is a true weakness.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There are different types of penetration tests that can be performed that are based upon the enterprise appetite and end goals, which should dictate the approach that is employed in carrying out a penetration test.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Penetration tests may be conducted by either internal or external teams or hybrid, and rules vary from full knowledge of the environment to zero-knowledge tests in which the testing team has no knowledge of the environment being attacked.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expert penetration testing team will be creative and attempt several types of tests to achieve their goals.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startAt="7"/>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may exploit multiple vulnerable attack vectors or only one that gains them access.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3916359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BAC2BB-E3A4-876B-DB09-9D0952306D86}"/>
              </a:ext>
            </a:extLst>
          </p:cNvPr>
          <p:cNvSpPr txBox="1"/>
          <p:nvPr/>
        </p:nvSpPr>
        <p:spPr>
          <a:xfrm>
            <a:off x="1872195" y="420306"/>
            <a:ext cx="8109285" cy="5616922"/>
          </a:xfrm>
          <a:prstGeom prst="rect">
            <a:avLst/>
          </a:prstGeom>
          <a:noFill/>
        </p:spPr>
        <p:txBody>
          <a:bodyPr wrap="square">
            <a:spAutoFit/>
          </a:bodyPr>
          <a:lstStyle/>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can use the report generated in the process of risk identification.</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Careful consideration needs to be given to and planning is required to clearly define a penetration test engagement.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Each penetration test is unique in nature and can include any number of activities, based on the adversary being simulated to the scope.</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scope, time constraints, targets, exclusions and implicit authority to carry out these activities need to be clearly defined prior to having a penetration test.</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needs to be clearly understood that the goals of vulnerability assessments and penetration tests differ in scope, nature and outcome.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When performing a vulnerability assessment, the goal is the identification of any misconfigurations and/or vulnerabilities that may exist within a target system or application. </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startAt="13"/>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assessments tend to be non-intrusive in nature in that they will profile the system and attempt to elicit information to determine if the system is vulnerable to an attack. </a:t>
            </a:r>
          </a:p>
          <a:p>
            <a:pPr marL="742950"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744078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D5619C-4D26-669B-10F8-D258AA1A5A5F}"/>
              </a:ext>
            </a:extLst>
          </p:cNvPr>
          <p:cNvSpPr txBox="1"/>
          <p:nvPr/>
        </p:nvSpPr>
        <p:spPr>
          <a:xfrm>
            <a:off x="2201470" y="627242"/>
            <a:ext cx="7964905" cy="5293757"/>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20"/>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There are typically two types of technical vulnerability assessments: credentialed and non-credentialed.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20"/>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Credentialed assessments will significantly reduce the number of potential false positives but require elevated permissions in order to run in order to understand the specific system configuration, version and patch levels applied to the system.</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20"/>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Non-credentialed assessments will contain a much higher number of potential false positives as they are unable to confirm the specific configuration and patch levels applied to the system.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20"/>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Very little value may be gained, or benefit received in conducting a non-credentialed assessment in the grander scheme of security operations and risk management.</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20"/>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purpose of a penetration test is to simulate an adversary, using intrusive methods in an attempt to circumvent controls and exploit potential vulnerabilities within an organization in order to action on objectives; the objectives are normally defined in advance of the testing and clearly stated (e.g., get to this system, exfiltrate this information, compromise this individual). </a:t>
            </a:r>
          </a:p>
          <a:p>
            <a:pPr marL="342900" marR="0" lvl="0" indent="-342900" algn="l" defTabSz="914400" rtl="0" eaLnBrk="1" fontAlgn="auto" latinLnBrk="0" hangingPunct="1">
              <a:lnSpc>
                <a:spcPct val="100000"/>
              </a:lnSpc>
              <a:spcBef>
                <a:spcPts val="0"/>
              </a:spcBef>
              <a:spcAft>
                <a:spcPts val="1200"/>
              </a:spcAft>
              <a:buClrTx/>
              <a:buSzTx/>
              <a:buFont typeface="+mj-lt"/>
              <a:buAutoNum type="arabicPeriod" startAt="20"/>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goal of a penetration test is not to identify every potential exploitable vulnerability, but rather to discover and document how an adversary might leverage the current state environment in order to be able to accomplish their mission.</a:t>
            </a:r>
          </a:p>
        </p:txBody>
      </p:sp>
    </p:spTree>
    <p:extLst>
      <p:ext uri="{BB962C8B-B14F-4D97-AF65-F5344CB8AC3E}">
        <p14:creationId xmlns:p14="http://schemas.microsoft.com/office/powerpoint/2010/main" val="4065667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162498-7FCB-48D0-8F65-81DEC1050965}"/>
              </a:ext>
            </a:extLst>
          </p:cNvPr>
          <p:cNvSpPr/>
          <p:nvPr/>
        </p:nvSpPr>
        <p:spPr>
          <a:xfrm>
            <a:off x="898372" y="1529124"/>
            <a:ext cx="4900644" cy="290848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This difference between penetration tests and vulnerability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lvl="1" indent="-285750">
              <a:spcBef>
                <a:spcPts val="600"/>
              </a:spcBef>
              <a:buFont typeface="Wingdings" panose="05000000000000000000" pitchFamily="2" charset="2"/>
              <a:buChar char="§"/>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Penetration tests cost more than vulnerability assessments</a:t>
            </a:r>
          </a:p>
          <a:p>
            <a:pPr marL="742950" lvl="1" indent="-285750">
              <a:spcBef>
                <a:spcPts val="600"/>
              </a:spcBef>
              <a:buFont typeface="Wingdings" panose="05000000000000000000" pitchFamily="2" charset="2"/>
              <a:buChar char="§"/>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Penetration tests examine the information system much more closely</a:t>
            </a:r>
          </a:p>
          <a:p>
            <a:pPr marL="742950" lvl="1" indent="-285750">
              <a:spcBef>
                <a:spcPts val="600"/>
              </a:spcBef>
              <a:buFont typeface="Wingdings" panose="05000000000000000000" pitchFamily="2" charset="2"/>
              <a:buChar char="§"/>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Penetration tests remove false positives from the vulnerability assessment</a:t>
            </a:r>
          </a:p>
        </p:txBody>
      </p:sp>
      <p:pic>
        <p:nvPicPr>
          <p:cNvPr id="3" name="Picture 2">
            <a:extLst>
              <a:ext uri="{FF2B5EF4-FFF2-40B4-BE49-F238E27FC236}">
                <a16:creationId xmlns:a16="http://schemas.microsoft.com/office/drawing/2014/main" id="{56206645-7248-4BDA-B5D6-D0DE04B59703}"/>
              </a:ext>
            </a:extLst>
          </p:cNvPr>
          <p:cNvPicPr>
            <a:picLocks noChangeAspect="1"/>
          </p:cNvPicPr>
          <p:nvPr/>
        </p:nvPicPr>
        <p:blipFill rotWithShape="1">
          <a:blip r:embed="rId2"/>
          <a:srcRect l="6110" t="5237" r="8122" b="6216"/>
          <a:stretch/>
        </p:blipFill>
        <p:spPr>
          <a:xfrm>
            <a:off x="5799016" y="1135185"/>
            <a:ext cx="6275754" cy="4587630"/>
          </a:xfrm>
          <a:prstGeom prst="rect">
            <a:avLst/>
          </a:prstGeom>
        </p:spPr>
      </p:pic>
    </p:spTree>
    <p:extLst>
      <p:ext uri="{BB962C8B-B14F-4D97-AF65-F5344CB8AC3E}">
        <p14:creationId xmlns:p14="http://schemas.microsoft.com/office/powerpoint/2010/main" val="3033837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E35B72-2D80-5DEE-B85D-5139DB8D215D}"/>
              </a:ext>
            </a:extLst>
          </p:cNvPr>
          <p:cNvSpPr txBox="1"/>
          <p:nvPr/>
        </p:nvSpPr>
        <p:spPr>
          <a:xfrm>
            <a:off x="2019454" y="580774"/>
            <a:ext cx="8783052" cy="555536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Root Cause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Root cause analysis is a process of diagnosis to establish the origins of events so that lessons can be learned from consequences (typically</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errors and problems).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actions that an enterprise takes in response to risk are often based on the lessons learned from previous events.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risk practitioner examines the root cause of an incident to discover the conditions and factors that led to the event, rather than reacting</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to the symptoms of the problem.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underlying conditions, which comprise the root (core) of a problem, are the conditions against which</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action must be taken in order to prevent the problem from recurring.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For example, if a review of a business process finds that users are not</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compliant with the procedures and policies in place, the risk practitioner should examine why the users are not compliant before recommending</a:t>
            </a:r>
            <a:r>
              <a:rPr kumimoji="0" lang="ar-SA"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a:t>
            </a:r>
            <a:r>
              <a:rPr kumimoji="0" lang="en-GB"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enforcement of the procedure.</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It may be that the procedure is outdated, flawed or unworkable when aligned with the objectives of the</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enterprise, in which case it is the procedure and not the behavior that should be corrected.</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Root cause analysis examines the reasons why a</a:t>
            </a:r>
            <a:r>
              <a:rPr kumimoji="0" lang="ar-SA"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problem exists or a breach has occurred and seeks to identify and resolve these underlying issues.</a:t>
            </a:r>
          </a:p>
        </p:txBody>
      </p:sp>
    </p:spTree>
    <p:extLst>
      <p:ext uri="{BB962C8B-B14F-4D97-AF65-F5344CB8AC3E}">
        <p14:creationId xmlns:p14="http://schemas.microsoft.com/office/powerpoint/2010/main" val="604543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AEAC4-2AF4-0BB8-C75B-4F8269CA716D}"/>
              </a:ext>
            </a:extLst>
          </p:cNvPr>
          <p:cNvPicPr>
            <a:picLocks noChangeAspect="1"/>
          </p:cNvPicPr>
          <p:nvPr/>
        </p:nvPicPr>
        <p:blipFill>
          <a:blip r:embed="rId2"/>
          <a:stretch>
            <a:fillRect/>
          </a:stretch>
        </p:blipFill>
        <p:spPr>
          <a:xfrm>
            <a:off x="1704750" y="664308"/>
            <a:ext cx="10205896" cy="5286654"/>
          </a:xfrm>
          <a:prstGeom prst="rect">
            <a:avLst/>
          </a:prstGeom>
        </p:spPr>
      </p:pic>
    </p:spTree>
    <p:extLst>
      <p:ext uri="{BB962C8B-B14F-4D97-AF65-F5344CB8AC3E}">
        <p14:creationId xmlns:p14="http://schemas.microsoft.com/office/powerpoint/2010/main" val="1318788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7539" y="648753"/>
            <a:ext cx="11353799" cy="567463"/>
          </a:xfrm>
          <a:prstGeom prst="rect">
            <a:avLst/>
          </a:prstGeom>
        </p:spPr>
        <p:txBody>
          <a:bodyPr vert="horz" wrap="square" lIns="0" tIns="13335" rIns="0" bIns="0" rtlCol="0">
            <a:spAutoFit/>
          </a:bodyPr>
          <a:lstStyle/>
          <a:p>
            <a:pPr marL="12700">
              <a:lnSpc>
                <a:spcPct val="100000"/>
              </a:lnSpc>
              <a:spcBef>
                <a:spcPts val="105"/>
              </a:spcBef>
            </a:pPr>
            <a:r>
              <a:rPr u="sng" spc="-45" dirty="0">
                <a:solidFill>
                  <a:srgbClr val="074891"/>
                </a:solidFill>
                <a:uFill>
                  <a:solidFill>
                    <a:srgbClr val="000000"/>
                  </a:solidFill>
                </a:uFill>
              </a:rPr>
              <a:t>Likelihood</a:t>
            </a:r>
            <a:r>
              <a:rPr u="sng" spc="-110" dirty="0">
                <a:solidFill>
                  <a:srgbClr val="074891"/>
                </a:solidFill>
                <a:uFill>
                  <a:solidFill>
                    <a:srgbClr val="000000"/>
                  </a:solidFill>
                </a:uFill>
              </a:rPr>
              <a:t> </a:t>
            </a:r>
            <a:r>
              <a:rPr u="sng" spc="-40" dirty="0">
                <a:solidFill>
                  <a:srgbClr val="074891"/>
                </a:solidFill>
                <a:uFill>
                  <a:solidFill>
                    <a:srgbClr val="000000"/>
                  </a:solidFill>
                </a:uFill>
              </a:rPr>
              <a:t>Determination</a:t>
            </a:r>
            <a:r>
              <a:rPr u="sng" spc="-120" dirty="0">
                <a:solidFill>
                  <a:srgbClr val="074891"/>
                </a:solidFill>
                <a:uFill>
                  <a:solidFill>
                    <a:srgbClr val="000000"/>
                  </a:solidFill>
                </a:uFill>
              </a:rPr>
              <a:t> </a:t>
            </a:r>
            <a:r>
              <a:rPr u="sng" spc="-20" dirty="0">
                <a:solidFill>
                  <a:srgbClr val="074891"/>
                </a:solidFill>
                <a:uFill>
                  <a:solidFill>
                    <a:srgbClr val="000000"/>
                  </a:solidFill>
                </a:uFill>
              </a:rPr>
              <a:t>and</a:t>
            </a:r>
            <a:r>
              <a:rPr u="sng" spc="-95" dirty="0">
                <a:solidFill>
                  <a:srgbClr val="074891"/>
                </a:solidFill>
                <a:uFill>
                  <a:solidFill>
                    <a:srgbClr val="000000"/>
                  </a:solidFill>
                </a:uFill>
              </a:rPr>
              <a:t> </a:t>
            </a:r>
            <a:r>
              <a:rPr u="sng" spc="-30" dirty="0">
                <a:solidFill>
                  <a:srgbClr val="074891"/>
                </a:solidFill>
                <a:uFill>
                  <a:solidFill>
                    <a:srgbClr val="000000"/>
                  </a:solidFill>
                </a:uFill>
              </a:rPr>
              <a:t>Impact</a:t>
            </a:r>
            <a:r>
              <a:rPr u="sng" spc="-80" dirty="0">
                <a:solidFill>
                  <a:srgbClr val="074891"/>
                </a:solidFill>
                <a:uFill>
                  <a:solidFill>
                    <a:srgbClr val="000000"/>
                  </a:solidFill>
                </a:uFill>
              </a:rPr>
              <a:t> </a:t>
            </a:r>
            <a:r>
              <a:rPr u="sng" spc="-35" dirty="0">
                <a:solidFill>
                  <a:srgbClr val="074891"/>
                </a:solidFill>
                <a:uFill>
                  <a:solidFill>
                    <a:srgbClr val="000000"/>
                  </a:solidFill>
                </a:uFill>
              </a:rPr>
              <a:t>A</a:t>
            </a:r>
            <a:r>
              <a:rPr u="sng" spc="-35" dirty="0">
                <a:solidFill>
                  <a:srgbClr val="074891"/>
                </a:solidFill>
              </a:rPr>
              <a:t>nalysis</a:t>
            </a:r>
            <a:endParaRPr u="sng" dirty="0"/>
          </a:p>
        </p:txBody>
      </p:sp>
      <p:sp>
        <p:nvSpPr>
          <p:cNvPr id="3" name="object 3"/>
          <p:cNvSpPr txBox="1"/>
          <p:nvPr/>
        </p:nvSpPr>
        <p:spPr>
          <a:xfrm>
            <a:off x="1029653" y="1447800"/>
            <a:ext cx="7770470" cy="3421449"/>
          </a:xfrm>
          <a:prstGeom prst="rect">
            <a:avLst/>
          </a:prstGeom>
        </p:spPr>
        <p:txBody>
          <a:bodyPr vert="horz" wrap="square" lIns="0" tIns="60960" rIns="0" bIns="0" rtlCol="0">
            <a:spAutoFit/>
          </a:bodyPr>
          <a:lstStyle/>
          <a:p>
            <a:pPr marL="469265" marR="5080" lvl="0" indent="-457200" algn="l" defTabSz="457200" rtl="0" eaLnBrk="1" fontAlgn="auto" latinLnBrk="0" hangingPunct="1">
              <a:lnSpc>
                <a:spcPts val="3020"/>
              </a:lnSpc>
              <a:spcBef>
                <a:spcPts val="480"/>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Determine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likelihood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given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agent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initiating</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or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an </a:t>
            </a:r>
            <a:r>
              <a:rPr kumimoji="0" sz="2000" b="0" i="0" u="none" strike="noStrike" kern="1200" cap="none" spc="-10" normalizeH="0" baseline="0" noProof="0" dirty="0">
                <a:ln>
                  <a:noFill/>
                </a:ln>
                <a:solidFill>
                  <a:prstClr val="black"/>
                </a:solidFill>
                <a:effectLst/>
                <a:uLnTx/>
                <a:uFillTx/>
                <a:latin typeface="Calibri"/>
                <a:ea typeface="+mn-ea"/>
                <a:cs typeface="Calibri"/>
              </a:rPr>
              <a:t>identified</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exploiting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10" normalizeH="0" baseline="0" noProof="0" dirty="0">
                <a:ln>
                  <a:noFill/>
                </a:ln>
                <a:solidFill>
                  <a:prstClr val="black"/>
                </a:solidFill>
                <a:effectLst/>
                <a:uLnTx/>
                <a:uFillTx/>
                <a:latin typeface="Calibri"/>
                <a:ea typeface="+mn-ea"/>
                <a:cs typeface="Calibri"/>
              </a:rPr>
              <a:t>given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vulnerability,</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190500" lvl="0" indent="-457200" algn="l" defTabSz="457200" rtl="0" eaLnBrk="1" fontAlgn="auto" latinLnBrk="0" hangingPunct="1">
              <a:lnSpc>
                <a:spcPts val="3020"/>
              </a:lnSpc>
              <a:spcBef>
                <a:spcPts val="1015"/>
              </a:spcBef>
              <a:spcAft>
                <a:spcPts val="0"/>
              </a:spcAft>
              <a:buClrTx/>
              <a:buSzTx/>
              <a:buFont typeface="+mj-lt"/>
              <a:buAutoNum type="arabicPeriod"/>
              <a:tabLst>
                <a:tab pos="241935" algn="l"/>
                <a:tab pos="290385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Determine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level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impact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harm</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if</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vulnerability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were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successfully</a:t>
            </a:r>
            <a:r>
              <a:rPr kumimoji="0" lang="en-US"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exploited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by</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15" normalizeH="0" baseline="0" noProof="0" dirty="0">
                <a:ln>
                  <a:noFill/>
                </a:ln>
                <a:solidFill>
                  <a:prstClr val="black"/>
                </a:solidFill>
                <a:effectLst/>
                <a:uLnTx/>
                <a:uFillTx/>
                <a:latin typeface="Calibri"/>
                <a:ea typeface="+mn-ea"/>
                <a:cs typeface="Calibri"/>
              </a:rPr>
              <a:t>threat.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0" lvl="0" indent="-457200" algn="l" defTabSz="457200" rtl="0" eaLnBrk="1" fontAlgn="auto" latinLnBrk="0" hangingPunct="1">
              <a:lnSpc>
                <a:spcPct val="100000"/>
              </a:lnSpc>
              <a:spcBef>
                <a:spcPts val="625"/>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Threats</a:t>
            </a:r>
            <a:r>
              <a:rPr kumimoji="0" sz="2000" b="0" i="0" u="none" strike="noStrike" kern="1200" cap="none" spc="-5" normalizeH="0" baseline="0" noProof="0" dirty="0">
                <a:ln>
                  <a:noFill/>
                </a:ln>
                <a:solidFill>
                  <a:prstClr val="black"/>
                </a:solidFill>
                <a:effectLst/>
                <a:uLnTx/>
                <a:uFillTx/>
                <a:latin typeface="Calibri"/>
                <a:ea typeface="+mn-ea"/>
                <a:cs typeface="Calibri"/>
              </a:rPr>
              <a:t> 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vulnerabilities</a:t>
            </a:r>
            <a:r>
              <a:rPr kumimoji="0" sz="2000" b="0" i="0" u="none" strike="noStrike" kern="1200" cap="none" spc="5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assets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are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1" u="none" strike="noStrike" kern="1200" cap="none" spc="-15" normalizeH="0" baseline="0" noProof="0" dirty="0">
                <a:ln>
                  <a:noFill/>
                </a:ln>
                <a:solidFill>
                  <a:prstClr val="black"/>
                </a:solidFill>
                <a:effectLst/>
                <a:uLnTx/>
                <a:uFillTx/>
                <a:latin typeface="Calibri"/>
                <a:ea typeface="+mn-ea"/>
                <a:cs typeface="Calibri"/>
              </a:rPr>
              <a:t>static,</a:t>
            </a:r>
            <a:r>
              <a:rPr kumimoji="0" sz="2000" b="0" i="1"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don’t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change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much.</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0" lvl="0" indent="-457200" algn="l" defTabSz="457200" rtl="0" eaLnBrk="1" fontAlgn="auto" latinLnBrk="0" hangingPunct="1">
              <a:lnSpc>
                <a:spcPct val="100000"/>
              </a:lnSpc>
              <a:spcBef>
                <a:spcPts val="660"/>
              </a:spcBef>
              <a:spcAft>
                <a:spcPts val="0"/>
              </a:spcAft>
              <a:buClrTx/>
              <a:buSzTx/>
              <a:buFont typeface="+mj-lt"/>
              <a:buAutoNum type="arabicPeriod"/>
              <a:tabLst>
                <a:tab pos="241935" algn="l"/>
              </a:tabLst>
              <a:defRPr/>
            </a:pPr>
            <a:r>
              <a:rPr kumimoji="0" sz="2000" b="0" i="0" u="none" strike="noStrike" kern="1200" cap="none" spc="-20" normalizeH="0" baseline="0" noProof="0" dirty="0">
                <a:ln>
                  <a:noFill/>
                </a:ln>
                <a:solidFill>
                  <a:prstClr val="black"/>
                </a:solidFill>
                <a:effectLst/>
                <a:uLnTx/>
                <a:uFillTx/>
                <a:latin typeface="Calibri"/>
                <a:ea typeface="+mn-ea"/>
                <a:cs typeface="Calibri"/>
              </a:rPr>
              <a:t>Likelihood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impact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are</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variable</a:t>
            </a:r>
            <a:r>
              <a:rPr kumimoji="0" sz="2000" b="0" i="1"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primary</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factors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measuring</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226695" lvl="0" indent="-457200" algn="l" defTabSz="457200" rtl="0" eaLnBrk="1" fontAlgn="auto" latinLnBrk="0" hangingPunct="1">
              <a:lnSpc>
                <a:spcPts val="3020"/>
              </a:lnSpc>
              <a:spcBef>
                <a:spcPts val="1055"/>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Evaluation </a:t>
            </a:r>
            <a:r>
              <a:rPr kumimoji="0" sz="2000" b="0" i="0" u="none" strike="noStrike" kern="1200" cap="none" spc="-20" normalizeH="0" baseline="0" noProof="0" dirty="0">
                <a:ln>
                  <a:noFill/>
                </a:ln>
                <a:solidFill>
                  <a:prstClr val="black"/>
                </a:solidFill>
                <a:effectLst/>
                <a:uLnTx/>
                <a:uFillTx/>
                <a:latin typeface="Calibri"/>
                <a:ea typeface="+mn-ea"/>
                <a:cs typeface="Calibri"/>
              </a:rPr>
              <a:t>involves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measurement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these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two</a:t>
            </a:r>
            <a:r>
              <a:rPr kumimoji="0" sz="2000" b="0" i="0" u="none" strike="noStrike" kern="1200" cap="none" spc="-5" normalizeH="0" baseline="0" noProof="0" dirty="0">
                <a:ln>
                  <a:noFill/>
                </a:ln>
                <a:solidFill>
                  <a:prstClr val="black"/>
                </a:solidFill>
                <a:effectLst/>
                <a:uLnTx/>
                <a:uFillTx/>
                <a:latin typeface="Calibri"/>
                <a:ea typeface="+mn-ea"/>
                <a:cs typeface="Calibri"/>
              </a:rPr>
              <a:t> primary</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factors,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likelihood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impact</a:t>
            </a:r>
            <a:r>
              <a:rPr kumimoji="0" sz="2400" b="0" i="0" u="none" strike="noStrike" kern="1200" cap="none" spc="-10" normalizeH="0" baseline="0" noProof="0" dirty="0">
                <a:ln>
                  <a:noFill/>
                </a:ln>
                <a:solidFill>
                  <a:prstClr val="black"/>
                </a:solidFill>
                <a:effectLst/>
                <a:uLnTx/>
                <a:uFillTx/>
                <a:latin typeface="Calibri"/>
                <a:ea typeface="+mn-ea"/>
                <a:cs typeface="Calibri"/>
              </a:rPr>
              <a:t>.</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493" y="172445"/>
            <a:ext cx="11046461" cy="567463"/>
          </a:xfrm>
          <a:prstGeom prst="rect">
            <a:avLst/>
          </a:prstGeom>
        </p:spPr>
        <p:txBody>
          <a:bodyPr vert="horz" wrap="square" lIns="0" tIns="13335" rIns="0" bIns="0" rtlCol="0">
            <a:spAutoFit/>
          </a:bodyPr>
          <a:lstStyle/>
          <a:p>
            <a:pPr marL="12700">
              <a:lnSpc>
                <a:spcPct val="100000"/>
              </a:lnSpc>
              <a:spcBef>
                <a:spcPts val="105"/>
              </a:spcBef>
            </a:pPr>
            <a:r>
              <a:rPr u="sng" spc="-10" dirty="0">
                <a:solidFill>
                  <a:srgbClr val="074891"/>
                </a:solidFill>
                <a:uFill>
                  <a:solidFill>
                    <a:srgbClr val="000000"/>
                  </a:solidFill>
                </a:uFill>
              </a:rPr>
              <a:t>Quantitative and Qualitative Techniques</a:t>
            </a:r>
          </a:p>
        </p:txBody>
      </p:sp>
      <p:sp>
        <p:nvSpPr>
          <p:cNvPr id="3" name="object 3"/>
          <p:cNvSpPr txBox="1"/>
          <p:nvPr/>
        </p:nvSpPr>
        <p:spPr>
          <a:xfrm>
            <a:off x="631092" y="739908"/>
            <a:ext cx="9997831" cy="816057"/>
          </a:xfrm>
          <a:prstGeom prst="rect">
            <a:avLst/>
          </a:prstGeom>
        </p:spPr>
        <p:txBody>
          <a:bodyPr vert="horz" wrap="square" lIns="0" tIns="60960" rIns="0" bIns="0" rtlCol="0">
            <a:spAutoFit/>
          </a:bodyPr>
          <a:lstStyle/>
          <a:p>
            <a:pPr marL="241300" marR="220979" lvl="0" indent="-229235" algn="l" defTabSz="457200" rtl="0" eaLnBrk="1" fontAlgn="auto" latinLnBrk="0" hangingPunct="1">
              <a:lnSpc>
                <a:spcPts val="3030"/>
              </a:lnSpc>
              <a:spcBef>
                <a:spcPts val="1000"/>
              </a:spcBef>
              <a:spcAft>
                <a:spcPts val="0"/>
              </a:spcAft>
              <a:buClrTx/>
              <a:buSzTx/>
              <a:buFont typeface="Arial MT"/>
              <a:buChar char="•"/>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Most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assessment</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methodologies</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are</a:t>
            </a:r>
            <a:r>
              <a:rPr kumimoji="0" sz="2000" b="0" i="0" u="none" strike="noStrike" kern="1200" cap="none" spc="-5" normalizeH="0" baseline="0" noProof="0" dirty="0">
                <a:ln>
                  <a:noFill/>
                </a:ln>
                <a:solidFill>
                  <a:prstClr val="black"/>
                </a:solidFill>
                <a:effectLst/>
                <a:uLnTx/>
                <a:uFillTx/>
                <a:latin typeface="Calibri"/>
                <a:ea typeface="+mn-ea"/>
                <a:cs typeface="Calibri"/>
              </a:rPr>
              <a:t> based</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two</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primary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30" normalizeH="0" baseline="0" noProof="0" dirty="0">
                <a:ln>
                  <a:noFill/>
                </a:ln>
                <a:solidFill>
                  <a:prstClr val="black"/>
                </a:solidFill>
                <a:effectLst/>
                <a:uLnTx/>
                <a:uFillTx/>
                <a:latin typeface="Calibri"/>
                <a:ea typeface="+mn-ea"/>
                <a:cs typeface="Calibri"/>
              </a:rPr>
              <a:t>ways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5" normalizeH="0" baseline="0" noProof="0" dirty="0">
                <a:ln>
                  <a:noFill/>
                </a:ln>
                <a:solidFill>
                  <a:prstClr val="black"/>
                </a:solidFill>
                <a:effectLst/>
                <a:uLnTx/>
                <a:uFillTx/>
                <a:latin typeface="Calibri"/>
                <a:ea typeface="+mn-ea"/>
                <a:cs typeface="Calibri"/>
              </a:rPr>
              <a:t> assess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qualitative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quantitative.</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Picture 3">
            <a:extLst>
              <a:ext uri="{FF2B5EF4-FFF2-40B4-BE49-F238E27FC236}">
                <a16:creationId xmlns:a16="http://schemas.microsoft.com/office/drawing/2014/main" id="{997C8547-1BBD-E4C0-8965-33A5FA40A582}"/>
              </a:ext>
            </a:extLst>
          </p:cNvPr>
          <p:cNvPicPr>
            <a:picLocks noChangeAspect="1"/>
          </p:cNvPicPr>
          <p:nvPr/>
        </p:nvPicPr>
        <p:blipFill>
          <a:blip r:embed="rId3"/>
          <a:stretch>
            <a:fillRect/>
          </a:stretch>
        </p:blipFill>
        <p:spPr>
          <a:xfrm>
            <a:off x="1177192" y="1617520"/>
            <a:ext cx="9243062" cy="511818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9452" y="1321308"/>
            <a:ext cx="8342376" cy="45720"/>
          </a:xfrm>
          <a:prstGeom prst="rect">
            <a:avLst/>
          </a:prstGeom>
        </p:spPr>
      </p:pic>
      <p:sp>
        <p:nvSpPr>
          <p:cNvPr id="3" name="object 3"/>
          <p:cNvSpPr txBox="1">
            <a:spLocks noGrp="1"/>
          </p:cNvSpPr>
          <p:nvPr>
            <p:ph type="title"/>
          </p:nvPr>
        </p:nvSpPr>
        <p:spPr>
          <a:xfrm>
            <a:off x="457201" y="631137"/>
            <a:ext cx="11734799" cy="504625"/>
          </a:xfrm>
          <a:prstGeom prst="rect">
            <a:avLst/>
          </a:prstGeom>
        </p:spPr>
        <p:txBody>
          <a:bodyPr vert="horz" wrap="square" lIns="0" tIns="12065" rIns="0" bIns="0" rtlCol="0">
            <a:spAutoFit/>
          </a:bodyPr>
          <a:lstStyle/>
          <a:p>
            <a:pPr marL="12700">
              <a:lnSpc>
                <a:spcPct val="100000"/>
              </a:lnSpc>
              <a:spcBef>
                <a:spcPts val="95"/>
              </a:spcBef>
            </a:pPr>
            <a:r>
              <a:rPr sz="3200" spc="-30" dirty="0">
                <a:solidFill>
                  <a:srgbClr val="074891"/>
                </a:solidFill>
              </a:rPr>
              <a:t>Combining</a:t>
            </a:r>
            <a:r>
              <a:rPr sz="3200" spc="-85" dirty="0">
                <a:solidFill>
                  <a:srgbClr val="074891"/>
                </a:solidFill>
              </a:rPr>
              <a:t> </a:t>
            </a:r>
            <a:r>
              <a:rPr sz="3200" spc="-45" dirty="0">
                <a:solidFill>
                  <a:srgbClr val="074891"/>
                </a:solidFill>
              </a:rPr>
              <a:t>Quantitative</a:t>
            </a:r>
            <a:r>
              <a:rPr sz="3200" spc="-85" dirty="0">
                <a:solidFill>
                  <a:srgbClr val="074891"/>
                </a:solidFill>
              </a:rPr>
              <a:t> </a:t>
            </a:r>
            <a:r>
              <a:rPr sz="3200" spc="-20" dirty="0">
                <a:solidFill>
                  <a:srgbClr val="074891"/>
                </a:solidFill>
              </a:rPr>
              <a:t>and</a:t>
            </a:r>
            <a:r>
              <a:rPr sz="3200" spc="-65" dirty="0">
                <a:solidFill>
                  <a:srgbClr val="074891"/>
                </a:solidFill>
              </a:rPr>
              <a:t> </a:t>
            </a:r>
            <a:r>
              <a:rPr sz="3200" spc="-40" dirty="0">
                <a:solidFill>
                  <a:srgbClr val="074891"/>
                </a:solidFill>
              </a:rPr>
              <a:t>Qualitative</a:t>
            </a:r>
            <a:r>
              <a:rPr sz="3200" spc="-75" dirty="0">
                <a:solidFill>
                  <a:srgbClr val="074891"/>
                </a:solidFill>
              </a:rPr>
              <a:t> </a:t>
            </a:r>
            <a:r>
              <a:rPr sz="3200" spc="-70" dirty="0">
                <a:solidFill>
                  <a:srgbClr val="074891"/>
                </a:solidFill>
              </a:rPr>
              <a:t>Techniques</a:t>
            </a:r>
            <a:endParaRPr sz="3200" dirty="0"/>
          </a:p>
        </p:txBody>
      </p:sp>
      <p:sp>
        <p:nvSpPr>
          <p:cNvPr id="4" name="object 4"/>
          <p:cNvSpPr txBox="1"/>
          <p:nvPr/>
        </p:nvSpPr>
        <p:spPr>
          <a:xfrm>
            <a:off x="1234440" y="1552574"/>
            <a:ext cx="7772400" cy="3435299"/>
          </a:xfrm>
          <a:prstGeom prst="rect">
            <a:avLst/>
          </a:prstGeom>
        </p:spPr>
        <p:txBody>
          <a:bodyPr vert="horz" wrap="square" lIns="0" tIns="54610" rIns="0" bIns="0" rtlCol="0">
            <a:spAutoFit/>
          </a:bodyPr>
          <a:lstStyle/>
          <a:p>
            <a:pPr marL="241300" marR="75565" lvl="0" indent="-229235" algn="l" defTabSz="457200" rtl="0" eaLnBrk="1" fontAlgn="auto" latinLnBrk="0" hangingPunct="1">
              <a:lnSpc>
                <a:spcPct val="90000"/>
              </a:lnSpc>
              <a:spcBef>
                <a:spcPts val="430"/>
              </a:spcBef>
              <a:spcAft>
                <a:spcPts val="0"/>
              </a:spcAft>
              <a:buClrTx/>
              <a:buSzTx/>
              <a:buFont typeface="Arial MT"/>
              <a:buChar char="•"/>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qualitative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quantitative</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assessment</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alone </a:t>
            </a:r>
            <a:r>
              <a:rPr kumimoji="0" sz="2000" b="0" i="0" u="none" strike="noStrike" kern="1200" cap="none" spc="-20" normalizeH="0" baseline="0" noProof="0" dirty="0">
                <a:ln>
                  <a:noFill/>
                </a:ln>
                <a:solidFill>
                  <a:prstClr val="black"/>
                </a:solidFill>
                <a:effectLst/>
                <a:uLnTx/>
                <a:uFillTx/>
                <a:latin typeface="Calibri"/>
                <a:ea typeface="+mn-ea"/>
                <a:cs typeface="Calibri"/>
              </a:rPr>
              <a:t>may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not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be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enough</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to </a:t>
            </a:r>
            <a:r>
              <a:rPr kumimoji="0" sz="2000" b="0" i="0" u="none" strike="noStrike" kern="1200" cap="none" spc="-6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adequately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capture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different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elements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 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develop</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overall</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risk</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determination.</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83185" lvl="0" indent="-229235" algn="l" defTabSz="457200" rtl="0" eaLnBrk="1" fontAlgn="auto" latinLnBrk="0" hangingPunct="1">
              <a:lnSpc>
                <a:spcPts val="3020"/>
              </a:lnSpc>
              <a:spcBef>
                <a:spcPts val="1055"/>
              </a:spcBef>
              <a:spcAft>
                <a:spcPts val="0"/>
              </a:spcAft>
              <a:buClrTx/>
              <a:buSzTx/>
              <a:buFont typeface="Arial MT"/>
              <a:buChar char="•"/>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Each</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technique</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good</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at</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producing</a:t>
            </a:r>
            <a:r>
              <a:rPr kumimoji="0" sz="2000" b="0" i="0" u="none" strike="noStrike" kern="1200" cap="none" spc="5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valuable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piece</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of</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puzzle,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but</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sometimes</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you</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need</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both</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quantitative</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perspective</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and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 </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qualitative</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perspective</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on</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risk.</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241300" marR="5080" lvl="0" indent="-229235" algn="just" defTabSz="457200" rtl="0" eaLnBrk="1" fontAlgn="auto" latinLnBrk="0" hangingPunct="1">
              <a:lnSpc>
                <a:spcPts val="3020"/>
              </a:lnSpc>
              <a:spcBef>
                <a:spcPts val="1010"/>
              </a:spcBef>
              <a:spcAft>
                <a:spcPts val="0"/>
              </a:spcAft>
              <a:buClrTx/>
              <a:buSzTx/>
              <a:buFont typeface="Arial MT"/>
              <a:buChar char="•"/>
              <a:tabLst>
                <a:tab pos="2419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In </a:t>
            </a:r>
            <a:r>
              <a:rPr kumimoji="0" sz="2000" b="0" i="0" u="none" strike="noStrike" kern="1200" cap="none" spc="-10" normalizeH="0" baseline="0" noProof="0" dirty="0">
                <a:ln>
                  <a:noFill/>
                </a:ln>
                <a:solidFill>
                  <a:prstClr val="black"/>
                </a:solidFill>
                <a:effectLst/>
                <a:uLnTx/>
                <a:uFillTx/>
                <a:latin typeface="Calibri"/>
                <a:ea typeface="+mn-ea"/>
                <a:cs typeface="Calibri"/>
              </a:rPr>
              <a:t>practice, </a:t>
            </a:r>
            <a:r>
              <a:rPr kumimoji="0" sz="2000" b="0" i="0" u="none" strike="noStrike" kern="1200" cap="none" spc="-15" normalizeH="0" baseline="0" noProof="0" dirty="0">
                <a:ln>
                  <a:noFill/>
                </a:ln>
                <a:solidFill>
                  <a:prstClr val="black"/>
                </a:solidFill>
                <a:effectLst/>
                <a:uLnTx/>
                <a:uFillTx/>
                <a:latin typeface="Calibri"/>
                <a:ea typeface="+mn-ea"/>
                <a:cs typeface="Calibri"/>
              </a:rPr>
              <a:t>most </a:t>
            </a:r>
            <a:r>
              <a:rPr kumimoji="0" sz="2000" b="0" i="0" u="none" strike="noStrike" kern="1200" cap="none" spc="-10" normalizeH="0" baseline="0" noProof="0" dirty="0">
                <a:ln>
                  <a:noFill/>
                </a:ln>
                <a:solidFill>
                  <a:prstClr val="black"/>
                </a:solidFill>
                <a:effectLst/>
                <a:uLnTx/>
                <a:uFillTx/>
                <a:latin typeface="Calibri"/>
                <a:ea typeface="+mn-ea"/>
                <a:cs typeface="Calibri"/>
              </a:rPr>
              <a:t>risk </a:t>
            </a:r>
            <a:r>
              <a:rPr kumimoji="0" sz="2000" b="0" i="0" u="none" strike="noStrike" kern="1200" cap="none" spc="-5" normalizeH="0" baseline="0" noProof="0" dirty="0">
                <a:ln>
                  <a:noFill/>
                </a:ln>
                <a:solidFill>
                  <a:prstClr val="black"/>
                </a:solidFill>
                <a:effectLst/>
                <a:uLnTx/>
                <a:uFillTx/>
                <a:latin typeface="Calibri"/>
                <a:ea typeface="+mn-ea"/>
                <a:cs typeface="Calibri"/>
              </a:rPr>
              <a:t>assessments </a:t>
            </a:r>
            <a:r>
              <a:rPr kumimoji="0" sz="2000" b="0" i="0" u="none" strike="noStrike" kern="1200" cap="none" spc="-20" normalizeH="0" baseline="0" noProof="0" dirty="0">
                <a:ln>
                  <a:noFill/>
                </a:ln>
                <a:solidFill>
                  <a:prstClr val="black"/>
                </a:solidFill>
                <a:effectLst/>
                <a:uLnTx/>
                <a:uFillTx/>
                <a:latin typeface="Calibri"/>
                <a:ea typeface="+mn-ea"/>
                <a:cs typeface="Calibri"/>
              </a:rPr>
              <a:t>are </a:t>
            </a:r>
            <a:r>
              <a:rPr kumimoji="0" sz="2000" b="0" i="0" u="none" strike="noStrike" kern="1200" cap="none" spc="-10" normalizeH="0" baseline="0" noProof="0" dirty="0">
                <a:ln>
                  <a:noFill/>
                </a:ln>
                <a:solidFill>
                  <a:prstClr val="black"/>
                </a:solidFill>
                <a:effectLst/>
                <a:uLnTx/>
                <a:uFillTx/>
                <a:latin typeface="Calibri"/>
                <a:ea typeface="+mn-ea"/>
                <a:cs typeface="Calibri"/>
              </a:rPr>
              <a:t>usually </a:t>
            </a:r>
            <a:r>
              <a:rPr kumimoji="0" sz="2000" b="0" i="0" u="none" strike="noStrike" kern="1200" cap="none" spc="-15" normalizeH="0" baseline="0" noProof="0" dirty="0">
                <a:ln>
                  <a:noFill/>
                </a:ln>
                <a:solidFill>
                  <a:prstClr val="black"/>
                </a:solidFill>
                <a:effectLst/>
                <a:uLnTx/>
                <a:uFillTx/>
                <a:latin typeface="Calibri"/>
                <a:ea typeface="+mn-ea"/>
                <a:cs typeface="Calibri"/>
              </a:rPr>
              <a:t>qualitative </a:t>
            </a:r>
            <a:r>
              <a:rPr kumimoji="0" sz="2000" b="0" i="0" u="none" strike="noStrike" kern="1200" cap="none" spc="-5" normalizeH="0" baseline="0" noProof="0" dirty="0">
                <a:ln>
                  <a:noFill/>
                </a:ln>
                <a:solidFill>
                  <a:prstClr val="black"/>
                </a:solidFill>
                <a:effectLst/>
                <a:uLnTx/>
                <a:uFillTx/>
                <a:latin typeface="Calibri"/>
                <a:ea typeface="+mn-ea"/>
                <a:cs typeface="Calibri"/>
              </a:rPr>
              <a:t>with </a:t>
            </a:r>
            <a:r>
              <a:rPr kumimoji="0" sz="2000" b="0" i="0" u="none" strike="noStrike" kern="1200" cap="none" spc="-10" normalizeH="0" baseline="0" noProof="0" dirty="0">
                <a:ln>
                  <a:noFill/>
                </a:ln>
                <a:solidFill>
                  <a:prstClr val="black"/>
                </a:solidFill>
                <a:effectLst/>
                <a:uLnTx/>
                <a:uFillTx/>
                <a:latin typeface="Calibri"/>
                <a:ea typeface="+mn-ea"/>
                <a:cs typeface="Calibri"/>
              </a:rPr>
              <a:t>some </a:t>
            </a:r>
            <a:r>
              <a:rPr kumimoji="0" sz="2000" b="0" i="0" u="none" strike="noStrike" kern="1200" cap="none" spc="-62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quantitative </a:t>
            </a:r>
            <a:r>
              <a:rPr kumimoji="0" sz="2000" b="0" i="0" u="none" strike="noStrike" kern="1200" cap="none" spc="-10" normalizeH="0" baseline="0" noProof="0" dirty="0">
                <a:ln>
                  <a:noFill/>
                </a:ln>
                <a:solidFill>
                  <a:prstClr val="black"/>
                </a:solidFill>
                <a:effectLst/>
                <a:uLnTx/>
                <a:uFillTx/>
                <a:latin typeface="Calibri"/>
                <a:ea typeface="+mn-ea"/>
                <a:cs typeface="Calibri"/>
              </a:rPr>
              <a:t>elements </a:t>
            </a:r>
            <a:r>
              <a:rPr kumimoji="0" sz="2000" b="0" i="0" u="none" strike="noStrike" kern="1200" cap="none" spc="-20" normalizeH="0" baseline="0" noProof="0" dirty="0">
                <a:ln>
                  <a:noFill/>
                </a:ln>
                <a:solidFill>
                  <a:prstClr val="black"/>
                </a:solidFill>
                <a:effectLst/>
                <a:uLnTx/>
                <a:uFillTx/>
                <a:latin typeface="Calibri"/>
                <a:ea typeface="+mn-ea"/>
                <a:cs typeface="Calibri"/>
              </a:rPr>
              <a:t>to </a:t>
            </a:r>
            <a:r>
              <a:rPr kumimoji="0" sz="2000" b="0" i="0" u="none" strike="noStrike" kern="1200" cap="none" spc="-5" normalizeH="0" baseline="0" noProof="0" dirty="0">
                <a:ln>
                  <a:noFill/>
                </a:ln>
                <a:solidFill>
                  <a:prstClr val="black"/>
                </a:solidFill>
                <a:effectLst/>
                <a:uLnTx/>
                <a:uFillTx/>
                <a:latin typeface="Calibri"/>
                <a:ea typeface="+mn-ea"/>
                <a:cs typeface="Calibri"/>
              </a:rPr>
              <a:t>them, or </a:t>
            </a:r>
            <a:r>
              <a:rPr kumimoji="0" sz="2000" b="0" i="0" u="none" strike="noStrike" kern="1200" cap="none" spc="-10" normalizeH="0" baseline="0" noProof="0" dirty="0">
                <a:ln>
                  <a:noFill/>
                </a:ln>
                <a:solidFill>
                  <a:prstClr val="black"/>
                </a:solidFill>
                <a:effectLst/>
                <a:uLnTx/>
                <a:uFillTx/>
                <a:latin typeface="Calibri"/>
                <a:ea typeface="+mn-ea"/>
                <a:cs typeface="Calibri"/>
              </a:rPr>
              <a:t>vice </a:t>
            </a:r>
            <a:r>
              <a:rPr kumimoji="0" sz="2000" b="0" i="0" u="none" strike="noStrike" kern="1200" cap="none" spc="-20" normalizeH="0" baseline="0" noProof="0" dirty="0">
                <a:ln>
                  <a:noFill/>
                </a:ln>
                <a:solidFill>
                  <a:prstClr val="black"/>
                </a:solidFill>
                <a:effectLst/>
                <a:uLnTx/>
                <a:uFillTx/>
                <a:latin typeface="Calibri"/>
                <a:ea typeface="+mn-ea"/>
                <a:cs typeface="Calibri"/>
              </a:rPr>
              <a:t>versa. </a:t>
            </a:r>
            <a:r>
              <a:rPr kumimoji="0" sz="2000" b="0" i="0" u="none" strike="noStrike" kern="1200" cap="none" spc="-15" normalizeH="0" baseline="0" noProof="0" dirty="0">
                <a:ln>
                  <a:noFill/>
                </a:ln>
                <a:solidFill>
                  <a:prstClr val="black"/>
                </a:solidFill>
                <a:effectLst/>
                <a:uLnTx/>
                <a:uFillTx/>
                <a:latin typeface="Calibri"/>
                <a:ea typeface="+mn-ea"/>
                <a:cs typeface="Calibri"/>
              </a:rPr>
              <a:t>There are </a:t>
            </a:r>
            <a:r>
              <a:rPr kumimoji="0" sz="2000" b="0" i="0" u="none" strike="noStrike" kern="1200" cap="none" spc="-10" normalizeH="0" baseline="0" noProof="0" dirty="0">
                <a:ln>
                  <a:noFill/>
                </a:ln>
                <a:solidFill>
                  <a:prstClr val="black"/>
                </a:solidFill>
                <a:effectLst/>
                <a:uLnTx/>
                <a:uFillTx/>
                <a:latin typeface="Calibri"/>
                <a:ea typeface="+mn-ea"/>
                <a:cs typeface="Calibri"/>
              </a:rPr>
              <a:t>usually</a:t>
            </a:r>
            <a:r>
              <a:rPr kumimoji="0" lang="en-US"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35" normalizeH="0" baseline="0" noProof="0" dirty="0">
                <a:ln>
                  <a:noFill/>
                </a:ln>
                <a:solidFill>
                  <a:prstClr val="black"/>
                </a:solidFill>
                <a:effectLst/>
                <a:uLnTx/>
                <a:uFillTx/>
                <a:latin typeface="Calibri"/>
                <a:ea typeface="+mn-ea"/>
                <a:cs typeface="Calibri"/>
              </a:rPr>
              <a:t>few</a:t>
            </a:r>
            <a:r>
              <a:rPr kumimoji="0" lang="en-US"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purely</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quantitative</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or</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entirely</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qualitative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assessments</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performed.</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F247A8-97FA-248D-5B87-879775A075A4}"/>
              </a:ext>
            </a:extLst>
          </p:cNvPr>
          <p:cNvSpPr txBox="1"/>
          <p:nvPr/>
        </p:nvSpPr>
        <p:spPr>
          <a:xfrm>
            <a:off x="1074877" y="1166674"/>
            <a:ext cx="6627446" cy="5001562"/>
          </a:xfrm>
          <a:prstGeom prst="rect">
            <a:avLst/>
          </a:prstGeom>
          <a:noFill/>
        </p:spPr>
        <p:txBody>
          <a:bodyPr wrap="square">
            <a:spAutoFit/>
          </a:bodyPr>
          <a:lstStyle/>
          <a:p>
            <a:pPr marL="0" marR="0">
              <a:lnSpc>
                <a:spcPct val="107000"/>
              </a:lnSpc>
              <a:spcBef>
                <a:spcPts val="0"/>
              </a:spcBef>
              <a:spcAft>
                <a:spcPts val="800"/>
              </a:spcAft>
            </a:pPr>
            <a:r>
              <a:rPr lang="en-US" sz="2400" kern="0" dirty="0">
                <a:solidFill>
                  <a:srgbClr val="7030A0"/>
                </a:solidFill>
                <a:effectLst/>
                <a:latin typeface="Berlin Sans FB" panose="020E0602020502020306" pitchFamily="34" charset="0"/>
                <a:ea typeface="Times New Roman" panose="02020603050405020304" pitchFamily="18" charset="0"/>
                <a:cs typeface="Times New Roman" panose="02020603050405020304" pitchFamily="18" charset="0"/>
              </a:rPr>
              <a:t>Qualitative Risk Analysis Steps</a:t>
            </a:r>
            <a:endParaRPr lang="en-US" sz="1400" kern="1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kern="0" dirty="0">
                <a:solidFill>
                  <a:srgbClr val="C00000"/>
                </a:solidFill>
                <a:effectLst/>
                <a:latin typeface="Berlin Sans FB" panose="020E0602020502020306" pitchFamily="34" charset="0"/>
                <a:ea typeface="Times New Roman" panose="02020603050405020304" pitchFamily="18" charset="0"/>
                <a:cs typeface="Times New Roman" panose="02020603050405020304" pitchFamily="18" charset="0"/>
              </a:rPr>
              <a:t>Step 1: Identify Risks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Font typeface="Wingdings" panose="05000000000000000000" pitchFamily="2" charset="2"/>
              <a:buChar char=""/>
            </a:pPr>
            <a:r>
              <a:rPr lang="en-US" sz="1400" kern="0" dirty="0">
                <a:solidFill>
                  <a:srgbClr val="002060"/>
                </a:solidFill>
                <a:effectLst/>
                <a:latin typeface="Berlin Sans FB" panose="020E0602020502020306" pitchFamily="34" charset="0"/>
                <a:ea typeface="Times New Roman" panose="02020603050405020304" pitchFamily="18" charset="0"/>
                <a:cs typeface="Times New Roman" panose="02020603050405020304" pitchFamily="18" charset="0"/>
              </a:rPr>
              <a:t>The goal of this step is to create a master list of risks .</a:t>
            </a:r>
            <a:r>
              <a:rPr lang="en-US" sz="1200" kern="100" dirty="0">
                <a:solidFill>
                  <a:srgbClr val="002060"/>
                </a:solidFill>
                <a:effectLst/>
                <a:latin typeface="Berlin Sans FB" panose="020E0602020502020306" pitchFamily="34" charset="0"/>
                <a:ea typeface="Calibri" panose="020F0502020204030204" pitchFamily="34" charset="0"/>
                <a:cs typeface="Arial" panose="020B0604020202020204" pitchFamily="34" charset="0"/>
              </a:rPr>
              <a:t>It’s crucial to assemble a team of subject matter experts that bring direct knowledge and experience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kern="0" dirty="0">
                <a:solidFill>
                  <a:srgbClr val="C00000"/>
                </a:solidFill>
                <a:effectLst/>
                <a:latin typeface="Berlin Sans FB" panose="020E0602020502020306" pitchFamily="34" charset="0"/>
                <a:ea typeface="Times New Roman" panose="02020603050405020304" pitchFamily="18" charset="0"/>
                <a:cs typeface="Times New Roman" panose="02020603050405020304" pitchFamily="18" charset="0"/>
              </a:rPr>
              <a:t>Step 2: Classify Risks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spcAft>
                <a:spcPts val="800"/>
              </a:spcAft>
              <a:buFont typeface="Wingdings" panose="05000000000000000000" pitchFamily="2" charset="2"/>
              <a:buChar char=""/>
            </a:pPr>
            <a:r>
              <a:rPr lang="en-US" sz="1400" kern="0" dirty="0">
                <a:solidFill>
                  <a:srgbClr val="002060"/>
                </a:solidFill>
                <a:effectLst/>
                <a:latin typeface="Berlin Sans FB" panose="020E0602020502020306" pitchFamily="34" charset="0"/>
                <a:ea typeface="Times New Roman" panose="02020603050405020304" pitchFamily="18" charset="0"/>
                <a:cs typeface="Times New Roman" panose="02020603050405020304" pitchFamily="18" charset="0"/>
              </a:rPr>
              <a:t>One popular technique is the </a:t>
            </a:r>
            <a:r>
              <a:rPr lang="en-US" sz="1400" kern="0" dirty="0">
                <a:solidFill>
                  <a:srgbClr val="7030A0"/>
                </a:solidFill>
                <a:effectLst>
                  <a:outerShdw blurRad="38100" dist="38100" dir="2700000" algn="tl">
                    <a:srgbClr val="000000">
                      <a:alpha val="43137"/>
                    </a:srgbClr>
                  </a:outerShdw>
                </a:effectLst>
                <a:latin typeface="Berlin Sans FB" panose="020E0602020502020306" pitchFamily="34" charset="0"/>
                <a:ea typeface="Times New Roman" panose="02020603050405020304" pitchFamily="18" charset="0"/>
                <a:cs typeface="Times New Roman" panose="02020603050405020304" pitchFamily="18" charset="0"/>
              </a:rPr>
              <a:t>risk matrix</a:t>
            </a:r>
            <a:r>
              <a:rPr lang="en-US" sz="1400" kern="0" dirty="0">
                <a:solidFill>
                  <a:srgbClr val="002060"/>
                </a:solidFill>
                <a:effectLst/>
                <a:latin typeface="Berlin Sans FB" panose="020E0602020502020306" pitchFamily="34" charset="0"/>
                <a:ea typeface="Times New Roman" panose="02020603050405020304" pitchFamily="18" charset="0"/>
                <a:cs typeface="Times New Roman" panose="02020603050405020304" pitchFamily="18" charset="0"/>
              </a:rPr>
              <a:t>, which combines the consequences and likelihood of a risk occurring.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kern="0" dirty="0">
                <a:solidFill>
                  <a:srgbClr val="C00000"/>
                </a:solidFill>
                <a:effectLst/>
                <a:latin typeface="Berlin Sans FB" panose="020E0602020502020306" pitchFamily="34" charset="0"/>
                <a:ea typeface="Times New Roman" panose="02020603050405020304" pitchFamily="18" charset="0"/>
                <a:cs typeface="Times New Roman" panose="02020603050405020304" pitchFamily="18" charset="0"/>
              </a:rPr>
              <a:t>Step 3: </a:t>
            </a:r>
            <a:r>
              <a:rPr lang="en-US" b="1" kern="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Develop strategies to address risks based on their priority.</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800100" lvl="1" indent="-342900">
              <a:lnSpc>
                <a:spcPct val="107000"/>
              </a:lnSpc>
              <a:buFont typeface="Wingdings" panose="05000000000000000000" pitchFamily="2" charset="2"/>
              <a:buChar char=""/>
            </a:pPr>
            <a:r>
              <a:rPr lang="en-US" sz="1200" kern="100" dirty="0">
                <a:solidFill>
                  <a:srgbClr val="002060"/>
                </a:solidFill>
                <a:effectLst/>
                <a:latin typeface="Berlin Sans FB" panose="020E0602020502020306" pitchFamily="34" charset="0"/>
                <a:ea typeface="Calibri" panose="020F0502020204030204" pitchFamily="34" charset="0"/>
                <a:cs typeface="Arial" panose="020B0604020202020204" pitchFamily="34" charset="0"/>
              </a:rPr>
              <a:t>After setting the priority for each risk, work with subject matter experts to come up with potential strategies to address them.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kern="0" dirty="0">
                <a:solidFill>
                  <a:srgbClr val="C00000"/>
                </a:solidFill>
                <a:effectLst/>
                <a:latin typeface="Berlin Sans FB" panose="020E0602020502020306" pitchFamily="34" charset="0"/>
                <a:ea typeface="Times New Roman" panose="02020603050405020304" pitchFamily="18" charset="0"/>
                <a:cs typeface="Times New Roman" panose="02020603050405020304" pitchFamily="18" charset="0"/>
              </a:rPr>
              <a:t>Step 4:  </a:t>
            </a:r>
            <a:r>
              <a:rPr lang="en-US" b="1" kern="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Monitor each risk and re-evaluate.</a:t>
            </a:r>
            <a:r>
              <a:rPr lang="en-US" kern="0" dirty="0">
                <a:solidFill>
                  <a:srgbClr val="C00000"/>
                </a:solidFill>
                <a:effectLst/>
                <a:latin typeface="Berlin Sans FB" panose="020E0602020502020306" pitchFamily="34" charset="0"/>
                <a:ea typeface="Times New Roman" panose="02020603050405020304" pitchFamily="18"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800100" lvl="1" indent="-342900">
              <a:buFont typeface="Wingdings" panose="05000000000000000000" pitchFamily="2" charset="2"/>
              <a:buChar char=""/>
            </a:pPr>
            <a:r>
              <a:rPr lang="en-US" sz="1400" dirty="0">
                <a:solidFill>
                  <a:srgbClr val="002060"/>
                </a:solidFill>
                <a:effectLst/>
                <a:latin typeface="Berlin Sans FB" panose="020E0602020502020306" pitchFamily="34" charset="0"/>
                <a:ea typeface="Times New Roman" panose="02020603050405020304" pitchFamily="18" charset="0"/>
              </a:rPr>
              <a:t>It’s not enough to identify risks and come up with solutions. Often, risks, their impact, and the likelihood of occurring can change. Revisit risks and make sure from the following:</a:t>
            </a:r>
            <a:endParaRPr lang="en-US" sz="1400" dirty="0">
              <a:effectLst/>
              <a:latin typeface="Times New Roman" panose="02020603050405020304" pitchFamily="18" charset="0"/>
              <a:ea typeface="Times New Roman" panose="02020603050405020304" pitchFamily="18" charset="0"/>
            </a:endParaRPr>
          </a:p>
          <a:p>
            <a:pPr marL="1714500" lvl="3" indent="-342900">
              <a:lnSpc>
                <a:spcPct val="107000"/>
              </a:lnSpc>
              <a:buSzPts val="1000"/>
              <a:buFont typeface="Courier New" panose="02070309020205020404" pitchFamily="49" charset="0"/>
              <a:buChar char="o"/>
              <a:tabLst>
                <a:tab pos="685800" algn="l"/>
              </a:tabLst>
            </a:pPr>
            <a:r>
              <a:rPr lang="en-US" sz="1400" kern="0" dirty="0">
                <a:solidFill>
                  <a:srgbClr val="002060"/>
                </a:solidFill>
                <a:effectLst/>
                <a:latin typeface="Berlin Sans FB" panose="020E0602020502020306" pitchFamily="34" charset="0"/>
                <a:ea typeface="Times New Roman" panose="02020603050405020304" pitchFamily="18" charset="0"/>
                <a:cs typeface="Times New Roman" panose="02020603050405020304" pitchFamily="18" charset="0"/>
              </a:rPr>
              <a:t>Is risk control effective?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1714500" lvl="3" indent="-342900">
              <a:lnSpc>
                <a:spcPct val="107000"/>
              </a:lnSpc>
              <a:buSzPts val="1000"/>
              <a:buFont typeface="Courier New" panose="02070309020205020404" pitchFamily="49" charset="0"/>
              <a:buChar char="o"/>
              <a:tabLst>
                <a:tab pos="685800" algn="l"/>
              </a:tabLst>
            </a:pPr>
            <a:r>
              <a:rPr lang="en-US" sz="1400" kern="0" dirty="0">
                <a:solidFill>
                  <a:srgbClr val="002060"/>
                </a:solidFill>
                <a:effectLst/>
                <a:latin typeface="Berlin Sans FB" panose="020E0602020502020306" pitchFamily="34" charset="0"/>
                <a:ea typeface="Times New Roman" panose="02020603050405020304" pitchFamily="18" charset="0"/>
                <a:cs typeface="Times New Roman" panose="02020603050405020304" pitchFamily="18" charset="0"/>
              </a:rPr>
              <a:t>Were risks correctly classified?</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1714500" lvl="3" indent="-342900">
              <a:lnSpc>
                <a:spcPct val="107000"/>
              </a:lnSpc>
              <a:buSzPts val="1000"/>
              <a:buFont typeface="Courier New" panose="02070309020205020404" pitchFamily="49" charset="0"/>
              <a:buChar char="o"/>
              <a:tabLst>
                <a:tab pos="685800" algn="l"/>
              </a:tabLst>
            </a:pPr>
            <a:r>
              <a:rPr lang="en-US" sz="1400" kern="0" dirty="0">
                <a:solidFill>
                  <a:srgbClr val="002060"/>
                </a:solidFill>
                <a:effectLst/>
                <a:latin typeface="Berlin Sans FB" panose="020E0602020502020306" pitchFamily="34" charset="0"/>
                <a:ea typeface="Times New Roman" panose="02020603050405020304" pitchFamily="18" charset="0"/>
                <a:cs typeface="Times New Roman" panose="02020603050405020304" pitchFamily="18" charset="0"/>
              </a:rPr>
              <a:t>Have all risks been identified?</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DD50E55-1545-2D4F-1182-267A1D5F4E9A}"/>
              </a:ext>
            </a:extLst>
          </p:cNvPr>
          <p:cNvPicPr>
            <a:picLocks noChangeAspect="1"/>
          </p:cNvPicPr>
          <p:nvPr/>
        </p:nvPicPr>
        <p:blipFill>
          <a:blip r:embed="rId2"/>
          <a:stretch>
            <a:fillRect/>
          </a:stretch>
        </p:blipFill>
        <p:spPr>
          <a:xfrm>
            <a:off x="7616354" y="1617785"/>
            <a:ext cx="4200508" cy="3843737"/>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4070487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9A2CDF-5D94-4A8A-9CD7-C006840C20FD}"/>
              </a:ext>
            </a:extLst>
          </p:cNvPr>
          <p:cNvSpPr/>
          <p:nvPr/>
        </p:nvSpPr>
        <p:spPr>
          <a:xfrm flipH="1">
            <a:off x="7773589" y="263529"/>
            <a:ext cx="3980750"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gency FB" pitchFamily="34" charset="0"/>
                <a:ea typeface="+mn-ea"/>
                <a:cs typeface="+mn-cs"/>
              </a:rPr>
              <a:t>RISK ANALYSIS MATRIX</a:t>
            </a:r>
            <a:endParaRPr kumimoji="0" lang="en-US" sz="2400" b="0" i="0" u="none" strike="noStrike" kern="1200" cap="none" spc="0" normalizeH="0" baseline="0" noProof="0" dirty="0">
              <a:ln>
                <a:noFill/>
              </a:ln>
              <a:solidFill>
                <a:srgbClr val="000000"/>
              </a:solidFill>
              <a:effectLst/>
              <a:uLnTx/>
              <a:uFillTx/>
              <a:latin typeface="Agency FB" pitchFamily="34" charset="0"/>
              <a:ea typeface="+mn-ea"/>
              <a:cs typeface="+mn-cs"/>
            </a:endParaRPr>
          </a:p>
        </p:txBody>
      </p:sp>
      <p:pic>
        <p:nvPicPr>
          <p:cNvPr id="3" name="Picture 2">
            <a:extLst>
              <a:ext uri="{FF2B5EF4-FFF2-40B4-BE49-F238E27FC236}">
                <a16:creationId xmlns:a16="http://schemas.microsoft.com/office/drawing/2014/main" id="{7BD0ECF5-B412-41F2-99C1-B159644EA187}"/>
              </a:ext>
            </a:extLst>
          </p:cNvPr>
          <p:cNvPicPr>
            <a:picLocks noChangeAspect="1"/>
          </p:cNvPicPr>
          <p:nvPr/>
        </p:nvPicPr>
        <p:blipFill rotWithShape="1">
          <a:blip r:embed="rId2"/>
          <a:srcRect l="3336" r="9959"/>
          <a:stretch/>
        </p:blipFill>
        <p:spPr>
          <a:xfrm>
            <a:off x="6658708" y="652920"/>
            <a:ext cx="5095631" cy="4465200"/>
          </a:xfrm>
          <a:prstGeom prst="rect">
            <a:avLst/>
          </a:prstGeom>
        </p:spPr>
      </p:pic>
      <p:sp>
        <p:nvSpPr>
          <p:cNvPr id="4" name="Rectangle 3">
            <a:extLst>
              <a:ext uri="{FF2B5EF4-FFF2-40B4-BE49-F238E27FC236}">
                <a16:creationId xmlns:a16="http://schemas.microsoft.com/office/drawing/2014/main" id="{DECDDB94-6020-4118-B80C-9623CFB180CC}"/>
              </a:ext>
            </a:extLst>
          </p:cNvPr>
          <p:cNvSpPr/>
          <p:nvPr/>
        </p:nvSpPr>
        <p:spPr>
          <a:xfrm>
            <a:off x="664308" y="1221419"/>
            <a:ext cx="5738115" cy="427809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Analysis Matrix allows you to perform Qualitative Risk Analysis based on likelihood (from “rare” to “almost certain”) and consequences (or impact), from “insignificant” to “catastrophic.”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resulting scores are Low (L), Medium (M), High (H), and Extreme Risk (E).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Low risks are handled via normal processes; moderate risk require management notification; high risks require senior management notification, and extreme risks require immediate action including a detailed mitigation plan (and senior management notification).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goal of the matrix is to identify high likelihood/high consequence risks and drive them down to low likelihood/low consequence risks</a:t>
            </a:r>
          </a:p>
        </p:txBody>
      </p:sp>
      <p:sp>
        <p:nvSpPr>
          <p:cNvPr id="5" name="Rectangle 4"/>
          <p:cNvSpPr/>
          <p:nvPr/>
        </p:nvSpPr>
        <p:spPr>
          <a:xfrm>
            <a:off x="1895420" y="263529"/>
            <a:ext cx="4507003"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Bell MT" pitchFamily="18" charset="0"/>
                <a:ea typeface="+mn-ea"/>
                <a:cs typeface="+mn-cs"/>
              </a:rPr>
              <a:t>Qualitative Risk Analysis </a:t>
            </a:r>
          </a:p>
        </p:txBody>
      </p:sp>
      <p:sp>
        <p:nvSpPr>
          <p:cNvPr id="6" name="TextBox 5">
            <a:extLst>
              <a:ext uri="{FF2B5EF4-FFF2-40B4-BE49-F238E27FC236}">
                <a16:creationId xmlns:a16="http://schemas.microsoft.com/office/drawing/2014/main" id="{C4387D32-3B09-26D2-E17E-2C0217142DB9}"/>
              </a:ext>
            </a:extLst>
          </p:cNvPr>
          <p:cNvSpPr txBox="1"/>
          <p:nvPr/>
        </p:nvSpPr>
        <p:spPr>
          <a:xfrm>
            <a:off x="6871313" y="5118120"/>
            <a:ext cx="5320687" cy="2339102"/>
          </a:xfrm>
          <a:prstGeom prst="rect">
            <a:avLst/>
          </a:prstGeom>
          <a:noFill/>
        </p:spPr>
        <p:txBody>
          <a:bodyPr wrap="none" rtlCol="0">
            <a:spAutoFit/>
          </a:bodyPr>
          <a:lstStyle/>
          <a:p>
            <a:pPr marL="285750" indent="-285750">
              <a:buFont typeface="Wingdings" panose="05000000000000000000" pitchFamily="2" charset="2"/>
              <a:buChar char="§"/>
            </a:pPr>
            <a:r>
              <a:rPr lang="en-US" sz="1200" dirty="0">
                <a:solidFill>
                  <a:srgbClr val="C00000"/>
                </a:solidFill>
              </a:rPr>
              <a:t>Take an example of  the risk of power failure for your Datacenter </a:t>
            </a:r>
          </a:p>
          <a:p>
            <a:pPr marL="1200150" lvl="2" indent="-285750">
              <a:buFont typeface="Courier New" panose="02070309020205020404" pitchFamily="49" charset="0"/>
              <a:buChar char="o"/>
            </a:pPr>
            <a:r>
              <a:rPr lang="en-US" sz="1200" dirty="0">
                <a:solidFill>
                  <a:srgbClr val="C00000"/>
                </a:solidFill>
              </a:rPr>
              <a:t>Consequences: major</a:t>
            </a:r>
          </a:p>
          <a:p>
            <a:pPr marL="1200150" lvl="2" indent="-285750">
              <a:buFont typeface="Courier New" panose="02070309020205020404" pitchFamily="49" charset="0"/>
              <a:buChar char="o"/>
            </a:pPr>
            <a:r>
              <a:rPr lang="en-US" sz="1200" dirty="0">
                <a:solidFill>
                  <a:srgbClr val="C00000"/>
                </a:solidFill>
              </a:rPr>
              <a:t>Likelihood: unlikely</a:t>
            </a:r>
          </a:p>
          <a:p>
            <a:pPr marL="285750" indent="-285750">
              <a:buFont typeface="Wingdings" panose="05000000000000000000" pitchFamily="2" charset="2"/>
              <a:buChar char="§"/>
            </a:pPr>
            <a:r>
              <a:rPr lang="en-US" sz="1200" dirty="0">
                <a:solidFill>
                  <a:srgbClr val="C00000"/>
                </a:solidFill>
              </a:rPr>
              <a:t>Risk of Ransomware attack </a:t>
            </a:r>
          </a:p>
          <a:p>
            <a:pPr marL="1200150" lvl="2" indent="-285750">
              <a:buFont typeface="Courier New" panose="02070309020205020404" pitchFamily="49" charset="0"/>
              <a:buChar char="o"/>
            </a:pPr>
            <a:r>
              <a:rPr lang="en-US" sz="1200" dirty="0">
                <a:solidFill>
                  <a:srgbClr val="C00000"/>
                </a:solidFill>
              </a:rPr>
              <a:t>Consequences: catastrophic</a:t>
            </a:r>
          </a:p>
          <a:p>
            <a:pPr marL="1200150" lvl="2" indent="-285750">
              <a:buFont typeface="Courier New" panose="02070309020205020404" pitchFamily="49" charset="0"/>
              <a:buChar char="o"/>
            </a:pPr>
            <a:r>
              <a:rPr lang="en-US" sz="1200" dirty="0">
                <a:solidFill>
                  <a:srgbClr val="C00000"/>
                </a:solidFill>
              </a:rPr>
              <a:t>Likelihood: possible</a:t>
            </a:r>
          </a:p>
          <a:p>
            <a:pPr marL="285750" indent="-285750">
              <a:buFont typeface="Wingdings" panose="05000000000000000000" pitchFamily="2" charset="2"/>
              <a:buChar char="§"/>
            </a:pPr>
            <a:r>
              <a:rPr lang="en-US" sz="1200" dirty="0">
                <a:solidFill>
                  <a:srgbClr val="C00000"/>
                </a:solidFill>
              </a:rPr>
              <a:t>Risk of insider attack </a:t>
            </a:r>
          </a:p>
          <a:p>
            <a:pPr marL="1200150" lvl="2" indent="-285750">
              <a:buFont typeface="Courier New" panose="02070309020205020404" pitchFamily="49" charset="0"/>
              <a:buChar char="o"/>
            </a:pPr>
            <a:r>
              <a:rPr lang="en-US" sz="1200" dirty="0">
                <a:solidFill>
                  <a:srgbClr val="C00000"/>
                </a:solidFill>
              </a:rPr>
              <a:t>Consequences: Major</a:t>
            </a:r>
          </a:p>
          <a:p>
            <a:pPr marL="1200150" lvl="2" indent="-285750">
              <a:buFont typeface="Courier New" panose="02070309020205020404" pitchFamily="49" charset="0"/>
              <a:buChar char="o"/>
            </a:pPr>
            <a:r>
              <a:rPr lang="en-US" sz="1200" dirty="0">
                <a:solidFill>
                  <a:srgbClr val="C00000"/>
                </a:solidFill>
              </a:rPr>
              <a:t>Likelihood: possible</a:t>
            </a:r>
          </a:p>
          <a:p>
            <a:pPr marL="285750" indent="-285750">
              <a:buFont typeface="Wingdings" panose="05000000000000000000" pitchFamily="2" charset="2"/>
              <a:buChar char="§"/>
            </a:pPr>
            <a:endParaRPr lang="en-US" sz="1200" dirty="0">
              <a:solidFill>
                <a:srgbClr val="C00000"/>
              </a:solidFill>
            </a:endParaRPr>
          </a:p>
          <a:p>
            <a:pPr marL="285750" indent="-285750">
              <a:buFont typeface="Wingdings" panose="05000000000000000000" pitchFamily="2" charset="2"/>
              <a:buChar char="§"/>
            </a:pPr>
            <a:endParaRPr lang="en-US" sz="1200" dirty="0">
              <a:solidFill>
                <a:srgbClr val="C00000"/>
              </a:solidFill>
            </a:endParaRPr>
          </a:p>
          <a:p>
            <a:pPr marL="285750" indent="-285750">
              <a:buFont typeface="Wingdings" panose="05000000000000000000" pitchFamily="2" charset="2"/>
              <a:buChar char="§"/>
            </a:pPr>
            <a:endParaRPr lang="en-US" sz="1400" dirty="0"/>
          </a:p>
        </p:txBody>
      </p:sp>
    </p:spTree>
    <p:extLst>
      <p:ext uri="{BB962C8B-B14F-4D97-AF65-F5344CB8AC3E}">
        <p14:creationId xmlns:p14="http://schemas.microsoft.com/office/powerpoint/2010/main" val="2105884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AFDB14-45AE-41DB-B59C-933B9927EF91}"/>
              </a:ext>
            </a:extLst>
          </p:cNvPr>
          <p:cNvSpPr/>
          <p:nvPr/>
        </p:nvSpPr>
        <p:spPr>
          <a:xfrm>
            <a:off x="1487774" y="421876"/>
            <a:ext cx="5478379" cy="57554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 THREAT × VULNERABILITY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Is the possibility or likelihood  that a thread will exploit a vulnerability to cause harm to an asset. To have risk, a threat must connect to a vulnerability. This relationship is stated by the formula:</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Risk = Threat × Vulnerability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 can assign a value to specific risks using this formula. Assign a number to both threats and vulnerabilities. We will use a range of 1–5 (the range is arbitrary; just keep it consistent when comparing different risks).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Compared to Boston, the threat of an earthquake in San Francisco is higher (more frequent earthquakes), but the vulnerability is lower (stronger safety building). Boston has a lower threat (less earthquakes), but a higher vulnerability (weaker buildings). This means the two cities have roughly equal risk.</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
        <p:nvSpPr>
          <p:cNvPr id="4" name="TextBox 3">
            <a:extLst>
              <a:ext uri="{FF2B5EF4-FFF2-40B4-BE49-F238E27FC236}">
                <a16:creationId xmlns:a16="http://schemas.microsoft.com/office/drawing/2014/main" id="{DF47FFE1-2A5D-494E-8154-3C660150BE2E}"/>
              </a:ext>
            </a:extLst>
          </p:cNvPr>
          <p:cNvSpPr txBox="1"/>
          <p:nvPr/>
        </p:nvSpPr>
        <p:spPr>
          <a:xfrm>
            <a:off x="7283938" y="1769136"/>
            <a:ext cx="4591222" cy="2800767"/>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Using a scale of 1–5,  and using the risk = threat x vulnerability calculation:</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San Francisco threat: 4   • San Francisco vulnerability: 2    • San Francisco risk: 4 × 2 = 8</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Boston threat: 2               • Boston vulnerability: 4               • Boston risk: 2 × 4 = 8</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Another Ex…is your computer status  and type of site you browse through the internet </a:t>
            </a:r>
          </a:p>
        </p:txBody>
      </p:sp>
    </p:spTree>
    <p:extLst>
      <p:ext uri="{BB962C8B-B14F-4D97-AF65-F5344CB8AC3E}">
        <p14:creationId xmlns:p14="http://schemas.microsoft.com/office/powerpoint/2010/main" val="616497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8768" y="4042610"/>
            <a:ext cx="6108032" cy="1477328"/>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Once you've identified the risks facing your organization, you probably still have a somewhat overwhelming list.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next stage in the risk assessment process ranks those risks by two factors: likelihood and impact.</a:t>
            </a:r>
            <a:endParaRPr kumimoji="0" lang="en-GB"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4" name="Picture 3">
            <a:extLst>
              <a:ext uri="{FF2B5EF4-FFF2-40B4-BE49-F238E27FC236}">
                <a16:creationId xmlns:a16="http://schemas.microsoft.com/office/drawing/2014/main" id="{20FD60F8-59E4-480D-B814-0A08E7F7D0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985" y="423265"/>
            <a:ext cx="9003534" cy="3184779"/>
          </a:xfrm>
          <a:prstGeom prst="rect">
            <a:avLst/>
          </a:prstGeom>
        </p:spPr>
      </p:pic>
    </p:spTree>
    <p:extLst>
      <p:ext uri="{BB962C8B-B14F-4D97-AF65-F5344CB8AC3E}">
        <p14:creationId xmlns:p14="http://schemas.microsoft.com/office/powerpoint/2010/main" val="3037973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56C8FB-E7EA-4975-90BA-A7BA7C672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485" y="0"/>
            <a:ext cx="9111029" cy="2585851"/>
          </a:xfrm>
          <a:prstGeom prst="rect">
            <a:avLst/>
          </a:prstGeom>
        </p:spPr>
      </p:pic>
      <p:pic>
        <p:nvPicPr>
          <p:cNvPr id="3" name="Picture 2">
            <a:extLst>
              <a:ext uri="{FF2B5EF4-FFF2-40B4-BE49-F238E27FC236}">
                <a16:creationId xmlns:a16="http://schemas.microsoft.com/office/drawing/2014/main" id="{DA675461-D6E6-6DD7-8961-89FA1A6FB73B}"/>
              </a:ext>
            </a:extLst>
          </p:cNvPr>
          <p:cNvPicPr>
            <a:picLocks noChangeAspect="1"/>
          </p:cNvPicPr>
          <p:nvPr/>
        </p:nvPicPr>
        <p:blipFill rotWithShape="1">
          <a:blip r:embed="rId3"/>
          <a:srcRect l="8370" t="38519" r="13888" b="4728"/>
          <a:stretch/>
        </p:blipFill>
        <p:spPr>
          <a:xfrm>
            <a:off x="2563446" y="2534886"/>
            <a:ext cx="6822831" cy="3474527"/>
          </a:xfrm>
          <a:prstGeom prst="rect">
            <a:avLst/>
          </a:prstGeom>
        </p:spPr>
      </p:pic>
    </p:spTree>
    <p:extLst>
      <p:ext uri="{BB962C8B-B14F-4D97-AF65-F5344CB8AC3E}">
        <p14:creationId xmlns:p14="http://schemas.microsoft.com/office/powerpoint/2010/main" val="2716753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63152" y="4572000"/>
            <a:ext cx="7543800" cy="120032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impact of a risk is the amount of damage that will occur if a risk materializes.</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example, an earthquake might cause devastating damage to a data center while a rainstorm might not cause any damage at all.</a:t>
            </a:r>
            <a:endParaRPr kumimoji="0" lang="en-GB"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4" name="Picture 3">
            <a:extLst>
              <a:ext uri="{FF2B5EF4-FFF2-40B4-BE49-F238E27FC236}">
                <a16:creationId xmlns:a16="http://schemas.microsoft.com/office/drawing/2014/main" id="{225548C3-C250-4B37-B1E4-1450398920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523" y="1170182"/>
            <a:ext cx="8198338" cy="2610608"/>
          </a:xfrm>
          <a:prstGeom prst="rect">
            <a:avLst/>
          </a:prstGeom>
        </p:spPr>
      </p:pic>
    </p:spTree>
    <p:extLst>
      <p:ext uri="{BB962C8B-B14F-4D97-AF65-F5344CB8AC3E}">
        <p14:creationId xmlns:p14="http://schemas.microsoft.com/office/powerpoint/2010/main" val="3928313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AFE56B-A523-4A51-A8C7-8997007B4F4C}"/>
              </a:ext>
            </a:extLst>
          </p:cNvPr>
          <p:cNvSpPr/>
          <p:nvPr/>
        </p:nvSpPr>
        <p:spPr>
          <a:xfrm>
            <a:off x="1584569" y="627184"/>
            <a:ext cx="9028723" cy="569386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IMPACT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 Threat × Vulnerability” equation sometimes uses an added variable called </a:t>
            </a:r>
            <a:r>
              <a:rPr kumimoji="0" lang="en-US" sz="16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impact</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p>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 Threat × Vulnerability × Impact.” (consequences)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Impact is the severity of the damage, sometimes expressed in dollars. </a:t>
            </a:r>
          </a:p>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 Threat × Vulnerability × Cost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Let’s use the “impact” formula using the same earthquake risk example for buildings.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company has two buildings in the same office park that are virtually identical. One building is full of people and equipment; the other is empty (awaiting future growth).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of damage from an earthquake to both is 8, using “Risk = Threat × Vulnerability.” The impact from a large earthquake is 2 for the empty building (potential loss of the building), and 5 for the full building (potential loss of human life).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Here is the risk calculated using “Risk = Threat × Vulnerability × Impact”:</a:t>
            </a:r>
          </a:p>
          <a:p>
            <a:pPr marL="1828800" marR="0" lvl="4"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Empty Building Risk: 2 (threat) × 4 (vulnerability) × 2 (impact) = 16</a:t>
            </a:r>
          </a:p>
          <a:p>
            <a:pPr marL="1828800" marR="0" lvl="4"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Full Building Risk: 2 (threat) × 4 (vulnerability) × 5 (impact) = 40</a:t>
            </a:r>
          </a:p>
          <a:p>
            <a:pPr marL="1371600" marR="0" lvl="3"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Loss of human life has near-infinite impact on the exam. When calculating risk using the “Risk = Threat × Vulnerability × Impact” formula, any risk involving loss of human life is extremely high, and must be mitigated.</a:t>
            </a:r>
          </a:p>
        </p:txBody>
      </p:sp>
    </p:spTree>
    <p:extLst>
      <p:ext uri="{BB962C8B-B14F-4D97-AF65-F5344CB8AC3E}">
        <p14:creationId xmlns:p14="http://schemas.microsoft.com/office/powerpoint/2010/main" val="3198789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D8747F-DA80-DDD5-9DDE-BBA68B26736C}"/>
              </a:ext>
            </a:extLst>
          </p:cNvPr>
          <p:cNvPicPr>
            <a:picLocks noChangeAspect="1"/>
          </p:cNvPicPr>
          <p:nvPr/>
        </p:nvPicPr>
        <p:blipFill>
          <a:blip r:embed="rId2"/>
          <a:stretch>
            <a:fillRect/>
          </a:stretch>
        </p:blipFill>
        <p:spPr>
          <a:xfrm>
            <a:off x="844061" y="1052574"/>
            <a:ext cx="7338647" cy="45998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extBox 7">
            <a:extLst>
              <a:ext uri="{FF2B5EF4-FFF2-40B4-BE49-F238E27FC236}">
                <a16:creationId xmlns:a16="http://schemas.microsoft.com/office/drawing/2014/main" id="{AE947AF7-FBA6-AE15-F9BD-B6A9BF281C17}"/>
              </a:ext>
            </a:extLst>
          </p:cNvPr>
          <p:cNvSpPr txBox="1"/>
          <p:nvPr/>
        </p:nvSpPr>
        <p:spPr>
          <a:xfrm>
            <a:off x="1215189" y="109457"/>
            <a:ext cx="976162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panose="020F0502020204030204"/>
                <a:ea typeface="+mn-ea"/>
                <a:cs typeface="+mn-cs"/>
              </a:rPr>
              <a:t>Example of risk assessment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the table below, you’ll see an example of a simple risk assessment using an asset-based approach.</a:t>
            </a:r>
          </a:p>
        </p:txBody>
      </p:sp>
      <p:pic>
        <p:nvPicPr>
          <p:cNvPr id="2" name="Picture 1">
            <a:extLst>
              <a:ext uri="{FF2B5EF4-FFF2-40B4-BE49-F238E27FC236}">
                <a16:creationId xmlns:a16="http://schemas.microsoft.com/office/drawing/2014/main" id="{F5D914BF-7509-B94E-8591-894DA89FFC5D}"/>
              </a:ext>
            </a:extLst>
          </p:cNvPr>
          <p:cNvPicPr>
            <a:picLocks noChangeAspect="1"/>
          </p:cNvPicPr>
          <p:nvPr/>
        </p:nvPicPr>
        <p:blipFill rotWithShape="1">
          <a:blip r:embed="rId3"/>
          <a:srcRect l="22305"/>
          <a:stretch/>
        </p:blipFill>
        <p:spPr>
          <a:xfrm>
            <a:off x="7580923" y="3761640"/>
            <a:ext cx="4368800" cy="2624952"/>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727862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CD4316-A71D-42F0-A8C0-99665B72536F}"/>
              </a:ext>
            </a:extLst>
          </p:cNvPr>
          <p:cNvSpPr/>
          <p:nvPr/>
        </p:nvSpPr>
        <p:spPr>
          <a:xfrm>
            <a:off x="2284047" y="401828"/>
            <a:ext cx="7467600" cy="590931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Quantitative Risk Analysis is more difficult: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quantitatively analyze the risk of damage to a data center due to an earthquake, you would need to calculate the asset value of the data center: the cost of the building, the servers, network equipment, computer racks, monitors, etc. Then calculate the Exposure Factor, and so 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qualitatively analyze the same risk, you would research the risk, and agree that the likelihood is a 2, and the consequences are a 4, and use the Risk Analysis matrix to determine a risk of “high.”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 can use many techniques to perform qualitative risk analysis that include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Brainstorm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Focus group</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Surveys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One on one meting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Interviews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Questionaries’</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Checklist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3935602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D5E8E6-0A29-458A-8F97-B4111A60E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4362" y="778996"/>
            <a:ext cx="9621485" cy="5051280"/>
          </a:xfrm>
          <a:prstGeom prst="rect">
            <a:avLst/>
          </a:prstGeom>
        </p:spPr>
      </p:pic>
    </p:spTree>
    <p:extLst>
      <p:ext uri="{BB962C8B-B14F-4D97-AF65-F5344CB8AC3E}">
        <p14:creationId xmlns:p14="http://schemas.microsoft.com/office/powerpoint/2010/main" val="1100520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3074" y="3762124"/>
            <a:ext cx="9432758" cy="132343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process of using numeric data to assist in risk decisions is known as quantitative risk assessment.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Security professionals performing quantitative risk assessment do so for a single risk/asset pairing.</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example, they might conduct an assessment based upon the risk of flooding to a data center facility.</a:t>
            </a:r>
          </a:p>
        </p:txBody>
      </p:sp>
      <p:pic>
        <p:nvPicPr>
          <p:cNvPr id="4" name="Picture 3">
            <a:extLst>
              <a:ext uri="{FF2B5EF4-FFF2-40B4-BE49-F238E27FC236}">
                <a16:creationId xmlns:a16="http://schemas.microsoft.com/office/drawing/2014/main" id="{134ECB7A-6B8C-431A-8854-B2D3D6E98C2F}"/>
              </a:ext>
            </a:extLst>
          </p:cNvPr>
          <p:cNvPicPr>
            <a:picLocks noChangeAspect="1"/>
          </p:cNvPicPr>
          <p:nvPr/>
        </p:nvPicPr>
        <p:blipFill rotWithShape="1">
          <a:blip r:embed="rId2">
            <a:extLst>
              <a:ext uri="{28A0092B-C50C-407E-A947-70E740481C1C}">
                <a14:useLocalDpi xmlns:a14="http://schemas.microsoft.com/office/drawing/2010/main" val="0"/>
              </a:ext>
            </a:extLst>
          </a:blip>
          <a:srcRect t="15600" b="9335"/>
          <a:stretch/>
        </p:blipFill>
        <p:spPr>
          <a:xfrm>
            <a:off x="0" y="0"/>
            <a:ext cx="12182475" cy="3095877"/>
          </a:xfrm>
          <a:prstGeom prst="rect">
            <a:avLst/>
          </a:prstGeom>
        </p:spPr>
      </p:pic>
    </p:spTree>
    <p:extLst>
      <p:ext uri="{BB962C8B-B14F-4D97-AF65-F5344CB8AC3E}">
        <p14:creationId xmlns:p14="http://schemas.microsoft.com/office/powerpoint/2010/main" val="1500246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4648200"/>
            <a:ext cx="9035716" cy="92333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 they conduct this assessment, they must first determine the values for several variables.</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first of these variables is the asset value, or AV. This is, quite simply, the estimated value in dollars of the asset.</a:t>
            </a:r>
          </a:p>
        </p:txBody>
      </p:sp>
      <p:pic>
        <p:nvPicPr>
          <p:cNvPr id="4" name="Picture 3">
            <a:extLst>
              <a:ext uri="{FF2B5EF4-FFF2-40B4-BE49-F238E27FC236}">
                <a16:creationId xmlns:a16="http://schemas.microsoft.com/office/drawing/2014/main" id="{C02AF7F4-A28A-46C6-A99E-1E3EFE90F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860" y="451571"/>
            <a:ext cx="10037885" cy="3516457"/>
          </a:xfrm>
          <a:prstGeom prst="rect">
            <a:avLst/>
          </a:prstGeom>
        </p:spPr>
      </p:pic>
    </p:spTree>
    <p:extLst>
      <p:ext uri="{BB962C8B-B14F-4D97-AF65-F5344CB8AC3E}">
        <p14:creationId xmlns:p14="http://schemas.microsoft.com/office/powerpoint/2010/main" val="3660757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43685" y="3129275"/>
            <a:ext cx="8849431" cy="329320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Risk assessors determining an asset's value have several options at their disposal.</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depreciation technique uses an estimate of the asset's useful life and then gradually decreases the asset value until it reaches zero at the end of its projected lifespan.</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replacement cost technique is the most popular among risk managers because it produces results that most closely approximate the actual costs that an organization will incur if a risk materializes.</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replacement cost technique goes out and looks at current supplier prices to determine the actual cost of replacing an asset in the current market and then uses that cost as the asset's value.</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4" name="Picture 3">
            <a:extLst>
              <a:ext uri="{FF2B5EF4-FFF2-40B4-BE49-F238E27FC236}">
                <a16:creationId xmlns:a16="http://schemas.microsoft.com/office/drawing/2014/main" id="{3CE61BCD-7FDD-450D-9946-9B738E51F0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869" y="364517"/>
            <a:ext cx="9681860" cy="2699308"/>
          </a:xfrm>
          <a:prstGeom prst="rect">
            <a:avLst/>
          </a:prstGeom>
        </p:spPr>
      </p:pic>
    </p:spTree>
    <p:extLst>
      <p:ext uri="{BB962C8B-B14F-4D97-AF65-F5344CB8AC3E}">
        <p14:creationId xmlns:p14="http://schemas.microsoft.com/office/powerpoint/2010/main" val="130742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3810" y="4419600"/>
            <a:ext cx="7883590" cy="156966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second variable that we must consider is the exposure factor, or EF.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exposure factor is based upon the specific risk considered in the analysis and it estimates the percentage of that asset that will be damaged if a risk materializes.</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example, if we expect a flood might damage 50% of our data center, we'd set the exposure factor for that flood to 50%.</a:t>
            </a:r>
          </a:p>
        </p:txBody>
      </p:sp>
      <p:pic>
        <p:nvPicPr>
          <p:cNvPr id="4" name="Picture 3">
            <a:extLst>
              <a:ext uri="{FF2B5EF4-FFF2-40B4-BE49-F238E27FC236}">
                <a16:creationId xmlns:a16="http://schemas.microsoft.com/office/drawing/2014/main" id="{79C310E5-033C-4DA1-8169-C58047CE06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2338" y="647057"/>
            <a:ext cx="8172759" cy="2781943"/>
          </a:xfrm>
          <a:prstGeom prst="rect">
            <a:avLst/>
          </a:prstGeom>
        </p:spPr>
      </p:pic>
    </p:spTree>
    <p:extLst>
      <p:ext uri="{BB962C8B-B14F-4D97-AF65-F5344CB8AC3E}">
        <p14:creationId xmlns:p14="http://schemas.microsoft.com/office/powerpoint/2010/main" val="369011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F2BAC-9AE5-439C-8D25-DF9872632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8985" y="395850"/>
            <a:ext cx="7995138" cy="3597812"/>
          </a:xfrm>
          <a:prstGeom prst="rect">
            <a:avLst/>
          </a:prstGeom>
        </p:spPr>
      </p:pic>
      <p:pic>
        <p:nvPicPr>
          <p:cNvPr id="2" name="Picture 1">
            <a:extLst>
              <a:ext uri="{FF2B5EF4-FFF2-40B4-BE49-F238E27FC236}">
                <a16:creationId xmlns:a16="http://schemas.microsoft.com/office/drawing/2014/main" id="{6F60D9E5-E801-0D2D-7243-F0CC43AE9FAE}"/>
              </a:ext>
            </a:extLst>
          </p:cNvPr>
          <p:cNvPicPr>
            <a:picLocks noChangeAspect="1"/>
          </p:cNvPicPr>
          <p:nvPr/>
        </p:nvPicPr>
        <p:blipFill>
          <a:blip r:embed="rId3"/>
          <a:stretch>
            <a:fillRect/>
          </a:stretch>
        </p:blipFill>
        <p:spPr>
          <a:xfrm>
            <a:off x="3795248" y="3717960"/>
            <a:ext cx="4601504" cy="2395662"/>
          </a:xfrm>
          <a:prstGeom prst="rect">
            <a:avLst/>
          </a:prstGeom>
        </p:spPr>
      </p:pic>
    </p:spTree>
    <p:extLst>
      <p:ext uri="{BB962C8B-B14F-4D97-AF65-F5344CB8AC3E}">
        <p14:creationId xmlns:p14="http://schemas.microsoft.com/office/powerpoint/2010/main" val="716555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8312" y="4114800"/>
            <a:ext cx="8763000" cy="156966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 if we have a data center valued at $20 million and expect that a flood would cause 50% damage to the facility, we compute our SLE by multiplying these two numbers together and finding that a single flood would cause $10 million in damage.</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That's the impact of the risk.  The SLE only gives us an idea of impact.</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4" name="Picture 3">
            <a:extLst>
              <a:ext uri="{FF2B5EF4-FFF2-40B4-BE49-F238E27FC236}">
                <a16:creationId xmlns:a16="http://schemas.microsoft.com/office/drawing/2014/main" id="{C3BA3960-E908-43A4-8770-2729434BF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0399" y="665624"/>
            <a:ext cx="9261231" cy="2651254"/>
          </a:xfrm>
          <a:prstGeom prst="rect">
            <a:avLst/>
          </a:prstGeom>
        </p:spPr>
      </p:pic>
    </p:spTree>
    <p:extLst>
      <p:ext uri="{BB962C8B-B14F-4D97-AF65-F5344CB8AC3E}">
        <p14:creationId xmlns:p14="http://schemas.microsoft.com/office/powerpoint/2010/main" val="3362380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4162425"/>
            <a:ext cx="8001000" cy="181588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 you know, risk assessment must also consider the likelihood of a risk. That's where the annualized rate of occurrence, or ARO, comes into play.</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ARO is the number of times each year that we expect a risk to occur. In the case of a flood, we might consult Flood Maps and determine that there is a 1% annual risk of flood in the vicinity of our data center.  That's the same as saying that we expect 0.01 floods to occur each year, so our ARO is 0.01.</a:t>
            </a: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6" name="Picture 5">
            <a:extLst>
              <a:ext uri="{FF2B5EF4-FFF2-40B4-BE49-F238E27FC236}">
                <a16:creationId xmlns:a16="http://schemas.microsoft.com/office/drawing/2014/main" id="{20FA2FB7-E696-4171-A691-37E541B99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2584" y="665016"/>
            <a:ext cx="7909169" cy="2700240"/>
          </a:xfrm>
          <a:prstGeom prst="rect">
            <a:avLst/>
          </a:prstGeom>
        </p:spPr>
      </p:pic>
    </p:spTree>
    <p:extLst>
      <p:ext uri="{BB962C8B-B14F-4D97-AF65-F5344CB8AC3E}">
        <p14:creationId xmlns:p14="http://schemas.microsoft.com/office/powerpoint/2010/main" val="543308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36821" y="4900863"/>
            <a:ext cx="7391400" cy="132343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Finally, a risk analysis should incorporate both of these likelihood and impact values. We do this by computing the annualized loss expectancy, or ALE.</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This is the amount of money we expect to lose each year from that risk and it's a good measure of the overall risk to the organization.</a:t>
            </a:r>
            <a:endParaRPr kumimoji="0" lang="en-GB"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4" name="Picture 3">
            <a:extLst>
              <a:ext uri="{FF2B5EF4-FFF2-40B4-BE49-F238E27FC236}">
                <a16:creationId xmlns:a16="http://schemas.microsoft.com/office/drawing/2014/main" id="{E5D688FF-641A-44D2-AA09-F6DFC29343E8}"/>
              </a:ext>
            </a:extLst>
          </p:cNvPr>
          <p:cNvPicPr>
            <a:picLocks noChangeAspect="1"/>
          </p:cNvPicPr>
          <p:nvPr/>
        </p:nvPicPr>
        <p:blipFill rotWithShape="1">
          <a:blip r:embed="rId2">
            <a:extLst>
              <a:ext uri="{28A0092B-C50C-407E-A947-70E740481C1C}">
                <a14:useLocalDpi xmlns:a14="http://schemas.microsoft.com/office/drawing/2010/main" val="0"/>
              </a:ext>
            </a:extLst>
          </a:blip>
          <a:srcRect t="48718" b="29866"/>
          <a:stretch/>
        </p:blipFill>
        <p:spPr>
          <a:xfrm>
            <a:off x="1398955" y="3735754"/>
            <a:ext cx="9011138" cy="765908"/>
          </a:xfrm>
          <a:prstGeom prst="rect">
            <a:avLst/>
          </a:prstGeom>
        </p:spPr>
      </p:pic>
      <p:pic>
        <p:nvPicPr>
          <p:cNvPr id="3" name="Picture 2">
            <a:extLst>
              <a:ext uri="{FF2B5EF4-FFF2-40B4-BE49-F238E27FC236}">
                <a16:creationId xmlns:a16="http://schemas.microsoft.com/office/drawing/2014/main" id="{1A978219-BD76-B34A-6A32-5FBCE3DC30F7}"/>
              </a:ext>
            </a:extLst>
          </p:cNvPr>
          <p:cNvPicPr>
            <a:picLocks noChangeAspect="1"/>
          </p:cNvPicPr>
          <p:nvPr/>
        </p:nvPicPr>
        <p:blipFill>
          <a:blip r:embed="rId3"/>
          <a:stretch>
            <a:fillRect/>
          </a:stretch>
        </p:blipFill>
        <p:spPr>
          <a:xfrm>
            <a:off x="2018685" y="291554"/>
            <a:ext cx="7888908" cy="2664183"/>
          </a:xfrm>
          <a:prstGeom prst="rect">
            <a:avLst/>
          </a:prstGeom>
        </p:spPr>
      </p:pic>
    </p:spTree>
    <p:extLst>
      <p:ext uri="{BB962C8B-B14F-4D97-AF65-F5344CB8AC3E}">
        <p14:creationId xmlns:p14="http://schemas.microsoft.com/office/powerpoint/2010/main" val="80228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8800" y="4114800"/>
            <a:ext cx="9448800" cy="181588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the case of flood risk to our data center, the SLE was $10 million and the ARO was 0.01 Multiplying these together, we get an annualized loss expectancy of $100,000. This means that we should expect to lose $100,000 each year from the risk of flooding to our data center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important to remember that in reality, this cost won't occur each year.  What will really have happened is $10 million in damage each time a flood occurs, but since we expect that to happen only once every 100 years, it averages out to $100,000 a year.</a:t>
            </a:r>
          </a:p>
        </p:txBody>
      </p:sp>
      <p:pic>
        <p:nvPicPr>
          <p:cNvPr id="3" name="Picture 2">
            <a:extLst>
              <a:ext uri="{FF2B5EF4-FFF2-40B4-BE49-F238E27FC236}">
                <a16:creationId xmlns:a16="http://schemas.microsoft.com/office/drawing/2014/main" id="{4279F299-6577-4FF4-9C15-D6176642D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123" y="927318"/>
            <a:ext cx="8518769" cy="2398618"/>
          </a:xfrm>
          <a:prstGeom prst="rect">
            <a:avLst/>
          </a:prstGeom>
        </p:spPr>
      </p:pic>
    </p:spTree>
    <p:extLst>
      <p:ext uri="{BB962C8B-B14F-4D97-AF65-F5344CB8AC3E}">
        <p14:creationId xmlns:p14="http://schemas.microsoft.com/office/powerpoint/2010/main" val="3259331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613A1A-C1EF-4A10-9FA4-7D5DD2613276}"/>
              </a:ext>
            </a:extLst>
          </p:cNvPr>
          <p:cNvSpPr/>
          <p:nvPr/>
        </p:nvSpPr>
        <p:spPr>
          <a:xfrm>
            <a:off x="1625600" y="195365"/>
            <a:ext cx="5961183" cy="6432530"/>
          </a:xfrm>
          <a:prstGeom prst="rect">
            <a:avLst/>
          </a:prstGeom>
        </p:spPr>
        <p:txBody>
          <a:bodyPr wrap="square">
            <a:spAutoFit/>
          </a:bodyPr>
          <a:lstStyle/>
          <a:p>
            <a:pPr marL="285750" indent="-285750">
              <a:buFont typeface="Wingdings" panose="05000000000000000000" pitchFamily="2" charset="2"/>
              <a:buChar char="§"/>
            </a:pPr>
            <a:r>
              <a:rPr lang="en-US" sz="1400" dirty="0">
                <a:solidFill>
                  <a:srgbClr val="002060"/>
                </a:solidFill>
                <a:latin typeface="Berlin Sans FB" panose="020E0602020502020306" pitchFamily="34" charset="0"/>
              </a:rPr>
              <a:t>Let’s calculate the monetary value of the risk for your organization due to “losing or Stolen  laptops with an average value  of $22,500  for the personal records PII  Exist on the laptops”.</a:t>
            </a:r>
          </a:p>
          <a:p>
            <a:pPr marL="285750" indent="-285750">
              <a:buFont typeface="Wingdings" panose="05000000000000000000" pitchFamily="2" charset="2"/>
              <a:buChar char="§"/>
            </a:pPr>
            <a:endParaRPr lang="en-US" sz="1400" dirty="0">
              <a:solidFill>
                <a:srgbClr val="002060"/>
              </a:solidFill>
              <a:latin typeface="Berlin Sans FB" panose="020E0602020502020306" pitchFamily="34" charset="0"/>
            </a:endParaRPr>
          </a:p>
          <a:p>
            <a:pPr marL="285750" indent="-285750">
              <a:buFont typeface="Wingdings" panose="05000000000000000000" pitchFamily="2" charset="2"/>
              <a:buChar char="§"/>
            </a:pPr>
            <a:r>
              <a:rPr lang="en-US" sz="1400" dirty="0">
                <a:solidFill>
                  <a:srgbClr val="002060"/>
                </a:solidFill>
                <a:latin typeface="Berlin Sans FB" panose="020E0602020502020306" pitchFamily="34" charset="0"/>
              </a:rPr>
              <a:t> We think there is a chance of losing 11 laptops each year in our organization, and the laptop itself cost $2,500. </a:t>
            </a:r>
          </a:p>
          <a:p>
            <a:pPr marL="285750" indent="-285750">
              <a:buFont typeface="Wingdings" panose="05000000000000000000" pitchFamily="2" charset="2"/>
              <a:buChar char="§"/>
            </a:pPr>
            <a:endParaRPr lang="en-US" sz="1400" dirty="0">
              <a:solidFill>
                <a:srgbClr val="002060"/>
              </a:solidFill>
              <a:latin typeface="Berlin Sans FB" panose="020E0602020502020306" pitchFamily="34" charset="0"/>
            </a:endParaRPr>
          </a:p>
          <a:p>
            <a:pPr marL="285750" indent="-285750">
              <a:buFont typeface="Wingdings" panose="05000000000000000000" pitchFamily="2" charset="2"/>
              <a:buChar char="§"/>
            </a:pPr>
            <a:r>
              <a:rPr lang="en-US" sz="1400" dirty="0">
                <a:solidFill>
                  <a:srgbClr val="002060"/>
                </a:solidFill>
                <a:latin typeface="Berlin Sans FB" panose="020E0602020502020306" pitchFamily="34" charset="0"/>
              </a:rPr>
              <a:t>Now let’s see how we can calculate the annual loss expectancy which would be our overall quantified risk.</a:t>
            </a:r>
            <a:endParaRPr lang="en-US" sz="1600" dirty="0"/>
          </a:p>
          <a:p>
            <a:r>
              <a:rPr lang="en-US" sz="1600" b="1" i="1" dirty="0">
                <a:solidFill>
                  <a:srgbClr val="C00000"/>
                </a:solidFill>
                <a:latin typeface="Berlin Sans FB Demi" panose="020E0802020502020306" pitchFamily="34" charset="0"/>
              </a:rPr>
              <a:t>Asset Value </a:t>
            </a:r>
            <a:r>
              <a:rPr lang="en-US" sz="1400" dirty="0">
                <a:solidFill>
                  <a:srgbClr val="002060"/>
                </a:solidFill>
                <a:latin typeface="Berlin Sans FB" panose="020E0602020502020306" pitchFamily="34" charset="0"/>
              </a:rPr>
              <a:t>(AV): $2,500 (Laptop) + $22,500 (PII data) = $25,000</a:t>
            </a:r>
            <a:endParaRPr kumimoji="0" lang="en-US" sz="16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Exposure Factor ( loss potential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t>
            </a:r>
            <a:r>
              <a:rPr kumimoji="0" lang="en-US" sz="12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Exposure Factor </a:t>
            </a: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(EF) is the percentage of value an asset lost due to an incident. In the case of a stolen laptop with unencrypted PII, the Exposure Factor is 100%: the laptop and all the data are gone.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Single Loss Expectancy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t>
            </a:r>
            <a:r>
              <a:rPr kumimoji="0" lang="en-US" sz="12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Single Loss Expectancy </a:t>
            </a: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(SLE) is the cost of a single loss. SLE is the Asset Value (AV) times the Exposure Factor (EF). In our case, SLE is $25,000 (Asset Value) times 100% (Exposure Factor), or $25,000.</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Annual Rate of Occurrence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t>
            </a:r>
            <a:r>
              <a:rPr kumimoji="0" lang="en-US" sz="12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Annual Rate of Occurrence </a:t>
            </a: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(ARO) is the number of losses you suffer per year. Looking through past events, you discover that you have suffered 11 lost or stolen laptops per year on average. Your ARO is 11.</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Annualized Loss Expectancy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Annualized Loss Expectancy (ALE) is your yearly cost due to a risk. It is calculated by multiplying the Single Loss Expectancy (SLE) times the Annual Rate of Occurrence (ARO). In our case, it is $25,000 (SLE) times 11 (ARO), or $275,000.</a:t>
            </a:r>
          </a:p>
        </p:txBody>
      </p:sp>
      <p:pic>
        <p:nvPicPr>
          <p:cNvPr id="3" name="Picture 2">
            <a:extLst>
              <a:ext uri="{FF2B5EF4-FFF2-40B4-BE49-F238E27FC236}">
                <a16:creationId xmlns:a16="http://schemas.microsoft.com/office/drawing/2014/main" id="{6E95CC42-749A-4235-BB1A-DDFD55E831EE}"/>
              </a:ext>
            </a:extLst>
          </p:cNvPr>
          <p:cNvPicPr>
            <a:picLocks noChangeAspect="1"/>
          </p:cNvPicPr>
          <p:nvPr/>
        </p:nvPicPr>
        <p:blipFill>
          <a:blip r:embed="rId2"/>
          <a:stretch>
            <a:fillRect/>
          </a:stretch>
        </p:blipFill>
        <p:spPr>
          <a:xfrm>
            <a:off x="7610230" y="1867877"/>
            <a:ext cx="4581770" cy="3534510"/>
          </a:xfrm>
          <a:prstGeom prst="rect">
            <a:avLst/>
          </a:prstGeom>
        </p:spPr>
      </p:pic>
    </p:spTree>
    <p:extLst>
      <p:ext uri="{BB962C8B-B14F-4D97-AF65-F5344CB8AC3E}">
        <p14:creationId xmlns:p14="http://schemas.microsoft.com/office/powerpoint/2010/main" val="32124656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638D3F-D159-4607-8169-DD9F8B550B09}"/>
              </a:ext>
            </a:extLst>
          </p:cNvPr>
          <p:cNvSpPr/>
          <p:nvPr/>
        </p:nvSpPr>
        <p:spPr>
          <a:xfrm>
            <a:off x="1507549" y="520511"/>
            <a:ext cx="5069305" cy="61247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1. </a:t>
            </a:r>
            <a:r>
              <a:rPr lang="en-US" sz="2000" b="1" dirty="0">
                <a:solidFill>
                  <a:srgbClr val="C00000"/>
                </a:solidFill>
                <a:latin typeface="Berlin Sans FB Demi" panose="020E0802020502020306" pitchFamily="34" charset="0"/>
              </a:rPr>
              <a:t>Calculate </a:t>
            </a: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TOTAL COST OF OWNERSHIP</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t>
            </a:r>
            <a:r>
              <a:rPr kumimoji="0" lang="en-US" sz="16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Total Cost of Ownership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(TCO) is the total cost of a mitigating safeguard.</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TCO combines upfront costs (often a one-time capital expense) plus annual cost of maintenance, including staff hours, vendor maintenance fees, software subscriptions, etc. These ongoing costs are usually considered operational expenses.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Using our laptop encryption example</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upfront cost of laptop encryption software is $100/laptop, or $100,000 for 1000 laptops. The vendor charges a 10% annual support fee, or $10,000/year. You estimate that it will take 4 staff hours per laptop to install the software, or 4000 staff hours. The staff that will perform this work makes $50/hour plus benefits. Including benefits, the staff cost per hour is $70, times 4000 hours, that is $280,000.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
        <p:nvSpPr>
          <p:cNvPr id="4" name="TextBox 3">
            <a:extLst>
              <a:ext uri="{FF2B5EF4-FFF2-40B4-BE49-F238E27FC236}">
                <a16:creationId xmlns:a16="http://schemas.microsoft.com/office/drawing/2014/main" id="{E242C7A4-451A-4D70-B8DA-F8F75987F4A3}"/>
              </a:ext>
            </a:extLst>
          </p:cNvPr>
          <p:cNvSpPr txBox="1"/>
          <p:nvPr/>
        </p:nvSpPr>
        <p:spPr>
          <a:xfrm>
            <a:off x="7061408" y="1720839"/>
            <a:ext cx="5482284" cy="3416320"/>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Your company uses a 3-year technology refresh cycle, so you calculate the Total Cost of Ownership over 3 years:</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Software cost: $100,000</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Three year’s vendor support: $10,000 × 3 = $30,000</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Hourly staff cost: $280,000</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Total Cost of Ownership over 3 years: $410,000</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Total Cost of Ownership per year: $410,000/3 = $136,667/year</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Your Annual Total Cost of Ownership for the laptop encryption project is $136,667 per year.</a:t>
            </a:r>
          </a:p>
        </p:txBody>
      </p:sp>
      <p:sp>
        <p:nvSpPr>
          <p:cNvPr id="5" name="TextBox 4">
            <a:extLst>
              <a:ext uri="{FF2B5EF4-FFF2-40B4-BE49-F238E27FC236}">
                <a16:creationId xmlns:a16="http://schemas.microsoft.com/office/drawing/2014/main" id="{EE2421A5-1397-DC6A-D272-ACBE40881A50}"/>
              </a:ext>
            </a:extLst>
          </p:cNvPr>
          <p:cNvSpPr txBox="1"/>
          <p:nvPr/>
        </p:nvSpPr>
        <p:spPr>
          <a:xfrm>
            <a:off x="781747" y="84964"/>
            <a:ext cx="9315729" cy="461665"/>
          </a:xfrm>
          <a:prstGeom prst="rect">
            <a:avLst/>
          </a:prstGeom>
          <a:noFill/>
        </p:spPr>
        <p:txBody>
          <a:bodyPr wrap="square">
            <a:spAutoFit/>
          </a:bodyPr>
          <a:lstStyle/>
          <a:p>
            <a:pPr>
              <a:defRPr/>
            </a:pPr>
            <a:r>
              <a:rPr lang="en-US" sz="2400" b="1" dirty="0">
                <a:solidFill>
                  <a:srgbClr val="7030A0"/>
                </a:solidFill>
                <a:latin typeface="Berlin Sans FB Demi" panose="020E0802020502020306" pitchFamily="34" charset="0"/>
              </a:rPr>
              <a:t>Perform cost/benefit analysis of Countermeasure </a:t>
            </a:r>
          </a:p>
        </p:txBody>
      </p:sp>
    </p:spTree>
    <p:extLst>
      <p:ext uri="{BB962C8B-B14F-4D97-AF65-F5344CB8AC3E}">
        <p14:creationId xmlns:p14="http://schemas.microsoft.com/office/powerpoint/2010/main" val="751929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6A9F4E-DF67-4EAD-BD67-0FA7F2125221}"/>
              </a:ext>
            </a:extLst>
          </p:cNvPr>
          <p:cNvSpPr/>
          <p:nvPr/>
        </p:nvSpPr>
        <p:spPr>
          <a:xfrm>
            <a:off x="1573360" y="910491"/>
            <a:ext cx="6124793" cy="560153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00000"/>
                </a:solidFill>
                <a:latin typeface="Berlin Sans FB Demi" panose="020E0802020502020306" pitchFamily="34" charset="0"/>
              </a:rPr>
              <a:t>2. Calculate </a:t>
            </a:r>
            <a:r>
              <a:rPr kumimoji="0" lang="en-US"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RETURN ON INVESTMENT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Return on Investment (ROI) is the amount of money saved by implementing a safeguard.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If your annual Total Cost of Ownership (TCO) is less than your Annualized Loss Expectancy (ALE), you have a positive ROI (and have made a good choice).  If the TCO is higher than your ALE, you have made a poor choice.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annual TCO of laptop encryption is $136,667; the Annualized Loss Expectancy for lost or stolen unencrypted laptops is $275,000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lower Exposure Factor lowers the Annualized Loss Expectancy from $275,000 to $27,500</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 will save $247,500/year (the old ALE, $275,000, minus the new ALE, $27,500) by making an investment of $136,667.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Your ROI is $110,833 per year ($247,500 minus $136,667). The laptop encryption project has a positive ROI, and is a wise investment.</a:t>
            </a:r>
          </a:p>
        </p:txBody>
      </p:sp>
      <p:pic>
        <p:nvPicPr>
          <p:cNvPr id="3" name="Picture 2">
            <a:extLst>
              <a:ext uri="{FF2B5EF4-FFF2-40B4-BE49-F238E27FC236}">
                <a16:creationId xmlns:a16="http://schemas.microsoft.com/office/drawing/2014/main" id="{EADD8D32-179F-4089-A24E-EDE2A0262C4A}"/>
              </a:ext>
            </a:extLst>
          </p:cNvPr>
          <p:cNvPicPr>
            <a:picLocks noChangeAspect="1"/>
          </p:cNvPicPr>
          <p:nvPr/>
        </p:nvPicPr>
        <p:blipFill>
          <a:blip r:embed="rId2"/>
          <a:stretch>
            <a:fillRect/>
          </a:stretch>
        </p:blipFill>
        <p:spPr>
          <a:xfrm>
            <a:off x="7848600" y="687943"/>
            <a:ext cx="4114800" cy="3350657"/>
          </a:xfrm>
          <a:prstGeom prst="rect">
            <a:avLst/>
          </a:prstGeom>
        </p:spPr>
      </p:pic>
      <p:sp>
        <p:nvSpPr>
          <p:cNvPr id="4" name="Rectangle 3">
            <a:extLst>
              <a:ext uri="{FF2B5EF4-FFF2-40B4-BE49-F238E27FC236}">
                <a16:creationId xmlns:a16="http://schemas.microsoft.com/office/drawing/2014/main" id="{48D3E2DA-318A-4AE3-8187-9C6E57211638}"/>
              </a:ext>
            </a:extLst>
          </p:cNvPr>
          <p:cNvSpPr/>
          <p:nvPr/>
        </p:nvSpPr>
        <p:spPr>
          <a:xfrm>
            <a:off x="8229600" y="4419600"/>
            <a:ext cx="35052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adeGothic"/>
                <a:ea typeface="+mn-ea"/>
                <a:cs typeface="+mn-cs"/>
              </a:rPr>
              <a:t>Annualized Loss Expectancy of Encrypted Laptops</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800635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E8502C-2081-4714-AC05-DCC66ED2CB55}"/>
              </a:ext>
            </a:extLst>
          </p:cNvPr>
          <p:cNvPicPr>
            <a:picLocks noChangeAspect="1"/>
          </p:cNvPicPr>
          <p:nvPr/>
        </p:nvPicPr>
        <p:blipFill>
          <a:blip r:embed="rId2"/>
          <a:stretch>
            <a:fillRect/>
          </a:stretch>
        </p:blipFill>
        <p:spPr>
          <a:xfrm>
            <a:off x="2110154" y="263748"/>
            <a:ext cx="7511562" cy="2657252"/>
          </a:xfrm>
          <a:prstGeom prst="rect">
            <a:avLst/>
          </a:prstGeom>
        </p:spPr>
      </p:pic>
      <p:pic>
        <p:nvPicPr>
          <p:cNvPr id="3" name="Picture 2">
            <a:extLst>
              <a:ext uri="{FF2B5EF4-FFF2-40B4-BE49-F238E27FC236}">
                <a16:creationId xmlns:a16="http://schemas.microsoft.com/office/drawing/2014/main" id="{D32AD3E5-AD6E-4295-821B-197E3D9BF18D}"/>
              </a:ext>
            </a:extLst>
          </p:cNvPr>
          <p:cNvPicPr>
            <a:picLocks noChangeAspect="1"/>
          </p:cNvPicPr>
          <p:nvPr/>
        </p:nvPicPr>
        <p:blipFill>
          <a:blip r:embed="rId3"/>
          <a:stretch>
            <a:fillRect/>
          </a:stretch>
        </p:blipFill>
        <p:spPr>
          <a:xfrm>
            <a:off x="2261583" y="2745395"/>
            <a:ext cx="4218567" cy="511723"/>
          </a:xfrm>
          <a:prstGeom prst="rect">
            <a:avLst/>
          </a:prstGeom>
        </p:spPr>
      </p:pic>
      <p:pic>
        <p:nvPicPr>
          <p:cNvPr id="4" name="Picture 3">
            <a:extLst>
              <a:ext uri="{FF2B5EF4-FFF2-40B4-BE49-F238E27FC236}">
                <a16:creationId xmlns:a16="http://schemas.microsoft.com/office/drawing/2014/main" id="{7D786789-219F-4F67-8925-57001F326CD3}"/>
              </a:ext>
            </a:extLst>
          </p:cNvPr>
          <p:cNvPicPr>
            <a:picLocks noChangeAspect="1"/>
          </p:cNvPicPr>
          <p:nvPr/>
        </p:nvPicPr>
        <p:blipFill>
          <a:blip r:embed="rId4"/>
          <a:stretch>
            <a:fillRect/>
          </a:stretch>
        </p:blipFill>
        <p:spPr>
          <a:xfrm>
            <a:off x="1750886" y="3093052"/>
            <a:ext cx="8460885" cy="3168073"/>
          </a:xfrm>
          <a:prstGeom prst="rect">
            <a:avLst/>
          </a:prstGeom>
        </p:spPr>
      </p:pic>
    </p:spTree>
    <p:extLst>
      <p:ext uri="{BB962C8B-B14F-4D97-AF65-F5344CB8AC3E}">
        <p14:creationId xmlns:p14="http://schemas.microsoft.com/office/powerpoint/2010/main" val="624306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99A41C-2B0F-447D-9A7F-BC70375FC433}"/>
              </a:ext>
            </a:extLst>
          </p:cNvPr>
          <p:cNvSpPr/>
          <p:nvPr/>
        </p:nvSpPr>
        <p:spPr>
          <a:xfrm>
            <a:off x="633047" y="1638922"/>
            <a:ext cx="6172200" cy="38472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QUANTITATIVE AND QUALITATIVE RISK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Quantitative and Qualitative Risk Analysis are two methods for analyzing risk.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Quantitative Risk Analysis uses hard metrics, such as dollars. Qualitative Risk Analysis uses simple approximate values. Quantitative is more objective; qualitative is more subjective.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Hybrid Risk Analysis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combines the two: using quantitative analysis for risks which may be easily expressed in hard numbers such as money, and qualitative for the remainder.</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4" name="Picture 3">
            <a:extLst>
              <a:ext uri="{FF2B5EF4-FFF2-40B4-BE49-F238E27FC236}">
                <a16:creationId xmlns:a16="http://schemas.microsoft.com/office/drawing/2014/main" id="{A3487A37-8EBE-49CB-8EE9-04AACE218433}"/>
              </a:ext>
            </a:extLst>
          </p:cNvPr>
          <p:cNvPicPr>
            <a:picLocks noChangeAspect="1"/>
          </p:cNvPicPr>
          <p:nvPr/>
        </p:nvPicPr>
        <p:blipFill>
          <a:blip r:embed="rId2"/>
          <a:stretch>
            <a:fillRect/>
          </a:stretch>
        </p:blipFill>
        <p:spPr>
          <a:xfrm>
            <a:off x="6301153" y="1187205"/>
            <a:ext cx="5257800" cy="4031873"/>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5" name="Picture 4">
            <a:extLst>
              <a:ext uri="{FF2B5EF4-FFF2-40B4-BE49-F238E27FC236}">
                <a16:creationId xmlns:a16="http://schemas.microsoft.com/office/drawing/2014/main" id="{09522A8D-E485-4A96-920F-B7D9C9D684F7}"/>
              </a:ext>
            </a:extLst>
          </p:cNvPr>
          <p:cNvPicPr>
            <a:picLocks noChangeAspect="1"/>
          </p:cNvPicPr>
          <p:nvPr/>
        </p:nvPicPr>
        <p:blipFill>
          <a:blip r:embed="rId3"/>
          <a:stretch>
            <a:fillRect/>
          </a:stretch>
        </p:blipFill>
        <p:spPr>
          <a:xfrm>
            <a:off x="6301153" y="5446527"/>
            <a:ext cx="4843667" cy="57913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865804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47FA2A-76C2-88B8-C22F-A5ACD1AFB40C}"/>
              </a:ext>
            </a:extLst>
          </p:cNvPr>
          <p:cNvSpPr txBox="1"/>
          <p:nvPr/>
        </p:nvSpPr>
        <p:spPr>
          <a:xfrm>
            <a:off x="1757433" y="176876"/>
            <a:ext cx="8005012" cy="5847755"/>
          </a:xfrm>
          <a:prstGeom prst="rect">
            <a:avLst/>
          </a:prstGeom>
          <a:noFill/>
        </p:spPr>
        <p:txBody>
          <a:bodyPr wrap="square">
            <a:spAutoFit/>
          </a:bodyPr>
          <a:lstStyle/>
          <a:p>
            <a:pPr>
              <a:defRPr/>
            </a:pPr>
            <a:r>
              <a:rPr lang="en-GB" sz="2400" dirty="0">
                <a:solidFill>
                  <a:srgbClr val="C00000"/>
                </a:solidFill>
                <a:latin typeface="Berlin Sans FB Demi" panose="020E0802020502020306" pitchFamily="34" charset="0"/>
              </a:rPr>
              <a:t>Business Impact Analysis</a:t>
            </a:r>
          </a:p>
          <a:p>
            <a:pPr rtl="0"/>
            <a:endParaRPr lang="en-GB" sz="1100" dirty="0">
              <a:latin typeface="Courier New" panose="02070309020205020404" pitchFamily="49" charset="0"/>
            </a:endParaRPr>
          </a:p>
          <a:p>
            <a:pPr marL="285750" indent="-285750" rtl="0">
              <a:spcAft>
                <a:spcPts val="600"/>
              </a:spcAft>
              <a:buFont typeface="Wingdings" panose="05000000000000000000" pitchFamily="2" charset="2"/>
              <a:buChar char="q"/>
            </a:pPr>
            <a:r>
              <a:rPr lang="en-US" sz="1600" dirty="0">
                <a:solidFill>
                  <a:srgbClr val="002060"/>
                </a:solidFill>
                <a:latin typeface="Berlin Sans FB" panose="020E0602020502020306" pitchFamily="34" charset="0"/>
                <a:cs typeface="Arial" panose="020B0604020202020204" pitchFamily="34" charset="0"/>
              </a:rPr>
              <a:t>Business impact analysis (BIA) is a critical step in developing the business continuity strategy and the subsequent implementation of the risk countermeasures and the BCP in particular.</a:t>
            </a:r>
          </a:p>
          <a:p>
            <a:pPr marL="285750" indent="-285750" rtl="0">
              <a:spcAft>
                <a:spcPts val="600"/>
              </a:spcAft>
              <a:buFont typeface="Wingdings" panose="05000000000000000000" pitchFamily="2" charset="2"/>
              <a:buChar char="q"/>
            </a:pPr>
            <a:r>
              <a:rPr lang="en-US" sz="1600" dirty="0">
                <a:solidFill>
                  <a:srgbClr val="002060"/>
                </a:solidFill>
                <a:latin typeface="Berlin Sans FB" panose="020E0602020502020306" pitchFamily="34" charset="0"/>
                <a:cs typeface="Arial" panose="020B0604020202020204" pitchFamily="34" charset="0"/>
              </a:rPr>
              <a:t>BIA is used to evaluate the critical processes (and IT components supporting them) and to determine time frames, priorities, resources and interdependencies. </a:t>
            </a:r>
          </a:p>
          <a:p>
            <a:pPr marL="285750" indent="-285750" rtl="0">
              <a:spcAft>
                <a:spcPts val="600"/>
              </a:spcAft>
              <a:buFont typeface="Wingdings" panose="05000000000000000000" pitchFamily="2" charset="2"/>
              <a:buChar char="q"/>
            </a:pPr>
            <a:r>
              <a:rPr lang="en-US" sz="1600" dirty="0">
                <a:solidFill>
                  <a:srgbClr val="002060"/>
                </a:solidFill>
                <a:latin typeface="Berlin Sans FB" panose="020E0602020502020306" pitchFamily="34" charset="0"/>
                <a:cs typeface="Arial" panose="020B0604020202020204" pitchFamily="34" charset="0"/>
              </a:rPr>
              <a:t>Often, the BIA uncovers some less visible, but vital, component that supports the critical business process. </a:t>
            </a:r>
          </a:p>
          <a:p>
            <a:pPr rtl="0"/>
            <a:endParaRPr lang="en-GB" sz="1600" dirty="0">
              <a:solidFill>
                <a:srgbClr val="002060"/>
              </a:solidFill>
              <a:latin typeface="Berlin Sans FB" panose="020E0602020502020306" pitchFamily="34" charset="0"/>
              <a:cs typeface="Arial" panose="020B0604020202020204" pitchFamily="34" charset="0"/>
            </a:endParaRPr>
          </a:p>
          <a:p>
            <a:pPr rtl="0"/>
            <a:r>
              <a:rPr lang="en-US"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Outcomes associated with completing a BIA include:</a:t>
            </a:r>
            <a:endParaRPr lang="en-GB"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The ability to prioritize business defined critical services, which support strategic priorities, goals and </a:t>
            </a:r>
            <a:r>
              <a:rPr lang="ar-SA" sz="1600" dirty="0">
                <a:solidFill>
                  <a:srgbClr val="002060"/>
                </a:solidFill>
                <a:latin typeface="Berlin Sans FB" panose="020E0602020502020306" pitchFamily="34" charset="0"/>
                <a:cs typeface="Arial" panose="020B0604020202020204" pitchFamily="34" charset="0"/>
              </a:rPr>
              <a:t> </a:t>
            </a:r>
            <a:r>
              <a:rPr lang="en-GB" sz="1600" dirty="0">
                <a:solidFill>
                  <a:srgbClr val="002060"/>
                </a:solidFill>
                <a:latin typeface="Berlin Sans FB" panose="020E0602020502020306" pitchFamily="34" charset="0"/>
                <a:cs typeface="Arial" panose="020B0604020202020204" pitchFamily="34" charset="0"/>
              </a:rPr>
              <a:t>objectives</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The ability to determine how business critical services should be protected</a:t>
            </a:r>
            <a:endParaRPr lang="en-GB" sz="1600" dirty="0">
              <a:solidFill>
                <a:srgbClr val="002060"/>
              </a:solidFill>
              <a:latin typeface="Berlin Sans FB" panose="020E0602020502020306" pitchFamily="34" charset="0"/>
              <a:cs typeface="Arial" panose="020B0604020202020204" pitchFamily="34"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The ability to define the acceptable levels of diminished operation before impacting strategic priorities</a:t>
            </a:r>
            <a:endParaRPr lang="en-GB" sz="1600" dirty="0">
              <a:solidFill>
                <a:srgbClr val="002060"/>
              </a:solidFill>
              <a:latin typeface="Berlin Sans FB" panose="020E0602020502020306" pitchFamily="34" charset="0"/>
              <a:cs typeface="Arial" panose="020B0604020202020204" pitchFamily="34"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The ability of the organization to achieve its goal and objectives.</a:t>
            </a:r>
          </a:p>
          <a:p>
            <a:pPr rtl="0"/>
            <a:endParaRPr lang="en-GB" sz="1600" dirty="0">
              <a:solidFill>
                <a:srgbClr val="002060"/>
              </a:solidFill>
              <a:latin typeface="Berlin Sans FB" panose="020E0602020502020306" pitchFamily="34" charset="0"/>
              <a:cs typeface="Arial" panose="020B0604020202020204" pitchFamily="34" charset="0"/>
            </a:endParaRPr>
          </a:p>
          <a:p>
            <a:pPr rtl="0"/>
            <a:r>
              <a:rPr lang="en-US"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These abilities can then be transformed into defining:</a:t>
            </a:r>
            <a:endParaRPr lang="en-GB"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The business activities and resources required to achieve the enterprise strategy</a:t>
            </a:r>
            <a:endParaRPr lang="en-GB" sz="1600" dirty="0">
              <a:solidFill>
                <a:srgbClr val="002060"/>
              </a:solidFill>
              <a:latin typeface="Berlin Sans FB" panose="020E0602020502020306" pitchFamily="34" charset="0"/>
              <a:cs typeface="Arial" panose="020B0604020202020204" pitchFamily="34"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What needs to be protected and order of recovery following an incident</a:t>
            </a:r>
            <a:endParaRPr lang="en-GB" sz="1600" dirty="0">
              <a:solidFill>
                <a:srgbClr val="002060"/>
              </a:solidFill>
              <a:latin typeface="Berlin Sans FB" panose="020E0602020502020306" pitchFamily="34" charset="0"/>
              <a:cs typeface="Arial" panose="020B0604020202020204" pitchFamily="34"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cs typeface="Arial" panose="020B0604020202020204" pitchFamily="34" charset="0"/>
              </a:rPr>
              <a:t>Recovery timeframes that in turn can inform when services need to be recovered</a:t>
            </a:r>
          </a:p>
        </p:txBody>
      </p:sp>
    </p:spTree>
    <p:extLst>
      <p:ext uri="{BB962C8B-B14F-4D97-AF65-F5344CB8AC3E}">
        <p14:creationId xmlns:p14="http://schemas.microsoft.com/office/powerpoint/2010/main" val="34351780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005386-9121-FC68-A784-74642DCCCC85}"/>
              </a:ext>
            </a:extLst>
          </p:cNvPr>
          <p:cNvPicPr>
            <a:picLocks noChangeAspect="1"/>
          </p:cNvPicPr>
          <p:nvPr/>
        </p:nvPicPr>
        <p:blipFill rotWithShape="1">
          <a:blip r:embed="rId2"/>
          <a:srcRect t="30292"/>
          <a:stretch/>
        </p:blipFill>
        <p:spPr>
          <a:xfrm>
            <a:off x="1327193" y="1304346"/>
            <a:ext cx="9979801" cy="4780547"/>
          </a:xfrm>
          <a:prstGeom prst="rect">
            <a:avLst/>
          </a:prstGeom>
        </p:spPr>
      </p:pic>
    </p:spTree>
    <p:extLst>
      <p:ext uri="{BB962C8B-B14F-4D97-AF65-F5344CB8AC3E}">
        <p14:creationId xmlns:p14="http://schemas.microsoft.com/office/powerpoint/2010/main" val="20109400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9540A4-A465-463C-B22D-D76BD1AA3109}"/>
              </a:ext>
            </a:extLst>
          </p:cNvPr>
          <p:cNvSpPr txBox="1"/>
          <p:nvPr/>
        </p:nvSpPr>
        <p:spPr>
          <a:xfrm>
            <a:off x="2264197" y="421935"/>
            <a:ext cx="9177526" cy="52014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CRITICALITY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Arial Black" panose="020B0A04020102020204" pitchFamily="34" charset="0"/>
              </a:rPr>
              <a:t>Classification of System , process and operation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Critical :</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functions cannot be performed unless they are replaced by identical capabilities. </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Critical applications cannot be replaced by manual methods. </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Tolerance to interruption is very low; therefore, cost of interruption is very high.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Vital:</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These functions can be performed manually, but only for a brief period of time. </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There is a higher tolerance to interruption than with critical systems and, therefore, somewhat lower costs of interruption, provided that functions are restored within a certain time frame (usually five days or less).</a:t>
            </a:r>
            <a:endPar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Sensitive: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These functions can be performed manually, at a tolerable cost and for an extended period of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Non-sensitive: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functions may be interrupted for an extended period of time, at little or no cost to the company, and require little or no catching up when restored.</a:t>
            </a:r>
          </a:p>
        </p:txBody>
      </p:sp>
    </p:spTree>
    <p:extLst>
      <p:ext uri="{BB962C8B-B14F-4D97-AF65-F5344CB8AC3E}">
        <p14:creationId xmlns:p14="http://schemas.microsoft.com/office/powerpoint/2010/main" val="1895941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05726-6503-B2FE-052A-4325910114F0}"/>
              </a:ext>
            </a:extLst>
          </p:cNvPr>
          <p:cNvSpPr txBox="1"/>
          <p:nvPr/>
        </p:nvSpPr>
        <p:spPr>
          <a:xfrm>
            <a:off x="2128046" y="1084187"/>
            <a:ext cx="7002379" cy="4385816"/>
          </a:xfrm>
          <a:prstGeom prst="rect">
            <a:avLst/>
          </a:prstGeom>
          <a:noFill/>
        </p:spPr>
        <p:txBody>
          <a:bodyPr wrap="square">
            <a:spAutoFit/>
          </a:bodyPr>
          <a:lstStyle/>
          <a:p>
            <a:pPr rtl="0"/>
            <a:r>
              <a:rPr lang="en-GB" sz="2400" dirty="0">
                <a:solidFill>
                  <a:srgbClr val="C00000"/>
                </a:solidFill>
                <a:latin typeface="Berlin Sans FB Demi" panose="020E0802020502020306" pitchFamily="34" charset="0"/>
              </a:rPr>
              <a:t>Beyond Business Impact</a:t>
            </a:r>
          </a:p>
          <a:p>
            <a:pPr rtl="0"/>
            <a:endParaRPr lang="en-GB" sz="1100" dirty="0">
              <a:latin typeface="Courier New" panose="02070309020205020404" pitchFamily="49" charset="0"/>
            </a:endParaRPr>
          </a:p>
          <a:p>
            <a:pPr marL="800100" lvl="1" indent="-342900">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The focus and purpose of the BIA process is to ultimately determine the impact that would be felt should an</a:t>
            </a:r>
            <a:r>
              <a:rPr lang="ar-SA" sz="1600" dirty="0">
                <a:solidFill>
                  <a:srgbClr val="002060"/>
                </a:solidFill>
                <a:latin typeface="Berlin Sans FB" panose="020E0602020502020306" pitchFamily="34" charset="0"/>
                <a:cs typeface="Arial" panose="020B0604020202020204" pitchFamily="34" charset="0"/>
              </a:rPr>
              <a:t> </a:t>
            </a:r>
            <a:r>
              <a:rPr lang="en-GB" sz="1600" dirty="0">
                <a:solidFill>
                  <a:srgbClr val="002060"/>
                </a:solidFill>
                <a:latin typeface="Berlin Sans FB" panose="020E0602020502020306" pitchFamily="34" charset="0"/>
                <a:cs typeface="Arial" panose="020B0604020202020204" pitchFamily="34" charset="0"/>
              </a:rPr>
              <a:t>incident occur which disrupts</a:t>
            </a:r>
            <a:r>
              <a:rPr lang="ar-SA" sz="1600" dirty="0">
                <a:solidFill>
                  <a:srgbClr val="002060"/>
                </a:solidFill>
                <a:latin typeface="Berlin Sans FB" panose="020E0602020502020306" pitchFamily="34" charset="0"/>
                <a:cs typeface="Arial" panose="020B0604020202020204" pitchFamily="34" charset="0"/>
              </a:rPr>
              <a:t> </a:t>
            </a:r>
            <a:r>
              <a:rPr lang="en-GB" sz="1600" dirty="0">
                <a:solidFill>
                  <a:srgbClr val="002060"/>
                </a:solidFill>
                <a:latin typeface="Berlin Sans FB" panose="020E0602020502020306" pitchFamily="34" charset="0"/>
                <a:cs typeface="Arial" panose="020B0604020202020204" pitchFamily="34" charset="0"/>
              </a:rPr>
              <a:t>normal operations.</a:t>
            </a:r>
          </a:p>
          <a:p>
            <a:pPr marL="800100" lvl="1" indent="-342900">
              <a:buFont typeface="+mj-lt"/>
              <a:buAutoNum type="arabicPeriod"/>
            </a:pPr>
            <a:endParaRPr lang="en-GB" sz="1600" dirty="0">
              <a:solidFill>
                <a:srgbClr val="002060"/>
              </a:solidFill>
              <a:latin typeface="Berlin Sans FB" panose="020E0602020502020306" pitchFamily="34" charset="0"/>
              <a:cs typeface="Arial" panose="020B0604020202020204" pitchFamily="34" charset="0"/>
            </a:endParaRPr>
          </a:p>
          <a:p>
            <a:pPr marL="800100" lvl="1" indent="-342900">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The BIA process should also be used to inform the business continuity/organizational resiliency planning efforts, to ensure that the appropriate</a:t>
            </a:r>
            <a:r>
              <a:rPr lang="ar-SA" sz="1600" dirty="0">
                <a:solidFill>
                  <a:srgbClr val="002060"/>
                </a:solidFill>
                <a:latin typeface="Berlin Sans FB" panose="020E0602020502020306" pitchFamily="34" charset="0"/>
                <a:cs typeface="Arial" panose="020B0604020202020204" pitchFamily="34" charset="0"/>
              </a:rPr>
              <a:t> </a:t>
            </a:r>
            <a:r>
              <a:rPr lang="en-US" sz="1600" dirty="0">
                <a:solidFill>
                  <a:srgbClr val="002060"/>
                </a:solidFill>
                <a:latin typeface="Berlin Sans FB" panose="020E0602020502020306" pitchFamily="34" charset="0"/>
                <a:cs typeface="Arial" panose="020B0604020202020204" pitchFamily="34" charset="0"/>
              </a:rPr>
              <a:t>controls needed to safeguard those business functions and their supporting resources.</a:t>
            </a:r>
          </a:p>
          <a:p>
            <a:pPr marL="800100" lvl="1" indent="-342900">
              <a:buFont typeface="+mj-lt"/>
              <a:buAutoNum type="arabicPeriod"/>
            </a:pPr>
            <a:endParaRPr lang="en-GB" sz="1600" dirty="0">
              <a:solidFill>
                <a:srgbClr val="002060"/>
              </a:solidFill>
              <a:latin typeface="Berlin Sans FB" panose="020E0602020502020306" pitchFamily="34" charset="0"/>
              <a:cs typeface="Arial" panose="020B0604020202020204" pitchFamily="34" charset="0"/>
            </a:endParaRPr>
          </a:p>
          <a:p>
            <a:pPr marL="800100" lvl="1" indent="-342900">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Additionally, the BIA should serve as a starting point to guided IT disaster recovery planning activities, as well as verify RTO, recovery point</a:t>
            </a:r>
            <a:r>
              <a:rPr lang="ar-SA" sz="1600" dirty="0">
                <a:solidFill>
                  <a:srgbClr val="002060"/>
                </a:solidFill>
                <a:latin typeface="Berlin Sans FB" panose="020E0602020502020306" pitchFamily="34" charset="0"/>
                <a:cs typeface="Arial" panose="020B0604020202020204" pitchFamily="34" charset="0"/>
              </a:rPr>
              <a:t> </a:t>
            </a:r>
            <a:r>
              <a:rPr lang="en-US" sz="1600" dirty="0">
                <a:solidFill>
                  <a:srgbClr val="002060"/>
                </a:solidFill>
                <a:latin typeface="Berlin Sans FB" panose="020E0602020502020306" pitchFamily="34" charset="0"/>
                <a:cs typeface="Arial" panose="020B0604020202020204" pitchFamily="34" charset="0"/>
              </a:rPr>
              <a:t>objectives (RPO), service delivery objectives (SDO) and maximum tolerable downtime (MTD). </a:t>
            </a:r>
          </a:p>
          <a:p>
            <a:pPr marL="800100" lvl="1" indent="-342900">
              <a:buFont typeface="+mj-lt"/>
              <a:buAutoNum type="arabicPeriod"/>
            </a:pPr>
            <a:endParaRPr lang="en-GB"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endParaRPr>
          </a:p>
          <a:p>
            <a:pPr lvl="1"/>
            <a:r>
              <a:rPr lang="en-US"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Figure 2.28 further explains the relationship among these elements.</a:t>
            </a:r>
          </a:p>
        </p:txBody>
      </p:sp>
    </p:spTree>
    <p:extLst>
      <p:ext uri="{BB962C8B-B14F-4D97-AF65-F5344CB8AC3E}">
        <p14:creationId xmlns:p14="http://schemas.microsoft.com/office/powerpoint/2010/main" val="270651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F65E0C-CD4C-5881-179D-0CA1E295205F}"/>
              </a:ext>
            </a:extLst>
          </p:cNvPr>
          <p:cNvPicPr>
            <a:picLocks noChangeAspect="1"/>
          </p:cNvPicPr>
          <p:nvPr/>
        </p:nvPicPr>
        <p:blipFill>
          <a:blip r:embed="rId2"/>
          <a:stretch>
            <a:fillRect/>
          </a:stretch>
        </p:blipFill>
        <p:spPr>
          <a:xfrm>
            <a:off x="787710" y="0"/>
            <a:ext cx="10762505" cy="6328611"/>
          </a:xfrm>
          <a:prstGeom prst="rect">
            <a:avLst/>
          </a:prstGeom>
        </p:spPr>
      </p:pic>
    </p:spTree>
    <p:extLst>
      <p:ext uri="{BB962C8B-B14F-4D97-AF65-F5344CB8AC3E}">
        <p14:creationId xmlns:p14="http://schemas.microsoft.com/office/powerpoint/2010/main" val="16547176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0D20D5-7361-47DA-8977-753720318373}"/>
              </a:ext>
            </a:extLst>
          </p:cNvPr>
          <p:cNvPicPr>
            <a:picLocks noChangeAspect="1"/>
          </p:cNvPicPr>
          <p:nvPr/>
        </p:nvPicPr>
        <p:blipFill rotWithShape="1">
          <a:blip r:embed="rId2">
            <a:extLst>
              <a:ext uri="{28A0092B-C50C-407E-A947-70E740481C1C}">
                <a14:useLocalDpi xmlns:a14="http://schemas.microsoft.com/office/drawing/2010/main" val="0"/>
              </a:ext>
            </a:extLst>
          </a:blip>
          <a:srcRect l="4190"/>
          <a:stretch/>
        </p:blipFill>
        <p:spPr>
          <a:xfrm>
            <a:off x="862199" y="836246"/>
            <a:ext cx="10290355" cy="5483917"/>
          </a:xfrm>
          <a:prstGeom prst="rect">
            <a:avLst/>
          </a:prstGeom>
        </p:spPr>
      </p:pic>
    </p:spTree>
    <p:extLst>
      <p:ext uri="{BB962C8B-B14F-4D97-AF65-F5344CB8AC3E}">
        <p14:creationId xmlns:p14="http://schemas.microsoft.com/office/powerpoint/2010/main" val="29837269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A9D2A8-258D-452D-BCD2-E28E3920D492}"/>
              </a:ext>
            </a:extLst>
          </p:cNvPr>
          <p:cNvPicPr>
            <a:picLocks noChangeAspect="1"/>
          </p:cNvPicPr>
          <p:nvPr/>
        </p:nvPicPr>
        <p:blipFill>
          <a:blip r:embed="rId2"/>
          <a:stretch>
            <a:fillRect/>
          </a:stretch>
        </p:blipFill>
        <p:spPr>
          <a:xfrm>
            <a:off x="2602524" y="3130870"/>
            <a:ext cx="6205536" cy="3014709"/>
          </a:xfrm>
          <a:prstGeom prst="rect">
            <a:avLst/>
          </a:prstGeom>
        </p:spPr>
      </p:pic>
      <p:pic>
        <p:nvPicPr>
          <p:cNvPr id="8" name="Picture 7">
            <a:extLst>
              <a:ext uri="{FF2B5EF4-FFF2-40B4-BE49-F238E27FC236}">
                <a16:creationId xmlns:a16="http://schemas.microsoft.com/office/drawing/2014/main" id="{78FFBB22-B289-4FFF-A2DF-DE2BB23367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6816" y="539070"/>
            <a:ext cx="7758174" cy="2438591"/>
          </a:xfrm>
          <a:prstGeom prst="rect">
            <a:avLst/>
          </a:prstGeom>
        </p:spPr>
      </p:pic>
    </p:spTree>
    <p:extLst>
      <p:ext uri="{BB962C8B-B14F-4D97-AF65-F5344CB8AC3E}">
        <p14:creationId xmlns:p14="http://schemas.microsoft.com/office/powerpoint/2010/main" val="7959686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EC7BA0-CBF6-34A9-B29C-15994BF8E5A0}"/>
              </a:ext>
            </a:extLst>
          </p:cNvPr>
          <p:cNvSpPr txBox="1"/>
          <p:nvPr/>
        </p:nvSpPr>
        <p:spPr>
          <a:xfrm>
            <a:off x="1788694" y="1238960"/>
            <a:ext cx="8085222" cy="3093154"/>
          </a:xfrm>
          <a:prstGeom prst="rect">
            <a:avLst/>
          </a:prstGeom>
          <a:noFill/>
        </p:spPr>
        <p:txBody>
          <a:bodyPr wrap="square">
            <a:spAutoFit/>
          </a:bodyPr>
          <a:lstStyle/>
          <a:p>
            <a:pPr rtl="0"/>
            <a:r>
              <a:rPr lang="en-US" sz="2400" dirty="0">
                <a:solidFill>
                  <a:srgbClr val="C00000"/>
                </a:solidFill>
                <a:latin typeface="Berlin Sans FB Demi" panose="020E0802020502020306" pitchFamily="34" charset="0"/>
              </a:rPr>
              <a:t>Business Impact Analysis and Risk Assessment</a:t>
            </a:r>
          </a:p>
          <a:p>
            <a:pPr rtl="0"/>
            <a:endParaRPr lang="en-GB" sz="1100" dirty="0">
              <a:latin typeface="Courier New" panose="02070309020205020404" pitchFamily="49" charset="0"/>
            </a:endParaRPr>
          </a:p>
          <a:p>
            <a:pPr marL="800100" lvl="1" indent="-342900">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there are a few key distinctions between a BIA and a risk </a:t>
            </a:r>
            <a:r>
              <a:rPr lang="en-US" sz="1600" dirty="0">
                <a:solidFill>
                  <a:srgbClr val="7030A0"/>
                </a:solidFill>
                <a:latin typeface="Berlin Sans FB" panose="020E0602020502020306" pitchFamily="34" charset="0"/>
                <a:cs typeface="Arial" panose="020B0604020202020204" pitchFamily="34" charset="0"/>
              </a:rPr>
              <a:t>assessment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(figure 2.29):</a:t>
            </a:r>
          </a:p>
          <a:p>
            <a:pPr marL="800100" lvl="1" indent="-342900">
              <a:buFont typeface="+mj-lt"/>
              <a:buAutoNum type="arabicPeriod"/>
            </a:pPr>
            <a:endParaRPr lang="en-GB" sz="1600" dirty="0">
              <a:solidFill>
                <a:srgbClr val="002060"/>
              </a:solidFill>
              <a:latin typeface="Berlin Sans FB" panose="020E0602020502020306" pitchFamily="34" charset="0"/>
              <a:cs typeface="Arial" panose="020B0604020202020204" pitchFamily="34" charset="0"/>
            </a:endParaRPr>
          </a:p>
          <a:p>
            <a:pPr marL="800100" lvl="1" indent="-342900">
              <a:buFont typeface="+mj-lt"/>
              <a:buAutoNum type="arabicPeriod"/>
            </a:pPr>
            <a:r>
              <a:rPr lang="en-GB" sz="1600" dirty="0">
                <a:solidFill>
                  <a:srgbClr val="002060"/>
                </a:solidFill>
                <a:latin typeface="Berlin Sans FB" panose="020E0602020502020306" pitchFamily="34" charset="0"/>
                <a:cs typeface="Arial" panose="020B0604020202020204" pitchFamily="34" charset="0"/>
              </a:rPr>
              <a:t>A</a:t>
            </a:r>
            <a:r>
              <a:rPr lang="ar-SA" sz="1600" dirty="0">
                <a:solidFill>
                  <a:srgbClr val="002060"/>
                </a:solidFill>
                <a:latin typeface="Berlin Sans FB" panose="020E0602020502020306" pitchFamily="34" charset="0"/>
                <a:cs typeface="Arial" panose="020B0604020202020204" pitchFamily="34" charset="0"/>
              </a:rPr>
              <a:t> </a:t>
            </a:r>
            <a:r>
              <a:rPr lang="en-US" sz="1600" dirty="0">
                <a:solidFill>
                  <a:srgbClr val="002060"/>
                </a:solidFill>
                <a:latin typeface="Berlin Sans FB" panose="020E0602020502020306" pitchFamily="34" charset="0"/>
                <a:cs typeface="Arial" panose="020B0604020202020204" pitchFamily="34" charset="0"/>
              </a:rPr>
              <a:t>BIA is used to establish requirements for business continuity efforts; this includes identifying resource dependencies, tracing those</a:t>
            </a:r>
            <a:r>
              <a:rPr lang="ar-SA" sz="1600" dirty="0">
                <a:solidFill>
                  <a:srgbClr val="002060"/>
                </a:solidFill>
                <a:latin typeface="Berlin Sans FB" panose="020E0602020502020306" pitchFamily="34" charset="0"/>
                <a:cs typeface="Arial" panose="020B0604020202020204" pitchFamily="34" charset="0"/>
              </a:rPr>
              <a:t> </a:t>
            </a:r>
            <a:r>
              <a:rPr lang="en-US" sz="1600" dirty="0">
                <a:solidFill>
                  <a:srgbClr val="002060"/>
                </a:solidFill>
                <a:latin typeface="Berlin Sans FB" panose="020E0602020502020306" pitchFamily="34" charset="0"/>
                <a:cs typeface="Arial" panose="020B0604020202020204" pitchFamily="34" charset="0"/>
              </a:rPr>
              <a:t>requirements to impacts and justifying investments that are associated with the disruption of services.</a:t>
            </a:r>
          </a:p>
          <a:p>
            <a:pPr marL="800100" lvl="1" indent="-342900">
              <a:buFont typeface="+mj-lt"/>
              <a:buAutoNum type="arabicPeriod"/>
            </a:pPr>
            <a:endParaRPr lang="en-GB" sz="1600" dirty="0">
              <a:solidFill>
                <a:srgbClr val="002060"/>
              </a:solidFill>
              <a:latin typeface="Berlin Sans FB" panose="020E0602020502020306" pitchFamily="34" charset="0"/>
              <a:cs typeface="Arial" panose="020B0604020202020204" pitchFamily="34" charset="0"/>
            </a:endParaRPr>
          </a:p>
          <a:p>
            <a:pPr marL="800100" lvl="1" indent="-342900">
              <a:buFont typeface="+mj-lt"/>
              <a:buAutoNum type="arabicPeriod"/>
            </a:pPr>
            <a:r>
              <a:rPr lang="en-US" sz="1600" dirty="0">
                <a:solidFill>
                  <a:srgbClr val="002060"/>
                </a:solidFill>
                <a:latin typeface="Berlin Sans FB" panose="020E0602020502020306" pitchFamily="34" charset="0"/>
                <a:cs typeface="Arial" panose="020B0604020202020204" pitchFamily="34" charset="0"/>
              </a:rPr>
              <a:t>A risk assessment focuses on understanding the threats faced by an enterprise, the frequency</a:t>
            </a:r>
            <a:r>
              <a:rPr lang="ar-SA" sz="1600" dirty="0">
                <a:solidFill>
                  <a:srgbClr val="002060"/>
                </a:solidFill>
                <a:latin typeface="Berlin Sans FB" panose="020E0602020502020306" pitchFamily="34" charset="0"/>
                <a:cs typeface="Arial" panose="020B0604020202020204" pitchFamily="34" charset="0"/>
              </a:rPr>
              <a:t> </a:t>
            </a:r>
            <a:r>
              <a:rPr lang="en-US" sz="1600" dirty="0">
                <a:solidFill>
                  <a:srgbClr val="002060"/>
                </a:solidFill>
                <a:latin typeface="Berlin Sans FB" panose="020E0602020502020306" pitchFamily="34" charset="0"/>
                <a:cs typeface="Arial" panose="020B0604020202020204" pitchFamily="34" charset="0"/>
              </a:rPr>
              <a:t>(likelihood/probability) and impact (loss</a:t>
            </a:r>
            <a:r>
              <a:rPr lang="ar-SA" sz="1600" dirty="0">
                <a:solidFill>
                  <a:srgbClr val="002060"/>
                </a:solidFill>
                <a:latin typeface="Berlin Sans FB" panose="020E0602020502020306" pitchFamily="34" charset="0"/>
                <a:cs typeface="Arial" panose="020B0604020202020204" pitchFamily="34" charset="0"/>
              </a:rPr>
              <a:t> </a:t>
            </a:r>
            <a:r>
              <a:rPr lang="en-US" sz="1600" dirty="0">
                <a:solidFill>
                  <a:srgbClr val="002060"/>
                </a:solidFill>
                <a:latin typeface="Berlin Sans FB" panose="020E0602020502020306" pitchFamily="34" charset="0"/>
                <a:cs typeface="Arial" panose="020B0604020202020204" pitchFamily="34" charset="0"/>
              </a:rPr>
              <a:t>magnitude/consequences) associated with those threats to properly respond to the risk, with the goal to decrease the likelihood or impact</a:t>
            </a:r>
            <a:r>
              <a:rPr lang="ar-SA" sz="1600" dirty="0">
                <a:solidFill>
                  <a:srgbClr val="002060"/>
                </a:solidFill>
                <a:latin typeface="Berlin Sans FB" panose="020E0602020502020306" pitchFamily="34" charset="0"/>
                <a:cs typeface="Arial" panose="020B0604020202020204" pitchFamily="34" charset="0"/>
              </a:rPr>
              <a:t> </a:t>
            </a:r>
            <a:r>
              <a:rPr lang="en-GB" sz="1600" dirty="0">
                <a:solidFill>
                  <a:srgbClr val="002060"/>
                </a:solidFill>
                <a:latin typeface="Berlin Sans FB" panose="020E0602020502020306" pitchFamily="34" charset="0"/>
                <a:cs typeface="Arial" panose="020B0604020202020204" pitchFamily="34" charset="0"/>
              </a:rPr>
              <a:t>the organization could experience.</a:t>
            </a:r>
          </a:p>
        </p:txBody>
      </p:sp>
    </p:spTree>
    <p:extLst>
      <p:ext uri="{BB962C8B-B14F-4D97-AF65-F5344CB8AC3E}">
        <p14:creationId xmlns:p14="http://schemas.microsoft.com/office/powerpoint/2010/main" val="14774983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ADE4B6-BED9-1201-67D5-6457CB13CAED}"/>
              </a:ext>
            </a:extLst>
          </p:cNvPr>
          <p:cNvPicPr>
            <a:picLocks noChangeAspect="1"/>
          </p:cNvPicPr>
          <p:nvPr/>
        </p:nvPicPr>
        <p:blipFill rotWithShape="1">
          <a:blip r:embed="rId3"/>
          <a:srcRect r="6523"/>
          <a:stretch/>
        </p:blipFill>
        <p:spPr>
          <a:xfrm>
            <a:off x="679938" y="-62706"/>
            <a:ext cx="10113107" cy="6385282"/>
          </a:xfrm>
          <a:prstGeom prst="rect">
            <a:avLst/>
          </a:prstGeom>
        </p:spPr>
      </p:pic>
    </p:spTree>
    <p:extLst>
      <p:ext uri="{BB962C8B-B14F-4D97-AF65-F5344CB8AC3E}">
        <p14:creationId xmlns:p14="http://schemas.microsoft.com/office/powerpoint/2010/main" val="28399440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12146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heavy" spc="-40" dirty="0">
                <a:solidFill>
                  <a:srgbClr val="074891"/>
                </a:solidFill>
                <a:uFill>
                  <a:solidFill>
                    <a:srgbClr val="000000"/>
                  </a:solidFill>
                </a:uFill>
              </a:rPr>
              <a:t>Reporting</a:t>
            </a:r>
            <a:r>
              <a:rPr u="heavy" spc="-110" dirty="0">
                <a:solidFill>
                  <a:srgbClr val="074891"/>
                </a:solidFill>
                <a:uFill>
                  <a:solidFill>
                    <a:srgbClr val="000000"/>
                  </a:solidFill>
                </a:uFill>
              </a:rPr>
              <a:t> </a:t>
            </a:r>
            <a:r>
              <a:rPr u="heavy" spc="-15" dirty="0">
                <a:solidFill>
                  <a:srgbClr val="074891"/>
                </a:solidFill>
                <a:uFill>
                  <a:solidFill>
                    <a:srgbClr val="000000"/>
                  </a:solidFill>
                </a:uFill>
              </a:rPr>
              <a:t>Risk</a:t>
            </a:r>
            <a:r>
              <a:rPr u="heavy" spc="-105" dirty="0">
                <a:solidFill>
                  <a:srgbClr val="074891"/>
                </a:solidFill>
                <a:uFill>
                  <a:solidFill>
                    <a:srgbClr val="000000"/>
                  </a:solidFill>
                </a:uFill>
              </a:rPr>
              <a:t> </a:t>
            </a:r>
            <a:r>
              <a:rPr u="heavy" spc="-35" dirty="0">
                <a:solidFill>
                  <a:srgbClr val="074891"/>
                </a:solidFill>
                <a:uFill>
                  <a:solidFill>
                    <a:srgbClr val="000000"/>
                  </a:solidFill>
                </a:uFill>
              </a:rPr>
              <a:t>Assessment</a:t>
            </a:r>
            <a:r>
              <a:rPr u="heavy" spc="-95" dirty="0">
                <a:solidFill>
                  <a:srgbClr val="074891"/>
                </a:solidFill>
                <a:uFill>
                  <a:solidFill>
                    <a:srgbClr val="000000"/>
                  </a:solidFill>
                </a:uFill>
              </a:rPr>
              <a:t> </a:t>
            </a:r>
            <a:r>
              <a:rPr u="heavy" spc="-40" dirty="0">
                <a:solidFill>
                  <a:srgbClr val="074891"/>
                </a:solidFill>
                <a:uFill>
                  <a:solidFill>
                    <a:srgbClr val="000000"/>
                  </a:solidFill>
                </a:uFill>
              </a:rPr>
              <a:t>Results</a:t>
            </a:r>
            <a:br>
              <a:rPr lang="en-US" u="heavy" spc="-40" dirty="0">
                <a:solidFill>
                  <a:srgbClr val="074891"/>
                </a:solidFill>
                <a:uFill>
                  <a:solidFill>
                    <a:srgbClr val="000000"/>
                  </a:solidFill>
                </a:uFill>
              </a:rPr>
            </a:br>
            <a:endParaRPr dirty="0"/>
          </a:p>
        </p:txBody>
      </p:sp>
      <p:sp>
        <p:nvSpPr>
          <p:cNvPr id="3" name="object 3"/>
          <p:cNvSpPr txBox="1"/>
          <p:nvPr/>
        </p:nvSpPr>
        <p:spPr>
          <a:xfrm>
            <a:off x="1916724" y="1360613"/>
            <a:ext cx="5961184" cy="4136773"/>
          </a:xfrm>
          <a:prstGeom prst="rect">
            <a:avLst/>
          </a:prstGeom>
        </p:spPr>
        <p:txBody>
          <a:bodyPr vert="horz" wrap="square" lIns="0" tIns="60960" rIns="0" bIns="0" rtlCol="0">
            <a:spAutoFit/>
          </a:bodyPr>
          <a:lstStyle/>
          <a:p>
            <a:pPr marL="469265" marR="506730" lvl="0" indent="-457200" algn="l" defTabSz="457200" rtl="0" eaLnBrk="1" fontAlgn="auto" latinLnBrk="0" hangingPunct="1">
              <a:lnSpc>
                <a:spcPts val="3020"/>
              </a:lnSpc>
              <a:spcBef>
                <a:spcPts val="480"/>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Results</a:t>
            </a:r>
            <a:r>
              <a:rPr kumimoji="0" sz="20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assessment</a:t>
            </a:r>
            <a:r>
              <a:rPr kumimoji="0" sz="2000" b="0" i="0" u="none" strike="noStrike" kern="1200" cap="none" spc="4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are</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reported</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3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key</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managers</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 </a:t>
            </a:r>
            <a:r>
              <a:rPr kumimoji="0" sz="2000" b="0" i="0" u="none" strike="noStrike" kern="1200" cap="none" spc="-6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a:t>
            </a:r>
            <a:endPar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12065" lvl="0" indent="-457200" algn="l" defTabSz="457200" rtl="0" eaLnBrk="1" fontAlgn="auto" latinLnBrk="0" hangingPunct="1">
              <a:lnSpc>
                <a:spcPts val="3020"/>
              </a:lnSpc>
              <a:spcBef>
                <a:spcPts val="1015"/>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prstClr val="black"/>
                </a:solidFill>
                <a:effectLst/>
                <a:uLnTx/>
                <a:uFillTx/>
                <a:latin typeface="Calibri"/>
                <a:ea typeface="+mn-ea"/>
                <a:cs typeface="Calibri"/>
              </a:rPr>
              <a:t>Most</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organizations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have</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their</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own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methods</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25" normalizeH="0" baseline="0" noProof="0" dirty="0">
                <a:ln>
                  <a:noFill/>
                </a:ln>
                <a:solidFill>
                  <a:prstClr val="black"/>
                </a:solidFill>
                <a:effectLst/>
                <a:uLnTx/>
                <a:uFillTx/>
                <a:latin typeface="Calibri"/>
                <a:ea typeface="+mn-ea"/>
                <a:cs typeface="Calibri"/>
              </a:rPr>
              <a:t>for</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generating</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20" normalizeH="0" baseline="0" noProof="0" dirty="0">
                <a:ln>
                  <a:noFill/>
                </a:ln>
                <a:solidFill>
                  <a:prstClr val="black"/>
                </a:solidFill>
                <a:effectLst/>
                <a:uLnTx/>
                <a:uFillTx/>
                <a:latin typeface="Calibri"/>
                <a:ea typeface="+mn-ea"/>
                <a:cs typeface="Calibri"/>
              </a:rPr>
              <a:t>formal </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reports,</a:t>
            </a:r>
            <a:r>
              <a:rPr kumimoji="0" sz="2000" b="0" i="0" u="none" strike="noStrike" kern="1200" cap="none" spc="25"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including,</a:t>
            </a:r>
            <a:r>
              <a:rPr kumimoji="0" sz="2000" b="0" i="0" u="none" strike="noStrike" kern="1200" cap="none" spc="55" normalizeH="0" baseline="0" noProof="0" dirty="0">
                <a:ln>
                  <a:noFill/>
                </a:ln>
                <a:solidFill>
                  <a:prstClr val="black"/>
                </a:solidFill>
                <a:effectLst/>
                <a:uLnTx/>
                <a:uFillTx/>
                <a:latin typeface="Calibri"/>
                <a:ea typeface="+mn-ea"/>
                <a:cs typeface="Calibri"/>
              </a:rPr>
              <a:t> </a:t>
            </a:r>
            <a:r>
              <a:rPr kumimoji="0" sz="2000" b="0" i="1" u="none" strike="noStrike" kern="1200" cap="none" spc="-15" normalizeH="0" baseline="0" noProof="0" dirty="0">
                <a:ln>
                  <a:noFill/>
                </a:ln>
                <a:solidFill>
                  <a:prstClr val="black"/>
                </a:solidFill>
                <a:effectLst/>
                <a:uLnTx/>
                <a:uFillTx/>
                <a:latin typeface="Calibri"/>
                <a:ea typeface="+mn-ea"/>
                <a:cs typeface="Calibri"/>
              </a:rPr>
              <a:t>detailed</a:t>
            </a:r>
            <a:r>
              <a:rPr kumimoji="0" sz="2000" b="0" i="1" u="none" strike="noStrike" kern="1200" cap="none" spc="15"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reports</a:t>
            </a:r>
            <a:r>
              <a:rPr kumimoji="0" sz="2000" b="0" i="1" u="none" strike="noStrike" kern="1200" cap="none" spc="15"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that</a:t>
            </a:r>
            <a:r>
              <a:rPr kumimoji="0" sz="2000" b="0" i="1" u="none" strike="noStrike" kern="1200" cap="none" spc="10"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describe</a:t>
            </a:r>
            <a:r>
              <a:rPr kumimoji="0" sz="2000" b="0" i="1" u="none" strike="noStrike" kern="1200" cap="none" spc="20"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risk</a:t>
            </a:r>
            <a:r>
              <a:rPr kumimoji="0" sz="2000" b="0" i="1" u="none" strike="noStrike" kern="1200" cap="none" spc="20"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on</a:t>
            </a:r>
            <a:r>
              <a:rPr kumimoji="0" sz="2000" b="0" i="1" u="none" strike="noStrike" kern="1200" cap="none" spc="10"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a </a:t>
            </a:r>
            <a:r>
              <a:rPr kumimoji="0" sz="2000" b="0" i="1" u="none" strike="noStrike" kern="1200" cap="none" spc="0" normalizeH="0" baseline="0" noProof="0" dirty="0">
                <a:ln>
                  <a:noFill/>
                </a:ln>
                <a:solidFill>
                  <a:prstClr val="black"/>
                </a:solidFill>
                <a:effectLst/>
                <a:uLnTx/>
                <a:uFillTx/>
                <a:latin typeface="Calibri"/>
                <a:ea typeface="+mn-ea"/>
                <a:cs typeface="Calibri"/>
              </a:rPr>
              <a:t> </a:t>
            </a:r>
            <a:r>
              <a:rPr kumimoji="0" sz="2000" b="0" i="1" u="none" strike="noStrike" kern="1200" cap="none" spc="-10" normalizeH="0" baseline="0" noProof="0" dirty="0">
                <a:ln>
                  <a:noFill/>
                </a:ln>
                <a:solidFill>
                  <a:prstClr val="black"/>
                </a:solidFill>
                <a:effectLst/>
                <a:uLnTx/>
                <a:uFillTx/>
                <a:latin typeface="Calibri"/>
                <a:ea typeface="+mn-ea"/>
                <a:cs typeface="Calibri"/>
              </a:rPr>
              <a:t>generalized</a:t>
            </a:r>
            <a:r>
              <a:rPr kumimoji="0" sz="2000" b="0" i="1" u="none" strike="noStrike" kern="1200" cap="none" spc="5" normalizeH="0" baseline="0" noProof="0" dirty="0">
                <a:ln>
                  <a:noFill/>
                </a:ln>
                <a:solidFill>
                  <a:prstClr val="black"/>
                </a:solidFill>
                <a:effectLst/>
                <a:uLnTx/>
                <a:uFillTx/>
                <a:latin typeface="Calibri"/>
                <a:ea typeface="+mn-ea"/>
                <a:cs typeface="Calibri"/>
              </a:rPr>
              <a:t> </a:t>
            </a:r>
            <a:r>
              <a:rPr kumimoji="0" sz="2000" b="0" i="1" u="none" strike="noStrike" kern="1200" cap="none" spc="-5" normalizeH="0" baseline="0" noProof="0" dirty="0">
                <a:ln>
                  <a:noFill/>
                </a:ln>
                <a:solidFill>
                  <a:prstClr val="black"/>
                </a:solidFill>
                <a:effectLst/>
                <a:uLnTx/>
                <a:uFillTx/>
                <a:latin typeface="Calibri"/>
                <a:ea typeface="+mn-ea"/>
                <a:cs typeface="Calibri"/>
              </a:rPr>
              <a:t>basis or map IT risk</a:t>
            </a:r>
            <a:r>
              <a:rPr kumimoji="0" sz="2000" b="0" i="1" u="none" strike="noStrike" kern="1200" cap="none" spc="0" normalizeH="0" baseline="0" noProof="0" dirty="0">
                <a:ln>
                  <a:noFill/>
                </a:ln>
                <a:solidFill>
                  <a:prstClr val="black"/>
                </a:solidFill>
                <a:effectLst/>
                <a:uLnTx/>
                <a:uFillTx/>
                <a:latin typeface="Calibri"/>
                <a:ea typeface="+mn-ea"/>
                <a:cs typeface="Calibri"/>
              </a:rPr>
              <a:t> </a:t>
            </a:r>
            <a:r>
              <a:rPr kumimoji="0" sz="2000" b="0" i="1" u="none" strike="noStrike" kern="1200" cap="none" spc="-25" normalizeH="0" baseline="0" noProof="0" dirty="0">
                <a:ln>
                  <a:noFill/>
                </a:ln>
                <a:solidFill>
                  <a:prstClr val="black"/>
                </a:solidFill>
                <a:effectLst/>
                <a:uLnTx/>
                <a:uFillTx/>
                <a:latin typeface="Calibri"/>
                <a:ea typeface="+mn-ea"/>
                <a:cs typeface="Calibri"/>
              </a:rPr>
              <a:t>to</a:t>
            </a:r>
            <a:r>
              <a:rPr kumimoji="0" sz="2000" b="0" i="1" u="none" strike="noStrike" kern="1200" cap="none" spc="-5" normalizeH="0" baseline="0" noProof="0" dirty="0">
                <a:ln>
                  <a:noFill/>
                </a:ln>
                <a:solidFill>
                  <a:prstClr val="black"/>
                </a:solidFill>
                <a:effectLst/>
                <a:uLnTx/>
                <a:uFillTx/>
                <a:latin typeface="Calibri"/>
                <a:ea typeface="+mn-ea"/>
                <a:cs typeface="Calibri"/>
              </a:rPr>
              <a:t> business processes.</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5080" lvl="0" indent="-457200" algn="l" defTabSz="457200" rtl="0" eaLnBrk="1" fontAlgn="auto" latinLnBrk="0" hangingPunct="1">
              <a:lnSpc>
                <a:spcPts val="3020"/>
              </a:lnSpc>
              <a:spcBef>
                <a:spcPts val="1015"/>
              </a:spcBef>
              <a:spcAft>
                <a:spcPts val="0"/>
              </a:spcAft>
              <a:buClrTx/>
              <a:buSzTx/>
              <a:buFont typeface="+mj-lt"/>
              <a:buAutoNum type="arabicPeriod"/>
              <a:tabLst>
                <a:tab pos="241935" algn="l"/>
              </a:tabLst>
              <a:defRPr/>
            </a:pP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Determine</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sz="20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frame</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such</a:t>
            </a:r>
            <a:r>
              <a:rPr kumimoji="0" sz="2000" b="0" i="0" u="none" strike="noStrike" kern="1200" cap="none" spc="4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manner</a:t>
            </a:r>
            <a:r>
              <a:rPr kumimoji="0" sz="20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that</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senior</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executives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managers</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can</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understand,</a:t>
            </a:r>
            <a:r>
              <a:rPr kumimoji="0" sz="2000" b="0" i="0" u="none" strike="noStrike" kern="1200" cap="none" spc="5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particularly</a:t>
            </a:r>
            <a:r>
              <a:rPr kumimoji="0" sz="20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terms</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business</a:t>
            </a:r>
            <a:r>
              <a:rPr kumimoji="0" sz="2000" b="0" i="0" u="none" strike="noStrike" kern="1200" cap="none" spc="6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cases, </a:t>
            </a:r>
            <a:r>
              <a:rPr kumimoji="0" sz="2000" b="0" i="0" u="none" strike="noStrike" kern="1200" cap="none" spc="-6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communicate</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results</a:t>
            </a:r>
            <a:r>
              <a:rPr kumimoji="0" sz="2000" b="0" i="0" u="none" strike="noStrike" kern="1200" cap="none" spc="3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 risk</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assessment.</a:t>
            </a:r>
            <a:endPar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15" dirty="0">
                <a:solidFill>
                  <a:srgbClr val="074891"/>
                </a:solidFill>
                <a:uFill>
                  <a:solidFill>
                    <a:srgbClr val="000000"/>
                  </a:solidFill>
                </a:uFill>
              </a:rPr>
              <a:t>Risk</a:t>
            </a:r>
            <a:r>
              <a:rPr sz="4400" u="heavy" spc="-125" dirty="0">
                <a:solidFill>
                  <a:srgbClr val="074891"/>
                </a:solidFill>
                <a:uFill>
                  <a:solidFill>
                    <a:srgbClr val="000000"/>
                  </a:solidFill>
                </a:uFill>
              </a:rPr>
              <a:t> </a:t>
            </a:r>
            <a:r>
              <a:rPr sz="4400" u="heavy" spc="-40" dirty="0">
                <a:solidFill>
                  <a:srgbClr val="074891"/>
                </a:solidFill>
                <a:uFill>
                  <a:solidFill>
                    <a:srgbClr val="000000"/>
                  </a:solidFill>
                </a:uFill>
              </a:rPr>
              <a:t>Determination	</a:t>
            </a:r>
            <a:endParaRPr sz="4400"/>
          </a:p>
        </p:txBody>
      </p:sp>
      <p:sp>
        <p:nvSpPr>
          <p:cNvPr id="3" name="object 3"/>
          <p:cNvSpPr txBox="1"/>
          <p:nvPr/>
        </p:nvSpPr>
        <p:spPr>
          <a:xfrm>
            <a:off x="1561123" y="1604108"/>
            <a:ext cx="6566877" cy="3963393"/>
          </a:xfrm>
          <a:prstGeom prst="rect">
            <a:avLst/>
          </a:prstGeom>
        </p:spPr>
        <p:txBody>
          <a:bodyPr vert="horz" wrap="square" lIns="0" tIns="121920" rIns="0" bIns="0" rtlCol="0">
            <a:spAutoFit/>
          </a:bodyPr>
          <a:lstStyle/>
          <a:p>
            <a:pPr marL="469265" marR="250825" lvl="0" indent="-457200" algn="l" defTabSz="457200" rtl="0" eaLnBrk="1" fontAlgn="auto" latinLnBrk="0" hangingPunct="1">
              <a:lnSpc>
                <a:spcPct val="70000"/>
              </a:lnSpc>
              <a:spcBef>
                <a:spcPts val="600"/>
              </a:spcBef>
              <a:spcAft>
                <a:spcPts val="0"/>
              </a:spcAft>
              <a:buClrTx/>
              <a:buSzTx/>
              <a:buFont typeface="+mj-lt"/>
              <a:buAutoNum type="arabicPeriod"/>
              <a:tabLst>
                <a:tab pos="241935" algn="l"/>
              </a:tabLst>
              <a:defRPr/>
            </a:pP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determination depends on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organization’s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management </a:t>
            </a:r>
            <a:r>
              <a:rPr kumimoji="0" b="0" i="0" u="none" strike="noStrike" kern="1200" cap="none" spc="-3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strategy,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on </a:t>
            </a:r>
            <a:r>
              <a:rPr kumimoji="0" b="0" i="0" u="none" strike="noStrike" kern="1200" cap="none" spc="-5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methodology used,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on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organization’s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culture, appetite,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tolerance.</a:t>
            </a:r>
            <a:endPar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0" lvl="0" indent="-457200" algn="l" defTabSz="457200" rtl="0" eaLnBrk="1" fontAlgn="auto" latinLnBrk="0" hangingPunct="1">
              <a:lnSpc>
                <a:spcPts val="2450"/>
              </a:lnSpc>
              <a:spcBef>
                <a:spcPts val="600"/>
              </a:spcBef>
              <a:spcAft>
                <a:spcPts val="0"/>
              </a:spcAft>
              <a:buClrTx/>
              <a:buSzTx/>
              <a:buFont typeface="+mj-lt"/>
              <a:buAutoNum type="arabicPeriod"/>
              <a:tabLst>
                <a:tab pos="241935" algn="l"/>
              </a:tabLst>
              <a:defRPr/>
            </a:pP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risk</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assessor’s job</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is</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also</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a:t>
            </a:r>
            <a:r>
              <a:rPr kumimoji="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determine</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express</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impact</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on</a:t>
            </a: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business</a:t>
            </a:r>
            <a:r>
              <a:rPr kumimoji="0" b="0" i="0" u="none" strike="noStrike" kern="1200" cap="none" spc="-3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processes.</a:t>
            </a:r>
            <a:endPar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5080" lvl="0" indent="-457200" algn="l" defTabSz="457200" rtl="0" eaLnBrk="1" fontAlgn="auto" latinLnBrk="0" hangingPunct="1">
              <a:lnSpc>
                <a:spcPct val="70000"/>
              </a:lnSpc>
              <a:spcBef>
                <a:spcPts val="600"/>
              </a:spcBef>
              <a:spcAft>
                <a:spcPts val="0"/>
              </a:spcAft>
              <a:buClrTx/>
              <a:buSzTx/>
              <a:buFont typeface="+mj-lt"/>
              <a:buAutoNum type="arabicPeriod"/>
              <a:tabLst>
                <a:tab pos="241935" algn="l"/>
              </a:tabLst>
              <a:defRPr/>
            </a:pPr>
            <a:r>
              <a:rPr kumimoji="0" b="0" i="0" u="none" strike="noStrike" kern="1200" cap="none" spc="0" normalizeH="0" baseline="0" noProof="0" dirty="0">
                <a:ln>
                  <a:noFill/>
                </a:ln>
                <a:solidFill>
                  <a:prstClr val="black"/>
                </a:solidFill>
                <a:effectLst/>
                <a:uLnTx/>
                <a:uFillTx/>
                <a:latin typeface="Calibri"/>
                <a:ea typeface="+mn-ea"/>
                <a:cs typeface="Calibri"/>
              </a:rPr>
              <a:t>Risk </a:t>
            </a:r>
            <a:r>
              <a:rPr kumimoji="0" b="0" i="0" u="none" strike="noStrike" kern="1200" cap="none" spc="-5" normalizeH="0" baseline="0" noProof="0" dirty="0">
                <a:ln>
                  <a:noFill/>
                </a:ln>
                <a:solidFill>
                  <a:prstClr val="black"/>
                </a:solidFill>
                <a:effectLst/>
                <a:uLnTx/>
                <a:uFillTx/>
                <a:latin typeface="Calibri"/>
                <a:ea typeface="+mn-ea"/>
                <a:cs typeface="Calibri"/>
              </a:rPr>
              <a:t>determination </a:t>
            </a:r>
            <a:r>
              <a:rPr kumimoji="0" b="0" i="0" u="none" strike="noStrike" kern="1200" cap="none" spc="-10" normalizeH="0" baseline="0" noProof="0" dirty="0">
                <a:ln>
                  <a:noFill/>
                </a:ln>
                <a:solidFill>
                  <a:prstClr val="black"/>
                </a:solidFill>
                <a:effectLst/>
                <a:uLnTx/>
                <a:uFillTx/>
                <a:latin typeface="Calibri"/>
                <a:ea typeface="+mn-ea"/>
                <a:cs typeface="Calibri"/>
              </a:rPr>
              <a:t>reported </a:t>
            </a:r>
            <a:r>
              <a:rPr kumimoji="0" b="0" i="0" u="none" strike="noStrike" kern="1200" cap="none" spc="0" normalizeH="0" baseline="0" noProof="0" dirty="0">
                <a:ln>
                  <a:noFill/>
                </a:ln>
                <a:solidFill>
                  <a:prstClr val="black"/>
                </a:solidFill>
                <a:effectLst/>
                <a:uLnTx/>
                <a:uFillTx/>
                <a:latin typeface="Calibri"/>
                <a:ea typeface="+mn-ea"/>
                <a:cs typeface="Calibri"/>
              </a:rPr>
              <a:t>as </a:t>
            </a:r>
            <a:r>
              <a:rPr kumimoji="0" b="0" i="0" u="none" strike="noStrike" kern="1200" cap="none" spc="-5" normalizeH="0" baseline="0" noProof="0" dirty="0">
                <a:ln>
                  <a:noFill/>
                </a:ln>
                <a:solidFill>
                  <a:prstClr val="black"/>
                </a:solidFill>
                <a:effectLst/>
                <a:uLnTx/>
                <a:uFillTx/>
                <a:latin typeface="Calibri"/>
                <a:ea typeface="+mn-ea"/>
                <a:cs typeface="Calibri"/>
              </a:rPr>
              <a:t>both </a:t>
            </a:r>
            <a:r>
              <a:rPr kumimoji="0" b="0" i="0" u="none" strike="noStrike" kern="1200" cap="none" spc="-10" normalizeH="0" baseline="0" noProof="0" dirty="0">
                <a:ln>
                  <a:noFill/>
                </a:ln>
                <a:solidFill>
                  <a:prstClr val="black"/>
                </a:solidFill>
                <a:effectLst/>
                <a:uLnTx/>
                <a:uFillTx/>
                <a:latin typeface="Calibri"/>
                <a:ea typeface="+mn-ea"/>
                <a:cs typeface="Calibri"/>
              </a:rPr>
              <a:t>qualitative </a:t>
            </a:r>
            <a:r>
              <a:rPr kumimoji="0" b="0" i="0" u="none" strike="noStrike" kern="1200" cap="none" spc="0" normalizeH="0" baseline="0" noProof="0" dirty="0">
                <a:ln>
                  <a:noFill/>
                </a:ln>
                <a:solidFill>
                  <a:prstClr val="black"/>
                </a:solidFill>
                <a:effectLst/>
                <a:uLnTx/>
                <a:uFillTx/>
                <a:latin typeface="Calibri"/>
                <a:ea typeface="+mn-ea"/>
                <a:cs typeface="Calibri"/>
              </a:rPr>
              <a:t>and </a:t>
            </a:r>
            <a:r>
              <a:rPr kumimoji="0" b="0" i="0" u="none" strike="noStrike" kern="1200" cap="none" spc="-10" normalizeH="0" baseline="0" noProof="0" dirty="0">
                <a:ln>
                  <a:noFill/>
                </a:ln>
                <a:solidFill>
                  <a:prstClr val="black"/>
                </a:solidFill>
                <a:effectLst/>
                <a:uLnTx/>
                <a:uFillTx/>
                <a:latin typeface="Calibri"/>
                <a:ea typeface="+mn-ea"/>
                <a:cs typeface="Calibri"/>
              </a:rPr>
              <a:t>quantitative values </a:t>
            </a:r>
            <a:r>
              <a:rPr kumimoji="0" b="0" i="0" u="none" strike="noStrike" kern="1200" cap="none" spc="-5" normalizeH="0" baseline="0" noProof="0" dirty="0">
                <a:ln>
                  <a:noFill/>
                </a:ln>
                <a:solidFill>
                  <a:prstClr val="black"/>
                </a:solidFill>
                <a:effectLst/>
                <a:uLnTx/>
                <a:uFillTx/>
                <a:latin typeface="Calibri"/>
                <a:ea typeface="+mn-ea"/>
                <a:cs typeface="Calibri"/>
              </a:rPr>
              <a:t>since </a:t>
            </a:r>
            <a:r>
              <a:rPr kumimoji="0" b="0" i="0" u="none" strike="noStrike" kern="1200" cap="none" spc="-15" normalizeH="0" baseline="0" noProof="0" dirty="0">
                <a:ln>
                  <a:noFill/>
                </a:ln>
                <a:solidFill>
                  <a:prstClr val="black"/>
                </a:solidFill>
                <a:effectLst/>
                <a:uLnTx/>
                <a:uFillTx/>
                <a:latin typeface="Calibri"/>
                <a:ea typeface="+mn-ea"/>
                <a:cs typeface="Calibri"/>
              </a:rPr>
              <a:t>cost </a:t>
            </a:r>
            <a:r>
              <a:rPr kumimoji="0" b="0" i="0" u="none" strike="noStrike" kern="1200" cap="none" spc="-53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is</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only</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one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of</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5" normalizeH="0" baseline="0" noProof="0" dirty="0">
                <a:ln>
                  <a:noFill/>
                </a:ln>
                <a:solidFill>
                  <a:prstClr val="black"/>
                </a:solidFill>
                <a:effectLst/>
                <a:uLnTx/>
                <a:uFillTx/>
                <a:latin typeface="Calibri"/>
                <a:ea typeface="+mn-ea"/>
                <a:cs typeface="Calibri"/>
              </a:rPr>
              <a:t>measurements</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of</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risk.</a:t>
            </a:r>
          </a:p>
          <a:p>
            <a:pPr marL="469265" marR="0" lvl="0" indent="-457200" algn="l" defTabSz="457200" rtl="0" eaLnBrk="1" fontAlgn="auto" latinLnBrk="0" hangingPunct="1">
              <a:lnSpc>
                <a:spcPts val="2450"/>
              </a:lnSpc>
              <a:spcBef>
                <a:spcPts val="600"/>
              </a:spcBef>
              <a:spcAft>
                <a:spcPts val="0"/>
              </a:spcAft>
              <a:buClrTx/>
              <a:buSzTx/>
              <a:buFont typeface="+mj-lt"/>
              <a:buAutoNum type="arabicPeriod"/>
              <a:tabLst>
                <a:tab pos="241935" algn="l"/>
              </a:tabLst>
              <a:defRPr/>
            </a:pPr>
            <a:r>
              <a:rPr kumimoji="0" b="0" i="0" u="none" strike="noStrike" kern="1200" cap="none" spc="0" normalizeH="0" baseline="0" noProof="0" dirty="0">
                <a:ln>
                  <a:noFill/>
                </a:ln>
                <a:solidFill>
                  <a:prstClr val="black"/>
                </a:solidFill>
                <a:effectLst/>
                <a:uLnTx/>
                <a:uFillTx/>
                <a:latin typeface="Calibri"/>
                <a:ea typeface="+mn-ea"/>
                <a:cs typeface="Calibri"/>
              </a:rPr>
              <a:t>Risk</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should be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determined</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based</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upon</a:t>
            </a:r>
            <a:r>
              <a:rPr kumimoji="0" b="0" i="0" u="none" strike="noStrike" kern="1200" cap="none" spc="0" normalizeH="0" baseline="0" noProof="0" dirty="0">
                <a:ln>
                  <a:noFill/>
                </a:ln>
                <a:solidFill>
                  <a:prstClr val="black"/>
                </a:solidFill>
                <a:effectLst/>
                <a:uLnTx/>
                <a:uFillTx/>
                <a:latin typeface="Calibri"/>
                <a:ea typeface="+mn-ea"/>
                <a:cs typeface="Calibri"/>
              </a:rPr>
              <a:t> impact</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likelihood</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values</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after existing</a:t>
            </a:r>
            <a:r>
              <a:rPr kumimoji="0" lang="en-US"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controls</a:t>
            </a:r>
            <a:r>
              <a:rPr kumimoji="0" b="0" i="0" u="none" strike="noStrike" kern="1200" cap="none" spc="-35"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are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20" normalizeH="0" baseline="0" noProof="0" dirty="0">
                <a:ln>
                  <a:noFill/>
                </a:ln>
                <a:solidFill>
                  <a:prstClr val="black"/>
                </a:solidFill>
                <a:effectLst/>
                <a:uLnTx/>
                <a:uFillTx/>
                <a:latin typeface="Calibri"/>
                <a:ea typeface="+mn-ea"/>
                <a:cs typeface="Calibri"/>
              </a:rPr>
              <a:t>taken</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15" normalizeH="0" baseline="0" noProof="0" dirty="0">
                <a:ln>
                  <a:noFill/>
                </a:ln>
                <a:solidFill>
                  <a:prstClr val="black"/>
                </a:solidFill>
                <a:effectLst/>
                <a:uLnTx/>
                <a:uFillTx/>
                <a:latin typeface="Calibri"/>
                <a:ea typeface="+mn-ea"/>
                <a:cs typeface="Calibri"/>
              </a:rPr>
              <a:t>into </a:t>
            </a:r>
            <a:r>
              <a:rPr kumimoji="0" b="0" i="0" u="none" strike="noStrike" kern="1200" cap="none" spc="-10" normalizeH="0" baseline="0" noProof="0" dirty="0">
                <a:ln>
                  <a:noFill/>
                </a:ln>
                <a:solidFill>
                  <a:prstClr val="black"/>
                </a:solidFill>
                <a:effectLst/>
                <a:uLnTx/>
                <a:uFillTx/>
                <a:latin typeface="Calibri"/>
                <a:ea typeface="+mn-ea"/>
                <a:cs typeface="Calibri"/>
              </a:rPr>
              <a:t>account.</a:t>
            </a:r>
            <a:endParaRPr kumimoji="0" b="0" i="0" u="none" strike="noStrike" kern="1200" cap="none" spc="0" normalizeH="0" baseline="0" noProof="0" dirty="0">
              <a:ln>
                <a:noFill/>
              </a:ln>
              <a:solidFill>
                <a:prstClr val="black"/>
              </a:solidFill>
              <a:effectLst/>
              <a:uLnTx/>
              <a:uFillTx/>
              <a:latin typeface="Calibri"/>
              <a:ea typeface="+mn-ea"/>
              <a:cs typeface="Calibri"/>
            </a:endParaRPr>
          </a:p>
          <a:p>
            <a:pPr marL="354965" marR="282575" lvl="0" indent="-342900" algn="l" defTabSz="457200" rtl="0" eaLnBrk="1" fontAlgn="auto" latinLnBrk="0" hangingPunct="1">
              <a:lnSpc>
                <a:spcPct val="70000"/>
              </a:lnSpc>
              <a:spcBef>
                <a:spcPts val="600"/>
              </a:spcBef>
              <a:spcAft>
                <a:spcPts val="0"/>
              </a:spcAft>
              <a:buClrTx/>
              <a:buSzTx/>
              <a:buFont typeface="+mj-lt"/>
              <a:buAutoNum type="arabicPeriod"/>
              <a:tabLst>
                <a:tab pos="309880" algn="l"/>
                <a:tab pos="310515" algn="l"/>
              </a:tabLst>
              <a:defRPr/>
            </a:pPr>
            <a:r>
              <a:rPr kumimoji="0"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entury Gothic" panose="020B0502020202020204"/>
                <a:ea typeface="+mn-ea"/>
                <a:cs typeface="+mn-cs"/>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After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 viable risk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response option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is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selected (accepting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mitigating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transferring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avoiding</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there</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will</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still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be</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risk</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left</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over;</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called </a:t>
            </a:r>
            <a:r>
              <a:rPr kumimoji="0" b="1" i="1"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residual </a:t>
            </a:r>
            <a:r>
              <a:rPr kumimoji="0" b="1" i="1"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 </a:t>
            </a:r>
            <a:r>
              <a:rPr kumimoji="0" b="1" i="1" u="none" strike="noStrike" kern="1200" cap="none" spc="-5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will</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always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exist.</a:t>
            </a:r>
            <a:endPar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0" lvl="0" indent="-457200" algn="l" defTabSz="457200" rtl="0" eaLnBrk="1" fontAlgn="auto" latinLnBrk="0" hangingPunct="1">
              <a:lnSpc>
                <a:spcPts val="2450"/>
              </a:lnSpc>
              <a:spcBef>
                <a:spcPts val="600"/>
              </a:spcBef>
              <a:spcAft>
                <a:spcPts val="0"/>
              </a:spcAft>
              <a:buClrTx/>
              <a:buSzTx/>
              <a:buFont typeface="+mj-lt"/>
              <a:buAutoNum type="arabicPeriod"/>
              <a:tabLst>
                <a:tab pos="241935" algn="l"/>
              </a:tabLst>
              <a:defRPr/>
            </a:pP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must</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determine</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whether</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residual</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falls</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within</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lang="en-US"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organization’s</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ranges</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for</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tolerance</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appetite.</a:t>
            </a:r>
            <a:endPar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244571"/>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000" u="sng" spc="-45" dirty="0">
                <a:solidFill>
                  <a:srgbClr val="074891"/>
                </a:solidFill>
                <a:uFill>
                  <a:solidFill>
                    <a:srgbClr val="000000"/>
                  </a:solidFill>
                </a:uFill>
              </a:rPr>
              <a:t>Communicating</a:t>
            </a:r>
            <a:r>
              <a:rPr sz="4000" u="sng" spc="-110" dirty="0">
                <a:solidFill>
                  <a:srgbClr val="074891"/>
                </a:solidFill>
                <a:uFill>
                  <a:solidFill>
                    <a:srgbClr val="000000"/>
                  </a:solidFill>
                </a:uFill>
              </a:rPr>
              <a:t> </a:t>
            </a:r>
            <a:r>
              <a:rPr sz="4000" u="sng" spc="-15" dirty="0">
                <a:solidFill>
                  <a:srgbClr val="074891"/>
                </a:solidFill>
                <a:uFill>
                  <a:solidFill>
                    <a:srgbClr val="000000"/>
                  </a:solidFill>
                </a:uFill>
              </a:rPr>
              <a:t>Risk</a:t>
            </a:r>
            <a:r>
              <a:rPr sz="4000" u="sng" spc="-105" dirty="0">
                <a:solidFill>
                  <a:srgbClr val="074891"/>
                </a:solidFill>
                <a:uFill>
                  <a:solidFill>
                    <a:srgbClr val="000000"/>
                  </a:solidFill>
                </a:uFill>
              </a:rPr>
              <a:t> </a:t>
            </a:r>
            <a:r>
              <a:rPr sz="4000" u="sng" spc="-35" dirty="0">
                <a:solidFill>
                  <a:srgbClr val="074891"/>
                </a:solidFill>
                <a:uFill>
                  <a:solidFill>
                    <a:srgbClr val="000000"/>
                  </a:solidFill>
                </a:uFill>
              </a:rPr>
              <a:t>Analysis</a:t>
            </a:r>
            <a:br>
              <a:rPr lang="en-US" sz="4000" u="sng" spc="-35" dirty="0">
                <a:solidFill>
                  <a:srgbClr val="074891"/>
                </a:solidFill>
                <a:uFill>
                  <a:solidFill>
                    <a:srgbClr val="000000"/>
                  </a:solidFill>
                </a:uFill>
              </a:rPr>
            </a:br>
            <a:endParaRPr sz="4000" u="sng" dirty="0"/>
          </a:p>
        </p:txBody>
      </p:sp>
      <p:sp>
        <p:nvSpPr>
          <p:cNvPr id="3" name="object 3"/>
          <p:cNvSpPr txBox="1"/>
          <p:nvPr/>
        </p:nvSpPr>
        <p:spPr>
          <a:xfrm>
            <a:off x="1768231" y="1416170"/>
            <a:ext cx="7336692" cy="4538294"/>
          </a:xfrm>
          <a:prstGeom prst="rect">
            <a:avLst/>
          </a:prstGeom>
        </p:spPr>
        <p:txBody>
          <a:bodyPr vert="horz" wrap="square" lIns="0" tIns="51435" rIns="0" bIns="0" rtlCol="0">
            <a:spAutoFit/>
          </a:bodyPr>
          <a:lstStyle/>
          <a:p>
            <a:pPr marL="469265" marR="456565" lvl="0" indent="-457200" algn="l" defTabSz="457200" rtl="0" eaLnBrk="1" fontAlgn="auto" latinLnBrk="0" hangingPunct="1">
              <a:lnSpc>
                <a:spcPts val="2440"/>
              </a:lnSpc>
              <a:spcBef>
                <a:spcPts val="405"/>
              </a:spcBef>
              <a:spcAft>
                <a:spcPts val="0"/>
              </a:spcAft>
              <a:buClrTx/>
              <a:buSzTx/>
              <a:buFont typeface="+mj-lt"/>
              <a:buAutoNum type="arabicPeriod"/>
              <a:tabLst>
                <a:tab pos="241300" algn="l"/>
                <a:tab pos="241935" algn="l"/>
              </a:tabLst>
              <a:defRPr/>
            </a:pP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 assessor is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charged with briefing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managers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executives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within the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entire </a:t>
            </a:r>
            <a:r>
              <a:rPr kumimoji="0" b="0" i="0" u="none" strike="noStrike" kern="1200" cap="none" spc="-49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a:t>
            </a:r>
            <a:endPar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322580" lvl="0" indent="-457200" algn="l" defTabSz="457200" rtl="0" eaLnBrk="1" fontAlgn="auto" latinLnBrk="0" hangingPunct="1">
              <a:lnSpc>
                <a:spcPct val="90100"/>
              </a:lnSpc>
              <a:spcBef>
                <a:spcPts val="944"/>
              </a:spcBef>
              <a:spcAft>
                <a:spcPts val="0"/>
              </a:spcAft>
              <a:buClrTx/>
              <a:buSzTx/>
              <a:buFont typeface="+mj-lt"/>
              <a:buAutoNum type="arabicPeriod"/>
              <a:tabLst>
                <a:tab pos="241300" algn="l"/>
                <a:tab pos="241935" algn="l"/>
              </a:tabLst>
              <a:defRPr/>
            </a:pPr>
            <a:r>
              <a:rPr kumimoji="0" b="0" i="0" u="none" strike="noStrike" kern="1200" cap="none" spc="0" normalizeH="0" baseline="0" noProof="0" dirty="0">
                <a:ln>
                  <a:noFill/>
                </a:ln>
                <a:solidFill>
                  <a:prstClr val="black"/>
                </a:solidFill>
                <a:effectLst/>
                <a:uLnTx/>
                <a:uFillTx/>
                <a:latin typeface="Calibri"/>
                <a:ea typeface="+mn-ea"/>
                <a:cs typeface="Calibri"/>
              </a:rPr>
              <a:t>This </a:t>
            </a:r>
            <a:r>
              <a:rPr kumimoji="0" b="0" i="0" u="none" strike="noStrike" kern="1200" cap="none" spc="-5" normalizeH="0" baseline="0" noProof="0" dirty="0">
                <a:ln>
                  <a:noFill/>
                </a:ln>
                <a:solidFill>
                  <a:prstClr val="black"/>
                </a:solidFill>
                <a:effectLst/>
                <a:uLnTx/>
                <a:uFillTx/>
                <a:latin typeface="Calibri"/>
                <a:ea typeface="+mn-ea"/>
                <a:cs typeface="Calibri"/>
              </a:rPr>
              <a:t>can </a:t>
            </a:r>
            <a:r>
              <a:rPr kumimoji="0" b="0" i="0" u="none" strike="noStrike" kern="1200" cap="none" spc="0" normalizeH="0" baseline="0" noProof="0" dirty="0">
                <a:ln>
                  <a:noFill/>
                </a:ln>
                <a:solidFill>
                  <a:prstClr val="black"/>
                </a:solidFill>
                <a:effectLst/>
                <a:uLnTx/>
                <a:uFillTx/>
                <a:latin typeface="Calibri"/>
                <a:ea typeface="+mn-ea"/>
                <a:cs typeface="Calibri"/>
              </a:rPr>
              <a:t>be challenging </a:t>
            </a:r>
            <a:r>
              <a:rPr kumimoji="0" b="0" i="0" u="none" strike="noStrike" kern="1200" cap="none" spc="-5" normalizeH="0" baseline="0" noProof="0" dirty="0">
                <a:ln>
                  <a:noFill/>
                </a:ln>
                <a:solidFill>
                  <a:prstClr val="black"/>
                </a:solidFill>
                <a:effectLst/>
                <a:uLnTx/>
                <a:uFillTx/>
                <a:latin typeface="Calibri"/>
                <a:ea typeface="+mn-ea"/>
                <a:cs typeface="Calibri"/>
              </a:rPr>
              <a:t>simply </a:t>
            </a:r>
            <a:r>
              <a:rPr kumimoji="0" b="0" i="0" u="none" strike="noStrike" kern="1200" cap="none" spc="0" normalizeH="0" baseline="0" noProof="0" dirty="0">
                <a:ln>
                  <a:noFill/>
                </a:ln>
                <a:solidFill>
                  <a:prstClr val="black"/>
                </a:solidFill>
                <a:effectLst/>
                <a:uLnTx/>
                <a:uFillTx/>
                <a:latin typeface="Calibri"/>
                <a:ea typeface="+mn-ea"/>
                <a:cs typeface="Calibri"/>
              </a:rPr>
              <a:t>because, unless their </a:t>
            </a:r>
            <a:r>
              <a:rPr kumimoji="0" b="0" i="0" u="none" strike="noStrike" kern="1200" cap="none" spc="-5" normalizeH="0" baseline="0" noProof="0" dirty="0">
                <a:ln>
                  <a:noFill/>
                </a:ln>
                <a:solidFill>
                  <a:prstClr val="black"/>
                </a:solidFill>
                <a:effectLst/>
                <a:uLnTx/>
                <a:uFillTx/>
                <a:latin typeface="Calibri"/>
                <a:ea typeface="+mn-ea"/>
                <a:cs typeface="Calibri"/>
              </a:rPr>
              <a:t>daily </a:t>
            </a:r>
            <a:r>
              <a:rPr kumimoji="0" b="0" i="0" u="none" strike="noStrike" kern="1200" cap="none" spc="0" normalizeH="0" baseline="0" noProof="0" dirty="0">
                <a:ln>
                  <a:noFill/>
                </a:ln>
                <a:solidFill>
                  <a:prstClr val="black"/>
                </a:solidFill>
                <a:effectLst/>
                <a:uLnTx/>
                <a:uFillTx/>
                <a:latin typeface="Calibri"/>
                <a:ea typeface="+mn-ea"/>
                <a:cs typeface="Calibri"/>
              </a:rPr>
              <a:t>duties </a:t>
            </a:r>
            <a:r>
              <a:rPr kumimoji="0" b="0" i="0" u="none" strike="noStrike" kern="1200" cap="none" spc="-15" normalizeH="0" baseline="0" noProof="0" dirty="0">
                <a:ln>
                  <a:noFill/>
                </a:ln>
                <a:solidFill>
                  <a:prstClr val="black"/>
                </a:solidFill>
                <a:effectLst/>
                <a:uLnTx/>
                <a:uFillTx/>
                <a:latin typeface="Calibri"/>
                <a:ea typeface="+mn-ea"/>
                <a:cs typeface="Calibri"/>
              </a:rPr>
              <a:t>involve </a:t>
            </a:r>
            <a:r>
              <a:rPr kumimoji="0" b="0" i="0" u="none" strike="noStrike" kern="1200" cap="none" spc="0" normalizeH="0" baseline="0" noProof="0" dirty="0">
                <a:ln>
                  <a:noFill/>
                </a:ln>
                <a:solidFill>
                  <a:prstClr val="black"/>
                </a:solidFill>
                <a:effectLst/>
                <a:uLnTx/>
                <a:uFillTx/>
                <a:latin typeface="Calibri"/>
                <a:ea typeface="+mn-ea"/>
                <a:cs typeface="Calibri"/>
              </a:rPr>
              <a:t>risk </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management</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many </a:t>
            </a:r>
            <a:r>
              <a:rPr kumimoji="0" b="0" i="0" u="none" strike="noStrike" kern="1200" cap="none" spc="0" normalizeH="0" baseline="0" noProof="0" dirty="0">
                <a:ln>
                  <a:noFill/>
                </a:ln>
                <a:solidFill>
                  <a:prstClr val="black"/>
                </a:solidFill>
                <a:effectLst/>
                <a:uLnTx/>
                <a:uFillTx/>
                <a:latin typeface="Calibri"/>
                <a:ea typeface="+mn-ea"/>
                <a:cs typeface="Calibri"/>
              </a:rPr>
              <a:t>of</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people</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receiving</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this</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information won’t</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quite</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understand </a:t>
            </a:r>
            <a:r>
              <a:rPr kumimoji="0" b="0" i="0" u="none" strike="noStrike" kern="1200" cap="none" spc="-49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 purpose </a:t>
            </a:r>
            <a:r>
              <a:rPr kumimoji="0" b="0" i="0" u="none" strike="noStrike" kern="1200" cap="none" spc="-20" normalizeH="0" baseline="0" noProof="0" dirty="0">
                <a:ln>
                  <a:noFill/>
                </a:ln>
                <a:solidFill>
                  <a:prstClr val="black"/>
                </a:solidFill>
                <a:effectLst/>
                <a:uLnTx/>
                <a:uFillTx/>
                <a:latin typeface="Calibri"/>
                <a:ea typeface="+mn-ea"/>
                <a:cs typeface="Calibri"/>
              </a:rPr>
              <a:t>for </a:t>
            </a:r>
            <a:r>
              <a:rPr kumimoji="0" b="0" i="0" u="none" strike="noStrike" kern="1200" cap="none" spc="0" normalizeH="0" baseline="0" noProof="0" dirty="0">
                <a:ln>
                  <a:noFill/>
                </a:ln>
                <a:solidFill>
                  <a:prstClr val="black"/>
                </a:solidFill>
                <a:effectLst/>
                <a:uLnTx/>
                <a:uFillTx/>
                <a:latin typeface="Calibri"/>
                <a:ea typeface="+mn-ea"/>
                <a:cs typeface="Calibri"/>
              </a:rPr>
              <a:t>the assessment, the methodology used, and </a:t>
            </a:r>
            <a:r>
              <a:rPr kumimoji="0" b="0" i="0" u="none" strike="noStrike" kern="1200" cap="none" spc="-5" normalizeH="0" baseline="0" noProof="0" dirty="0">
                <a:ln>
                  <a:noFill/>
                </a:ln>
                <a:solidFill>
                  <a:prstClr val="black"/>
                </a:solidFill>
                <a:effectLst/>
                <a:uLnTx/>
                <a:uFillTx/>
                <a:latin typeface="Calibri"/>
                <a:ea typeface="+mn-ea"/>
                <a:cs typeface="Calibri"/>
              </a:rPr>
              <a:t>how significant </a:t>
            </a:r>
            <a:r>
              <a:rPr kumimoji="0" b="0" i="0" u="none" strike="noStrike" kern="1200" cap="none" spc="0" normalizeH="0" baseline="0" noProof="0" dirty="0">
                <a:ln>
                  <a:noFill/>
                </a:ln>
                <a:solidFill>
                  <a:prstClr val="black"/>
                </a:solidFill>
                <a:effectLst/>
                <a:uLnTx/>
                <a:uFillTx/>
                <a:latin typeface="Calibri"/>
                <a:ea typeface="+mn-ea"/>
                <a:cs typeface="Calibri"/>
              </a:rPr>
              <a:t>the </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findings</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really</a:t>
            </a:r>
            <a:r>
              <a:rPr kumimoji="0" b="0" i="0" u="none" strike="noStrike" kern="1200" cap="none" spc="-3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are</a:t>
            </a:r>
            <a:endParaRPr kumimoji="0" b="0" i="0" u="none" strike="noStrike" kern="1200" cap="none" spc="0" normalizeH="0" baseline="0" noProof="0" dirty="0">
              <a:ln>
                <a:noFill/>
              </a:ln>
              <a:solidFill>
                <a:prstClr val="black"/>
              </a:solidFill>
              <a:effectLst/>
              <a:uLnTx/>
              <a:uFillTx/>
              <a:latin typeface="Calibri"/>
              <a:ea typeface="+mn-ea"/>
              <a:cs typeface="Calibri"/>
            </a:endParaRPr>
          </a:p>
          <a:p>
            <a:pPr marL="469265" marR="0" lvl="0" indent="-457200" algn="l" defTabSz="457200" rtl="0" eaLnBrk="1" fontAlgn="auto" latinLnBrk="0" hangingPunct="1">
              <a:lnSpc>
                <a:spcPts val="2565"/>
              </a:lnSpc>
              <a:spcBef>
                <a:spcPts val="735"/>
              </a:spcBef>
              <a:spcAft>
                <a:spcPts val="0"/>
              </a:spcAft>
              <a:buClrTx/>
              <a:buSzTx/>
              <a:buFont typeface="+mj-lt"/>
              <a:buAutoNum type="arabicPeriod"/>
              <a:tabLst>
                <a:tab pos="241300" algn="l"/>
                <a:tab pos="241935" algn="l"/>
              </a:tabLst>
              <a:defRPr/>
            </a:pPr>
            <a:r>
              <a:rPr kumimoji="0" b="0" i="0" u="none" strike="noStrike" kern="1200" cap="none" spc="0" normalizeH="0" baseline="0" noProof="0" dirty="0">
                <a:ln>
                  <a:noFill/>
                </a:ln>
                <a:solidFill>
                  <a:prstClr val="black"/>
                </a:solidFill>
                <a:effectLst/>
                <a:uLnTx/>
                <a:uFillTx/>
                <a:latin typeface="Calibri"/>
                <a:ea typeface="+mn-ea"/>
                <a:cs typeface="Calibri"/>
              </a:rPr>
              <a:t>They</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should</a:t>
            </a:r>
            <a:r>
              <a:rPr kumimoji="0" b="0" i="0" u="none" strike="noStrike" kern="1200" cap="none" spc="-2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understand</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how</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IT</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risk</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relates</a:t>
            </a:r>
            <a:r>
              <a:rPr kumimoji="0" b="0" i="0" u="none" strike="noStrike" kern="1200" cap="none" spc="-3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to</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10" normalizeH="0" baseline="0" noProof="0" dirty="0">
                <a:ln>
                  <a:noFill/>
                </a:ln>
                <a:solidFill>
                  <a:prstClr val="black"/>
                </a:solidFill>
                <a:effectLst/>
                <a:uLnTx/>
                <a:uFillTx/>
                <a:latin typeface="Calibri"/>
                <a:ea typeface="+mn-ea"/>
                <a:cs typeface="Calibri"/>
              </a:rPr>
              <a:t>any</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impact</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on</a:t>
            </a:r>
            <a:r>
              <a:rPr kumimoji="0"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their</a:t>
            </a:r>
            <a:r>
              <a:rPr kumimoji="0" b="0" i="0" u="none" strike="noStrike" kern="1200" cap="none" spc="-10"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business</a:t>
            </a:r>
            <a:r>
              <a:rPr kumimoji="0" b="0" i="0" u="none" strike="noStrike" kern="1200" cap="none" spc="-3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processes</a:t>
            </a:r>
            <a:r>
              <a:rPr kumimoji="0" lang="en-US" b="0" i="0" u="none" strike="noStrike" kern="1200" cap="none" spc="-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a:t>
            </a:r>
            <a:r>
              <a:rPr kumimoji="0" b="0" i="0" u="none" strike="noStrike" kern="1200" cap="none" spc="-35"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operations.</a:t>
            </a:r>
            <a:endParaRPr kumimoji="0" b="0" i="0" u="none" strike="noStrike" kern="1200" cap="none" spc="0" normalizeH="0" baseline="0" noProof="0" dirty="0">
              <a:ln>
                <a:noFill/>
              </a:ln>
              <a:solidFill>
                <a:prstClr val="black"/>
              </a:solidFill>
              <a:effectLst/>
              <a:uLnTx/>
              <a:uFillTx/>
              <a:latin typeface="Calibri"/>
              <a:ea typeface="+mn-ea"/>
              <a:cs typeface="Calibri"/>
            </a:endParaRPr>
          </a:p>
          <a:p>
            <a:pPr marL="469265" marR="5080" lvl="0" indent="-457200" algn="l" defTabSz="457200" rtl="0" eaLnBrk="1" fontAlgn="auto" latinLnBrk="0" hangingPunct="1">
              <a:lnSpc>
                <a:spcPct val="90000"/>
              </a:lnSpc>
              <a:spcBef>
                <a:spcPts val="1000"/>
              </a:spcBef>
              <a:spcAft>
                <a:spcPts val="0"/>
              </a:spcAft>
              <a:buClrTx/>
              <a:buSzTx/>
              <a:buFont typeface="+mj-lt"/>
              <a:buAutoNum type="arabicPeriod"/>
              <a:tabLst>
                <a:tab pos="241300" algn="l"/>
                <a:tab pos="241935" algn="l"/>
              </a:tabLst>
              <a:defRPr/>
            </a:pP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 risk should be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communicated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 such a </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way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different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asset, risk, and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control </a:t>
            </a:r>
            <a:r>
              <a:rPr kumimoji="0" b="0" i="0" u="none" strike="noStrike" kern="1200" cap="none" spc="-49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owners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are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made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aware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how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affects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confidentiality, </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integrity,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availability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information</a:t>
            </a:r>
            <a:r>
              <a:rPr kumimoji="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systems</a:t>
            </a:r>
            <a:r>
              <a:rPr kumimoji="0" b="0" i="0" u="none" strike="noStrike" kern="1200" cap="none" spc="-3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 </a:t>
            </a:r>
            <a:r>
              <a:rPr kumimoji="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data</a:t>
            </a:r>
            <a:r>
              <a:rPr kumimoji="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support</a:t>
            </a:r>
            <a:r>
              <a:rPr kumimoji="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their business</a:t>
            </a:r>
            <a:r>
              <a:rPr kumimoji="0" b="0" i="0" u="none" strike="noStrike" kern="1200" cap="none" spc="-4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processes.</a:t>
            </a:r>
            <a:endParaRPr kumimoji="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150495" lvl="0" indent="-457200" algn="l" defTabSz="457200" rtl="0" eaLnBrk="1" fontAlgn="auto" latinLnBrk="0" hangingPunct="1">
              <a:lnSpc>
                <a:spcPct val="90000"/>
              </a:lnSpc>
              <a:spcBef>
                <a:spcPts val="1005"/>
              </a:spcBef>
              <a:spcAft>
                <a:spcPts val="0"/>
              </a:spcAft>
              <a:buClrTx/>
              <a:buSzTx/>
              <a:buFont typeface="+mj-lt"/>
              <a:buAutoNum type="arabicPeriod"/>
              <a:tabLst>
                <a:tab pos="241300" algn="l"/>
                <a:tab pos="241935" algn="l"/>
              </a:tabLst>
              <a:defRPr/>
            </a:pPr>
            <a:r>
              <a:rPr kumimoji="0" b="0" i="0" u="none" strike="noStrike" kern="1200" cap="none" spc="-15" normalizeH="0" baseline="0" noProof="0" dirty="0">
                <a:ln>
                  <a:noFill/>
                </a:ln>
                <a:solidFill>
                  <a:prstClr val="black"/>
                </a:solidFill>
                <a:effectLst/>
                <a:uLnTx/>
                <a:uFillTx/>
                <a:latin typeface="Calibri"/>
                <a:ea typeface="+mn-ea"/>
                <a:cs typeface="Calibri"/>
              </a:rPr>
              <a:t>Stakeholders </a:t>
            </a:r>
            <a:r>
              <a:rPr kumimoji="0" b="0" i="0" u="none" strike="noStrike" kern="1200" cap="none" spc="0" normalizeH="0" baseline="0" noProof="0" dirty="0">
                <a:ln>
                  <a:noFill/>
                </a:ln>
                <a:solidFill>
                  <a:prstClr val="black"/>
                </a:solidFill>
                <a:effectLst/>
                <a:uLnTx/>
                <a:uFillTx/>
                <a:latin typeface="Calibri"/>
                <a:ea typeface="+mn-ea"/>
                <a:cs typeface="Calibri"/>
              </a:rPr>
              <a:t>should also be </a:t>
            </a:r>
            <a:r>
              <a:rPr kumimoji="0" b="0" i="0" u="none" strike="noStrike" kern="1200" cap="none" spc="-10" normalizeH="0" baseline="0" noProof="0" dirty="0">
                <a:ln>
                  <a:noFill/>
                </a:ln>
                <a:solidFill>
                  <a:prstClr val="black"/>
                </a:solidFill>
                <a:effectLst/>
                <a:uLnTx/>
                <a:uFillTx/>
                <a:latin typeface="Calibri"/>
                <a:ea typeface="+mn-ea"/>
                <a:cs typeface="Calibri"/>
              </a:rPr>
              <a:t>educated </a:t>
            </a:r>
            <a:r>
              <a:rPr kumimoji="0" b="0" i="0" u="none" strike="noStrike" kern="1200" cap="none" spc="0" normalizeH="0" baseline="0" noProof="0" dirty="0">
                <a:ln>
                  <a:noFill/>
                </a:ln>
                <a:solidFill>
                  <a:prstClr val="black"/>
                </a:solidFill>
                <a:effectLst/>
                <a:uLnTx/>
                <a:uFillTx/>
                <a:latin typeface="Calibri"/>
                <a:ea typeface="+mn-ea"/>
                <a:cs typeface="Calibri"/>
              </a:rPr>
              <a:t>on the </a:t>
            </a:r>
            <a:r>
              <a:rPr kumimoji="0" b="0" i="0" u="none" strike="noStrike" kern="1200" cap="none" spc="-15" normalizeH="0" baseline="0" noProof="0" dirty="0">
                <a:ln>
                  <a:noFill/>
                </a:ln>
                <a:solidFill>
                  <a:prstClr val="black"/>
                </a:solidFill>
                <a:effectLst/>
                <a:uLnTx/>
                <a:uFillTx/>
                <a:latin typeface="Calibri"/>
                <a:ea typeface="+mn-ea"/>
                <a:cs typeface="Calibri"/>
              </a:rPr>
              <a:t>different </a:t>
            </a:r>
            <a:r>
              <a:rPr kumimoji="0" b="0" i="0" u="none" strike="noStrike" kern="1200" cap="none" spc="0" normalizeH="0" baseline="0" noProof="0" dirty="0">
                <a:ln>
                  <a:noFill/>
                </a:ln>
                <a:solidFill>
                  <a:prstClr val="black"/>
                </a:solidFill>
                <a:effectLst/>
                <a:uLnTx/>
                <a:uFillTx/>
                <a:latin typeface="Calibri"/>
                <a:ea typeface="+mn-ea"/>
                <a:cs typeface="Calibri"/>
              </a:rPr>
              <a:t>risk response options </a:t>
            </a:r>
            <a:r>
              <a:rPr kumimoji="0" b="0" i="0" u="none" strike="noStrike" kern="1200" cap="none" spc="-10" normalizeH="0" baseline="0" noProof="0" dirty="0">
                <a:ln>
                  <a:noFill/>
                </a:ln>
                <a:solidFill>
                  <a:prstClr val="black"/>
                </a:solidFill>
                <a:effectLst/>
                <a:uLnTx/>
                <a:uFillTx/>
                <a:latin typeface="Calibri"/>
                <a:ea typeface="+mn-ea"/>
                <a:cs typeface="Calibri"/>
              </a:rPr>
              <a:t>available </a:t>
            </a:r>
            <a:r>
              <a:rPr kumimoji="0" b="0" i="0" u="none" strike="noStrike" kern="1200" cap="none" spc="-49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since </a:t>
            </a:r>
            <a:r>
              <a:rPr kumimoji="0" b="0" i="0" u="none" strike="noStrike" kern="1200" cap="none" spc="-10" normalizeH="0" baseline="0" noProof="0" dirty="0">
                <a:ln>
                  <a:noFill/>
                </a:ln>
                <a:solidFill>
                  <a:prstClr val="black"/>
                </a:solidFill>
                <a:effectLst/>
                <a:uLnTx/>
                <a:uFillTx/>
                <a:latin typeface="Calibri"/>
                <a:ea typeface="+mn-ea"/>
                <a:cs typeface="Calibri"/>
              </a:rPr>
              <a:t>often </a:t>
            </a:r>
            <a:r>
              <a:rPr kumimoji="0" b="0" i="0" u="none" strike="noStrike" kern="1200" cap="none" spc="0" normalizeH="0" baseline="0" noProof="0" dirty="0">
                <a:ln>
                  <a:noFill/>
                </a:ln>
                <a:solidFill>
                  <a:prstClr val="black"/>
                </a:solidFill>
                <a:effectLst/>
                <a:uLnTx/>
                <a:uFillTx/>
                <a:latin typeface="Calibri"/>
                <a:ea typeface="+mn-ea"/>
                <a:cs typeface="Calibri"/>
              </a:rPr>
              <a:t>they </a:t>
            </a:r>
            <a:r>
              <a:rPr kumimoji="0" b="0" i="0" u="none" strike="noStrike" kern="1200" cap="none" spc="-5" normalizeH="0" baseline="0" noProof="0" dirty="0">
                <a:ln>
                  <a:noFill/>
                </a:ln>
                <a:solidFill>
                  <a:prstClr val="black"/>
                </a:solidFill>
                <a:effectLst/>
                <a:uLnTx/>
                <a:uFillTx/>
                <a:latin typeface="Calibri"/>
                <a:ea typeface="+mn-ea"/>
                <a:cs typeface="Calibri"/>
              </a:rPr>
              <a:t>will </a:t>
            </a:r>
            <a:r>
              <a:rPr kumimoji="0" b="0" i="0" u="none" strike="noStrike" kern="1200" cap="none" spc="0" normalizeH="0" baseline="0" noProof="0" dirty="0">
                <a:ln>
                  <a:noFill/>
                </a:ln>
                <a:solidFill>
                  <a:prstClr val="black"/>
                </a:solidFill>
                <a:effectLst/>
                <a:uLnTx/>
                <a:uFillTx/>
                <a:latin typeface="Calibri"/>
                <a:ea typeface="+mn-ea"/>
                <a:cs typeface="Calibri"/>
              </a:rPr>
              <a:t>be </a:t>
            </a:r>
            <a:r>
              <a:rPr kumimoji="0" b="0" i="0" u="none" strike="noStrike" kern="1200" cap="none" spc="-5" normalizeH="0" baseline="0" noProof="0" dirty="0">
                <a:ln>
                  <a:noFill/>
                </a:ln>
                <a:solidFill>
                  <a:prstClr val="black"/>
                </a:solidFill>
                <a:effectLst/>
                <a:uLnTx/>
                <a:uFillTx/>
                <a:latin typeface="Calibri"/>
                <a:ea typeface="+mn-ea"/>
                <a:cs typeface="Calibri"/>
              </a:rPr>
              <a:t>responsible </a:t>
            </a:r>
            <a:r>
              <a:rPr kumimoji="0" b="0" i="0" u="none" strike="noStrike" kern="1200" cap="none" spc="-20" normalizeH="0" baseline="0" noProof="0" dirty="0">
                <a:ln>
                  <a:noFill/>
                </a:ln>
                <a:solidFill>
                  <a:prstClr val="black"/>
                </a:solidFill>
                <a:effectLst/>
                <a:uLnTx/>
                <a:uFillTx/>
                <a:latin typeface="Calibri"/>
                <a:ea typeface="+mn-ea"/>
                <a:cs typeface="Calibri"/>
              </a:rPr>
              <a:t>for </a:t>
            </a:r>
            <a:r>
              <a:rPr kumimoji="0" b="0" i="0" u="none" strike="noStrike" kern="1200" cap="none" spc="-5" normalizeH="0" baseline="0" noProof="0" dirty="0">
                <a:ln>
                  <a:noFill/>
                </a:ln>
                <a:solidFill>
                  <a:prstClr val="black"/>
                </a:solidFill>
                <a:effectLst/>
                <a:uLnTx/>
                <a:uFillTx/>
                <a:latin typeface="Calibri"/>
                <a:ea typeface="+mn-ea"/>
                <a:cs typeface="Calibri"/>
              </a:rPr>
              <a:t>resourcing </a:t>
            </a:r>
            <a:r>
              <a:rPr kumimoji="0" b="0" i="0" u="none" strike="noStrike" kern="1200" cap="none" spc="0" normalizeH="0" baseline="0" noProof="0" dirty="0">
                <a:ln>
                  <a:noFill/>
                </a:ln>
                <a:solidFill>
                  <a:prstClr val="black"/>
                </a:solidFill>
                <a:effectLst/>
                <a:uLnTx/>
                <a:uFillTx/>
                <a:latin typeface="Calibri"/>
                <a:ea typeface="+mn-ea"/>
                <a:cs typeface="Calibri"/>
              </a:rPr>
              <a:t>these options </a:t>
            </a:r>
            <a:r>
              <a:rPr kumimoji="0" b="0" i="0" u="none" strike="noStrike" kern="1200" cap="none" spc="-10" normalizeH="0" baseline="0" noProof="0" dirty="0">
                <a:ln>
                  <a:noFill/>
                </a:ln>
                <a:solidFill>
                  <a:prstClr val="black"/>
                </a:solidFill>
                <a:effectLst/>
                <a:uLnTx/>
                <a:uFillTx/>
                <a:latin typeface="Calibri"/>
                <a:ea typeface="+mn-ea"/>
                <a:cs typeface="Calibri"/>
              </a:rPr>
              <a:t>from </a:t>
            </a:r>
            <a:r>
              <a:rPr kumimoji="0" b="0" i="0" u="none" strike="noStrike" kern="1200" cap="none" spc="0" normalizeH="0" baseline="0" noProof="0" dirty="0">
                <a:ln>
                  <a:noFill/>
                </a:ln>
                <a:solidFill>
                  <a:prstClr val="black"/>
                </a:solidFill>
                <a:effectLst/>
                <a:uLnTx/>
                <a:uFillTx/>
                <a:latin typeface="Calibri"/>
                <a:ea typeface="+mn-ea"/>
                <a:cs typeface="Calibri"/>
              </a:rPr>
              <a:t>their </a:t>
            </a:r>
            <a:r>
              <a:rPr kumimoji="0" b="0" i="0" u="none" strike="noStrike" kern="1200" cap="none" spc="-5" normalizeH="0" baseline="0" noProof="0" dirty="0">
                <a:ln>
                  <a:noFill/>
                </a:ln>
                <a:solidFill>
                  <a:prstClr val="black"/>
                </a:solidFill>
                <a:effectLst/>
                <a:uLnTx/>
                <a:uFillTx/>
                <a:latin typeface="Calibri"/>
                <a:ea typeface="+mn-ea"/>
                <a:cs typeface="Calibri"/>
              </a:rPr>
              <a:t>own </a:t>
            </a:r>
            <a:r>
              <a:rPr kumimoji="0" b="0" i="0" u="none" strike="noStrike" kern="1200" cap="none" spc="0" normalizeH="0" baseline="0" noProof="0" dirty="0">
                <a:ln>
                  <a:noFill/>
                </a:ln>
                <a:solidFill>
                  <a:prstClr val="black"/>
                </a:solidFill>
                <a:effectLst/>
                <a:uLnTx/>
                <a:uFillTx/>
                <a:latin typeface="Calibri"/>
                <a:ea typeface="+mn-ea"/>
                <a:cs typeface="Calibri"/>
              </a:rPr>
              <a:t> </a:t>
            </a:r>
            <a:r>
              <a:rPr kumimoji="0" b="0" i="0" u="none" strike="noStrike" kern="1200" cap="none" spc="-5" normalizeH="0" baseline="0" noProof="0" dirty="0">
                <a:ln>
                  <a:noFill/>
                </a:ln>
                <a:solidFill>
                  <a:prstClr val="black"/>
                </a:solidFill>
                <a:effectLst/>
                <a:uLnTx/>
                <a:uFillTx/>
                <a:latin typeface="Calibri"/>
                <a:ea typeface="+mn-ea"/>
                <a:cs typeface="Calibri"/>
              </a:rPr>
              <a:t>budgets</a:t>
            </a:r>
            <a:r>
              <a:rPr kumimoji="0" b="0" i="0" u="none" strike="noStrike" kern="1200" cap="none" spc="-1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and implementing</a:t>
            </a:r>
            <a:r>
              <a:rPr kumimoji="0" b="0" i="0" u="none" strike="noStrike" kern="1200" cap="none" spc="-25" normalizeH="0" baseline="0" noProof="0" dirty="0">
                <a:ln>
                  <a:noFill/>
                </a:ln>
                <a:solidFill>
                  <a:prstClr val="black"/>
                </a:solidFill>
                <a:effectLst/>
                <a:uLnTx/>
                <a:uFillTx/>
                <a:latin typeface="Calibri"/>
                <a:ea typeface="+mn-ea"/>
                <a:cs typeface="Calibri"/>
              </a:rPr>
              <a:t> </a:t>
            </a:r>
            <a:r>
              <a:rPr kumimoji="0" b="0" i="0" u="none" strike="noStrike" kern="1200" cap="none" spc="0" normalizeH="0" baseline="0" noProof="0" dirty="0">
                <a:ln>
                  <a:noFill/>
                </a:ln>
                <a:solidFill>
                  <a:prstClr val="black"/>
                </a:solidFill>
                <a:effectLst/>
                <a:uLnTx/>
                <a:uFillTx/>
                <a:latin typeface="Calibri"/>
                <a:ea typeface="+mn-ea"/>
                <a:cs typeface="Calibri"/>
              </a:rPr>
              <a:t>them.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40" dirty="0">
                <a:solidFill>
                  <a:srgbClr val="074891"/>
                </a:solidFill>
                <a:uFill>
                  <a:solidFill>
                    <a:srgbClr val="000000"/>
                  </a:solidFill>
                </a:uFill>
              </a:rPr>
              <a:t>Results</a:t>
            </a:r>
            <a:r>
              <a:rPr sz="4400" u="sng" spc="-120" dirty="0">
                <a:solidFill>
                  <a:srgbClr val="074891"/>
                </a:solidFill>
                <a:uFill>
                  <a:solidFill>
                    <a:srgbClr val="000000"/>
                  </a:solidFill>
                </a:uFill>
              </a:rPr>
              <a:t> </a:t>
            </a:r>
            <a:r>
              <a:rPr sz="4400" u="sng" spc="-45" dirty="0">
                <a:solidFill>
                  <a:srgbClr val="074891"/>
                </a:solidFill>
                <a:uFill>
                  <a:solidFill>
                    <a:srgbClr val="000000"/>
                  </a:solidFill>
                </a:uFill>
              </a:rPr>
              <a:t>Documentation</a:t>
            </a:r>
            <a:br>
              <a:rPr lang="en-US" sz="4400" u="heavy" spc="-45" dirty="0">
                <a:solidFill>
                  <a:srgbClr val="074891"/>
                </a:solidFill>
                <a:uFill>
                  <a:solidFill>
                    <a:srgbClr val="000000"/>
                  </a:solidFill>
                </a:uFill>
              </a:rPr>
            </a:br>
            <a:endParaRPr sz="4400" dirty="0"/>
          </a:p>
        </p:txBody>
      </p:sp>
      <p:sp>
        <p:nvSpPr>
          <p:cNvPr id="3" name="object 3"/>
          <p:cNvSpPr txBox="1"/>
          <p:nvPr/>
        </p:nvSpPr>
        <p:spPr>
          <a:xfrm>
            <a:off x="2082508" y="1527908"/>
            <a:ext cx="7811770" cy="3471207"/>
          </a:xfrm>
          <a:prstGeom prst="rect">
            <a:avLst/>
          </a:prstGeom>
        </p:spPr>
        <p:txBody>
          <a:bodyPr vert="horz" wrap="square" lIns="0" tIns="92075" rIns="0" bIns="0" rtlCol="0">
            <a:spAutoFit/>
          </a:bodyPr>
          <a:lstStyle/>
          <a:p>
            <a:pPr marL="354965" marR="361315" lvl="0" indent="-342900" algn="l" defTabSz="457200" rtl="0" eaLnBrk="1" fontAlgn="auto" latinLnBrk="0" hangingPunct="1">
              <a:lnSpc>
                <a:spcPct val="80000"/>
              </a:lnSpc>
              <a:spcBef>
                <a:spcPts val="725"/>
              </a:spcBef>
              <a:spcAft>
                <a:spcPts val="0"/>
              </a:spcAft>
              <a:buClrTx/>
              <a:buSzTx/>
              <a:buFont typeface="+mj-lt"/>
              <a:buAutoNum type="arabicPeriod"/>
              <a:tabLst>
                <a:tab pos="241935" algn="l"/>
                <a:tab pos="8306434" algn="l"/>
              </a:tabLst>
              <a:defRPr/>
            </a:pPr>
            <a:r>
              <a:rPr kumimoji="0" sz="1600" b="1" i="0" u="none" strike="noStrike" kern="1200" cap="none" spc="-5" normalizeH="0" baseline="0" noProof="0" dirty="0">
                <a:ln>
                  <a:noFill/>
                </a:ln>
                <a:solidFill>
                  <a:srgbClr val="7030A0"/>
                </a:solidFill>
                <a:effectLst/>
                <a:uLnTx/>
                <a:uFillTx/>
                <a:latin typeface="Berlin Sans FB Demi" panose="020E0802020502020306" pitchFamily="34" charset="0"/>
                <a:ea typeface="+mn-ea"/>
                <a:cs typeface="Calibri"/>
              </a:rPr>
              <a:t>Documentation</a:t>
            </a:r>
            <a:r>
              <a:rPr kumimoji="0" sz="2000" b="1"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includes </a:t>
            </a:r>
            <a:r>
              <a:rPr kumimoji="0" sz="2000" b="0" i="0" u="none" strike="noStrike" kern="1200" cap="none" spc="-5" normalizeH="0" baseline="0" noProof="0" dirty="0">
                <a:ln>
                  <a:noFill/>
                </a:ln>
                <a:solidFill>
                  <a:prstClr val="black"/>
                </a:solidFill>
                <a:effectLst/>
                <a:uLnTx/>
                <a:uFillTx/>
                <a:latin typeface="Calibri"/>
                <a:ea typeface="+mn-ea"/>
                <a:cs typeface="Calibri"/>
              </a:rPr>
              <a:t>presenting </a:t>
            </a:r>
            <a:r>
              <a:rPr kumimoji="0" sz="2000" b="0" i="0" u="none" strike="noStrike" kern="1200" cap="none" spc="0" normalizeH="0" baseline="0" noProof="0" dirty="0">
                <a:ln>
                  <a:noFill/>
                </a:ln>
                <a:solidFill>
                  <a:prstClr val="black"/>
                </a:solidFill>
                <a:effectLst/>
                <a:uLnTx/>
                <a:uFillTx/>
                <a:latin typeface="Calibri"/>
                <a:ea typeface="+mn-ea"/>
                <a:cs typeface="Calibri"/>
              </a:rPr>
              <a:t>an </a:t>
            </a:r>
            <a:r>
              <a:rPr kumimoji="0" sz="2000" b="0" i="0" u="none" strike="noStrike" kern="1200" cap="none" spc="-15" normalizeH="0" baseline="0" noProof="0" dirty="0">
                <a:ln>
                  <a:noFill/>
                </a:ln>
                <a:solidFill>
                  <a:prstClr val="black"/>
                </a:solidFill>
                <a:effectLst/>
                <a:uLnTx/>
                <a:uFillTx/>
                <a:latin typeface="Calibri"/>
                <a:ea typeface="+mn-ea"/>
                <a:cs typeface="Calibri"/>
              </a:rPr>
              <a:t>executive </a:t>
            </a:r>
            <a:r>
              <a:rPr kumimoji="0" sz="2000" b="0" i="0" u="none" strike="noStrike" kern="1200" cap="none" spc="-5" normalizeH="0" baseline="0" noProof="0" dirty="0">
                <a:ln>
                  <a:noFill/>
                </a:ln>
                <a:solidFill>
                  <a:prstClr val="black"/>
                </a:solidFill>
                <a:effectLst/>
                <a:uLnTx/>
                <a:uFillTx/>
                <a:latin typeface="Calibri"/>
                <a:ea typeface="+mn-ea"/>
                <a:cs typeface="Calibri"/>
              </a:rPr>
              <a:t>summary </a:t>
            </a:r>
            <a:r>
              <a:rPr kumimoji="0" sz="2000" b="0" i="0" u="none" strike="noStrike" kern="1200" cap="none" spc="0" normalizeH="0" baseline="0" noProof="0" dirty="0">
                <a:ln>
                  <a:noFill/>
                </a:ln>
                <a:solidFill>
                  <a:prstClr val="black"/>
                </a:solidFill>
                <a:effectLst/>
                <a:uLnTx/>
                <a:uFillTx/>
                <a:latin typeface="Calibri"/>
                <a:ea typeface="+mn-ea"/>
                <a:cs typeface="Calibri"/>
              </a:rPr>
              <a:t>and </a:t>
            </a:r>
            <a:r>
              <a:rPr kumimoji="0" sz="2000" b="0" i="0" u="none" strike="noStrike" kern="1200" cap="none" spc="-10" normalizeH="0" baseline="0" noProof="0" dirty="0">
                <a:ln>
                  <a:noFill/>
                </a:ln>
                <a:solidFill>
                  <a:prstClr val="black"/>
                </a:solidFill>
                <a:effectLst/>
                <a:uLnTx/>
                <a:uFillTx/>
                <a:latin typeface="Calibri"/>
                <a:ea typeface="+mn-ea"/>
                <a:cs typeface="Calibri"/>
              </a:rPr>
              <a:t>briefly </a:t>
            </a:r>
            <a:r>
              <a:rPr kumimoji="0" sz="2000" b="0" i="0" u="none" strike="noStrike" kern="1200" cap="none" spc="-5" normalizeH="0" baseline="0" noProof="0" dirty="0">
                <a:ln>
                  <a:noFill/>
                </a:ln>
                <a:solidFill>
                  <a:prstClr val="black"/>
                </a:solidFill>
                <a:effectLst/>
                <a:uLnTx/>
                <a:uFillTx/>
                <a:latin typeface="Calibri"/>
                <a:ea typeface="+mn-ea"/>
                <a:cs typeface="Calibri"/>
              </a:rPr>
              <a:t> describes </a:t>
            </a:r>
            <a:r>
              <a:rPr kumimoji="0" sz="2000" b="0" i="0" u="none" strike="noStrike" kern="1200" cap="none" spc="0" normalizeH="0" baseline="0" noProof="0" dirty="0">
                <a:ln>
                  <a:noFill/>
                </a:ln>
                <a:solidFill>
                  <a:prstClr val="black"/>
                </a:solidFill>
                <a:effectLst/>
                <a:uLnTx/>
                <a:uFillTx/>
                <a:latin typeface="Calibri"/>
                <a:ea typeface="+mn-ea"/>
                <a:cs typeface="Calibri"/>
              </a:rPr>
              <a:t>the risk </a:t>
            </a:r>
            <a:r>
              <a:rPr kumimoji="0" sz="2000" b="0" i="0" u="none" strike="noStrike" kern="1200" cap="none" spc="-5" normalizeH="0" baseline="0" noProof="0" dirty="0">
                <a:ln>
                  <a:noFill/>
                </a:ln>
                <a:solidFill>
                  <a:prstClr val="black"/>
                </a:solidFill>
                <a:effectLst/>
                <a:uLnTx/>
                <a:uFillTx/>
                <a:latin typeface="Calibri"/>
                <a:ea typeface="+mn-ea"/>
                <a:cs typeface="Calibri"/>
              </a:rPr>
              <a:t>analysis results, </a:t>
            </a:r>
            <a:r>
              <a:rPr kumimoji="0" sz="2000" b="0" i="0" u="none" strike="noStrike" kern="1200" cap="none" spc="0" normalizeH="0" baseline="0" noProof="0" dirty="0">
                <a:ln>
                  <a:noFill/>
                </a:ln>
                <a:solidFill>
                  <a:prstClr val="black"/>
                </a:solidFill>
                <a:effectLst/>
                <a:uLnTx/>
                <a:uFillTx/>
                <a:latin typeface="Calibri"/>
                <a:ea typeface="+mn-ea"/>
                <a:cs typeface="Calibri"/>
              </a:rPr>
              <a:t>as </a:t>
            </a:r>
            <a:r>
              <a:rPr kumimoji="0" sz="2000" b="0" i="0" u="none" strike="noStrike" kern="1200" cap="none" spc="-10" normalizeH="0" baseline="0" noProof="0" dirty="0">
                <a:ln>
                  <a:noFill/>
                </a:ln>
                <a:solidFill>
                  <a:prstClr val="black"/>
                </a:solidFill>
                <a:effectLst/>
                <a:uLnTx/>
                <a:uFillTx/>
                <a:latin typeface="Calibri"/>
                <a:ea typeface="+mn-ea"/>
                <a:cs typeface="Calibri"/>
              </a:rPr>
              <a:t>well </a:t>
            </a:r>
            <a:r>
              <a:rPr kumimoji="0" sz="2000" b="0" i="0" u="none" strike="noStrike" kern="1200" cap="none" spc="0" normalizeH="0" baseline="0" noProof="0" dirty="0">
                <a:ln>
                  <a:noFill/>
                </a:ln>
                <a:solidFill>
                  <a:prstClr val="black"/>
                </a:solidFill>
                <a:effectLst/>
                <a:uLnTx/>
                <a:uFillTx/>
                <a:latin typeface="Calibri"/>
                <a:ea typeface="+mn-ea"/>
                <a:cs typeface="Calibri"/>
              </a:rPr>
              <a:t>as the </a:t>
            </a:r>
            <a:r>
              <a:rPr kumimoji="0" sz="2000" b="0" i="0" u="none" strike="noStrike" kern="1200" cap="none" spc="-10" normalizeH="0" baseline="0" noProof="0" dirty="0">
                <a:ln>
                  <a:noFill/>
                </a:ln>
                <a:solidFill>
                  <a:prstClr val="black"/>
                </a:solidFill>
                <a:effectLst/>
                <a:uLnTx/>
                <a:uFillTx/>
                <a:latin typeface="Calibri"/>
                <a:ea typeface="+mn-ea"/>
                <a:cs typeface="Calibri"/>
              </a:rPr>
              <a:t>general </a:t>
            </a:r>
            <a:r>
              <a:rPr kumimoji="0" sz="2000" b="0" i="0" u="none" strike="noStrike" kern="1200" cap="none" spc="0" normalizeH="0" baseline="0" noProof="0" dirty="0">
                <a:ln>
                  <a:noFill/>
                </a:ln>
                <a:solidFill>
                  <a:prstClr val="black"/>
                </a:solidFill>
                <a:effectLst/>
                <a:uLnTx/>
                <a:uFillTx/>
                <a:latin typeface="Calibri"/>
                <a:ea typeface="+mn-ea"/>
                <a:cs typeface="Calibri"/>
              </a:rPr>
              <a:t>aspects </a:t>
            </a:r>
            <a:r>
              <a:rPr kumimoji="0" sz="2000" b="0" i="0" u="none" strike="noStrike" kern="1200" cap="none" spc="-5" normalizeH="0" baseline="0" noProof="0" dirty="0">
                <a:ln>
                  <a:noFill/>
                </a:ln>
                <a:solidFill>
                  <a:prstClr val="black"/>
                </a:solidFill>
                <a:effectLst/>
                <a:uLnTx/>
                <a:uFillTx/>
                <a:latin typeface="Calibri"/>
                <a:ea typeface="+mn-ea"/>
                <a:cs typeface="Calibri"/>
              </a:rPr>
              <a:t>of </a:t>
            </a:r>
            <a:r>
              <a:rPr kumimoji="0" sz="2000" b="0" i="0" u="none" strike="noStrike" kern="1200" cap="none" spc="0" normalizeH="0" baseline="0" noProof="0" dirty="0">
                <a:ln>
                  <a:noFill/>
                </a:ln>
                <a:solidFill>
                  <a:prstClr val="black"/>
                </a:solidFill>
                <a:effectLst/>
                <a:uLnTx/>
                <a:uFillTx/>
                <a:latin typeface="Calibri"/>
                <a:ea typeface="+mn-ea"/>
                <a:cs typeface="Calibri"/>
              </a:rPr>
              <a:t>the </a:t>
            </a:r>
            <a:r>
              <a:rPr kumimoji="0" sz="2000" b="0" i="0" u="none" strike="noStrike" kern="1200" cap="none" spc="-58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assessment </a:t>
            </a:r>
            <a:r>
              <a:rPr kumimoji="0" sz="2000" b="0" i="0" u="none" strike="noStrike" kern="1200" cap="none" spc="-25" normalizeH="0" baseline="0" noProof="0" dirty="0">
                <a:ln>
                  <a:noFill/>
                </a:ln>
                <a:solidFill>
                  <a:prstClr val="black"/>
                </a:solidFill>
                <a:effectLst/>
                <a:uLnTx/>
                <a:uFillTx/>
                <a:latin typeface="Calibri"/>
                <a:ea typeface="+mn-ea"/>
                <a:cs typeface="Calibri"/>
              </a:rPr>
              <a:t>itself, </a:t>
            </a:r>
            <a:r>
              <a:rPr kumimoji="0" sz="2000" b="0" i="0" u="none" strike="noStrike" kern="1200" cap="none" spc="0" normalizeH="0" baseline="0" noProof="0" dirty="0">
                <a:ln>
                  <a:noFill/>
                </a:ln>
                <a:solidFill>
                  <a:prstClr val="black"/>
                </a:solidFill>
                <a:effectLst/>
                <a:uLnTx/>
                <a:uFillTx/>
                <a:latin typeface="Calibri"/>
                <a:ea typeface="+mn-ea"/>
                <a:cs typeface="Calibri"/>
              </a:rPr>
              <a:t>including </a:t>
            </a:r>
            <a:r>
              <a:rPr kumimoji="0" sz="2000" b="0" i="0" u="none" strike="noStrike" kern="1200" cap="none" spc="-10" normalizeH="0" baseline="0" noProof="0" dirty="0">
                <a:ln>
                  <a:noFill/>
                </a:ln>
                <a:solidFill>
                  <a:prstClr val="black"/>
                </a:solidFill>
                <a:effectLst/>
                <a:uLnTx/>
                <a:uFillTx/>
                <a:latin typeface="Calibri"/>
                <a:ea typeface="+mn-ea"/>
                <a:cs typeface="Calibri"/>
              </a:rPr>
              <a:t>scope, </a:t>
            </a:r>
            <a:r>
              <a:rPr kumimoji="0" sz="2000" b="0" i="0" u="none" strike="noStrike" kern="1200" cap="none" spc="-5" normalizeH="0" baseline="0" noProof="0" dirty="0">
                <a:ln>
                  <a:noFill/>
                </a:ln>
                <a:solidFill>
                  <a:prstClr val="black"/>
                </a:solidFill>
                <a:effectLst/>
                <a:uLnTx/>
                <a:uFillTx/>
                <a:latin typeface="Calibri"/>
                <a:ea typeface="+mn-ea"/>
                <a:cs typeface="Calibri"/>
              </a:rPr>
              <a:t>limitations, assets</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assessed,</a:t>
            </a:r>
            <a:r>
              <a:rPr kumimoji="0" sz="2000" b="0" i="0" u="none" strike="noStrike" kern="1200" cap="none" spc="-4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information</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owners,</a:t>
            </a:r>
            <a:r>
              <a:rPr kumimoji="0" sz="2000" b="0" i="0" u="none" strike="noStrike" kern="1200" cap="none" spc="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owners,</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control</a:t>
            </a:r>
            <a:r>
              <a:rPr kumimoji="0" sz="2000" b="0" i="0" u="none" strike="noStrike" kern="1200" cap="none" spc="0"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owner</a:t>
            </a:r>
            <a:r>
              <a:rPr kumimoji="0" sz="2000" b="0" i="0" u="none" strike="noStrike" kern="1200" cap="none" spc="-5" normalizeH="0" baseline="0" noProof="0" dirty="0">
                <a:ln>
                  <a:noFill/>
                </a:ln>
                <a:solidFill>
                  <a:prstClr val="black"/>
                </a:solidFill>
                <a:effectLst/>
                <a:uLnTx/>
                <a:uFillTx/>
                <a:latin typeface="Calibri"/>
                <a:ea typeface="+mn-ea"/>
                <a:cs typeface="Calibri"/>
              </a:rPr>
              <a:t>.</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469265" marR="495300" lvl="0" indent="-457200" algn="l" defTabSz="457200" rtl="0" eaLnBrk="1" fontAlgn="auto" latinLnBrk="0" hangingPunct="1">
              <a:lnSpc>
                <a:spcPts val="2500"/>
              </a:lnSpc>
              <a:spcBef>
                <a:spcPts val="975"/>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Documentation could produce detailed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technical findings, such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 those </a:t>
            </a:r>
            <a:r>
              <a:rPr kumimoji="0" sz="2000" b="0" i="0" u="none" strike="noStrike" kern="1200" cap="none" spc="-57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that</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might</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result</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from</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threat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vulnerability</a:t>
            </a:r>
            <a:r>
              <a:rPr kumimoji="0" sz="20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assessments.</a:t>
            </a:r>
            <a:endPar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5080" lvl="0" indent="-457200" algn="l" defTabSz="457200" rtl="0" eaLnBrk="1" fontAlgn="auto" latinLnBrk="0" hangingPunct="1">
              <a:lnSpc>
                <a:spcPct val="80000"/>
              </a:lnSpc>
              <a:spcBef>
                <a:spcPts val="1025"/>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Documentation</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involves</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updating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profile</a:t>
            </a:r>
            <a:r>
              <a:rPr kumimoji="0" sz="20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for</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organization</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at</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sz="2000" b="0" i="0" u="none" strike="noStrike" kern="1200" cap="none" spc="-57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organizational</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level;</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processes,</a:t>
            </a:r>
            <a:r>
              <a:rPr kumimoji="0" sz="20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systems,</a:t>
            </a:r>
            <a:r>
              <a:rPr kumimoji="0" sz="20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other</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resources</a:t>
            </a:r>
            <a:r>
              <a:rPr kumimoji="0" sz="20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assets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at</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lower</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levels</a:t>
            </a:r>
            <a:r>
              <a:rPr kumimoji="0" sz="20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involving</a:t>
            </a:r>
            <a:endPar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194310" lvl="0" indent="-457200" algn="l" defTabSz="457200" rtl="0" eaLnBrk="1" fontAlgn="auto" latinLnBrk="0" hangingPunct="1">
              <a:lnSpc>
                <a:spcPts val="2500"/>
              </a:lnSpc>
              <a:spcBef>
                <a:spcPts val="969"/>
              </a:spcBef>
              <a:spcAft>
                <a:spcPts val="0"/>
              </a:spcAft>
              <a:buClrTx/>
              <a:buSzTx/>
              <a:buFont typeface="+mj-lt"/>
              <a:buAutoNum type="arabicPeriod"/>
              <a:tabLst>
                <a:tab pos="241935" algn="l"/>
              </a:tabLst>
              <a:defRPr/>
            </a:pP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Documentation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should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be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carefully controlled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 it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should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be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considered </a:t>
            </a:r>
            <a:r>
              <a:rPr kumimoji="0" sz="2000" b="0" i="0" u="none" strike="noStrike" kern="1200" cap="none" spc="-57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sensitive</a:t>
            </a:r>
            <a:r>
              <a:rPr kumimoji="0" sz="2000" b="0" i="0" u="none" strike="noStrike" kern="1200" cap="none" spc="-4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information</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for</a:t>
            </a:r>
            <a:r>
              <a:rPr kumimoji="0" sz="20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a:t>
            </a:r>
            <a:r>
              <a:rPr kumimoji="0" sz="20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0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organization.</a:t>
            </a:r>
            <a:endParaRPr kumimoji="0"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136768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35" dirty="0">
                <a:solidFill>
                  <a:srgbClr val="074891"/>
                </a:solidFill>
                <a:uFill>
                  <a:solidFill>
                    <a:srgbClr val="000000"/>
                  </a:solidFill>
                </a:uFill>
              </a:rPr>
              <a:t>Updating</a:t>
            </a:r>
            <a:r>
              <a:rPr sz="4400" u="sng" spc="-110" dirty="0">
                <a:solidFill>
                  <a:srgbClr val="074891"/>
                </a:solidFill>
                <a:uFill>
                  <a:solidFill>
                    <a:srgbClr val="000000"/>
                  </a:solidFill>
                </a:uFill>
              </a:rPr>
              <a:t> </a:t>
            </a:r>
            <a:r>
              <a:rPr sz="4400" u="sng" spc="-15" dirty="0">
                <a:solidFill>
                  <a:srgbClr val="074891"/>
                </a:solidFill>
                <a:uFill>
                  <a:solidFill>
                    <a:srgbClr val="000000"/>
                  </a:solidFill>
                </a:uFill>
              </a:rPr>
              <a:t>the</a:t>
            </a:r>
            <a:r>
              <a:rPr sz="4400" u="sng" spc="-100" dirty="0">
                <a:solidFill>
                  <a:srgbClr val="074891"/>
                </a:solidFill>
                <a:uFill>
                  <a:solidFill>
                    <a:srgbClr val="000000"/>
                  </a:solidFill>
                </a:uFill>
              </a:rPr>
              <a:t> </a:t>
            </a:r>
            <a:r>
              <a:rPr sz="4400" u="sng" spc="-15" dirty="0">
                <a:solidFill>
                  <a:srgbClr val="074891"/>
                </a:solidFill>
                <a:uFill>
                  <a:solidFill>
                    <a:srgbClr val="000000"/>
                  </a:solidFill>
                </a:uFill>
              </a:rPr>
              <a:t>Risk</a:t>
            </a:r>
            <a:r>
              <a:rPr sz="4400" u="sng" spc="-110" dirty="0">
                <a:solidFill>
                  <a:srgbClr val="074891"/>
                </a:solidFill>
                <a:uFill>
                  <a:solidFill>
                    <a:srgbClr val="000000"/>
                  </a:solidFill>
                </a:uFill>
              </a:rPr>
              <a:t> </a:t>
            </a:r>
            <a:r>
              <a:rPr sz="4400" u="sng" spc="-50" dirty="0">
                <a:solidFill>
                  <a:srgbClr val="074891"/>
                </a:solidFill>
                <a:uFill>
                  <a:solidFill>
                    <a:srgbClr val="000000"/>
                  </a:solidFill>
                </a:uFill>
              </a:rPr>
              <a:t>Register</a:t>
            </a:r>
            <a:br>
              <a:rPr lang="en-US" sz="4400" u="heavy" spc="-50" dirty="0">
                <a:solidFill>
                  <a:srgbClr val="074891"/>
                </a:solidFill>
                <a:uFill>
                  <a:solidFill>
                    <a:srgbClr val="000000"/>
                  </a:solidFill>
                </a:uFill>
              </a:rPr>
            </a:br>
            <a:endParaRPr sz="4400" dirty="0"/>
          </a:p>
        </p:txBody>
      </p:sp>
      <p:sp>
        <p:nvSpPr>
          <p:cNvPr id="3" name="object 3"/>
          <p:cNvSpPr txBox="1"/>
          <p:nvPr/>
        </p:nvSpPr>
        <p:spPr>
          <a:xfrm>
            <a:off x="1295400" y="1447800"/>
            <a:ext cx="7924800" cy="4378122"/>
          </a:xfrm>
          <a:prstGeom prst="rect">
            <a:avLst/>
          </a:prstGeom>
        </p:spPr>
        <p:txBody>
          <a:bodyPr vert="horz" wrap="square" lIns="0" tIns="60960" rIns="0" bIns="0" rtlCol="0">
            <a:spAutoFit/>
          </a:bodyPr>
          <a:lstStyle/>
          <a:p>
            <a:pPr marL="469265" marR="5080" lvl="0" indent="-457200" algn="just" defTabSz="457200" rtl="0" eaLnBrk="1" fontAlgn="auto" latinLnBrk="0" hangingPunct="1">
              <a:lnSpc>
                <a:spcPts val="3020"/>
              </a:lnSpc>
              <a:spcBef>
                <a:spcPts val="480"/>
              </a:spcBef>
              <a:spcAft>
                <a:spcPts val="0"/>
              </a:spcAft>
              <a:buClrTx/>
              <a:buSzTx/>
              <a:buFont typeface="+mj-lt"/>
              <a:buAutoNum type="arabicPeriod"/>
              <a:tabLst>
                <a:tab pos="241935" algn="l"/>
              </a:tabLst>
              <a:defRPr/>
            </a:pPr>
            <a:r>
              <a:rPr kumimoji="0" sz="2400" b="0" i="0" u="none" strike="noStrike" kern="1200" cap="none" spc="-5" normalizeH="0" baseline="0" noProof="0" dirty="0">
                <a:ln>
                  <a:noFill/>
                </a:ln>
                <a:solidFill>
                  <a:srgbClr val="7030A0"/>
                </a:solidFill>
                <a:effectLst/>
                <a:uLnTx/>
                <a:uFillTx/>
                <a:latin typeface="Calibri"/>
                <a:ea typeface="+mn-ea"/>
                <a:cs typeface="Calibri"/>
              </a:rPr>
              <a:t>Risk </a:t>
            </a:r>
            <a:r>
              <a:rPr kumimoji="0" sz="2400" b="0" i="0" u="none" strike="noStrike" kern="1200" cap="none" spc="-20" normalizeH="0" baseline="0" noProof="0" dirty="0">
                <a:ln>
                  <a:noFill/>
                </a:ln>
                <a:solidFill>
                  <a:srgbClr val="7030A0"/>
                </a:solidFill>
                <a:effectLst/>
                <a:uLnTx/>
                <a:uFillTx/>
                <a:latin typeface="Calibri"/>
                <a:ea typeface="+mn-ea"/>
                <a:cs typeface="Calibri"/>
              </a:rPr>
              <a:t>Register </a:t>
            </a:r>
            <a:r>
              <a:rPr kumimoji="0" sz="2400" b="0" i="0" u="none" strike="noStrike" kern="1200" cap="none" spc="-5" normalizeH="0" baseline="0" noProof="0" dirty="0">
                <a:ln>
                  <a:noFill/>
                </a:ln>
                <a:solidFill>
                  <a:srgbClr val="7030A0"/>
                </a:solidFill>
                <a:effectLst/>
                <a:uLnTx/>
                <a:uFillTx/>
                <a:latin typeface="Calibri"/>
                <a:ea typeface="+mn-ea"/>
                <a:cs typeface="Calibri"/>
              </a:rPr>
              <a:t>is a </a:t>
            </a:r>
            <a:r>
              <a:rPr kumimoji="0" sz="2400" b="0" i="0" u="none" strike="noStrike" kern="1200" cap="none" spc="-10" normalizeH="0" baseline="0" noProof="0" dirty="0">
                <a:ln>
                  <a:noFill/>
                </a:ln>
                <a:solidFill>
                  <a:srgbClr val="7030A0"/>
                </a:solidFill>
                <a:effectLst/>
                <a:uLnTx/>
                <a:uFillTx/>
                <a:latin typeface="Calibri"/>
                <a:ea typeface="+mn-ea"/>
                <a:cs typeface="Calibri"/>
              </a:rPr>
              <a:t>living </a:t>
            </a:r>
            <a:r>
              <a:rPr kumimoji="0" sz="2400" b="0" i="0" u="none" strike="noStrike" kern="1200" cap="none" spc="-15" normalizeH="0" baseline="0" noProof="0" dirty="0">
                <a:ln>
                  <a:noFill/>
                </a:ln>
                <a:solidFill>
                  <a:srgbClr val="7030A0"/>
                </a:solidFill>
                <a:effectLst/>
                <a:uLnTx/>
                <a:uFillTx/>
                <a:latin typeface="Calibri"/>
                <a:ea typeface="+mn-ea"/>
                <a:cs typeface="Calibri"/>
              </a:rPr>
              <a:t>document </a:t>
            </a:r>
            <a:r>
              <a:rPr kumimoji="0" sz="2400" b="0" i="0" u="none" strike="noStrike" kern="1200" cap="none" spc="-5" normalizeH="0" baseline="0" noProof="0" dirty="0">
                <a:ln>
                  <a:noFill/>
                </a:ln>
                <a:solidFill>
                  <a:srgbClr val="7030A0"/>
                </a:solidFill>
                <a:effectLst/>
                <a:uLnTx/>
                <a:uFillTx/>
                <a:latin typeface="Calibri"/>
                <a:ea typeface="+mn-ea"/>
                <a:cs typeface="Calibri"/>
              </a:rPr>
              <a:t>it </a:t>
            </a:r>
            <a:r>
              <a:rPr kumimoji="0" sz="2400" b="0" i="0" u="none" strike="noStrike" kern="1200" cap="none" spc="-10" normalizeH="0" baseline="0" noProof="0" dirty="0">
                <a:ln>
                  <a:noFill/>
                </a:ln>
                <a:solidFill>
                  <a:prstClr val="black"/>
                </a:solidFill>
                <a:effectLst/>
                <a:uLnTx/>
                <a:uFillTx/>
                <a:latin typeface="Calibri"/>
                <a:ea typeface="+mn-ea"/>
                <a:cs typeface="Calibri"/>
              </a:rPr>
              <a:t>should </a:t>
            </a:r>
            <a:r>
              <a:rPr kumimoji="0" sz="2400" b="0" i="0" u="none" strike="noStrike" kern="1200" cap="none" spc="-5" normalizeH="0" baseline="0" noProof="0" dirty="0">
                <a:ln>
                  <a:noFill/>
                </a:ln>
                <a:solidFill>
                  <a:prstClr val="black"/>
                </a:solidFill>
                <a:effectLst/>
                <a:uLnTx/>
                <a:uFillTx/>
                <a:latin typeface="Calibri"/>
                <a:ea typeface="+mn-ea"/>
                <a:cs typeface="Calibri"/>
              </a:rPr>
              <a:t>be </a:t>
            </a:r>
            <a:r>
              <a:rPr kumimoji="0" sz="2400" b="0" i="0" u="none" strike="noStrike" kern="1200" cap="none" spc="-10" normalizeH="0" baseline="0" noProof="0" dirty="0">
                <a:ln>
                  <a:noFill/>
                </a:ln>
                <a:solidFill>
                  <a:prstClr val="black"/>
                </a:solidFill>
                <a:effectLst/>
                <a:uLnTx/>
                <a:uFillTx/>
                <a:latin typeface="Calibri"/>
                <a:ea typeface="+mn-ea"/>
                <a:cs typeface="Calibri"/>
              </a:rPr>
              <a:t>periodically </a:t>
            </a:r>
            <a:r>
              <a:rPr kumimoji="0" sz="2400" b="0" i="0" u="none" strike="noStrike" kern="1200" cap="none" spc="-15" normalizeH="0" baseline="0" noProof="0" dirty="0">
                <a:ln>
                  <a:noFill/>
                </a:ln>
                <a:solidFill>
                  <a:prstClr val="black"/>
                </a:solidFill>
                <a:effectLst/>
                <a:uLnTx/>
                <a:uFillTx/>
                <a:latin typeface="Calibri"/>
                <a:ea typeface="+mn-ea"/>
                <a:cs typeface="Calibri"/>
              </a:rPr>
              <a:t>updated </a:t>
            </a:r>
            <a:r>
              <a:rPr kumimoji="0" sz="2400" b="0" i="0" u="none" strike="noStrike" kern="1200" cap="none" spc="-5" normalizeH="0" baseline="0" noProof="0" dirty="0">
                <a:ln>
                  <a:noFill/>
                </a:ln>
                <a:solidFill>
                  <a:prstClr val="black"/>
                </a:solidFill>
                <a:effectLst/>
                <a:uLnTx/>
                <a:uFillTx/>
                <a:latin typeface="Calibri"/>
                <a:ea typeface="+mn-ea"/>
                <a:cs typeface="Calibri"/>
              </a:rPr>
              <a:t>as </a:t>
            </a:r>
            <a:r>
              <a:rPr kumimoji="0" sz="2400" b="0" i="0" u="none" strike="noStrike" kern="1200" cap="none" spc="-62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risk</a:t>
            </a:r>
            <a:r>
              <a:rPr kumimoji="0" sz="2400" b="0" i="0" u="none" strike="noStrike" kern="1200" cap="none" spc="0" normalizeH="0" baseline="0" noProof="0" dirty="0">
                <a:ln>
                  <a:noFill/>
                </a:ln>
                <a:solidFill>
                  <a:prstClr val="black"/>
                </a:solidFill>
                <a:effectLst/>
                <a:uLnTx/>
                <a:uFillTx/>
                <a:latin typeface="Calibri"/>
                <a:ea typeface="+mn-ea"/>
                <a:cs typeface="Calibri"/>
              </a:rPr>
              <a:t> </a:t>
            </a:r>
            <a:r>
              <a:rPr kumimoji="0" sz="2400" b="0" i="0" u="none" strike="noStrike" kern="1200" cap="none" spc="-10" normalizeH="0" baseline="0" noProof="0" dirty="0">
                <a:ln>
                  <a:noFill/>
                </a:ln>
                <a:solidFill>
                  <a:prstClr val="black"/>
                </a:solidFill>
                <a:effectLst/>
                <a:uLnTx/>
                <a:uFillTx/>
                <a:latin typeface="Calibri"/>
                <a:ea typeface="+mn-ea"/>
                <a:cs typeface="Calibri"/>
              </a:rPr>
              <a:t>conditions</a:t>
            </a:r>
            <a:r>
              <a:rPr kumimoji="0" sz="2400" b="0" i="0" u="none" strike="noStrike" kern="1200" cap="none" spc="45" normalizeH="0" baseline="0" noProof="0" dirty="0">
                <a:ln>
                  <a:noFill/>
                </a:ln>
                <a:solidFill>
                  <a:prstClr val="black"/>
                </a:solidFill>
                <a:effectLst/>
                <a:uLnTx/>
                <a:uFillTx/>
                <a:latin typeface="Calibri"/>
                <a:ea typeface="+mn-ea"/>
                <a:cs typeface="Calibri"/>
              </a:rPr>
              <a:t> </a:t>
            </a:r>
            <a:r>
              <a:rPr kumimoji="0" sz="2400" b="0" i="0" u="none" strike="noStrike" kern="1200" cap="none" spc="-5" normalizeH="0" baseline="0" noProof="0" dirty="0">
                <a:ln>
                  <a:noFill/>
                </a:ln>
                <a:solidFill>
                  <a:prstClr val="black"/>
                </a:solidFill>
                <a:effectLst/>
                <a:uLnTx/>
                <a:uFillTx/>
                <a:latin typeface="Calibri"/>
                <a:ea typeface="+mn-ea"/>
                <a:cs typeface="Calibri"/>
              </a:rPr>
              <a:t>change.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927100" marR="490855" lvl="1" indent="-457200" algn="just" defTabSz="457200" rtl="0" eaLnBrk="1" fontAlgn="auto" latinLnBrk="0" hangingPunct="1">
              <a:lnSpc>
                <a:spcPts val="2590"/>
              </a:lnSpc>
              <a:spcBef>
                <a:spcPts val="535"/>
              </a:spcBef>
              <a:spcAft>
                <a:spcPts val="0"/>
              </a:spcAft>
              <a:buClrTx/>
              <a:buSzTx/>
              <a:buFont typeface="Wingdings" panose="05000000000000000000" pitchFamily="2" charset="2"/>
              <a:buChar char="§"/>
              <a:tabLst>
                <a:tab pos="699135" algn="l"/>
              </a:tabLst>
              <a:defRPr/>
            </a:pPr>
            <a:r>
              <a:rPr kumimoji="0" sz="2000" b="0" i="0" u="none" strike="noStrike" kern="1200" cap="none" spc="-5" normalizeH="0" baseline="0" noProof="0" dirty="0">
                <a:ln>
                  <a:noFill/>
                </a:ln>
                <a:solidFill>
                  <a:prstClr val="black"/>
                </a:solidFill>
                <a:effectLst/>
                <a:uLnTx/>
                <a:uFillTx/>
                <a:latin typeface="Calibri"/>
                <a:ea typeface="+mn-ea"/>
                <a:cs typeface="Calibri"/>
              </a:rPr>
              <a:t>Continuous assessments </a:t>
            </a:r>
            <a:r>
              <a:rPr kumimoji="0" sz="2000" b="0" i="0" u="none" strike="noStrike" kern="1200" cap="none" spc="0" normalizeH="0" baseline="0" noProof="0" dirty="0">
                <a:ln>
                  <a:noFill/>
                </a:ln>
                <a:solidFill>
                  <a:prstClr val="black"/>
                </a:solidFill>
                <a:effectLst/>
                <a:uLnTx/>
                <a:uFillTx/>
                <a:latin typeface="Calibri"/>
                <a:ea typeface="+mn-ea"/>
                <a:cs typeface="Calibri"/>
              </a:rPr>
              <a:t>will </a:t>
            </a:r>
            <a:r>
              <a:rPr kumimoji="0" sz="2000" b="0" i="0" u="none" strike="noStrike" kern="1200" cap="none" spc="-10" normalizeH="0" baseline="0" noProof="0" dirty="0">
                <a:ln>
                  <a:noFill/>
                </a:ln>
                <a:solidFill>
                  <a:prstClr val="black"/>
                </a:solidFill>
                <a:effectLst/>
                <a:uLnTx/>
                <a:uFillTx/>
                <a:latin typeface="Calibri"/>
                <a:ea typeface="+mn-ea"/>
                <a:cs typeface="Calibri"/>
              </a:rPr>
              <a:t>provide updated information that </a:t>
            </a:r>
            <a:r>
              <a:rPr kumimoji="0" sz="2000" b="0" i="0" u="none" strike="noStrike" kern="1200" cap="none" spc="-5" normalizeH="0" baseline="0" noProof="0" dirty="0">
                <a:ln>
                  <a:noFill/>
                </a:ln>
                <a:solidFill>
                  <a:prstClr val="black"/>
                </a:solidFill>
                <a:effectLst/>
                <a:uLnTx/>
                <a:uFillTx/>
                <a:latin typeface="Calibri"/>
                <a:ea typeface="+mn-ea"/>
                <a:cs typeface="Calibri"/>
              </a:rPr>
              <a:t>should be </a:t>
            </a:r>
            <a:r>
              <a:rPr kumimoji="0" sz="2000" b="0" i="0" u="none" strike="noStrike" kern="1200" cap="none" spc="-53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included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in</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 risk</a:t>
            </a:r>
            <a:r>
              <a:rPr kumimoji="0" sz="2000" b="0" i="0" u="none" strike="noStrike" kern="1200" cap="none" spc="-15" normalizeH="0" baseline="0" noProof="0" dirty="0">
                <a:ln>
                  <a:noFill/>
                </a:ln>
                <a:solidFill>
                  <a:prstClr val="black"/>
                </a:solidFill>
                <a:effectLst/>
                <a:uLnTx/>
                <a:uFillTx/>
                <a:latin typeface="Calibri"/>
                <a:ea typeface="+mn-ea"/>
                <a:cs typeface="Calibri"/>
              </a:rPr>
              <a:t> register</a:t>
            </a:r>
            <a:endParaRPr kumimoji="0" sz="2000" b="0" i="0" u="none" strike="noStrike" kern="1200" cap="none" spc="0" normalizeH="0" baseline="0" noProof="0" dirty="0">
              <a:ln>
                <a:noFill/>
              </a:ln>
              <a:solidFill>
                <a:prstClr val="black"/>
              </a:solidFill>
              <a:effectLst/>
              <a:uLnTx/>
              <a:uFillTx/>
              <a:latin typeface="Calibri"/>
              <a:ea typeface="+mn-ea"/>
              <a:cs typeface="Calibri"/>
            </a:endParaRPr>
          </a:p>
          <a:p>
            <a:pPr marL="926465" marR="0" lvl="1" indent="-457200" algn="just" defTabSz="457200" rtl="0" eaLnBrk="1" fontAlgn="auto" latinLnBrk="0" hangingPunct="1">
              <a:lnSpc>
                <a:spcPct val="100000"/>
              </a:lnSpc>
              <a:spcBef>
                <a:spcPts val="180"/>
              </a:spcBef>
              <a:spcAft>
                <a:spcPts val="0"/>
              </a:spcAft>
              <a:buClrTx/>
              <a:buSzTx/>
              <a:buFont typeface="Wingdings" panose="05000000000000000000" pitchFamily="2" charset="2"/>
              <a:buChar char="§"/>
              <a:tabLst>
                <a:tab pos="699135" algn="l"/>
              </a:tabLst>
              <a:defRPr/>
            </a:pPr>
            <a:r>
              <a:rPr kumimoji="0" sz="2000" b="0" i="0" u="none" strike="noStrike" kern="1200" cap="none" spc="-10" normalizeH="0" baseline="0" noProof="0" dirty="0">
                <a:ln>
                  <a:noFill/>
                </a:ln>
                <a:solidFill>
                  <a:prstClr val="black"/>
                </a:solidFill>
                <a:effectLst/>
                <a:uLnTx/>
                <a:uFillTx/>
                <a:latin typeface="Calibri"/>
                <a:ea typeface="+mn-ea"/>
                <a:cs typeface="Calibri"/>
              </a:rPr>
              <a:t>Information</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about</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10" normalizeH="0" baseline="0" noProof="0" dirty="0">
                <a:ln>
                  <a:noFill/>
                </a:ln>
                <a:solidFill>
                  <a:prstClr val="black"/>
                </a:solidFill>
                <a:effectLst/>
                <a:uLnTx/>
                <a:uFillTx/>
                <a:latin typeface="Calibri"/>
                <a:ea typeface="+mn-ea"/>
                <a:cs typeface="Calibri"/>
              </a:rPr>
              <a:t>ongoing</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r>
              <a:rPr kumimoji="0" sz="2000" b="0" i="0" u="none" strike="noStrike" kern="1200" cap="none" spc="-30" normalizeH="0" baseline="0" noProof="0" dirty="0">
                <a:ln>
                  <a:noFill/>
                </a:ln>
                <a:solidFill>
                  <a:prstClr val="black"/>
                </a:solidFill>
                <a:effectLst/>
                <a:uLnTx/>
                <a:uFillTx/>
                <a:latin typeface="Calibri"/>
                <a:ea typeface="+mn-ea"/>
                <a:cs typeface="Calibri"/>
              </a:rPr>
              <a:t> </a:t>
            </a:r>
            <a:r>
              <a:rPr kumimoji="0" sz="2000" b="0" i="0" u="none" strike="noStrike" kern="1200" cap="none" spc="-5" normalizeH="0" baseline="0" noProof="0" dirty="0">
                <a:ln>
                  <a:noFill/>
                </a:ln>
                <a:solidFill>
                  <a:prstClr val="black"/>
                </a:solidFill>
                <a:effectLst/>
                <a:uLnTx/>
                <a:uFillTx/>
                <a:latin typeface="Calibri"/>
                <a:ea typeface="+mn-ea"/>
                <a:cs typeface="Calibri"/>
              </a:rPr>
              <a:t>response</a:t>
            </a:r>
            <a:r>
              <a:rPr kumimoji="0" sz="2000" b="0" i="0" u="none" strike="noStrike" kern="1200" cap="none" spc="0" normalizeH="0" baseline="0" noProof="0" dirty="0">
                <a:ln>
                  <a:noFill/>
                </a:ln>
                <a:solidFill>
                  <a:prstClr val="black"/>
                </a:solidFill>
                <a:effectLst/>
                <a:uLnTx/>
                <a:uFillTx/>
                <a:latin typeface="Calibri"/>
                <a:ea typeface="+mn-ea"/>
                <a:cs typeface="Calibri"/>
              </a:rPr>
              <a:t> actions</a:t>
            </a:r>
            <a:r>
              <a:rPr kumimoji="0" sz="2000" b="0" i="0" u="none" strike="noStrike" kern="1200" cap="none" spc="-3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applied</a:t>
            </a:r>
            <a:r>
              <a:rPr kumimoji="0" sz="2000" b="0" i="0" u="none" strike="noStrike" kern="1200" cap="none" spc="-10" normalizeH="0" baseline="0" noProof="0" dirty="0">
                <a:ln>
                  <a:noFill/>
                </a:ln>
                <a:solidFill>
                  <a:prstClr val="black"/>
                </a:solidFill>
                <a:effectLst/>
                <a:uLnTx/>
                <a:uFillTx/>
                <a:latin typeface="Calibri"/>
                <a:ea typeface="+mn-ea"/>
                <a:cs typeface="Calibri"/>
              </a:rPr>
              <a:t> </a:t>
            </a:r>
            <a:r>
              <a:rPr kumimoji="0" sz="2000" b="0" i="0" u="none" strike="noStrike" kern="1200" cap="none" spc="-15" normalizeH="0" baseline="0" noProof="0" dirty="0">
                <a:ln>
                  <a:noFill/>
                </a:ln>
                <a:solidFill>
                  <a:prstClr val="black"/>
                </a:solidFill>
                <a:effectLst/>
                <a:uLnTx/>
                <a:uFillTx/>
                <a:latin typeface="Calibri"/>
                <a:ea typeface="+mn-ea"/>
                <a:cs typeface="Calibri"/>
              </a:rPr>
              <a:t>to</a:t>
            </a:r>
            <a:r>
              <a:rPr kumimoji="0" sz="2000" b="0" i="0" u="none" strike="noStrike" kern="1200" cap="none" spc="-20"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the</a:t>
            </a:r>
            <a:r>
              <a:rPr kumimoji="0" sz="2000" b="0" i="0" u="none" strike="noStrike" kern="1200" cap="none" spc="-15" normalizeH="0" baseline="0" noProof="0" dirty="0">
                <a:ln>
                  <a:noFill/>
                </a:ln>
                <a:solidFill>
                  <a:prstClr val="black"/>
                </a:solidFill>
                <a:effectLst/>
                <a:uLnTx/>
                <a:uFillTx/>
                <a:latin typeface="Calibri"/>
                <a:ea typeface="+mn-ea"/>
                <a:cs typeface="Calibri"/>
              </a:rPr>
              <a:t> </a:t>
            </a:r>
            <a:r>
              <a:rPr kumimoji="0" sz="2000" b="0" i="0" u="none" strike="noStrike" kern="1200" cap="none" spc="0" normalizeH="0" baseline="0" noProof="0" dirty="0">
                <a:ln>
                  <a:noFill/>
                </a:ln>
                <a:solidFill>
                  <a:prstClr val="black"/>
                </a:solidFill>
                <a:effectLst/>
                <a:uLnTx/>
                <a:uFillTx/>
                <a:latin typeface="Calibri"/>
                <a:ea typeface="+mn-ea"/>
                <a:cs typeface="Calibri"/>
              </a:rPr>
              <a:t>risk.</a:t>
            </a:r>
          </a:p>
          <a:p>
            <a:pPr marL="469265" marR="476884" lvl="0" indent="-457200" algn="just" defTabSz="457200" rtl="0" eaLnBrk="1" fontAlgn="auto" latinLnBrk="0" hangingPunct="1">
              <a:lnSpc>
                <a:spcPts val="3030"/>
              </a:lnSpc>
              <a:spcBef>
                <a:spcPts val="1005"/>
              </a:spcBef>
              <a:spcAft>
                <a:spcPts val="0"/>
              </a:spcAft>
              <a:buClrTx/>
              <a:buSzTx/>
              <a:buFont typeface="+mj-lt"/>
              <a:buAutoNum type="arabicPeriod"/>
              <a:tabLst>
                <a:tab pos="241935" algn="l"/>
              </a:tabLst>
              <a:defRPr/>
            </a:pP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Whether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the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 </a:t>
            </a:r>
            <a:r>
              <a:rPr kumimoji="0" sz="24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register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is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in the </a:t>
            </a:r>
            <a:r>
              <a:rPr kumimoji="0" sz="24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form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 an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electronic database,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spreadsheet,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or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other type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of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document,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should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be </a:t>
            </a:r>
            <a:r>
              <a:rPr kumimoji="0" sz="24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easy </a:t>
            </a:r>
            <a:r>
              <a:rPr kumimoji="0" sz="24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to </a:t>
            </a:r>
            <a:r>
              <a:rPr kumimoji="0" sz="24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read </a:t>
            </a:r>
            <a:r>
              <a:rPr kumimoji="0" sz="2400" b="0" i="0" u="none" strike="noStrike" kern="1200" cap="none" spc="-6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and</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readily</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accessible</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by</a:t>
            </a:r>
            <a:r>
              <a:rPr kumimoji="0" sz="24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managers</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or</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risk</a:t>
            </a:r>
            <a:r>
              <a:rPr kumimoji="0" sz="2400" b="0" i="0" u="none" strike="noStrike" kern="1200" cap="none" spc="2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owners.</a:t>
            </a:r>
            <a:endParaRPr kumimoji="0"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a:p>
            <a:pPr marL="469265" marR="0" lvl="0" indent="-457200" algn="just" defTabSz="457200" rtl="0" eaLnBrk="1" fontAlgn="auto" latinLnBrk="0" hangingPunct="1">
              <a:lnSpc>
                <a:spcPct val="100000"/>
              </a:lnSpc>
              <a:spcBef>
                <a:spcPts val="605"/>
              </a:spcBef>
              <a:spcAft>
                <a:spcPts val="0"/>
              </a:spcAft>
              <a:buClrTx/>
              <a:buSzTx/>
              <a:buFont typeface="+mj-lt"/>
              <a:buAutoNum type="arabicPeriod"/>
              <a:tabLst>
                <a:tab pos="241935" algn="l"/>
              </a:tabLst>
              <a:defRPr/>
            </a:pP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It also</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should</a:t>
            </a:r>
            <a:r>
              <a:rPr kumimoji="0" sz="24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be</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considered</a:t>
            </a:r>
            <a:r>
              <a:rPr kumimoji="0" sz="24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a:t>
            </a:r>
            <a:r>
              <a:rPr kumimoji="0" sz="2400" b="0" i="0" u="none" strike="noStrike" kern="1200" cap="none" spc="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sensitive,</a:t>
            </a:r>
            <a:r>
              <a:rPr kumimoji="0" sz="2400" b="0" i="0" u="none" strike="noStrike" kern="1200" cap="none" spc="25"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access-controlled</a:t>
            </a:r>
            <a:r>
              <a:rPr kumimoji="0" sz="2400" b="0" i="0" u="none" strike="noStrike" kern="1200" cap="none" spc="3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 </a:t>
            </a:r>
            <a:r>
              <a:rPr kumimoji="0" sz="2400" b="0" i="0" u="none" strike="noStrike" kern="1200" cap="none" spc="-1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rPr>
              <a:t>document.</a:t>
            </a:r>
            <a:endParaRPr kumimoji="0"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a:ea typeface="+mn-ea"/>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5894" y="2996945"/>
            <a:ext cx="3215640" cy="939800"/>
          </a:xfrm>
          <a:prstGeom prst="rect">
            <a:avLst/>
          </a:prstGeom>
        </p:spPr>
        <p:txBody>
          <a:bodyPr vert="horz" wrap="square" lIns="0" tIns="12700" rIns="0" bIns="0" rtlCol="0">
            <a:spAutoFit/>
          </a:bodyPr>
          <a:lstStyle/>
          <a:p>
            <a:pPr marL="12700">
              <a:lnSpc>
                <a:spcPct val="100000"/>
              </a:lnSpc>
              <a:spcBef>
                <a:spcPts val="100"/>
              </a:spcBef>
            </a:pPr>
            <a:r>
              <a:rPr sz="6000" spc="-5" dirty="0">
                <a:solidFill>
                  <a:srgbClr val="000000"/>
                </a:solidFill>
                <a:latin typeface="Calibri"/>
                <a:cs typeface="Calibri"/>
              </a:rPr>
              <a:t>Thank</a:t>
            </a:r>
            <a:r>
              <a:rPr sz="6000" spc="-80" dirty="0">
                <a:solidFill>
                  <a:srgbClr val="000000"/>
                </a:solidFill>
                <a:latin typeface="Calibri"/>
                <a:cs typeface="Calibri"/>
              </a:rPr>
              <a:t> </a:t>
            </a:r>
            <a:r>
              <a:rPr sz="6000" spc="-35" dirty="0">
                <a:solidFill>
                  <a:srgbClr val="000000"/>
                </a:solidFill>
                <a:latin typeface="Calibri"/>
                <a:cs typeface="Calibri"/>
              </a:rPr>
              <a:t>you</a:t>
            </a:r>
            <a:endParaRPr sz="6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1219</TotalTime>
  <Words>5879</Words>
  <Application>Microsoft Office PowerPoint</Application>
  <PresentationFormat>Widescreen</PresentationFormat>
  <Paragraphs>391</Paragraphs>
  <Slides>61</Slides>
  <Notes>2</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61</vt:i4>
      </vt:variant>
    </vt:vector>
  </HeadingPairs>
  <TitlesOfParts>
    <vt:vector size="77" baseType="lpstr">
      <vt:lpstr>Agency FB</vt:lpstr>
      <vt:lpstr>Arial</vt:lpstr>
      <vt:lpstr>Arial Black</vt:lpstr>
      <vt:lpstr>Arial MT</vt:lpstr>
      <vt:lpstr>Bell MT</vt:lpstr>
      <vt:lpstr>Berlin Sans FB</vt:lpstr>
      <vt:lpstr>Berlin Sans FB Demi</vt:lpstr>
      <vt:lpstr>Calibri</vt:lpstr>
      <vt:lpstr>Calibri Light</vt:lpstr>
      <vt:lpstr>Century Gothic</vt:lpstr>
      <vt:lpstr>Courier New</vt:lpstr>
      <vt:lpstr>Times New Roman</vt:lpstr>
      <vt:lpstr>TradeGothic</vt:lpstr>
      <vt:lpstr>Wingdings</vt:lpstr>
      <vt:lpstr>Office Theme</vt:lpstr>
      <vt:lpstr>Retrospect</vt:lpstr>
      <vt:lpstr>Risk Assessment and Analysis </vt:lpstr>
      <vt:lpstr>Objectives </vt:lpstr>
      <vt:lpstr>Risk Assessment Processes </vt:lpstr>
      <vt:lpstr>PowerPoint Presentation</vt:lpstr>
      <vt:lpstr>Conducting Interviews </vt:lpstr>
      <vt:lpstr>Documentation Reviews </vt:lpstr>
      <vt:lpstr>System Observation and Verification </vt:lpstr>
      <vt:lpstr>System Testing </vt:lpstr>
      <vt:lpstr>Data Collection methods  </vt:lpstr>
      <vt:lpstr>Asset Identification and Categorization </vt:lpstr>
      <vt:lpstr>Threat and Vulnerability Identification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Likelihood Determination and Impact Analysis</vt:lpstr>
      <vt:lpstr>Quantitative and Qualitative Techniques</vt:lpstr>
      <vt:lpstr>Combining Quantitative and Qualitative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Reporting Risk Assessment Results </vt:lpstr>
      <vt:lpstr>Risk Determination </vt:lpstr>
      <vt:lpstr>Communicating Risk Analysis </vt:lpstr>
      <vt:lpstr>Results Documentation </vt:lpstr>
      <vt:lpstr>Updating the Risk Register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Assessment and Analysis </dc:title>
  <dc:creator>YOUSSRY KHATTAB</dc:creator>
  <cp:lastModifiedBy>YOUSSRY KHATTAB</cp:lastModifiedBy>
  <cp:revision>12</cp:revision>
  <dcterms:created xsi:type="dcterms:W3CDTF">2023-05-23T07:38:10Z</dcterms:created>
  <dcterms:modified xsi:type="dcterms:W3CDTF">2023-06-19T21:17:45Z</dcterms:modified>
</cp:coreProperties>
</file>
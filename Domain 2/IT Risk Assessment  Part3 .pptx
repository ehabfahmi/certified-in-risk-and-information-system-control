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media/image3.jpg" ContentType="image/jpg"/>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7" r:id="rId2"/>
  </p:sldMasterIdLst>
  <p:notesMasterIdLst>
    <p:notesMasterId r:id="rId35"/>
  </p:notesMasterIdLst>
  <p:sldIdLst>
    <p:sldId id="256" r:id="rId3"/>
    <p:sldId id="499" r:id="rId4"/>
    <p:sldId id="501" r:id="rId5"/>
    <p:sldId id="462" r:id="rId6"/>
    <p:sldId id="264" r:id="rId7"/>
    <p:sldId id="265" r:id="rId8"/>
    <p:sldId id="266" r:id="rId9"/>
    <p:sldId id="460" r:id="rId10"/>
    <p:sldId id="271" r:id="rId11"/>
    <p:sldId id="461" r:id="rId12"/>
    <p:sldId id="463" r:id="rId13"/>
    <p:sldId id="464" r:id="rId14"/>
    <p:sldId id="465" r:id="rId15"/>
    <p:sldId id="2066" r:id="rId16"/>
    <p:sldId id="466" r:id="rId17"/>
    <p:sldId id="268" r:id="rId18"/>
    <p:sldId id="269" r:id="rId19"/>
    <p:sldId id="2067" r:id="rId20"/>
    <p:sldId id="2068" r:id="rId21"/>
    <p:sldId id="2069" r:id="rId22"/>
    <p:sldId id="270" r:id="rId23"/>
    <p:sldId id="277"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DDCF1D-772C-42F3-8708-4399654820FD}" type="datetimeFigureOut">
              <a:rPr lang="en-US" smtClean="0"/>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ACF1B5-78A3-4E01-89ED-81D0BC32145D}" type="slidenum">
              <a:rPr lang="en-US" smtClean="0"/>
              <a:t>‹#›</a:t>
            </a:fld>
            <a:endParaRPr lang="en-US"/>
          </a:p>
        </p:txBody>
      </p:sp>
    </p:spTree>
    <p:extLst>
      <p:ext uri="{BB962C8B-B14F-4D97-AF65-F5344CB8AC3E}">
        <p14:creationId xmlns:p14="http://schemas.microsoft.com/office/powerpoint/2010/main" val="3146285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ACF1B5-78A3-4E01-89ED-81D0BC32145D}" type="slidenum">
              <a:rPr lang="en-US" smtClean="0"/>
              <a:t>4</a:t>
            </a:fld>
            <a:endParaRPr lang="en-US"/>
          </a:p>
        </p:txBody>
      </p:sp>
    </p:spTree>
    <p:extLst>
      <p:ext uri="{BB962C8B-B14F-4D97-AF65-F5344CB8AC3E}">
        <p14:creationId xmlns:p14="http://schemas.microsoft.com/office/powerpoint/2010/main" val="2818857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23A657-631E-4522-AA0B-556377FDAD1E}" type="slidenum">
              <a:rPr lang="en-US" smtClean="0"/>
              <a:t>14</a:t>
            </a:fld>
            <a:endParaRPr lang="en-US"/>
          </a:p>
        </p:txBody>
      </p:sp>
    </p:spTree>
    <p:extLst>
      <p:ext uri="{BB962C8B-B14F-4D97-AF65-F5344CB8AC3E}">
        <p14:creationId xmlns:p14="http://schemas.microsoft.com/office/powerpoint/2010/main" val="2856088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7D166-1B3A-26BE-2C11-5F72292311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F955D2-72ED-3617-AF43-FFE10F331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BA5B3B-95A2-9147-1F54-DB32A0EBC8E6}"/>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5" name="Footer Placeholder 4">
            <a:extLst>
              <a:ext uri="{FF2B5EF4-FFF2-40B4-BE49-F238E27FC236}">
                <a16:creationId xmlns:a16="http://schemas.microsoft.com/office/drawing/2014/main" id="{1EB60541-6563-6D7C-8048-F56DE45210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D97872-B3F8-03C5-FBCA-FDFA8F854D52}"/>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3872672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879B2-9933-8858-C1D9-5FF517ED29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B69200-F51A-2550-DFE2-C7AE7AE351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728C83-8EC1-D9CE-7F4D-722B466D3E95}"/>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5" name="Footer Placeholder 4">
            <a:extLst>
              <a:ext uri="{FF2B5EF4-FFF2-40B4-BE49-F238E27FC236}">
                <a16:creationId xmlns:a16="http://schemas.microsoft.com/office/drawing/2014/main" id="{D2E410D7-A88A-3769-13F0-DA8D87676E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4EF8B-CCC8-90EC-0CD0-6C465AE229C9}"/>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351160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13678-41F1-0C92-5175-CB16A05D94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503DEE-DAA1-F81C-5AA1-C70F4DA188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A0F647-42D7-A6D8-4136-B49041AF1E92}"/>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5" name="Footer Placeholder 4">
            <a:extLst>
              <a:ext uri="{FF2B5EF4-FFF2-40B4-BE49-F238E27FC236}">
                <a16:creationId xmlns:a16="http://schemas.microsoft.com/office/drawing/2014/main" id="{788A6451-8D00-849F-B9CC-CB0097A40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D76EF-3D99-4E54-AAFA-9DD038F087C7}"/>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1125921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9FD52-7FD1-B427-984F-1E1523926C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E472C5-680B-BDCC-7A12-0C934B3CAF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7E60DF-2B8D-D200-B1C6-E78144B62B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3BC135-9F90-9536-6A21-74851974C820}"/>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6" name="Footer Placeholder 5">
            <a:extLst>
              <a:ext uri="{FF2B5EF4-FFF2-40B4-BE49-F238E27FC236}">
                <a16:creationId xmlns:a16="http://schemas.microsoft.com/office/drawing/2014/main" id="{5BD709CF-C54E-592A-F2BF-4865007AE9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B203EF-2EFE-DFCD-D48F-5187EF91606C}"/>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231434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9DFDD-7914-86EB-C3F5-64591E98B3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3B87F-529C-420B-DCAE-BF8D3EDDF2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9BAB7F-FA1C-5B75-41B2-34BE3BF7A7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DEB711-B2F1-2FD6-30BE-70D3A20760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922239-5FA0-BFB4-6EE7-B922E769AA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FFC35A-1678-866C-3798-A8AD2EEAB7EE}"/>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8" name="Footer Placeholder 7">
            <a:extLst>
              <a:ext uri="{FF2B5EF4-FFF2-40B4-BE49-F238E27FC236}">
                <a16:creationId xmlns:a16="http://schemas.microsoft.com/office/drawing/2014/main" id="{EFF95978-D197-9296-1E3A-DE26A19410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10A9B3-06B4-C460-52C1-1D6B52125F55}"/>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2322268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94CA6-ACFB-F75B-A751-F4701211F9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4DA62-0743-C3A1-BB2B-3BE5E4BC5D57}"/>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4" name="Footer Placeholder 3">
            <a:extLst>
              <a:ext uri="{FF2B5EF4-FFF2-40B4-BE49-F238E27FC236}">
                <a16:creationId xmlns:a16="http://schemas.microsoft.com/office/drawing/2014/main" id="{DFD9FE9D-92D6-BA7A-E2A3-B637D99FAE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0B988E-EE45-D83A-C2A5-CB28C803C8D3}"/>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962518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111FA7-C6EF-571E-0779-FE8CF678B033}"/>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3" name="Footer Placeholder 2">
            <a:extLst>
              <a:ext uri="{FF2B5EF4-FFF2-40B4-BE49-F238E27FC236}">
                <a16:creationId xmlns:a16="http://schemas.microsoft.com/office/drawing/2014/main" id="{A35E176D-0173-55BB-9CE8-ECB28B04D0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A7E569-02A2-03C9-7E7D-CFDAAE52BE80}"/>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2612076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CAC19-F2A4-0437-EFCD-7C5FCE4E76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7069DC-DFA9-25B8-730E-65556E5A83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2FDFA3-F9CC-1F33-0F13-B5833E81A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AB3304-B7A9-24F2-BAD6-61EC04AAFAA2}"/>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6" name="Footer Placeholder 5">
            <a:extLst>
              <a:ext uri="{FF2B5EF4-FFF2-40B4-BE49-F238E27FC236}">
                <a16:creationId xmlns:a16="http://schemas.microsoft.com/office/drawing/2014/main" id="{FB8252A1-578A-21A3-636C-355866AF05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EB5F82-3926-AE43-2EC0-3E5E76E06AB9}"/>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3197817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D3534-2D8E-C352-8AB6-79EDC44596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B18E03-38A0-9BFF-A643-F95715CE34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BBCC78-EDE6-2655-E988-D408C7FC2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0ABD9E-20FC-C593-9DB9-CB2E5EDD3185}"/>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6" name="Footer Placeholder 5">
            <a:extLst>
              <a:ext uri="{FF2B5EF4-FFF2-40B4-BE49-F238E27FC236}">
                <a16:creationId xmlns:a16="http://schemas.microsoft.com/office/drawing/2014/main" id="{1C0718D7-DA74-9570-0D39-45F93BA049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47FF7B-F9D8-906C-8B79-EB919321B368}"/>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1775854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D2F1D-B6A7-172C-A7EC-2C7EAA3F07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7EDB9E-C19A-E8FD-D830-4997E2FFFE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E337FD-A214-2D60-6E8D-6EAFDF4A2ACD}"/>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5" name="Footer Placeholder 4">
            <a:extLst>
              <a:ext uri="{FF2B5EF4-FFF2-40B4-BE49-F238E27FC236}">
                <a16:creationId xmlns:a16="http://schemas.microsoft.com/office/drawing/2014/main" id="{B23BFC4A-B39E-C46E-1F9C-015F7BEAF1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3C7A5A-3D2E-FA09-3BA0-15B90CC40EBF}"/>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1890438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EBAF0D-0B6D-1F06-9384-95A473A5FF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5C4811-1A4A-94AA-5424-B2EEF57F1D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04FAE5-BA0B-33EA-7057-ACD793A73A2D}"/>
              </a:ext>
            </a:extLst>
          </p:cNvPr>
          <p:cNvSpPr>
            <a:spLocks noGrp="1"/>
          </p:cNvSpPr>
          <p:nvPr>
            <p:ph type="dt" sz="half" idx="10"/>
          </p:nvPr>
        </p:nvSpPr>
        <p:spPr/>
        <p:txBody>
          <a:bodyPr/>
          <a:lstStyle/>
          <a:p>
            <a:fld id="{961B1DAB-7168-46A1-AD11-C4592B85EE88}" type="datetimeFigureOut">
              <a:rPr lang="en-US" smtClean="0"/>
              <a:t>6/20/2023</a:t>
            </a:fld>
            <a:endParaRPr lang="en-US"/>
          </a:p>
        </p:txBody>
      </p:sp>
      <p:sp>
        <p:nvSpPr>
          <p:cNvPr id="5" name="Footer Placeholder 4">
            <a:extLst>
              <a:ext uri="{FF2B5EF4-FFF2-40B4-BE49-F238E27FC236}">
                <a16:creationId xmlns:a16="http://schemas.microsoft.com/office/drawing/2014/main" id="{65B41E0C-B82F-333D-8B51-986F4420FB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1001B-FB70-F99A-D85B-B39C7F453AE3}"/>
              </a:ext>
            </a:extLst>
          </p:cNvPr>
          <p:cNvSpPr>
            <a:spLocks noGrp="1"/>
          </p:cNvSpPr>
          <p:nvPr>
            <p:ph type="sldNum" sz="quarter" idx="12"/>
          </p:nvPr>
        </p:nvSpPr>
        <p:spPr/>
        <p:txBody>
          <a:bodyPr/>
          <a:lstStyle/>
          <a:p>
            <a:fld id="{BFBB6630-490A-46A1-8F58-929AE729551D}" type="slidenum">
              <a:rPr lang="en-US" smtClean="0"/>
              <a:t>‹#›</a:t>
            </a:fld>
            <a:endParaRPr lang="en-US"/>
          </a:p>
        </p:txBody>
      </p:sp>
    </p:spTree>
    <p:extLst>
      <p:ext uri="{BB962C8B-B14F-4D97-AF65-F5344CB8AC3E}">
        <p14:creationId xmlns:p14="http://schemas.microsoft.com/office/powerpoint/2010/main" val="3077701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5BA4C28-4E01-4DF9-B293-9A6BDD8703E3}"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937E61-D7B6-4707-A979-57F09255704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2688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BA4C28-4E01-4DF9-B293-9A6BDD8703E3}"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937E61-D7B6-4707-A979-57F092557048}" type="slidenum">
              <a:rPr lang="en-US" smtClean="0"/>
              <a:t>‹#›</a:t>
            </a:fld>
            <a:endParaRPr lang="en-US"/>
          </a:p>
        </p:txBody>
      </p:sp>
    </p:spTree>
    <p:extLst>
      <p:ext uri="{BB962C8B-B14F-4D97-AF65-F5344CB8AC3E}">
        <p14:creationId xmlns:p14="http://schemas.microsoft.com/office/powerpoint/2010/main" val="3227589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BA4C28-4E01-4DF9-B293-9A6BDD8703E3}"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937E61-D7B6-4707-A979-57F09255704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4234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BA4C28-4E01-4DF9-B293-9A6BDD8703E3}"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937E61-D7B6-4707-A979-57F092557048}" type="slidenum">
              <a:rPr lang="en-US" smtClean="0"/>
              <a:t>‹#›</a:t>
            </a:fld>
            <a:endParaRPr lang="en-US"/>
          </a:p>
        </p:txBody>
      </p:sp>
    </p:spTree>
    <p:extLst>
      <p:ext uri="{BB962C8B-B14F-4D97-AF65-F5344CB8AC3E}">
        <p14:creationId xmlns:p14="http://schemas.microsoft.com/office/powerpoint/2010/main" val="90025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BA4C28-4E01-4DF9-B293-9A6BDD8703E3}" type="datetimeFigureOut">
              <a:rPr lang="en-US" smtClean="0"/>
              <a:t>6/20/2023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937E61-D7B6-4707-A979-57F092557048}" type="slidenum">
              <a:rPr lang="en-US" smtClean="0"/>
              <a:t>‹#›</a:t>
            </a:fld>
            <a:endParaRPr lang="en-US"/>
          </a:p>
        </p:txBody>
      </p:sp>
    </p:spTree>
    <p:extLst>
      <p:ext uri="{BB962C8B-B14F-4D97-AF65-F5344CB8AC3E}">
        <p14:creationId xmlns:p14="http://schemas.microsoft.com/office/powerpoint/2010/main" val="25579687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BA4C28-4E01-4DF9-B293-9A6BDD8703E3}" type="datetimeFigureOut">
              <a:rPr lang="en-US" smtClean="0"/>
              <a:t>6/20/2023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937E61-D7B6-4707-A979-57F092557048}" type="slidenum">
              <a:rPr lang="en-US" smtClean="0"/>
              <a:t>‹#›</a:t>
            </a:fld>
            <a:endParaRPr lang="en-US"/>
          </a:p>
        </p:txBody>
      </p:sp>
    </p:spTree>
    <p:extLst>
      <p:ext uri="{BB962C8B-B14F-4D97-AF65-F5344CB8AC3E}">
        <p14:creationId xmlns:p14="http://schemas.microsoft.com/office/powerpoint/2010/main" val="1730866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5BA4C28-4E01-4DF9-B293-9A6BDD8703E3}" type="datetimeFigureOut">
              <a:rPr lang="en-US" smtClean="0"/>
              <a:t>6/20/2023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AA937E61-D7B6-4707-A979-57F092557048}" type="slidenum">
              <a:rPr lang="en-US" smtClean="0"/>
              <a:t>‹#›</a:t>
            </a:fld>
            <a:endParaRPr lang="en-US"/>
          </a:p>
        </p:txBody>
      </p:sp>
    </p:spTree>
    <p:extLst>
      <p:ext uri="{BB962C8B-B14F-4D97-AF65-F5344CB8AC3E}">
        <p14:creationId xmlns:p14="http://schemas.microsoft.com/office/powerpoint/2010/main" val="10287203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5BA4C28-4E01-4DF9-B293-9A6BDD8703E3}" type="datetimeFigureOut">
              <a:rPr lang="en-US" smtClean="0"/>
              <a:t>6/20/2023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A937E61-D7B6-4707-A979-57F092557048}" type="slidenum">
              <a:rPr lang="en-US" smtClean="0"/>
              <a:t>‹#›</a:t>
            </a:fld>
            <a:endParaRPr lang="en-US"/>
          </a:p>
        </p:txBody>
      </p:sp>
    </p:spTree>
    <p:extLst>
      <p:ext uri="{BB962C8B-B14F-4D97-AF65-F5344CB8AC3E}">
        <p14:creationId xmlns:p14="http://schemas.microsoft.com/office/powerpoint/2010/main" val="36301171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BA4C28-4E01-4DF9-B293-9A6BDD8703E3}"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937E61-D7B6-4707-A979-57F092557048}" type="slidenum">
              <a:rPr lang="en-US" smtClean="0"/>
              <a:t>‹#›</a:t>
            </a:fld>
            <a:endParaRPr lang="en-US"/>
          </a:p>
        </p:txBody>
      </p:sp>
    </p:spTree>
    <p:extLst>
      <p:ext uri="{BB962C8B-B14F-4D97-AF65-F5344CB8AC3E}">
        <p14:creationId xmlns:p14="http://schemas.microsoft.com/office/powerpoint/2010/main" val="7904913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BA4C28-4E01-4DF9-B293-9A6BDD8703E3}"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937E61-D7B6-4707-A979-57F092557048}" type="slidenum">
              <a:rPr lang="en-US" smtClean="0"/>
              <a:t>‹#›</a:t>
            </a:fld>
            <a:endParaRPr lang="en-US"/>
          </a:p>
        </p:txBody>
      </p:sp>
    </p:spTree>
    <p:extLst>
      <p:ext uri="{BB962C8B-B14F-4D97-AF65-F5344CB8AC3E}">
        <p14:creationId xmlns:p14="http://schemas.microsoft.com/office/powerpoint/2010/main" val="12567761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BA4C28-4E01-4DF9-B293-9A6BDD8703E3}"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937E61-D7B6-4707-A979-57F092557048}" type="slidenum">
              <a:rPr lang="en-US" smtClean="0"/>
              <a:t>‹#›</a:t>
            </a:fld>
            <a:endParaRPr lang="en-US"/>
          </a:p>
        </p:txBody>
      </p:sp>
    </p:spTree>
    <p:extLst>
      <p:ext uri="{BB962C8B-B14F-4D97-AF65-F5344CB8AC3E}">
        <p14:creationId xmlns:p14="http://schemas.microsoft.com/office/powerpoint/2010/main" val="2596343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B26156-A8CE-B222-DEBE-0F5DD40ED5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40C2F4-87CB-2504-B64B-383A8B1DF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B7E4C8-D822-3715-5360-2F554FBC5F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1B1DAB-7168-46A1-AD11-C4592B85EE88}" type="datetimeFigureOut">
              <a:rPr lang="en-US" smtClean="0"/>
              <a:t>6/20/2023</a:t>
            </a:fld>
            <a:endParaRPr lang="en-US"/>
          </a:p>
        </p:txBody>
      </p:sp>
      <p:sp>
        <p:nvSpPr>
          <p:cNvPr id="5" name="Footer Placeholder 4">
            <a:extLst>
              <a:ext uri="{FF2B5EF4-FFF2-40B4-BE49-F238E27FC236}">
                <a16:creationId xmlns:a16="http://schemas.microsoft.com/office/drawing/2014/main" id="{8DE2AFA8-D16D-5240-F50D-AA4D25FC3B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EE4C49E-6965-E232-676D-86362EE556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BB6630-490A-46A1-8F58-929AE729551D}" type="slidenum">
              <a:rPr lang="en-US" smtClean="0"/>
              <a:t>‹#›</a:t>
            </a:fld>
            <a:endParaRPr lang="en-US"/>
          </a:p>
        </p:txBody>
      </p:sp>
    </p:spTree>
    <p:extLst>
      <p:ext uri="{BB962C8B-B14F-4D97-AF65-F5344CB8AC3E}">
        <p14:creationId xmlns:p14="http://schemas.microsoft.com/office/powerpoint/2010/main" val="1183704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5BA4C28-4E01-4DF9-B293-9A6BDD8703E3}" type="datetimeFigureOut">
              <a:rPr lang="en-US" smtClean="0"/>
              <a:t>6/20/2023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A937E61-D7B6-4707-A979-57F092557048}"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559754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0844" y="2718257"/>
            <a:ext cx="9882505" cy="850874"/>
          </a:xfrm>
          <a:prstGeom prst="rect">
            <a:avLst/>
          </a:prstGeom>
        </p:spPr>
        <p:txBody>
          <a:bodyPr vert="horz" wrap="square" lIns="0" tIns="116205" rIns="0" bIns="0" rtlCol="0">
            <a:spAutoFit/>
          </a:bodyPr>
          <a:lstStyle/>
          <a:p>
            <a:pPr marL="12700" marR="5080" lvl="0" indent="0" algn="l" defTabSz="457200" rtl="0" eaLnBrk="1" fontAlgn="auto" latinLnBrk="0" hangingPunct="1">
              <a:lnSpc>
                <a:spcPts val="6480"/>
              </a:lnSpc>
              <a:spcBef>
                <a:spcPts val="915"/>
              </a:spcBef>
              <a:spcAft>
                <a:spcPts val="0"/>
              </a:spcAft>
              <a:buClrTx/>
              <a:buSzTx/>
              <a:buFontTx/>
              <a:buNone/>
              <a:tabLst/>
              <a:defRPr/>
            </a:pPr>
            <a:r>
              <a:rPr kumimoji="0" sz="3200" b="0" i="0" u="none" strike="noStrike" kern="1200" cap="none" spc="-5" normalizeH="0" baseline="0" noProof="0" dirty="0">
                <a:ln>
                  <a:noFill/>
                </a:ln>
                <a:solidFill>
                  <a:srgbClr val="7030A0"/>
                </a:solidFill>
                <a:effectLst/>
                <a:uLnTx/>
                <a:uFillTx/>
                <a:latin typeface="Calibri Light"/>
                <a:ea typeface="+mn-ea"/>
                <a:cs typeface="Calibri Light"/>
              </a:rPr>
              <a:t>Certified </a:t>
            </a:r>
            <a:r>
              <a:rPr kumimoji="0" sz="3200" b="0" i="0" u="none" strike="noStrike" kern="1200" cap="none" spc="0" normalizeH="0" baseline="0" noProof="0" dirty="0">
                <a:ln>
                  <a:noFill/>
                </a:ln>
                <a:solidFill>
                  <a:srgbClr val="7030A0"/>
                </a:solidFill>
                <a:effectLst/>
                <a:uLnTx/>
                <a:uFillTx/>
                <a:latin typeface="Calibri Light"/>
                <a:ea typeface="+mn-ea"/>
                <a:cs typeface="Calibri Light"/>
              </a:rPr>
              <a:t>in </a:t>
            </a:r>
            <a:r>
              <a:rPr kumimoji="0" sz="3200" b="0" i="0" u="none" strike="noStrike" kern="1200" cap="none" spc="-10" normalizeH="0" baseline="0" noProof="0" dirty="0">
                <a:ln>
                  <a:noFill/>
                </a:ln>
                <a:solidFill>
                  <a:srgbClr val="7030A0"/>
                </a:solidFill>
                <a:effectLst/>
                <a:uLnTx/>
                <a:uFillTx/>
                <a:latin typeface="Calibri Light"/>
                <a:ea typeface="+mn-ea"/>
                <a:cs typeface="Calibri Light"/>
              </a:rPr>
              <a:t>Risk </a:t>
            </a:r>
            <a:r>
              <a:rPr kumimoji="0" sz="3200" b="0" i="0" u="none" strike="noStrike" kern="1200" cap="none" spc="0" normalizeH="0" baseline="0" noProof="0" dirty="0">
                <a:ln>
                  <a:noFill/>
                </a:ln>
                <a:solidFill>
                  <a:srgbClr val="7030A0"/>
                </a:solidFill>
                <a:effectLst/>
                <a:uLnTx/>
                <a:uFillTx/>
                <a:latin typeface="Calibri Light"/>
                <a:ea typeface="+mn-ea"/>
                <a:cs typeface="Calibri Light"/>
              </a:rPr>
              <a:t>and </a:t>
            </a:r>
            <a:r>
              <a:rPr kumimoji="0" sz="3200" b="0" i="0" u="none" strike="noStrike" kern="1200" cap="none" spc="-25" normalizeH="0" baseline="0" noProof="0" dirty="0">
                <a:ln>
                  <a:noFill/>
                </a:ln>
                <a:solidFill>
                  <a:srgbClr val="7030A0"/>
                </a:solidFill>
                <a:effectLst/>
                <a:uLnTx/>
                <a:uFillTx/>
                <a:latin typeface="Calibri Light"/>
                <a:ea typeface="+mn-ea"/>
                <a:cs typeface="Calibri Light"/>
              </a:rPr>
              <a:t>Information </a:t>
            </a:r>
            <a:r>
              <a:rPr kumimoji="0" sz="3200" b="0" i="0" u="none" strike="noStrike" kern="1200" cap="none" spc="-1345" normalizeH="0" baseline="0" noProof="0" dirty="0">
                <a:ln>
                  <a:noFill/>
                </a:ln>
                <a:solidFill>
                  <a:srgbClr val="7030A0"/>
                </a:solidFill>
                <a:effectLst/>
                <a:uLnTx/>
                <a:uFillTx/>
                <a:latin typeface="Calibri Light"/>
                <a:ea typeface="+mn-ea"/>
                <a:cs typeface="Calibri Light"/>
              </a:rPr>
              <a:t> </a:t>
            </a:r>
            <a:r>
              <a:rPr kumimoji="0" sz="3200" b="0" i="0" u="none" strike="noStrike" kern="1200" cap="none" spc="-45" normalizeH="0" baseline="0" noProof="0" dirty="0">
                <a:ln>
                  <a:noFill/>
                </a:ln>
                <a:solidFill>
                  <a:srgbClr val="7030A0"/>
                </a:solidFill>
                <a:effectLst/>
                <a:uLnTx/>
                <a:uFillTx/>
                <a:latin typeface="Calibri Light"/>
                <a:ea typeface="+mn-ea"/>
                <a:cs typeface="Calibri Light"/>
              </a:rPr>
              <a:t>Systems</a:t>
            </a:r>
            <a:r>
              <a:rPr kumimoji="0" sz="3200" b="0" i="0" u="none" strike="noStrike" kern="1200" cap="none" spc="15" normalizeH="0" baseline="0" noProof="0" dirty="0">
                <a:ln>
                  <a:noFill/>
                </a:ln>
                <a:solidFill>
                  <a:srgbClr val="7030A0"/>
                </a:solidFill>
                <a:effectLst/>
                <a:uLnTx/>
                <a:uFillTx/>
                <a:latin typeface="Calibri Light"/>
                <a:ea typeface="+mn-ea"/>
                <a:cs typeface="Calibri Light"/>
              </a:rPr>
              <a:t> </a:t>
            </a:r>
            <a:r>
              <a:rPr kumimoji="0" sz="3200" b="0" i="0" u="none" strike="noStrike" kern="1200" cap="none" spc="-30" normalizeH="0" baseline="0" noProof="0" dirty="0">
                <a:ln>
                  <a:noFill/>
                </a:ln>
                <a:solidFill>
                  <a:srgbClr val="7030A0"/>
                </a:solidFill>
                <a:effectLst/>
                <a:uLnTx/>
                <a:uFillTx/>
                <a:latin typeface="Calibri Light"/>
                <a:ea typeface="+mn-ea"/>
                <a:cs typeface="Calibri Light"/>
              </a:rPr>
              <a:t>Control</a:t>
            </a:r>
            <a:r>
              <a:rPr kumimoji="0" sz="3200" b="0" i="0" u="none" strike="noStrike" kern="1200" cap="none" spc="-15" normalizeH="0" baseline="0" noProof="0" dirty="0">
                <a:ln>
                  <a:noFill/>
                </a:ln>
                <a:solidFill>
                  <a:srgbClr val="7030A0"/>
                </a:solidFill>
                <a:effectLst/>
                <a:uLnTx/>
                <a:uFillTx/>
                <a:latin typeface="Calibri Light"/>
                <a:ea typeface="+mn-ea"/>
                <a:cs typeface="Calibri Light"/>
              </a:rPr>
              <a:t> </a:t>
            </a:r>
            <a:r>
              <a:rPr kumimoji="0" sz="3200" b="0" i="0" u="none" strike="noStrike" kern="1200" cap="none" spc="0" normalizeH="0" baseline="0" noProof="0" dirty="0">
                <a:ln>
                  <a:noFill/>
                </a:ln>
                <a:solidFill>
                  <a:srgbClr val="7030A0"/>
                </a:solidFill>
                <a:effectLst/>
                <a:uLnTx/>
                <a:uFillTx/>
                <a:latin typeface="Calibri Light"/>
                <a:ea typeface="+mn-ea"/>
                <a:cs typeface="Calibri Light"/>
              </a:rPr>
              <a:t>(CRISC)</a:t>
            </a:r>
          </a:p>
        </p:txBody>
      </p:sp>
      <p:sp>
        <p:nvSpPr>
          <p:cNvPr id="3" name="object 3"/>
          <p:cNvSpPr txBox="1"/>
          <p:nvPr/>
        </p:nvSpPr>
        <p:spPr>
          <a:xfrm>
            <a:off x="1981200" y="3886200"/>
            <a:ext cx="8309356" cy="505267"/>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3200" b="0" i="0" u="none" strike="noStrike" kern="1200" cap="none" spc="-5" normalizeH="0" baseline="0" noProof="0" dirty="0">
                <a:ln>
                  <a:noFill/>
                </a:ln>
                <a:solidFill>
                  <a:prstClr val="black"/>
                </a:solidFill>
                <a:effectLst/>
                <a:uLnTx/>
                <a:uFillTx/>
                <a:latin typeface="Calibri"/>
                <a:ea typeface="+mn-ea"/>
                <a:cs typeface="Calibri"/>
              </a:rPr>
              <a:t>Identifying</a:t>
            </a:r>
            <a:r>
              <a:rPr kumimoji="0" sz="3200" b="0" i="0" u="none" strike="noStrike" kern="1200" cap="none" spc="-25" normalizeH="0" baseline="0" noProof="0" dirty="0">
                <a:ln>
                  <a:noFill/>
                </a:ln>
                <a:solidFill>
                  <a:prstClr val="black"/>
                </a:solidFill>
                <a:effectLst/>
                <a:uLnTx/>
                <a:uFillTx/>
                <a:latin typeface="Calibri"/>
                <a:ea typeface="+mn-ea"/>
                <a:cs typeface="Calibri"/>
              </a:rPr>
              <a:t> </a:t>
            </a:r>
            <a:r>
              <a:rPr kumimoji="0" sz="3200" b="0" i="0" u="none" strike="noStrike" kern="1200" cap="none" spc="0" normalizeH="0" baseline="0" noProof="0" dirty="0">
                <a:ln>
                  <a:noFill/>
                </a:ln>
                <a:solidFill>
                  <a:prstClr val="black"/>
                </a:solidFill>
                <a:effectLst/>
                <a:uLnTx/>
                <a:uFillTx/>
                <a:latin typeface="Calibri"/>
                <a:ea typeface="+mn-ea"/>
                <a:cs typeface="Calibri"/>
              </a:rPr>
              <a:t>and</a:t>
            </a:r>
            <a:r>
              <a:rPr kumimoji="0" sz="3200" b="0" i="0" u="none" strike="noStrike" kern="1200" cap="none" spc="-10" normalizeH="0" baseline="0" noProof="0" dirty="0">
                <a:ln>
                  <a:noFill/>
                </a:ln>
                <a:solidFill>
                  <a:prstClr val="black"/>
                </a:solidFill>
                <a:effectLst/>
                <a:uLnTx/>
                <a:uFillTx/>
                <a:latin typeface="Calibri"/>
                <a:ea typeface="+mn-ea"/>
                <a:cs typeface="Calibri"/>
              </a:rPr>
              <a:t> </a:t>
            </a:r>
            <a:r>
              <a:rPr kumimoji="0" sz="3200" b="0" i="0" u="none" strike="noStrike" kern="1200" cap="none" spc="0" normalizeH="0" baseline="0" noProof="0" dirty="0">
                <a:ln>
                  <a:noFill/>
                </a:ln>
                <a:solidFill>
                  <a:prstClr val="black"/>
                </a:solidFill>
                <a:effectLst/>
                <a:uLnTx/>
                <a:uFillTx/>
                <a:latin typeface="Calibri"/>
                <a:ea typeface="+mn-ea"/>
                <a:cs typeface="Calibri"/>
              </a:rPr>
              <a:t>Managing</a:t>
            </a:r>
            <a:r>
              <a:rPr kumimoji="0" sz="3200" b="0" i="0" u="none" strike="noStrike" kern="1200" cap="none" spc="-25" normalizeH="0" baseline="0" noProof="0" dirty="0">
                <a:ln>
                  <a:noFill/>
                </a:ln>
                <a:solidFill>
                  <a:prstClr val="black"/>
                </a:solidFill>
                <a:effectLst/>
                <a:uLnTx/>
                <a:uFillTx/>
                <a:latin typeface="Calibri"/>
                <a:ea typeface="+mn-ea"/>
                <a:cs typeface="Calibri"/>
              </a:rPr>
              <a:t> </a:t>
            </a:r>
            <a:r>
              <a:rPr kumimoji="0" sz="3200" b="0" i="0" u="none" strike="noStrike" kern="1200" cap="none" spc="0" normalizeH="0" baseline="0" noProof="0" dirty="0">
                <a:ln>
                  <a:noFill/>
                </a:ln>
                <a:solidFill>
                  <a:prstClr val="black"/>
                </a:solidFill>
                <a:effectLst/>
                <a:uLnTx/>
                <a:uFillTx/>
                <a:latin typeface="Calibri"/>
                <a:ea typeface="+mn-ea"/>
                <a:cs typeface="Calibri"/>
              </a:rPr>
              <a:t>Risk</a:t>
            </a:r>
            <a:r>
              <a:rPr kumimoji="0" sz="3200" b="0" i="0" u="none" strike="noStrike" kern="1200" cap="none" spc="-20" normalizeH="0" baseline="0" noProof="0" dirty="0">
                <a:ln>
                  <a:noFill/>
                </a:ln>
                <a:solidFill>
                  <a:prstClr val="black"/>
                </a:solidFill>
                <a:effectLst/>
                <a:uLnTx/>
                <a:uFillTx/>
                <a:latin typeface="Calibri"/>
                <a:ea typeface="+mn-ea"/>
                <a:cs typeface="Calibri"/>
              </a:rPr>
              <a:t> </a:t>
            </a:r>
            <a:r>
              <a:rPr kumimoji="0" sz="3200" b="0" i="0" u="none" strike="noStrike" kern="1200" cap="none" spc="0" normalizeH="0" baseline="0" noProof="0" dirty="0">
                <a:ln>
                  <a:noFill/>
                </a:ln>
                <a:solidFill>
                  <a:prstClr val="black"/>
                </a:solidFill>
                <a:effectLst/>
                <a:uLnTx/>
                <a:uFillTx/>
                <a:latin typeface="Calibri"/>
                <a:ea typeface="+mn-ea"/>
                <a:cs typeface="Calibri"/>
              </a:rPr>
              <a:t>Scenarios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1E7AB7-091F-8CA9-A9F2-599E6682D26E}"/>
              </a:ext>
            </a:extLst>
          </p:cNvPr>
          <p:cNvSpPr txBox="1"/>
          <p:nvPr/>
        </p:nvSpPr>
        <p:spPr>
          <a:xfrm>
            <a:off x="1696800" y="261944"/>
            <a:ext cx="9016068" cy="5886676"/>
          </a:xfrm>
          <a:prstGeom prst="rect">
            <a:avLst/>
          </a:prstGeom>
          <a:noFill/>
        </p:spPr>
        <p:txBody>
          <a:bodyPr wrap="square">
            <a:spAutoFit/>
          </a:bodyPr>
          <a:lstStyle/>
          <a:p>
            <a:pPr marL="457200" marR="0" lvl="0" indent="0" algn="l" defTabSz="914400" rtl="0" eaLnBrk="1" fontAlgn="auto" latinLnBrk="0" hangingPunct="1">
              <a:lnSpc>
                <a:spcPct val="107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Risk Scenario Development</a:t>
            </a:r>
            <a:endParaRPr kumimoji="0" lang="ar-SA"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Arial" panose="020B0604020202020204" pitchFamily="34" charset="0"/>
            </a:endParaRPr>
          </a:p>
          <a:p>
            <a:pPr marL="742950" marR="0" lvl="0" indent="-285750" algn="l" defTabSz="914400" rtl="0" eaLnBrk="1" fontAlgn="auto" latinLnBrk="0" hangingPunct="1">
              <a:lnSpc>
                <a:spcPct val="107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 risk scenario is a description of a possible threat event whose occurrence will have an uncertain impact on the achievement of the enterprise</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objectives, which may be positive or negative.</a:t>
            </a:r>
            <a:endPar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457200" marR="0" lvl="0" indent="0" algn="l" defTabSz="914400" rtl="0" eaLnBrk="1" fontAlgn="auto" latinLnBrk="0" hangingPunct="1">
              <a:lnSpc>
                <a:spcPct val="107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45720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Risk scenarios are most often written as narratives, describing in detail the asset at risk, who or what can act against the asset, their intent or motivation (if applicable), the circumstances and threat actor methods associated with the threat event, the effect on the company if/when it happens, and when or how often</a:t>
            </a:r>
          </a:p>
          <a:p>
            <a:pPr marL="342900" marR="0" lvl="0" indent="-342900" algn="l" defTabSz="914400" rtl="0" eaLnBrk="1" fontAlgn="auto" latinLnBrk="0" hangingPunct="1">
              <a:lnSpc>
                <a:spcPct val="107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scenarios bring value by representing risk in a tangible and assessable fashion.</a:t>
            </a: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Each scenario is based on a specific, unique individual risk. Each scenario documents the level of risk associated with a specific scenario in relation to the business objectives or operations that would be impacted if that risk event were to be realized. </a:t>
            </a: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following question to be answer during the creation of Risk Scenario</a:t>
            </a:r>
          </a:p>
          <a:p>
            <a:pPr marL="1657350" marR="0" lvl="3"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Who is the Threat Actor? Internal staff, 3rd party, competitor, etc.</a:t>
            </a:r>
          </a:p>
          <a:p>
            <a:pPr marL="1657350" marR="0" lvl="3"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What is the Threat Type? Malicious, error, accident, etc.</a:t>
            </a:r>
          </a:p>
          <a:p>
            <a:pPr marL="1657350" marR="0" lvl="3"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What is the Threat Event? Disclosure, interruption, theft, misuse, etc.</a:t>
            </a:r>
          </a:p>
          <a:p>
            <a:pPr marL="1657350" marR="0" lvl="3"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Which Assets is at risk? People, process, systems, applications, network, etc.</a:t>
            </a:r>
          </a:p>
          <a:p>
            <a:pPr marL="1657350" marR="0" lvl="3"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What Vulnerabilities are on that asset that can be exploited by the threat?</a:t>
            </a:r>
          </a:p>
          <a:p>
            <a:pPr marL="1657350" marR="0" lvl="3"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What is the expected event Time? Occurrence, duration, frequency, etc.</a:t>
            </a:r>
          </a:p>
        </p:txBody>
      </p:sp>
    </p:spTree>
    <p:extLst>
      <p:ext uri="{BB962C8B-B14F-4D97-AF65-F5344CB8AC3E}">
        <p14:creationId xmlns:p14="http://schemas.microsoft.com/office/powerpoint/2010/main" val="180411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8FCD27-048A-698A-E1A9-4D0808EEF39F}"/>
              </a:ext>
            </a:extLst>
          </p:cNvPr>
          <p:cNvSpPr txBox="1"/>
          <p:nvPr/>
        </p:nvSpPr>
        <p:spPr>
          <a:xfrm>
            <a:off x="1845578" y="514112"/>
            <a:ext cx="7298422" cy="5047536"/>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Arial" panose="020B0604020202020204" pitchFamily="34" charset="0"/>
              </a:rPr>
              <a:t>often people get vulnerabilities or threats confused with risks. Risk is only valid when there is both vulnerability and threat are present for a particular asset. For example, “a </a:t>
            </a:r>
            <a:r>
              <a:rPr kumimoji="0" lang="en-US" sz="1600" b="0" i="0" u="none" strike="noStrike" kern="1200" cap="none" spc="0" normalizeH="0" baseline="0" noProof="0" dirty="0" err="1">
                <a:ln>
                  <a:noFill/>
                </a:ln>
                <a:solidFill>
                  <a:srgbClr val="C00000"/>
                </a:solidFill>
                <a:effectLst/>
                <a:uLnTx/>
                <a:uFillTx/>
                <a:latin typeface="Berlin Sans FB" panose="020E0602020502020306" pitchFamily="34" charset="0"/>
                <a:ea typeface="+mn-ea"/>
                <a:cs typeface="Arial" panose="020B0604020202020204" pitchFamily="34" charset="0"/>
              </a:rPr>
              <a:t>php</a:t>
            </a: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Arial" panose="020B0604020202020204" pitchFamily="34" charset="0"/>
              </a:rPr>
              <a:t> vulnerability on a web application” is not the risk, neither something like a “sensitive data breach”.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Instead, an example of a risk scenario can be: “Cyber criminals are able to use the </a:t>
            </a:r>
            <a:r>
              <a:rPr kumimoji="0" lang="en-US" sz="1600" b="0" i="0" u="none" strike="noStrike" kern="1200" cap="none" spc="0" normalizeH="0" baseline="0" noProof="0" dirty="0" err="1">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php</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vulnerability on the external facing ecommerce web application to download large amount of personal credit card data, once in a year.”</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Another risk Scenario is a Server which process customers payment is down due to  cyber-attack for more than 1 day and make your organization unable provide the service of allowing customer payment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scenario tell us story it could happen and allow you to collaborate with other and ask your self-questions like what we should do to get back on service and how to work around and how to be stay on service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You should update your risk Scenario all time with new assumptions and other new threat and Vulnerability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 analysis is a way of risk identification and will include some assumption and control to be implement </a:t>
            </a:r>
          </a:p>
        </p:txBody>
      </p:sp>
    </p:spTree>
    <p:extLst>
      <p:ext uri="{BB962C8B-B14F-4D97-AF65-F5344CB8AC3E}">
        <p14:creationId xmlns:p14="http://schemas.microsoft.com/office/powerpoint/2010/main" val="3935316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51CC39-DB26-4BAF-ED4F-98FFDBAF9DA4}"/>
              </a:ext>
            </a:extLst>
          </p:cNvPr>
          <p:cNvPicPr>
            <a:picLocks noChangeAspect="1"/>
          </p:cNvPicPr>
          <p:nvPr/>
        </p:nvPicPr>
        <p:blipFill rotWithShape="1">
          <a:blip r:embed="rId3"/>
          <a:srcRect l="5520" r="3749"/>
          <a:stretch/>
        </p:blipFill>
        <p:spPr>
          <a:xfrm>
            <a:off x="1062891" y="325410"/>
            <a:ext cx="10808678" cy="5925826"/>
          </a:xfrm>
          <a:prstGeom prst="rect">
            <a:avLst/>
          </a:prstGeom>
        </p:spPr>
      </p:pic>
      <p:sp>
        <p:nvSpPr>
          <p:cNvPr id="4" name="TextBox 3">
            <a:extLst>
              <a:ext uri="{FF2B5EF4-FFF2-40B4-BE49-F238E27FC236}">
                <a16:creationId xmlns:a16="http://schemas.microsoft.com/office/drawing/2014/main" id="{BDA62332-4B8B-75E7-E001-8613B635CF47}"/>
              </a:ext>
            </a:extLst>
          </p:cNvPr>
          <p:cNvSpPr txBox="1"/>
          <p:nvPr/>
        </p:nvSpPr>
        <p:spPr>
          <a:xfrm>
            <a:off x="1291493" y="1228188"/>
            <a:ext cx="3475892" cy="584775"/>
          </a:xfrm>
          <a:prstGeom prst="rect">
            <a:avLst/>
          </a:prstGeom>
          <a:noFill/>
        </p:spPr>
        <p:txBody>
          <a:bodyPr wrap="square">
            <a:spAutoFit/>
          </a:bodyPr>
          <a:lstStyle/>
          <a:p>
            <a:r>
              <a:rPr lang="en-US" sz="1600" dirty="0">
                <a:solidFill>
                  <a:srgbClr val="C00000"/>
                </a:solidFill>
              </a:rPr>
              <a:t>An IT risk scenario should include the following components:</a:t>
            </a:r>
          </a:p>
        </p:txBody>
      </p:sp>
    </p:spTree>
    <p:extLst>
      <p:ext uri="{BB962C8B-B14F-4D97-AF65-F5344CB8AC3E}">
        <p14:creationId xmlns:p14="http://schemas.microsoft.com/office/powerpoint/2010/main" val="3484286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12146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sng" spc="-10" dirty="0">
                <a:solidFill>
                  <a:srgbClr val="C00000"/>
                </a:solidFill>
                <a:uFill>
                  <a:solidFill>
                    <a:srgbClr val="000000"/>
                  </a:solidFill>
                </a:uFill>
              </a:rPr>
              <a:t>Assets</a:t>
            </a:r>
            <a:br>
              <a:rPr lang="en-US" u="sng" spc="-10" dirty="0">
                <a:solidFill>
                  <a:srgbClr val="C00000"/>
                </a:solidFill>
                <a:uFill>
                  <a:solidFill>
                    <a:srgbClr val="000000"/>
                  </a:solidFill>
                </a:uFill>
              </a:rPr>
            </a:br>
            <a:endParaRPr u="sng" spc="-10" dirty="0">
              <a:solidFill>
                <a:srgbClr val="C00000"/>
              </a:solidFill>
              <a:uFill>
                <a:solidFill>
                  <a:srgbClr val="000000"/>
                </a:solidFill>
              </a:uFill>
            </a:endParaRPr>
          </a:p>
        </p:txBody>
      </p:sp>
      <p:sp>
        <p:nvSpPr>
          <p:cNvPr id="3" name="object 3"/>
          <p:cNvSpPr txBox="1"/>
          <p:nvPr/>
        </p:nvSpPr>
        <p:spPr>
          <a:xfrm>
            <a:off x="1066801" y="1218561"/>
            <a:ext cx="9067800" cy="3896580"/>
          </a:xfrm>
          <a:prstGeom prst="rect">
            <a:avLst/>
          </a:prstGeom>
        </p:spPr>
        <p:txBody>
          <a:bodyPr vert="horz" wrap="square" lIns="0" tIns="56515" rIns="0" bIns="0" rtlCol="0">
            <a:spAutoFit/>
          </a:bodyPr>
          <a:lstStyle/>
          <a:p>
            <a:pPr marL="12700" marR="0" lvl="0" indent="-229235" algn="l" defTabSz="457200" rtl="0" eaLnBrk="1" fontAlgn="auto" latinLnBrk="0" hangingPunct="1">
              <a:lnSpc>
                <a:spcPct val="100000"/>
              </a:lnSpc>
              <a:spcBef>
                <a:spcPts val="680"/>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Asset:</a:t>
            </a:r>
          </a:p>
          <a:p>
            <a:pPr marL="698500" marR="0" lvl="1" indent="-229235" algn="l" defTabSz="457200" rtl="0" eaLnBrk="1" fontAlgn="auto" latinLnBrk="0" hangingPunct="1">
              <a:lnSpc>
                <a:spcPct val="100000"/>
              </a:lnSpc>
              <a:spcBef>
                <a:spcPts val="290"/>
              </a:spcBef>
              <a:spcAft>
                <a:spcPts val="0"/>
              </a:spcAft>
              <a:buClrTx/>
              <a:buSzTx/>
              <a:buFont typeface="Arial MT"/>
              <a:buChar char="•"/>
              <a:tabLst>
                <a:tab pos="698500" algn="l"/>
                <a:tab pos="699135" algn="l"/>
              </a:tabLst>
              <a:defRPr/>
            </a:pPr>
            <a:r>
              <a:rPr kumimoji="0" sz="2000" b="0" i="0" u="none" strike="noStrike" kern="1200" cap="none" spc="-20" normalizeH="0" baseline="0" noProof="0" dirty="0">
                <a:ln>
                  <a:noFill/>
                </a:ln>
                <a:solidFill>
                  <a:prstClr val="black"/>
                </a:solidFill>
                <a:effectLst/>
                <a:uLnTx/>
                <a:uFillTx/>
                <a:latin typeface="Calibri"/>
                <a:ea typeface="+mn-ea"/>
                <a:cs typeface="Calibri"/>
              </a:rPr>
              <a:t>Tangible: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equipment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systems,</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people, facilities,</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process,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methods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54"/>
              </a:spcBef>
              <a:spcAft>
                <a:spcPts val="0"/>
              </a:spcAft>
              <a:buClrTx/>
              <a:buSzTx/>
              <a:buFont typeface="Arial MT"/>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Intangible: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consumer</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confidence,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customer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loyalty,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reputation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65"/>
              </a:spcBef>
              <a:spcAft>
                <a:spcPts val="0"/>
              </a:spcAft>
              <a:buClrTx/>
              <a:buSzTx/>
              <a:buFont typeface="Arial MT"/>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Anything</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else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organization </a:t>
            </a:r>
            <a:r>
              <a:rPr kumimoji="0" sz="2000" b="0" i="0" u="none" strike="noStrike" kern="1200" cap="none" spc="-5" normalizeH="0" baseline="0" noProof="0" dirty="0">
                <a:ln>
                  <a:noFill/>
                </a:ln>
                <a:solidFill>
                  <a:prstClr val="black"/>
                </a:solidFill>
                <a:effectLst/>
                <a:uLnTx/>
                <a:uFillTx/>
                <a:latin typeface="Calibri"/>
                <a:ea typeface="+mn-ea"/>
                <a:cs typeface="Calibri"/>
              </a:rPr>
              <a:t>places</a:t>
            </a:r>
            <a:r>
              <a:rPr kumimoji="0" sz="2000" b="0" i="0" u="none" strike="noStrike" kern="1200" cap="none" spc="0" normalizeH="0" baseline="0" noProof="0" dirty="0">
                <a:ln>
                  <a:noFill/>
                </a:ln>
                <a:solidFill>
                  <a:prstClr val="black"/>
                </a:solidFill>
                <a:effectLst/>
                <a:uLnTx/>
                <a:uFillTx/>
                <a:latin typeface="Calibri"/>
                <a:ea typeface="+mn-ea"/>
                <a:cs typeface="Calibri"/>
              </a:rPr>
              <a:t> a</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value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ct val="100000"/>
              </a:lnSpc>
              <a:spcBef>
                <a:spcPts val="690"/>
              </a:spcBef>
              <a:spcAft>
                <a:spcPts val="0"/>
              </a:spcAft>
              <a:buClrTx/>
              <a:buSzTx/>
              <a:buFont typeface="Arial MT"/>
              <a:buChar char="•"/>
              <a:tabLst>
                <a:tab pos="241935" algn="l"/>
              </a:tabLst>
              <a:defRPr/>
            </a:pPr>
            <a:r>
              <a:rPr kumimoji="0" sz="2400" b="0" i="1" u="none" strike="noStrike" kern="1200" cap="none" spc="-10" normalizeH="0" baseline="0" noProof="0" dirty="0">
                <a:ln>
                  <a:noFill/>
                </a:ln>
                <a:solidFill>
                  <a:prstClr val="black"/>
                </a:solidFill>
                <a:effectLst/>
                <a:uLnTx/>
                <a:uFillTx/>
                <a:latin typeface="Calibri"/>
                <a:ea typeface="+mn-ea"/>
                <a:cs typeface="Calibri"/>
              </a:rPr>
              <a:t>Intangible</a:t>
            </a:r>
            <a:r>
              <a:rPr kumimoji="0" sz="2400" b="0" i="1" u="none" strike="noStrike" kern="1200" cap="none" spc="0" normalizeH="0" baseline="0" noProof="0" dirty="0">
                <a:ln>
                  <a:noFill/>
                </a:ln>
                <a:solidFill>
                  <a:prstClr val="black"/>
                </a:solidFill>
                <a:effectLst/>
                <a:uLnTx/>
                <a:uFillTx/>
                <a:latin typeface="Calibri"/>
                <a:ea typeface="+mn-ea"/>
                <a:cs typeface="Calibri"/>
              </a:rPr>
              <a:t> </a:t>
            </a:r>
            <a:r>
              <a:rPr kumimoji="0" sz="2400" b="0" i="1" u="none" strike="noStrike" kern="1200" cap="none" spc="-5" normalizeH="0" baseline="0" noProof="0" dirty="0">
                <a:ln>
                  <a:noFill/>
                </a:ln>
                <a:solidFill>
                  <a:prstClr val="black"/>
                </a:solidFill>
                <a:effectLst/>
                <a:uLnTx/>
                <a:uFillTx/>
                <a:latin typeface="Calibri"/>
                <a:ea typeface="+mn-ea"/>
                <a:cs typeface="Calibri"/>
              </a:rPr>
              <a:t>assets are</a:t>
            </a:r>
            <a:r>
              <a:rPr kumimoji="0" sz="2400" b="0" i="1" u="none" strike="noStrike" kern="1200" cap="none" spc="-15" normalizeH="0" baseline="0" noProof="0" dirty="0">
                <a:ln>
                  <a:noFill/>
                </a:ln>
                <a:solidFill>
                  <a:prstClr val="black"/>
                </a:solidFill>
                <a:effectLst/>
                <a:uLnTx/>
                <a:uFillTx/>
                <a:latin typeface="Calibri"/>
                <a:ea typeface="+mn-ea"/>
                <a:cs typeface="Calibri"/>
              </a:rPr>
              <a:t> </a:t>
            </a:r>
            <a:r>
              <a:rPr kumimoji="0" sz="2400" b="0" i="1" u="none" strike="noStrike" kern="1200" cap="none" spc="0" normalizeH="0" baseline="0" noProof="0" dirty="0">
                <a:ln>
                  <a:noFill/>
                </a:ln>
                <a:solidFill>
                  <a:prstClr val="black"/>
                </a:solidFill>
                <a:effectLst/>
                <a:uLnTx/>
                <a:uFillTx/>
                <a:latin typeface="Calibri"/>
                <a:ea typeface="+mn-ea"/>
                <a:cs typeface="Calibri"/>
              </a:rPr>
              <a:t>more</a:t>
            </a:r>
            <a:r>
              <a:rPr kumimoji="0" sz="2400" b="0" i="1" u="none" strike="noStrike" kern="1200" cap="none" spc="5" normalizeH="0" baseline="0" noProof="0" dirty="0">
                <a:ln>
                  <a:noFill/>
                </a:ln>
                <a:solidFill>
                  <a:prstClr val="black"/>
                </a:solidFill>
                <a:effectLst/>
                <a:uLnTx/>
                <a:uFillTx/>
                <a:latin typeface="Calibri"/>
                <a:ea typeface="+mn-ea"/>
                <a:cs typeface="Calibri"/>
              </a:rPr>
              <a:t> </a:t>
            </a:r>
            <a:r>
              <a:rPr kumimoji="0" sz="2400" b="0" i="1" u="none" strike="noStrike" kern="1200" cap="none" spc="-5" normalizeH="0" baseline="0" noProof="0" dirty="0">
                <a:ln>
                  <a:noFill/>
                </a:ln>
                <a:solidFill>
                  <a:prstClr val="black"/>
                </a:solidFill>
                <a:effectLst/>
                <a:uLnTx/>
                <a:uFillTx/>
                <a:latin typeface="Calibri"/>
                <a:ea typeface="+mn-ea"/>
                <a:cs typeface="Calibri"/>
              </a:rPr>
              <a:t>difficult</a:t>
            </a:r>
            <a:r>
              <a:rPr kumimoji="0" sz="2400" b="0" i="1" u="none" strike="noStrike" kern="1200" cap="none" spc="5" normalizeH="0" baseline="0" noProof="0" dirty="0">
                <a:ln>
                  <a:noFill/>
                </a:ln>
                <a:solidFill>
                  <a:prstClr val="black"/>
                </a:solidFill>
                <a:effectLst/>
                <a:uLnTx/>
                <a:uFillTx/>
                <a:latin typeface="Calibri"/>
                <a:ea typeface="+mn-ea"/>
                <a:cs typeface="Calibri"/>
              </a:rPr>
              <a:t> </a:t>
            </a:r>
            <a:r>
              <a:rPr kumimoji="0" sz="2400" b="0" i="1" u="none" strike="noStrike" kern="1200" cap="none" spc="-15" normalizeH="0" baseline="0" noProof="0" dirty="0">
                <a:ln>
                  <a:noFill/>
                </a:ln>
                <a:solidFill>
                  <a:prstClr val="black"/>
                </a:solidFill>
                <a:effectLst/>
                <a:uLnTx/>
                <a:uFillTx/>
                <a:latin typeface="Calibri"/>
                <a:ea typeface="+mn-ea"/>
                <a:cs typeface="Calibri"/>
              </a:rPr>
              <a:t>to </a:t>
            </a:r>
            <a:r>
              <a:rPr kumimoji="0" sz="2400" b="0" i="1" u="none" strike="noStrike" kern="1200" cap="none" spc="-5" normalizeH="0" baseline="0" noProof="0" dirty="0">
                <a:ln>
                  <a:noFill/>
                </a:ln>
                <a:solidFill>
                  <a:prstClr val="black"/>
                </a:solidFill>
                <a:effectLst/>
                <a:uLnTx/>
                <a:uFillTx/>
                <a:latin typeface="Calibri"/>
                <a:ea typeface="+mn-ea"/>
                <a:cs typeface="Calibri"/>
              </a:rPr>
              <a:t>develop </a:t>
            </a:r>
            <a:r>
              <a:rPr kumimoji="0" sz="2400" b="0" i="1" u="none" strike="noStrike" kern="1200" cap="none" spc="0" normalizeH="0" baseline="0" noProof="0" dirty="0">
                <a:ln>
                  <a:noFill/>
                </a:ln>
                <a:solidFill>
                  <a:prstClr val="black"/>
                </a:solidFill>
                <a:effectLst/>
                <a:uLnTx/>
                <a:uFillTx/>
                <a:latin typeface="Calibri"/>
                <a:ea typeface="+mn-ea"/>
                <a:cs typeface="Calibri"/>
              </a:rPr>
              <a:t>risk</a:t>
            </a:r>
            <a:r>
              <a:rPr kumimoji="0" sz="2400" b="0" i="1" u="none" strike="noStrike" kern="1200" cap="none" spc="-15" normalizeH="0" baseline="0" noProof="0" dirty="0">
                <a:ln>
                  <a:noFill/>
                </a:ln>
                <a:solidFill>
                  <a:prstClr val="black"/>
                </a:solidFill>
                <a:effectLst/>
                <a:uLnTx/>
                <a:uFillTx/>
                <a:latin typeface="Calibri"/>
                <a:ea typeface="+mn-ea"/>
                <a:cs typeface="Calibri"/>
              </a:rPr>
              <a:t> </a:t>
            </a:r>
            <a:r>
              <a:rPr kumimoji="0" sz="2400" b="0" i="1" u="none" strike="noStrike" kern="1200" cap="none" spc="-5" normalizeH="0" baseline="0" noProof="0" dirty="0">
                <a:ln>
                  <a:noFill/>
                </a:ln>
                <a:solidFill>
                  <a:prstClr val="black"/>
                </a:solidFill>
                <a:effectLst/>
                <a:uLnTx/>
                <a:uFillTx/>
                <a:latin typeface="Calibri"/>
                <a:ea typeface="+mn-ea"/>
                <a:cs typeface="Calibri"/>
              </a:rPr>
              <a:t>scenarios</a:t>
            </a:r>
            <a:r>
              <a:rPr kumimoji="0" sz="2400" b="0" i="1" u="none" strike="noStrike" kern="1200" cap="none" spc="5" normalizeH="0" baseline="0" noProof="0" dirty="0">
                <a:ln>
                  <a:noFill/>
                </a:ln>
                <a:solidFill>
                  <a:prstClr val="black"/>
                </a:solidFill>
                <a:effectLst/>
                <a:uLnTx/>
                <a:uFillTx/>
                <a:latin typeface="Calibri"/>
                <a:ea typeface="+mn-ea"/>
                <a:cs typeface="Calibri"/>
              </a:rPr>
              <a:t> </a:t>
            </a:r>
            <a:r>
              <a:rPr kumimoji="0" sz="2400" b="0" i="1" u="none" strike="noStrike" kern="1200" cap="none" spc="-5" normalizeH="0" baseline="0" noProof="0" dirty="0">
                <a:ln>
                  <a:noFill/>
                </a:ln>
                <a:solidFill>
                  <a:prstClr val="black"/>
                </a:solidFill>
                <a:effectLst/>
                <a:uLnTx/>
                <a:uFillTx/>
                <a:latin typeface="Calibri"/>
                <a:ea typeface="+mn-ea"/>
                <a:cs typeface="Calibri"/>
              </a:rPr>
              <a:t>around.</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ts val="2735"/>
              </a:lnSpc>
              <a:spcBef>
                <a:spcPts val="710"/>
              </a:spcBef>
              <a:spcAft>
                <a:spcPts val="0"/>
              </a:spcAft>
              <a:buClrTx/>
              <a:buSzTx/>
              <a:buFont typeface="Arial MT"/>
              <a:buChar char="•"/>
              <a:tabLst>
                <a:tab pos="241935" algn="l"/>
              </a:tabLst>
              <a:defRPr/>
            </a:pPr>
            <a:r>
              <a:rPr kumimoji="0" sz="2400" b="0" i="0" u="none" strike="noStrike" kern="1200" cap="none" spc="0" normalizeH="0" baseline="0" noProof="0" dirty="0">
                <a:ln>
                  <a:noFill/>
                </a:ln>
                <a:solidFill>
                  <a:prstClr val="black"/>
                </a:solidFill>
                <a:effectLst/>
                <a:uLnTx/>
                <a:uFillTx/>
                <a:latin typeface="Calibri"/>
                <a:ea typeface="+mn-ea"/>
                <a:cs typeface="Calibri"/>
              </a:rPr>
              <a:t>When </a:t>
            </a:r>
            <a:r>
              <a:rPr kumimoji="0" sz="2400" b="0" i="0" u="none" strike="noStrike" kern="1200" cap="none" spc="-5" normalizeH="0" baseline="0" noProof="0" dirty="0">
                <a:ln>
                  <a:noFill/>
                </a:ln>
                <a:solidFill>
                  <a:prstClr val="black"/>
                </a:solidFill>
                <a:effectLst/>
                <a:uLnTx/>
                <a:uFillTx/>
                <a:latin typeface="Calibri"/>
                <a:ea typeface="+mn-ea"/>
                <a:cs typeface="Calibri"/>
              </a:rPr>
              <a:t>developing </a:t>
            </a:r>
            <a:r>
              <a:rPr kumimoji="0" sz="2400" b="0" i="0" u="none" strike="noStrike" kern="1200" cap="none" spc="0" normalizeH="0" baseline="0" noProof="0" dirty="0">
                <a:ln>
                  <a:noFill/>
                </a:ln>
                <a:solidFill>
                  <a:prstClr val="black"/>
                </a:solidFill>
                <a:effectLst/>
                <a:uLnTx/>
                <a:uFillTx/>
                <a:latin typeface="Calibri"/>
                <a:ea typeface="+mn-ea"/>
                <a:cs typeface="Calibri"/>
              </a:rPr>
              <a:t>risk</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scenarios,</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assets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should be</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identified</a:t>
            </a:r>
            <a:r>
              <a:rPr kumimoji="0" sz="2400" b="0" i="0" u="none" strike="noStrike" kern="1200" cap="none" spc="0" normalizeH="0" baseline="0" noProof="0" dirty="0">
                <a:ln>
                  <a:noFill/>
                </a:ln>
                <a:solidFill>
                  <a:prstClr val="black"/>
                </a:solidFill>
                <a:effectLst/>
                <a:uLnTx/>
                <a:uFillTx/>
                <a:latin typeface="Calibri"/>
                <a:ea typeface="+mn-ea"/>
                <a:cs typeface="Calibri"/>
              </a:rPr>
              <a:t> as</a:t>
            </a:r>
            <a:r>
              <a:rPr kumimoji="0" sz="2400" b="0" i="0" u="none" strike="noStrike" kern="1200" cap="none" spc="-10" normalizeH="0" baseline="0" noProof="0" dirty="0">
                <a:ln>
                  <a:noFill/>
                </a:ln>
                <a:solidFill>
                  <a:prstClr val="black"/>
                </a:solidFill>
                <a:effectLst/>
                <a:uLnTx/>
                <a:uFillTx/>
                <a:latin typeface="Calibri"/>
                <a:ea typeface="+mn-ea"/>
                <a:cs typeface="Calibri"/>
              </a:rPr>
              <a:t> concretely</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as</a:t>
            </a:r>
            <a:r>
              <a:rPr kumimoji="0" lang="en-US"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possible.</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5080" lvl="0" indent="-229235" algn="l" defTabSz="457200" rtl="0" eaLnBrk="1" fontAlgn="auto" latinLnBrk="0" hangingPunct="1">
              <a:lnSpc>
                <a:spcPts val="2590"/>
              </a:lnSpc>
              <a:spcBef>
                <a:spcPts val="1035"/>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Identifying assets </a:t>
            </a:r>
            <a:r>
              <a:rPr kumimoji="0" sz="2400" b="0" i="0" u="none" strike="noStrike" kern="1200" cap="none" spc="0" normalizeH="0" baseline="0" noProof="0" dirty="0">
                <a:ln>
                  <a:noFill/>
                </a:ln>
                <a:solidFill>
                  <a:prstClr val="black"/>
                </a:solidFill>
                <a:effectLst/>
                <a:uLnTx/>
                <a:uFillTx/>
                <a:latin typeface="Calibri"/>
                <a:ea typeface="+mn-ea"/>
                <a:cs typeface="Calibri"/>
              </a:rPr>
              <a:t>and </a:t>
            </a:r>
            <a:r>
              <a:rPr kumimoji="0" sz="2400" b="0" i="0" u="none" strike="noStrike" kern="1200" cap="none" spc="-5" normalizeH="0" baseline="0" noProof="0" dirty="0">
                <a:ln>
                  <a:noFill/>
                </a:ln>
                <a:solidFill>
                  <a:prstClr val="black"/>
                </a:solidFill>
                <a:effectLst/>
                <a:uLnTx/>
                <a:uFillTx/>
                <a:latin typeface="Calibri"/>
                <a:ea typeface="+mn-ea"/>
                <a:cs typeface="Calibri"/>
              </a:rPr>
              <a:t>prioritizing </a:t>
            </a:r>
            <a:r>
              <a:rPr kumimoji="0" sz="2400" b="0" i="0" u="none" strike="noStrike" kern="1200" cap="none" spc="0" normalizeH="0" baseline="0" noProof="0" dirty="0">
                <a:ln>
                  <a:noFill/>
                </a:ln>
                <a:solidFill>
                  <a:prstClr val="black"/>
                </a:solidFill>
                <a:effectLst/>
                <a:uLnTx/>
                <a:uFillTx/>
                <a:latin typeface="Calibri"/>
                <a:ea typeface="+mn-ea"/>
                <a:cs typeface="Calibri"/>
              </a:rPr>
              <a:t>them </a:t>
            </a:r>
            <a:r>
              <a:rPr kumimoji="0" sz="2400" b="0" i="0" u="none" strike="noStrike" kern="1200" cap="none" spc="-5" normalizeH="0" baseline="0" noProof="0" dirty="0">
                <a:ln>
                  <a:noFill/>
                </a:ln>
                <a:solidFill>
                  <a:prstClr val="black"/>
                </a:solidFill>
                <a:effectLst/>
                <a:uLnTx/>
                <a:uFillTx/>
                <a:latin typeface="Calibri"/>
                <a:ea typeface="+mn-ea"/>
                <a:cs typeface="Calibri"/>
              </a:rPr>
              <a:t>based on </a:t>
            </a:r>
            <a:r>
              <a:rPr kumimoji="0" sz="2400" b="0" i="0" u="none" strike="noStrike" kern="1200" cap="none" spc="0" normalizeH="0" baseline="0" noProof="0" dirty="0">
                <a:ln>
                  <a:noFill/>
                </a:ln>
                <a:solidFill>
                  <a:prstClr val="black"/>
                </a:solidFill>
                <a:effectLst/>
                <a:uLnTx/>
                <a:uFillTx/>
                <a:latin typeface="Calibri"/>
                <a:ea typeface="+mn-ea"/>
                <a:cs typeface="Calibri"/>
              </a:rPr>
              <a:t>their </a:t>
            </a:r>
            <a:r>
              <a:rPr kumimoji="0" sz="2400" b="0" i="0" u="none" strike="noStrike" kern="1200" cap="none" spc="-5" normalizeH="0" baseline="0" noProof="0" dirty="0">
                <a:ln>
                  <a:noFill/>
                </a:ln>
                <a:solidFill>
                  <a:prstClr val="black"/>
                </a:solidFill>
                <a:effectLst/>
                <a:uLnTx/>
                <a:uFillTx/>
                <a:latin typeface="Calibri"/>
                <a:ea typeface="+mn-ea"/>
                <a:cs typeface="Calibri"/>
              </a:rPr>
              <a:t>importance </a:t>
            </a:r>
            <a:r>
              <a:rPr kumimoji="0" sz="2400" b="0" i="0" u="none" strike="noStrike" kern="1200" cap="none" spc="-15" normalizeH="0" baseline="0" noProof="0" dirty="0">
                <a:ln>
                  <a:noFill/>
                </a:ln>
                <a:solidFill>
                  <a:prstClr val="black"/>
                </a:solidFill>
                <a:effectLst/>
                <a:uLnTx/>
                <a:uFillTx/>
                <a:latin typeface="Calibri"/>
                <a:ea typeface="+mn-ea"/>
                <a:cs typeface="Calibri"/>
              </a:rPr>
              <a:t>to </a:t>
            </a:r>
            <a:r>
              <a:rPr kumimoji="0" sz="2400" b="0" i="0" u="none" strike="noStrike" kern="1200" cap="none" spc="0" normalizeH="0" baseline="0" noProof="0" dirty="0">
                <a:ln>
                  <a:noFill/>
                </a:ln>
                <a:solidFill>
                  <a:prstClr val="black"/>
                </a:solidFill>
                <a:effectLst/>
                <a:uLnTx/>
                <a:uFillTx/>
                <a:latin typeface="Calibri"/>
                <a:ea typeface="+mn-ea"/>
                <a:cs typeface="Calibri"/>
              </a:rPr>
              <a:t>the </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organization </a:t>
            </a:r>
            <a:r>
              <a:rPr kumimoji="0" sz="2400" b="0" i="0" u="none" strike="noStrike" kern="1200" cap="none" spc="0" normalizeH="0" baseline="0" noProof="0" dirty="0">
                <a:ln>
                  <a:noFill/>
                </a:ln>
                <a:solidFill>
                  <a:prstClr val="black"/>
                </a:solidFill>
                <a:effectLst/>
                <a:uLnTx/>
                <a:uFillTx/>
                <a:latin typeface="Calibri"/>
                <a:ea typeface="+mn-ea"/>
                <a:cs typeface="Calibri"/>
              </a:rPr>
              <a:t>is </a:t>
            </a:r>
            <a:r>
              <a:rPr kumimoji="0" sz="2400" b="0" i="0" u="none" strike="noStrike" kern="1200" cap="none" spc="-5" normalizeH="0" baseline="0" noProof="0" dirty="0">
                <a:ln>
                  <a:noFill/>
                </a:ln>
                <a:solidFill>
                  <a:prstClr val="black"/>
                </a:solidFill>
                <a:effectLst/>
                <a:uLnTx/>
                <a:uFillTx/>
                <a:latin typeface="Calibri"/>
                <a:ea typeface="+mn-ea"/>
                <a:cs typeface="Calibri"/>
              </a:rPr>
              <a:t>sometimes </a:t>
            </a:r>
            <a:r>
              <a:rPr kumimoji="0" sz="2400" b="0" i="0" u="none" strike="noStrike" kern="1200" cap="none" spc="-20" normalizeH="0" baseline="0" noProof="0" dirty="0">
                <a:ln>
                  <a:noFill/>
                </a:ln>
                <a:solidFill>
                  <a:prstClr val="black"/>
                </a:solidFill>
                <a:effectLst/>
                <a:uLnTx/>
                <a:uFillTx/>
                <a:latin typeface="Calibri"/>
                <a:ea typeface="+mn-ea"/>
                <a:cs typeface="Calibri"/>
              </a:rPr>
              <a:t>referred </a:t>
            </a:r>
            <a:r>
              <a:rPr kumimoji="0" sz="2400" b="0" i="0" u="none" strike="noStrike" kern="1200" cap="none" spc="-15" normalizeH="0" baseline="0" noProof="0" dirty="0">
                <a:ln>
                  <a:noFill/>
                </a:ln>
                <a:solidFill>
                  <a:prstClr val="black"/>
                </a:solidFill>
                <a:effectLst/>
                <a:uLnTx/>
                <a:uFillTx/>
                <a:latin typeface="Calibri"/>
                <a:ea typeface="+mn-ea"/>
                <a:cs typeface="Calibri"/>
              </a:rPr>
              <a:t>to </a:t>
            </a:r>
            <a:r>
              <a:rPr kumimoji="0" sz="2400" b="0" i="0" u="none" strike="noStrike" kern="1200" cap="none" spc="0" normalizeH="0" baseline="0" noProof="0" dirty="0">
                <a:ln>
                  <a:noFill/>
                </a:ln>
                <a:solidFill>
                  <a:prstClr val="black"/>
                </a:solidFill>
                <a:effectLst/>
                <a:uLnTx/>
                <a:uFillTx/>
                <a:latin typeface="Calibri"/>
                <a:ea typeface="+mn-ea"/>
                <a:cs typeface="Calibri"/>
              </a:rPr>
              <a:t>as a </a:t>
            </a:r>
            <a:r>
              <a:rPr kumimoji="0" sz="2400" b="0" i="1" u="none" strike="noStrike" kern="1200" cap="none" spc="-5" normalizeH="0" baseline="0" noProof="0" dirty="0">
                <a:ln>
                  <a:noFill/>
                </a:ln>
                <a:solidFill>
                  <a:prstClr val="black"/>
                </a:solidFill>
                <a:effectLst/>
                <a:uLnTx/>
                <a:uFillTx/>
                <a:latin typeface="Calibri"/>
                <a:ea typeface="+mn-ea"/>
                <a:cs typeface="Calibri"/>
              </a:rPr>
              <a:t>criticality analysis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It is an </a:t>
            </a:r>
            <a:r>
              <a:rPr kumimoji="0" sz="2400" b="0" i="0" u="none" strike="noStrike" kern="1200" cap="none" spc="-5" normalizeH="0" baseline="0" noProof="0" dirty="0">
                <a:ln>
                  <a:noFill/>
                </a:ln>
                <a:solidFill>
                  <a:prstClr val="black"/>
                </a:solidFill>
                <a:effectLst/>
                <a:uLnTx/>
                <a:uFillTx/>
                <a:latin typeface="Calibri"/>
                <a:ea typeface="+mn-ea"/>
                <a:cs typeface="Calibri"/>
              </a:rPr>
              <a:t>essential </a:t>
            </a:r>
            <a:r>
              <a:rPr kumimoji="0" sz="2400" b="0" i="0" u="none" strike="noStrike" kern="1200" cap="none" spc="-53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step </a:t>
            </a:r>
            <a:r>
              <a:rPr kumimoji="0" sz="2400" b="0" i="0" u="none" strike="noStrike" kern="1200" cap="none" spc="0" normalizeH="0" baseline="0" noProof="0" dirty="0">
                <a:ln>
                  <a:noFill/>
                </a:ln>
                <a:solidFill>
                  <a:prstClr val="black"/>
                </a:solidFill>
                <a:effectLst/>
                <a:uLnTx/>
                <a:uFillTx/>
                <a:latin typeface="Calibri"/>
                <a:ea typeface="+mn-ea"/>
                <a:cs typeface="Calibri"/>
              </a:rPr>
              <a:t>in the </a:t>
            </a:r>
            <a:r>
              <a:rPr kumimoji="0" sz="2400" b="0" i="0" u="none" strike="noStrike" kern="1200" cap="none" spc="-10" normalizeH="0" baseline="0" noProof="0" dirty="0">
                <a:ln>
                  <a:noFill/>
                </a:ln>
                <a:solidFill>
                  <a:prstClr val="black"/>
                </a:solidFill>
                <a:effectLst/>
                <a:uLnTx/>
                <a:uFillTx/>
                <a:latin typeface="Calibri"/>
                <a:ea typeface="+mn-ea"/>
                <a:cs typeface="Calibri"/>
              </a:rPr>
              <a:t>process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 developing</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risk</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scenarios.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1699697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12146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sng" spc="-10" dirty="0">
                <a:solidFill>
                  <a:srgbClr val="C00000"/>
                </a:solidFill>
                <a:uFill>
                  <a:solidFill>
                    <a:srgbClr val="000000"/>
                  </a:solidFill>
                </a:uFill>
              </a:rPr>
              <a:t>Threats and Vulnerabilities</a:t>
            </a:r>
            <a:br>
              <a:rPr lang="en-US" u="heavy" spc="-10" dirty="0">
                <a:solidFill>
                  <a:srgbClr val="C00000"/>
                </a:solidFill>
                <a:uFill>
                  <a:solidFill>
                    <a:srgbClr val="000000"/>
                  </a:solidFill>
                </a:uFill>
              </a:rPr>
            </a:br>
            <a:endParaRPr u="heavy" spc="-45" dirty="0">
              <a:uFill>
                <a:solidFill>
                  <a:srgbClr val="000000"/>
                </a:solidFill>
              </a:uFill>
            </a:endParaRPr>
          </a:p>
        </p:txBody>
      </p:sp>
      <p:sp>
        <p:nvSpPr>
          <p:cNvPr id="3" name="object 3"/>
          <p:cNvSpPr txBox="1"/>
          <p:nvPr/>
        </p:nvSpPr>
        <p:spPr>
          <a:xfrm>
            <a:off x="1066801" y="1447800"/>
            <a:ext cx="8077200" cy="3674660"/>
          </a:xfrm>
          <a:prstGeom prst="rect">
            <a:avLst/>
          </a:prstGeom>
        </p:spPr>
        <p:txBody>
          <a:bodyPr vert="horz" wrap="square" lIns="0" tIns="52705" rIns="0" bIns="0" rtlCol="0">
            <a:spAutoFit/>
          </a:bodyPr>
          <a:lstStyle/>
          <a:p>
            <a:pPr marL="241300" marR="5080" lvl="0" indent="-229235" algn="l" defTabSz="457200" rtl="0" eaLnBrk="1" fontAlgn="auto" latinLnBrk="0" hangingPunct="1">
              <a:lnSpc>
                <a:spcPct val="90000"/>
              </a:lnSpc>
              <a:spcBef>
                <a:spcPts val="415"/>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Threats</a:t>
            </a:r>
            <a:r>
              <a:rPr kumimoji="0" sz="2400" b="0" i="0" u="none" strike="noStrike" kern="1200" cap="none" spc="-10" normalizeH="0" baseline="0" noProof="0" dirty="0">
                <a:ln>
                  <a:noFill/>
                </a:ln>
                <a:solidFill>
                  <a:srgbClr val="C00000"/>
                </a:solidFill>
                <a:effectLst/>
                <a:uLnTx/>
                <a:uFill>
                  <a:solidFill>
                    <a:srgbClr val="000000"/>
                  </a:solidFill>
                </a:uFill>
                <a:latin typeface="Century Gothic" panose="020B0502020202020204"/>
                <a:ea typeface="+mn-ea"/>
                <a:cs typeface="+mn-cs"/>
              </a:rPr>
              <a:t> </a:t>
            </a:r>
            <a:r>
              <a:rPr kumimoji="0" sz="2400" b="0" i="0" u="none" strike="noStrike" kern="1200" cap="none" spc="-10" normalizeH="0" baseline="0" noProof="0" dirty="0">
                <a:ln>
                  <a:noFill/>
                </a:ln>
                <a:solidFill>
                  <a:prstClr val="black"/>
                </a:solidFill>
                <a:effectLst/>
                <a:uLnTx/>
                <a:uFillTx/>
                <a:latin typeface="Calibri"/>
                <a:ea typeface="+mn-ea"/>
                <a:cs typeface="Calibri"/>
              </a:rPr>
              <a:t>are </a:t>
            </a:r>
            <a:r>
              <a:rPr kumimoji="0" sz="2400" b="0" i="0" u="none" strike="noStrike" kern="1200" cap="none" spc="-15" normalizeH="0" baseline="0" noProof="0" dirty="0">
                <a:ln>
                  <a:noFill/>
                </a:ln>
                <a:solidFill>
                  <a:prstClr val="black"/>
                </a:solidFill>
                <a:effectLst/>
                <a:uLnTx/>
                <a:uFillTx/>
                <a:latin typeface="Calibri"/>
                <a:ea typeface="+mn-ea"/>
                <a:cs typeface="Calibri"/>
              </a:rPr>
              <a:t>negative </a:t>
            </a:r>
            <a:r>
              <a:rPr kumimoji="0" sz="2400" b="0" i="0" u="none" strike="noStrike" kern="1200" cap="none" spc="-10" normalizeH="0" baseline="0" noProof="0" dirty="0">
                <a:ln>
                  <a:noFill/>
                </a:ln>
                <a:solidFill>
                  <a:prstClr val="black"/>
                </a:solidFill>
                <a:effectLst/>
                <a:uLnTx/>
                <a:uFillTx/>
                <a:latin typeface="Calibri"/>
                <a:ea typeface="+mn-ea"/>
                <a:cs typeface="Calibri"/>
              </a:rPr>
              <a:t>events; </a:t>
            </a:r>
            <a:r>
              <a:rPr kumimoji="0" sz="2400" b="0" i="0" u="none" strike="noStrike" kern="1200" cap="none" spc="-5" normalizeH="0" baseline="0" noProof="0" dirty="0">
                <a:ln>
                  <a:noFill/>
                </a:ln>
                <a:solidFill>
                  <a:prstClr val="black"/>
                </a:solidFill>
                <a:effectLst/>
                <a:uLnTx/>
                <a:uFillTx/>
                <a:latin typeface="Calibri"/>
                <a:ea typeface="+mn-ea"/>
                <a:cs typeface="Calibri"/>
              </a:rPr>
              <a:t>they </a:t>
            </a:r>
            <a:r>
              <a:rPr kumimoji="0" sz="2400" b="0" i="0" u="none" strike="noStrike" kern="1200" cap="none" spc="-10" normalizeH="0" baseline="0" noProof="0" dirty="0">
                <a:ln>
                  <a:noFill/>
                </a:ln>
                <a:solidFill>
                  <a:prstClr val="black"/>
                </a:solidFill>
                <a:effectLst/>
                <a:uLnTx/>
                <a:uFillTx/>
                <a:latin typeface="Calibri"/>
                <a:ea typeface="+mn-ea"/>
                <a:cs typeface="Calibri"/>
              </a:rPr>
              <a:t>are </a:t>
            </a:r>
            <a:r>
              <a:rPr kumimoji="0" sz="2400" b="0" i="0" u="none" strike="noStrike" kern="1200" cap="none" spc="-5" normalizeH="0" baseline="0" noProof="0" dirty="0">
                <a:ln>
                  <a:noFill/>
                </a:ln>
                <a:solidFill>
                  <a:prstClr val="black"/>
                </a:solidFill>
                <a:effectLst/>
                <a:uLnTx/>
                <a:uFillTx/>
                <a:latin typeface="Calibri"/>
                <a:ea typeface="+mn-ea"/>
                <a:cs typeface="Calibri"/>
              </a:rPr>
              <a:t>initiated </a:t>
            </a:r>
            <a:r>
              <a:rPr kumimoji="0" sz="2400" b="0" i="0" u="none" strike="noStrike" kern="1200" cap="none" spc="-10" normalizeH="0" baseline="0" noProof="0" dirty="0">
                <a:ln>
                  <a:noFill/>
                </a:ln>
                <a:solidFill>
                  <a:prstClr val="black"/>
                </a:solidFill>
                <a:effectLst/>
                <a:uLnTx/>
                <a:uFillTx/>
                <a:latin typeface="Calibri"/>
                <a:ea typeface="+mn-ea"/>
                <a:cs typeface="Calibri"/>
              </a:rPr>
              <a:t>by threat agents </a:t>
            </a:r>
            <a:r>
              <a:rPr kumimoji="0" sz="2400" b="0" i="0" u="none" strike="noStrike" kern="1200" cap="none" spc="0" normalizeH="0" baseline="0" noProof="0" dirty="0">
                <a:ln>
                  <a:noFill/>
                </a:ln>
                <a:solidFill>
                  <a:prstClr val="black"/>
                </a:solidFill>
                <a:effectLst/>
                <a:uLnTx/>
                <a:uFillTx/>
                <a:latin typeface="Calibri"/>
                <a:ea typeface="+mn-ea"/>
                <a:cs typeface="Calibri"/>
              </a:rPr>
              <a:t>and </a:t>
            </a:r>
            <a:r>
              <a:rPr kumimoji="0" sz="2400" b="0" i="0" u="none" strike="noStrike" kern="1200" cap="none" spc="-10" normalizeH="0" baseline="0" noProof="0" dirty="0">
                <a:ln>
                  <a:noFill/>
                </a:ln>
                <a:solidFill>
                  <a:prstClr val="black"/>
                </a:solidFill>
                <a:effectLst/>
                <a:uLnTx/>
                <a:uFillTx/>
                <a:latin typeface="Calibri"/>
                <a:ea typeface="+mn-ea"/>
                <a:cs typeface="Calibri"/>
              </a:rPr>
              <a:t>exploit </a:t>
            </a:r>
            <a:r>
              <a:rPr kumimoji="0" sz="2400" b="0" i="0" u="none" strike="noStrike" kern="1200" cap="none" spc="-57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vulnerabilities </a:t>
            </a:r>
            <a:r>
              <a:rPr kumimoji="0" sz="2400" b="0" i="0" u="none" strike="noStrike" kern="1200" cap="none" spc="-10" normalizeH="0" baseline="0" noProof="0" dirty="0">
                <a:ln>
                  <a:noFill/>
                </a:ln>
                <a:solidFill>
                  <a:prstClr val="black"/>
                </a:solidFill>
                <a:effectLst/>
                <a:uLnTx/>
                <a:uFillTx/>
                <a:latin typeface="Calibri"/>
                <a:ea typeface="+mn-ea"/>
                <a:cs typeface="Calibri"/>
              </a:rPr>
              <a:t>inherent </a:t>
            </a:r>
            <a:r>
              <a:rPr kumimoji="0" sz="2400" b="0" i="0" u="none" strike="noStrike" kern="1200" cap="none" spc="-15" normalizeH="0" baseline="0" noProof="0" dirty="0">
                <a:ln>
                  <a:noFill/>
                </a:ln>
                <a:solidFill>
                  <a:prstClr val="black"/>
                </a:solidFill>
                <a:effectLst/>
                <a:uLnTx/>
                <a:uFillTx/>
                <a:latin typeface="Calibri"/>
                <a:ea typeface="+mn-ea"/>
                <a:cs typeface="Calibri"/>
              </a:rPr>
              <a:t>to </a:t>
            </a:r>
            <a:r>
              <a:rPr kumimoji="0" sz="2400" b="0" i="0" u="none" strike="noStrike" kern="1200" cap="none" spc="0" normalizeH="0" baseline="0" noProof="0" dirty="0">
                <a:ln>
                  <a:noFill/>
                </a:ln>
                <a:solidFill>
                  <a:prstClr val="black"/>
                </a:solidFill>
                <a:effectLst/>
                <a:uLnTx/>
                <a:uFillTx/>
                <a:latin typeface="Calibri"/>
                <a:ea typeface="+mn-ea"/>
                <a:cs typeface="Calibri"/>
              </a:rPr>
              <a:t>an </a:t>
            </a:r>
            <a:r>
              <a:rPr kumimoji="0" sz="2400" b="0" i="0" u="none" strike="noStrike" kern="1200" cap="none" spc="-5" normalizeH="0" baseline="0" noProof="0" dirty="0">
                <a:ln>
                  <a:noFill/>
                </a:ln>
                <a:solidFill>
                  <a:prstClr val="black"/>
                </a:solidFill>
                <a:effectLst/>
                <a:uLnTx/>
                <a:uFillTx/>
                <a:latin typeface="Calibri"/>
                <a:ea typeface="+mn-ea"/>
                <a:cs typeface="Calibri"/>
              </a:rPr>
              <a:t>asset, </a:t>
            </a:r>
            <a:r>
              <a:rPr kumimoji="0" sz="2400" b="0" i="0" u="none" strike="noStrike" kern="1200" cap="none" spc="0" normalizeH="0" baseline="0" noProof="0" dirty="0">
                <a:ln>
                  <a:noFill/>
                </a:ln>
                <a:solidFill>
                  <a:prstClr val="black"/>
                </a:solidFill>
                <a:effectLst/>
                <a:uLnTx/>
                <a:uFillTx/>
                <a:latin typeface="Calibri"/>
                <a:ea typeface="+mn-ea"/>
                <a:cs typeface="Calibri"/>
              </a:rPr>
              <a:t>a </a:t>
            </a:r>
            <a:r>
              <a:rPr kumimoji="0" sz="2400" b="0" i="0" u="none" strike="noStrike" kern="1200" cap="none" spc="-10" normalizeH="0" baseline="0" noProof="0" dirty="0">
                <a:ln>
                  <a:noFill/>
                </a:ln>
                <a:solidFill>
                  <a:prstClr val="black"/>
                </a:solidFill>
                <a:effectLst/>
                <a:uLnTx/>
                <a:uFillTx/>
                <a:latin typeface="Calibri"/>
                <a:ea typeface="+mn-ea"/>
                <a:cs typeface="Calibri"/>
              </a:rPr>
              <a:t>process, </a:t>
            </a:r>
            <a:r>
              <a:rPr kumimoji="0" sz="2400" b="0" i="0" u="none" strike="noStrike" kern="1200" cap="none" spc="-5" normalizeH="0" baseline="0" noProof="0" dirty="0">
                <a:ln>
                  <a:noFill/>
                </a:ln>
                <a:solidFill>
                  <a:prstClr val="black"/>
                </a:solidFill>
                <a:effectLst/>
                <a:uLnTx/>
                <a:uFillTx/>
                <a:latin typeface="Calibri"/>
                <a:ea typeface="+mn-ea"/>
                <a:cs typeface="Calibri"/>
              </a:rPr>
              <a:t>people, </a:t>
            </a:r>
            <a:r>
              <a:rPr kumimoji="0" sz="2400" b="0" i="0" u="none" strike="noStrike" kern="1200" cap="none" spc="-20" normalizeH="0" baseline="0" noProof="0" dirty="0">
                <a:ln>
                  <a:noFill/>
                </a:ln>
                <a:solidFill>
                  <a:prstClr val="black"/>
                </a:solidFill>
                <a:effectLst/>
                <a:uLnTx/>
                <a:uFillTx/>
                <a:latin typeface="Calibri"/>
                <a:ea typeface="+mn-ea"/>
                <a:cs typeface="Calibri"/>
              </a:rPr>
              <a:t>technology, </a:t>
            </a:r>
            <a:r>
              <a:rPr kumimoji="0" sz="2400" b="0" i="0" u="none" strike="noStrike" kern="1200" cap="none" spc="-5" normalizeH="0" baseline="0" noProof="0" dirty="0">
                <a:ln>
                  <a:noFill/>
                </a:ln>
                <a:solidFill>
                  <a:prstClr val="black"/>
                </a:solidFill>
                <a:effectLst/>
                <a:uLnTx/>
                <a:uFillTx/>
                <a:latin typeface="Calibri"/>
                <a:ea typeface="+mn-ea"/>
                <a:cs typeface="Calibri"/>
              </a:rPr>
              <a:t>or </a:t>
            </a:r>
            <a:r>
              <a:rPr kumimoji="0" sz="2400" b="0" i="0" u="none" strike="noStrike" kern="1200" cap="none" spc="0" normalizeH="0" baseline="0" noProof="0" dirty="0">
                <a:ln>
                  <a:noFill/>
                </a:ln>
                <a:solidFill>
                  <a:prstClr val="black"/>
                </a:solidFill>
                <a:effectLst/>
                <a:uLnTx/>
                <a:uFillTx/>
                <a:latin typeface="Calibri"/>
                <a:ea typeface="+mn-ea"/>
                <a:cs typeface="Calibri"/>
              </a:rPr>
              <a:t>an </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organization.</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ct val="100000"/>
              </a:lnSpc>
              <a:spcBef>
                <a:spcPts val="650"/>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Vulnerability: </a:t>
            </a:r>
            <a:r>
              <a:rPr kumimoji="0" sz="2400" b="0" i="0" u="none" strike="noStrike" kern="1200" cap="none" spc="-15" normalizeH="0" baseline="0" noProof="0" dirty="0">
                <a:ln>
                  <a:noFill/>
                </a:ln>
                <a:solidFill>
                  <a:prstClr val="black"/>
                </a:solidFill>
                <a:effectLst/>
                <a:uLnTx/>
                <a:uFillTx/>
                <a:latin typeface="Calibri"/>
                <a:ea typeface="+mn-ea"/>
                <a:cs typeface="Calibri"/>
              </a:rPr>
              <a:t>are</a:t>
            </a:r>
            <a:r>
              <a:rPr kumimoji="0" sz="2400" b="0" i="0" u="none" strike="noStrike" kern="1200" cap="none" spc="-5" normalizeH="0" baseline="0" noProof="0" dirty="0">
                <a:ln>
                  <a:noFill/>
                </a:ln>
                <a:solidFill>
                  <a:prstClr val="black"/>
                </a:solidFill>
                <a:effectLst/>
                <a:uLnTx/>
                <a:uFillTx/>
                <a:latin typeface="Calibri"/>
                <a:ea typeface="+mn-ea"/>
                <a:cs typeface="Calibri"/>
              </a:rPr>
              <a:t> weaknesses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inherent</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to</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assets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241935" lvl="0" indent="-229235" algn="l" defTabSz="457200" rtl="0" eaLnBrk="1" fontAlgn="auto" latinLnBrk="0" hangingPunct="1">
              <a:lnSpc>
                <a:spcPts val="3030"/>
              </a:lnSpc>
              <a:spcBef>
                <a:spcPts val="1035"/>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prstClr val="black"/>
                </a:solidFill>
                <a:effectLst/>
                <a:uLnTx/>
                <a:uFillTx/>
                <a:latin typeface="Calibri"/>
                <a:ea typeface="+mn-ea"/>
                <a:cs typeface="Calibri"/>
              </a:rPr>
              <a:t>Threats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directly</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affect </a:t>
            </a:r>
            <a:r>
              <a:rPr kumimoji="0" sz="2400" b="0" i="0" u="none" strike="noStrike" kern="1200" cap="none" spc="-10" normalizeH="0" baseline="0" noProof="0" dirty="0">
                <a:ln>
                  <a:noFill/>
                </a:ln>
                <a:solidFill>
                  <a:prstClr val="black"/>
                </a:solidFill>
                <a:effectLst/>
                <a:uLnTx/>
                <a:uFillTx/>
                <a:latin typeface="Calibri"/>
                <a:ea typeface="+mn-ea"/>
                <a:cs typeface="Calibri"/>
              </a:rPr>
              <a:t>vulnerabilities,</a:t>
            </a:r>
            <a:r>
              <a:rPr kumimoji="0" sz="2400" b="0" i="0" u="none" strike="noStrike" kern="1200" cap="none" spc="4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turning</a:t>
            </a:r>
            <a:r>
              <a:rPr kumimoji="0" sz="2400" b="0" i="0" u="none" strike="noStrike" kern="1200" cap="none" spc="3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any</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“potential”</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30" normalizeH="0" baseline="0" noProof="0" dirty="0">
                <a:ln>
                  <a:noFill/>
                </a:ln>
                <a:solidFill>
                  <a:prstClr val="black"/>
                </a:solidFill>
                <a:effectLst/>
                <a:uLnTx/>
                <a:uFillTx/>
                <a:latin typeface="Calibri"/>
                <a:ea typeface="+mn-ea"/>
                <a:cs typeface="Calibri"/>
              </a:rPr>
              <a:t>for </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damage </a:t>
            </a:r>
            <a:r>
              <a:rPr kumimoji="0" sz="2400" b="0" i="0" u="none" strike="noStrike" kern="1200" cap="none" spc="-20" normalizeH="0" baseline="0" noProof="0" dirty="0">
                <a:ln>
                  <a:noFill/>
                </a:ln>
                <a:solidFill>
                  <a:prstClr val="black"/>
                </a:solidFill>
                <a:effectLst/>
                <a:uLnTx/>
                <a:uFillTx/>
                <a:latin typeface="Calibri"/>
                <a:ea typeface="+mn-ea"/>
                <a:cs typeface="Calibri"/>
              </a:rPr>
              <a:t>into</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real</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damage</a:t>
            </a:r>
            <a:r>
              <a:rPr kumimoji="0" sz="2400" b="0" i="0" u="none" strike="noStrike" kern="1200" cap="none" spc="-5" normalizeH="0" baseline="0" noProof="0" dirty="0">
                <a:ln>
                  <a:noFill/>
                </a:ln>
                <a:solidFill>
                  <a:prstClr val="black"/>
                </a:solidFill>
                <a:effectLst/>
                <a:uLnTx/>
                <a:uFillTx/>
                <a:latin typeface="Calibri"/>
                <a:ea typeface="+mn-ea"/>
                <a:cs typeface="Calibri"/>
              </a:rPr>
              <a:t> and</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impact</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if </a:t>
            </a:r>
            <a:r>
              <a:rPr kumimoji="0" sz="2400" b="0" i="0" u="none" strike="noStrike" kern="1200" cap="none" spc="-10" normalizeH="0" baseline="0" noProof="0" dirty="0">
                <a:ln>
                  <a:noFill/>
                </a:ln>
                <a:solidFill>
                  <a:prstClr val="black"/>
                </a:solidFill>
                <a:effectLst/>
                <a:uLnTx/>
                <a:uFillTx/>
                <a:latin typeface="Calibri"/>
                <a:ea typeface="+mn-ea"/>
                <a:cs typeface="Calibri"/>
              </a:rPr>
              <a:t>they</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are</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able </a:t>
            </a:r>
            <a:r>
              <a:rPr kumimoji="0" sz="2400" b="0" i="0" u="none" strike="noStrike" kern="1200" cap="none" spc="-15" normalizeH="0" baseline="0" noProof="0" dirty="0">
                <a:ln>
                  <a:noFill/>
                </a:ln>
                <a:solidFill>
                  <a:prstClr val="black"/>
                </a:solidFill>
                <a:effectLst/>
                <a:uLnTx/>
                <a:uFillTx/>
                <a:latin typeface="Calibri"/>
                <a:ea typeface="+mn-ea"/>
                <a:cs typeface="Calibri"/>
              </a:rPr>
              <a:t>to</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successfully </a:t>
            </a:r>
            <a:r>
              <a:rPr kumimoji="0" sz="2400" b="0" i="0" u="none" strike="noStrike" kern="1200" cap="none" spc="-61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exploit</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those</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vulnerabilities.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601980" lvl="0" indent="-229235" algn="l" defTabSz="457200" rtl="0" eaLnBrk="1" fontAlgn="auto" latinLnBrk="0" hangingPunct="1">
              <a:lnSpc>
                <a:spcPts val="3020"/>
              </a:lnSpc>
              <a:spcBef>
                <a:spcPts val="990"/>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Risk</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scenario</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development</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directly</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depends</a:t>
            </a:r>
            <a:r>
              <a:rPr kumimoji="0" sz="2400" b="0" i="0" u="none" strike="noStrike" kern="1200" cap="none" spc="3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on</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identifying</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all the </a:t>
            </a:r>
            <a:r>
              <a:rPr kumimoji="0" sz="2400" b="0" i="0" u="none" strike="noStrike" kern="1200" cap="none" spc="-6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potential</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vulnerabilities</a:t>
            </a:r>
            <a:r>
              <a:rPr kumimoji="0" sz="2400" b="0" i="0" u="none" strike="noStrike" kern="1200" cap="none" spc="3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asset</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may</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have.</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503202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567463"/>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heavy" spc="-10" dirty="0">
                <a:solidFill>
                  <a:srgbClr val="C00000"/>
                </a:solidFill>
                <a:uFill>
                  <a:solidFill>
                    <a:srgbClr val="000000"/>
                  </a:solidFill>
                </a:uFill>
              </a:rPr>
              <a:t>Time and Location</a:t>
            </a:r>
            <a:r>
              <a:rPr u="heavy" spc="-35" dirty="0">
                <a:uFill>
                  <a:solidFill>
                    <a:srgbClr val="000000"/>
                  </a:solidFill>
                </a:uFill>
              </a:rPr>
              <a:t>	</a:t>
            </a:r>
          </a:p>
        </p:txBody>
      </p:sp>
      <p:sp>
        <p:nvSpPr>
          <p:cNvPr id="3" name="object 3"/>
          <p:cNvSpPr txBox="1"/>
          <p:nvPr/>
        </p:nvSpPr>
        <p:spPr>
          <a:xfrm>
            <a:off x="1066801" y="1450509"/>
            <a:ext cx="8387716" cy="4012380"/>
          </a:xfrm>
          <a:prstGeom prst="rect">
            <a:avLst/>
          </a:prstGeom>
        </p:spPr>
        <p:txBody>
          <a:bodyPr vert="horz" wrap="square" lIns="0" tIns="60960" rIns="0" bIns="0" rtlCol="0">
            <a:spAutoFit/>
          </a:bodyPr>
          <a:lstStyle/>
          <a:p>
            <a:pPr marL="241300" marR="5080" lvl="0" indent="-229235" algn="l" defTabSz="457200" rtl="0" eaLnBrk="1" fontAlgn="auto" latinLnBrk="0" hangingPunct="1">
              <a:lnSpc>
                <a:spcPts val="3020"/>
              </a:lnSpc>
              <a:spcBef>
                <a:spcPts val="480"/>
              </a:spcBef>
              <a:spcAft>
                <a:spcPts val="0"/>
              </a:spcAft>
              <a:buClrTx/>
              <a:buSzTx/>
              <a:buFont typeface="Arial MT"/>
              <a:buChar char="•"/>
              <a:tabLst>
                <a:tab pos="241935" algn="l"/>
              </a:tabLst>
              <a:defRPr/>
            </a:pPr>
            <a:r>
              <a:rPr kumimoji="0" sz="2400" b="0" i="0" u="none" strike="noStrike" kern="1200" cap="none" spc="-10" normalizeH="0" baseline="0" noProof="0" dirty="0">
                <a:ln>
                  <a:noFill/>
                </a:ln>
                <a:solidFill>
                  <a:prstClr val="black"/>
                </a:solidFill>
                <a:effectLst/>
                <a:uLnTx/>
                <a:uFillTx/>
                <a:latin typeface="Calibri"/>
                <a:ea typeface="+mn-ea"/>
                <a:cs typeface="Calibri"/>
              </a:rPr>
              <a:t>The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time</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location</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defines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3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scenario</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event</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occurrence</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30" normalizeH="0" baseline="0" noProof="0" dirty="0">
                <a:ln>
                  <a:noFill/>
                </a:ln>
                <a:solidFill>
                  <a:prstClr val="black"/>
                </a:solidFill>
                <a:effectLst/>
                <a:uLnTx/>
                <a:uFillTx/>
                <a:latin typeface="Calibri"/>
                <a:ea typeface="+mn-ea"/>
                <a:cs typeface="Calibri"/>
              </a:rPr>
              <a:t>itself, </a:t>
            </a:r>
            <a:r>
              <a:rPr kumimoji="0" sz="2400" b="0" i="0" u="none" strike="noStrike" kern="1200" cap="none" spc="-6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turning</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it</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from</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into</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35" normalizeH="0" baseline="0" noProof="0" dirty="0">
                <a:ln>
                  <a:noFill/>
                </a:ln>
                <a:solidFill>
                  <a:prstClr val="black"/>
                </a:solidFill>
                <a:effectLst/>
                <a:uLnTx/>
                <a:uFillTx/>
                <a:latin typeface="Calibri"/>
                <a:ea typeface="+mn-ea"/>
                <a:cs typeface="Calibri"/>
              </a:rPr>
              <a:t>reality.</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45085" lvl="0" indent="-229235" algn="l" defTabSz="457200" rtl="0" eaLnBrk="1" fontAlgn="auto" latinLnBrk="0" hangingPunct="1">
              <a:lnSpc>
                <a:spcPts val="3020"/>
              </a:lnSpc>
              <a:spcBef>
                <a:spcPts val="1015"/>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Time </a:t>
            </a:r>
            <a:r>
              <a:rPr kumimoji="0" sz="2400" b="0" i="0" u="none" strike="noStrike" kern="1200" cap="none" spc="-15" normalizeH="0" baseline="0" noProof="0" dirty="0">
                <a:ln>
                  <a:noFill/>
                </a:ln>
                <a:solidFill>
                  <a:prstClr val="black"/>
                </a:solidFill>
                <a:effectLst/>
                <a:uLnTx/>
                <a:uFillTx/>
                <a:latin typeface="Calibri"/>
                <a:ea typeface="+mn-ea"/>
                <a:cs typeface="Calibri"/>
              </a:rPr>
              <a:t>characteristic</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defining</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when</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event</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occurs.</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It</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describes</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 </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duration</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event</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how</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long</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it</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takes</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organization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to</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detect, </a:t>
            </a:r>
            <a:r>
              <a:rPr kumimoji="0" sz="2400" b="0" i="0" u="none" strike="noStrike" kern="1200" cap="none" spc="-6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respond</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30" normalizeH="0" baseline="0" noProof="0" dirty="0">
                <a:ln>
                  <a:noFill/>
                </a:ln>
                <a:solidFill>
                  <a:prstClr val="black"/>
                </a:solidFill>
                <a:effectLst/>
                <a:uLnTx/>
                <a:uFillTx/>
                <a:latin typeface="Calibri"/>
                <a:ea typeface="+mn-ea"/>
                <a:cs typeface="Calibri"/>
              </a:rPr>
              <a:t>to,</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analyze,</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contain</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event.</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28600" marR="226695" lvl="1" indent="-228600" algn="r" defTabSz="457200" rtl="0" eaLnBrk="1" fontAlgn="auto" latinLnBrk="0" hangingPunct="1">
              <a:lnSpc>
                <a:spcPts val="2735"/>
              </a:lnSpc>
              <a:spcBef>
                <a:spcPts val="200"/>
              </a:spcBef>
              <a:spcAft>
                <a:spcPts val="0"/>
              </a:spcAft>
              <a:buClrTx/>
              <a:buSzTx/>
              <a:buFont typeface="Arial MT"/>
              <a:buChar char="•"/>
              <a:tabLst>
                <a:tab pos="228600"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Some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risk</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scenarios occur</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different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times,</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such</a:t>
            </a:r>
            <a:r>
              <a:rPr kumimoji="0" sz="2000" b="0" i="0" u="none" strike="noStrike" kern="1200" cap="none" spc="0" normalizeH="0" baseline="0" noProof="0" dirty="0">
                <a:ln>
                  <a:noFill/>
                </a:ln>
                <a:solidFill>
                  <a:prstClr val="black"/>
                </a:solidFill>
                <a:effectLst/>
                <a:uLnTx/>
                <a:uFillTx/>
                <a:latin typeface="Calibri"/>
                <a:ea typeface="+mn-ea"/>
                <a:cs typeface="Calibri"/>
              </a:rPr>
              <a:t> as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during</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peak</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10" normalizeH="0" baseline="0" noProof="0" dirty="0">
                <a:ln>
                  <a:noFill/>
                </a:ln>
                <a:solidFill>
                  <a:prstClr val="black"/>
                </a:solidFill>
                <a:effectLst/>
                <a:uLnTx/>
                <a:uFillTx/>
                <a:latin typeface="Calibri"/>
                <a:ea typeface="+mn-ea"/>
                <a:cs typeface="Calibri"/>
              </a:rPr>
              <a:t> even</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off-</a:t>
            </a:r>
          </a:p>
          <a:p>
            <a:pPr marL="0" marR="161925" lvl="0" indent="0" algn="r" defTabSz="457200" rtl="0" eaLnBrk="1" fontAlgn="auto" latinLnBrk="0" hangingPunct="1">
              <a:lnSpc>
                <a:spcPts val="2735"/>
              </a:lnSpc>
              <a:spcBef>
                <a:spcPts val="0"/>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hours,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occur</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during critical</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events,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such</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fiscal</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45" normalizeH="0" baseline="0" noProof="0" dirty="0">
                <a:ln>
                  <a:noFill/>
                </a:ln>
                <a:solidFill>
                  <a:prstClr val="black"/>
                </a:solidFill>
                <a:effectLst/>
                <a:uLnTx/>
                <a:uFillTx/>
                <a:latin typeface="Calibri"/>
                <a:ea typeface="+mn-ea"/>
                <a:cs typeface="Calibri"/>
              </a:rPr>
              <a:t>year,</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 during</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tax</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season.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199390" lvl="0" indent="-229235" algn="l" defTabSz="457200" rtl="0" eaLnBrk="1" fontAlgn="auto" latinLnBrk="0" hangingPunct="1">
              <a:lnSpc>
                <a:spcPct val="90000"/>
              </a:lnSpc>
              <a:spcBef>
                <a:spcPts val="980"/>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Location </a:t>
            </a:r>
            <a:r>
              <a:rPr kumimoji="0" sz="2400" b="0" i="0" u="none" strike="noStrike" kern="1200" cap="none" spc="-15" normalizeH="0" baseline="0" noProof="0" dirty="0">
                <a:ln>
                  <a:noFill/>
                </a:ln>
                <a:solidFill>
                  <a:prstClr val="black"/>
                </a:solidFill>
                <a:effectLst/>
                <a:uLnTx/>
                <a:uFillTx/>
                <a:latin typeface="Calibri"/>
                <a:ea typeface="+mn-ea"/>
                <a:cs typeface="Calibri"/>
              </a:rPr>
              <a:t>geographical</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characteristic</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scenario</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event,</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it </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means</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whether</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scenario</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occurs</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internally</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to</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business</a:t>
            </a:r>
            <a:r>
              <a:rPr kumimoji="0" sz="2400" b="0" i="0" u="none" strike="noStrike" kern="1200" cap="none" spc="5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or in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its </a:t>
            </a:r>
            <a:r>
              <a:rPr kumimoji="0" sz="2400" b="0" i="0" u="none" strike="noStrike" kern="1200" cap="none" spc="-62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external</a:t>
            </a:r>
            <a:r>
              <a:rPr kumimoji="0" sz="2400" b="0" i="0" u="none" strike="noStrike" kern="1200" cap="none" spc="-20" normalizeH="0" baseline="0" noProof="0" dirty="0">
                <a:ln>
                  <a:noFill/>
                </a:ln>
                <a:solidFill>
                  <a:prstClr val="black"/>
                </a:solidFill>
                <a:effectLst/>
                <a:uLnTx/>
                <a:uFillTx/>
                <a:latin typeface="Calibri"/>
                <a:ea typeface="+mn-ea"/>
                <a:cs typeface="Calibri"/>
              </a:rPr>
              <a:t> environment.</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1680599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16C3DB-67CC-97A2-D55F-DEE1A284D8DD}"/>
              </a:ext>
            </a:extLst>
          </p:cNvPr>
          <p:cNvSpPr txBox="1"/>
          <p:nvPr/>
        </p:nvSpPr>
        <p:spPr>
          <a:xfrm>
            <a:off x="2241884" y="399895"/>
            <a:ext cx="7708232" cy="54938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Risk Scenario Development Tools and Techniques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development of risk scenarios is based on describing a potential risk event and documenting the factors and areas that may be affected by</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risk event.</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Each scenario should be related to a business objective or impact.</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 events include system failure, loss of key personnel, theft,</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network outages, power failures, natural disasters or any other situation that could affect business operations and mission.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GB"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The key to</a:t>
            </a:r>
            <a:r>
              <a:rPr kumimoji="0" lang="ar-SA"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developing effective scenarios is to focus on real and relevant potential risk events.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Examples of this would be to develop a risk scenario based</a:t>
            </a:r>
            <a:r>
              <a:rPr kumimoji="0" lang="ar-SA"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on a radical change in the market for an organization's products, a change in government or leadership or a supply chain failure.</a:t>
            </a:r>
            <a:endParaRPr kumimoji="0" lang="en-GB"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Incidents that have occurred previously</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may be used as the basis of risk scenarios with far less effort put into their development. </a:t>
            </a: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Risk scenarios can be developed from a top-down perspective driven by business goals or from a bottom-up perspective originating from</a:t>
            </a:r>
            <a:r>
              <a:rPr kumimoji="0" lang="ar-SA"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hypothetical scenarios, as shown in figure 2.16.</a:t>
            </a:r>
          </a:p>
        </p:txBody>
      </p:sp>
    </p:spTree>
    <p:extLst>
      <p:ext uri="{BB962C8B-B14F-4D97-AF65-F5344CB8AC3E}">
        <p14:creationId xmlns:p14="http://schemas.microsoft.com/office/powerpoint/2010/main" val="525889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449310" cy="505908"/>
          </a:xfrm>
          <a:prstGeom prst="rect">
            <a:avLst/>
          </a:prstGeom>
        </p:spPr>
        <p:txBody>
          <a:bodyPr vert="horz" wrap="square" lIns="0" tIns="13335" rIns="0" bIns="0" rtlCol="0">
            <a:spAutoFit/>
          </a:bodyPr>
          <a:lstStyle/>
          <a:p>
            <a:pPr marL="12700">
              <a:lnSpc>
                <a:spcPct val="100000"/>
              </a:lnSpc>
              <a:spcBef>
                <a:spcPts val="105"/>
              </a:spcBef>
            </a:pPr>
            <a:r>
              <a:rPr sz="3200" u="heavy" spc="-10" dirty="0">
                <a:solidFill>
                  <a:srgbClr val="C00000"/>
                </a:solidFill>
                <a:uFill>
                  <a:solidFill>
                    <a:srgbClr val="000000"/>
                  </a:solidFill>
                </a:uFill>
              </a:rPr>
              <a:t>Developing Risk Scenarios Approaches</a:t>
            </a:r>
          </a:p>
        </p:txBody>
      </p:sp>
      <p:sp>
        <p:nvSpPr>
          <p:cNvPr id="3" name="object 3"/>
          <p:cNvSpPr txBox="1"/>
          <p:nvPr/>
        </p:nvSpPr>
        <p:spPr>
          <a:xfrm>
            <a:off x="916939" y="1793493"/>
            <a:ext cx="5367020" cy="1719189"/>
          </a:xfrm>
          <a:prstGeom prst="rect">
            <a:avLst/>
          </a:prstGeom>
        </p:spPr>
        <p:txBody>
          <a:bodyPr vert="horz" wrap="square" lIns="0" tIns="54610" rIns="0" bIns="0" rtlCol="0">
            <a:spAutoFit/>
          </a:bodyPr>
          <a:lstStyle/>
          <a:p>
            <a:pPr marL="241300" marR="5080" lvl="0" indent="-229235" algn="l" defTabSz="457200" rtl="0" eaLnBrk="1" fontAlgn="auto" latinLnBrk="0" hangingPunct="1">
              <a:lnSpc>
                <a:spcPct val="90000"/>
              </a:lnSpc>
              <a:spcBef>
                <a:spcPts val="430"/>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prstClr val="black"/>
                </a:solidFill>
                <a:effectLst/>
                <a:uLnTx/>
                <a:uFillTx/>
                <a:latin typeface="Calibri"/>
                <a:ea typeface="+mn-ea"/>
                <a:cs typeface="Calibri"/>
              </a:rPr>
              <a:t>ISACA</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calls</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for</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 </a:t>
            </a:r>
            <a:r>
              <a:rPr kumimoji="0" sz="2400" b="0" i="0" u="none" strike="noStrike" kern="1200" cap="none" spc="-20" normalizeH="0" baseline="0" noProof="0" dirty="0">
                <a:ln>
                  <a:noFill/>
                </a:ln>
                <a:solidFill>
                  <a:prstClr val="black"/>
                </a:solidFill>
                <a:effectLst/>
                <a:uLnTx/>
                <a:uFillTx/>
                <a:latin typeface="Calibri"/>
                <a:ea typeface="+mn-ea"/>
                <a:cs typeface="Calibri"/>
              </a:rPr>
              <a:t>formal</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process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30" normalizeH="0" baseline="0" noProof="0" dirty="0">
                <a:ln>
                  <a:noFill/>
                </a:ln>
                <a:solidFill>
                  <a:prstClr val="black"/>
                </a:solidFill>
                <a:effectLst/>
                <a:uLnTx/>
                <a:uFillTx/>
                <a:latin typeface="Calibri"/>
                <a:ea typeface="+mn-ea"/>
                <a:cs typeface="Calibri"/>
              </a:rPr>
              <a:t>for </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developing</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scenarios</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that</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30" normalizeH="0" baseline="0" noProof="0" dirty="0">
                <a:ln>
                  <a:noFill/>
                </a:ln>
                <a:solidFill>
                  <a:prstClr val="black"/>
                </a:solidFill>
                <a:effectLst/>
                <a:uLnTx/>
                <a:uFillTx/>
                <a:latin typeface="Calibri"/>
                <a:ea typeface="+mn-ea"/>
                <a:cs typeface="Calibri"/>
              </a:rPr>
              <a:t>takes </a:t>
            </a:r>
            <a:r>
              <a:rPr kumimoji="0" sz="2400" b="0" i="0" u="none" strike="noStrike" kern="1200" cap="none" spc="-6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one</a:t>
            </a:r>
            <a:r>
              <a:rPr kumimoji="0" sz="2400" b="0" i="0" u="none" strike="noStrike" kern="1200" cap="none" spc="-5" normalizeH="0" baseline="0" noProof="0" dirty="0">
                <a:ln>
                  <a:noFill/>
                </a:ln>
                <a:solidFill>
                  <a:prstClr val="black"/>
                </a:solidFill>
                <a:effectLst/>
                <a:uLnTx/>
                <a:uFillTx/>
                <a:latin typeface="Calibri"/>
                <a:ea typeface="+mn-ea"/>
                <a:cs typeface="Calibri"/>
              </a:rPr>
              <a:t> of</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two</a:t>
            </a:r>
            <a:r>
              <a:rPr kumimoji="0" sz="2400" b="0" i="0" u="none" strike="noStrike" kern="1200" cap="none" spc="-10" normalizeH="0" baseline="0" noProof="0" dirty="0">
                <a:ln>
                  <a:noFill/>
                </a:ln>
                <a:solidFill>
                  <a:prstClr val="black"/>
                </a:solidFill>
                <a:effectLst/>
                <a:uLnTx/>
                <a:uFillTx/>
                <a:latin typeface="Calibri"/>
                <a:ea typeface="+mn-ea"/>
                <a:cs typeface="Calibri"/>
              </a:rPr>
              <a:t> possible</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approaches: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45"/>
              </a:spcBef>
              <a:spcAft>
                <a:spcPts val="0"/>
              </a:spcAft>
              <a:buClrTx/>
              <a:buSzTx/>
              <a:buFont typeface="Arial MT"/>
              <a:buChar char="•"/>
              <a:tabLst>
                <a:tab pos="699135" algn="l"/>
              </a:tabLst>
              <a:defRPr/>
            </a:pPr>
            <a:r>
              <a:rPr kumimoji="0" sz="2000" b="1" i="0" u="none" strike="noStrike" kern="1200" cap="none" spc="-30" normalizeH="0" baseline="0" noProof="0" dirty="0">
                <a:ln>
                  <a:noFill/>
                </a:ln>
                <a:solidFill>
                  <a:prstClr val="black"/>
                </a:solidFill>
                <a:effectLst/>
                <a:uLnTx/>
                <a:uFillTx/>
                <a:latin typeface="Calibri"/>
                <a:ea typeface="+mn-ea"/>
                <a:cs typeface="Calibri"/>
              </a:rPr>
              <a:t>Top-Down</a:t>
            </a:r>
            <a:r>
              <a:rPr kumimoji="0" sz="2000" b="1" i="0" u="none" strike="noStrike" kern="1200" cap="none" spc="-40" normalizeH="0" baseline="0" noProof="0" dirty="0">
                <a:ln>
                  <a:noFill/>
                </a:ln>
                <a:solidFill>
                  <a:prstClr val="black"/>
                </a:solidFill>
                <a:effectLst/>
                <a:uLnTx/>
                <a:uFillTx/>
                <a:latin typeface="Calibri"/>
                <a:ea typeface="+mn-ea"/>
                <a:cs typeface="Calibri"/>
              </a:rPr>
              <a:t> </a:t>
            </a:r>
            <a:r>
              <a:rPr kumimoji="0" sz="2000" b="1" i="0" u="none" strike="noStrike" kern="1200" cap="none" spc="-10" normalizeH="0" baseline="0" noProof="0" dirty="0">
                <a:ln>
                  <a:noFill/>
                </a:ln>
                <a:solidFill>
                  <a:prstClr val="black"/>
                </a:solidFill>
                <a:effectLst/>
                <a:uLnTx/>
                <a:uFillTx/>
                <a:latin typeface="Calibri"/>
                <a:ea typeface="+mn-ea"/>
                <a:cs typeface="Calibri"/>
              </a:rPr>
              <a:t>Approach</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15"/>
              </a:spcBef>
              <a:spcAft>
                <a:spcPts val="0"/>
              </a:spcAft>
              <a:buClrTx/>
              <a:buSzTx/>
              <a:buFont typeface="Arial MT"/>
              <a:buChar char="•"/>
              <a:tabLst>
                <a:tab pos="699135" algn="l"/>
              </a:tabLst>
              <a:defRPr/>
            </a:pPr>
            <a:r>
              <a:rPr kumimoji="0" sz="2000" b="1" i="0" u="none" strike="noStrike" kern="1200" cap="none" spc="-10" normalizeH="0" baseline="0" noProof="0" dirty="0">
                <a:ln>
                  <a:noFill/>
                </a:ln>
                <a:solidFill>
                  <a:prstClr val="black"/>
                </a:solidFill>
                <a:effectLst/>
                <a:uLnTx/>
                <a:uFillTx/>
                <a:latin typeface="Calibri"/>
                <a:ea typeface="+mn-ea"/>
                <a:cs typeface="Calibri"/>
              </a:rPr>
              <a:t>Bottom-Up</a:t>
            </a:r>
            <a:r>
              <a:rPr kumimoji="0" sz="2000" b="1" i="0" u="none" strike="noStrike" kern="1200" cap="none" spc="-15" normalizeH="0" baseline="0" noProof="0" dirty="0">
                <a:ln>
                  <a:noFill/>
                </a:ln>
                <a:solidFill>
                  <a:prstClr val="black"/>
                </a:solidFill>
                <a:effectLst/>
                <a:uLnTx/>
                <a:uFillTx/>
                <a:latin typeface="Calibri"/>
                <a:ea typeface="+mn-ea"/>
                <a:cs typeface="Calibri"/>
              </a:rPr>
              <a:t> </a:t>
            </a:r>
            <a:r>
              <a:rPr kumimoji="0" sz="2000" b="1" i="0" u="none" strike="noStrike" kern="1200" cap="none" spc="-10" normalizeH="0" baseline="0" noProof="0" dirty="0">
                <a:ln>
                  <a:noFill/>
                </a:ln>
                <a:solidFill>
                  <a:prstClr val="black"/>
                </a:solidFill>
                <a:effectLst/>
                <a:uLnTx/>
                <a:uFillTx/>
                <a:latin typeface="Calibri"/>
                <a:ea typeface="+mn-ea"/>
                <a:cs typeface="Calibri"/>
              </a:rPr>
              <a:t>Approach</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 name="object 4"/>
          <p:cNvPicPr/>
          <p:nvPr/>
        </p:nvPicPr>
        <p:blipFill>
          <a:blip r:embed="rId2" cstate="print"/>
          <a:stretch>
            <a:fillRect/>
          </a:stretch>
        </p:blipFill>
        <p:spPr>
          <a:xfrm>
            <a:off x="6400800" y="2285264"/>
            <a:ext cx="5134370" cy="3429736"/>
          </a:xfrm>
          <a:prstGeom prst="rect">
            <a:avLst/>
          </a:prstGeom>
        </p:spPr>
      </p:pic>
    </p:spTree>
    <p:extLst>
      <p:ext uri="{BB962C8B-B14F-4D97-AF65-F5344CB8AC3E}">
        <p14:creationId xmlns:p14="http://schemas.microsoft.com/office/powerpoint/2010/main" val="909515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278CB9-BF05-8048-4275-248B617B4A75}"/>
              </a:ext>
            </a:extLst>
          </p:cNvPr>
          <p:cNvPicPr>
            <a:picLocks noChangeAspect="1"/>
          </p:cNvPicPr>
          <p:nvPr/>
        </p:nvPicPr>
        <p:blipFill>
          <a:blip r:embed="rId2"/>
          <a:stretch>
            <a:fillRect/>
          </a:stretch>
        </p:blipFill>
        <p:spPr>
          <a:xfrm>
            <a:off x="1054887" y="0"/>
            <a:ext cx="10492138" cy="6344653"/>
          </a:xfrm>
          <a:prstGeom prst="rect">
            <a:avLst/>
          </a:prstGeom>
        </p:spPr>
      </p:pic>
    </p:spTree>
    <p:extLst>
      <p:ext uri="{BB962C8B-B14F-4D97-AF65-F5344CB8AC3E}">
        <p14:creationId xmlns:p14="http://schemas.microsoft.com/office/powerpoint/2010/main" val="932850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6A4FB2-867E-6222-10D2-5ABE86C30A35}"/>
              </a:ext>
            </a:extLst>
          </p:cNvPr>
          <p:cNvSpPr txBox="1"/>
          <p:nvPr/>
        </p:nvSpPr>
        <p:spPr>
          <a:xfrm>
            <a:off x="1705193" y="370811"/>
            <a:ext cx="9674007" cy="62478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Top-down Approach</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A top-down approach to scenario development is based on understanding business goals and how a risk event could affect the achievement of</a:t>
            </a:r>
            <a:r>
              <a:rPr kumimoji="0" lang="ar-SA"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those goals.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Under this model, the risk practitioner looks for the outcome of events that may hamper business goals identified by senior</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management.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Various scenarios are developed that allow the enterprise to examine the relationship between the risk event and the business</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goals, so that the impact of the risk event can be measured.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By directly relating a risk scenario to the business, senior managers can be educated and involved in how to understand and measure risk.</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top-down approach is suited to general risk management of the company, because it looks at both IT- and non-IT-related events.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GB"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A benefit</a:t>
            </a:r>
            <a:r>
              <a:rPr kumimoji="0" lang="ar-SA"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of this approach is that because it is more general, it is easier to achieve management buy-in even if management usually is not interested in IT.</a:t>
            </a:r>
            <a:r>
              <a:rPr kumimoji="0" lang="ar-SA"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 </a:t>
            </a:r>
            <a:endParaRPr kumimoji="0" lang="en-GB"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The top-down approach also deals with the goals that senior managers have already identified as important to them.</a:t>
            </a:r>
          </a:p>
          <a:p>
            <a:pPr marL="241300" marR="5080" lvl="0" indent="-229235" algn="l" defTabSz="457200" rtl="0" eaLnBrk="1" fontAlgn="auto" latinLnBrk="0" hangingPunct="1">
              <a:lnSpc>
                <a:spcPts val="2500"/>
              </a:lnSpc>
              <a:spcBef>
                <a:spcPts val="1000"/>
              </a:spcBef>
              <a:spcAft>
                <a:spcPts val="0"/>
              </a:spcAft>
              <a:buClrTx/>
              <a:buSzTx/>
              <a:buFont typeface="Arial MT"/>
              <a:buChar char="•"/>
              <a:tabLst>
                <a:tab pos="241935" algn="l"/>
              </a:tabLst>
              <a:defRPr/>
            </a:pPr>
            <a:r>
              <a:rPr kumimoji="0" lang="en-US"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Disadvantage</a:t>
            </a:r>
            <a:r>
              <a:rPr kumimoji="0" lang="en-US" sz="2400" b="1" i="0" u="none" strike="noStrike" kern="1200" cap="none" spc="-15" normalizeH="0" baseline="0" noProof="0" dirty="0">
                <a:ln>
                  <a:noFill/>
                </a:ln>
                <a:solidFill>
                  <a:prstClr val="black"/>
                </a:solidFill>
                <a:effectLst/>
                <a:uLnTx/>
                <a:uFillTx/>
                <a:latin typeface="Calibri"/>
                <a:ea typeface="+mn-ea"/>
                <a:cs typeface="Calibri"/>
              </a:rPr>
              <a:t> </a:t>
            </a:r>
            <a:r>
              <a:rPr kumimoji="0" lang="en-US" sz="2400" b="0" i="0" u="none" strike="noStrike" kern="1200" cap="none" spc="0" normalizeH="0" baseline="0" noProof="0" dirty="0">
                <a:ln>
                  <a:noFill/>
                </a:ln>
                <a:solidFill>
                  <a:prstClr val="black"/>
                </a:solidFill>
                <a:effectLst/>
                <a:uLnTx/>
                <a:uFillTx/>
                <a:latin typeface="Calibri"/>
                <a:ea typeface="+mn-ea"/>
                <a:cs typeface="Calibri"/>
              </a:rPr>
              <a:t>it is </a:t>
            </a:r>
            <a:r>
              <a:rPr kumimoji="0" lang="en-US" sz="2400" b="0" i="0" u="none" strike="noStrike" kern="1200" cap="none" spc="-10" normalizeH="0" baseline="0" noProof="0" dirty="0">
                <a:ln>
                  <a:noFill/>
                </a:ln>
                <a:solidFill>
                  <a:prstClr val="black"/>
                </a:solidFill>
                <a:effectLst/>
                <a:uLnTx/>
                <a:uFillTx/>
                <a:latin typeface="Calibri"/>
                <a:ea typeface="+mn-ea"/>
                <a:cs typeface="Calibri"/>
              </a:rPr>
              <a:t>narrowly focused </a:t>
            </a:r>
            <a:r>
              <a:rPr kumimoji="0" lang="en-US" sz="2400" b="0" i="0" u="none" strike="noStrike" kern="1200" cap="none" spc="0" normalizeH="0" baseline="0" noProof="0" dirty="0">
                <a:ln>
                  <a:noFill/>
                </a:ln>
                <a:solidFill>
                  <a:prstClr val="black"/>
                </a:solidFill>
                <a:effectLst/>
                <a:uLnTx/>
                <a:uFillTx/>
                <a:latin typeface="Calibri"/>
                <a:ea typeface="+mn-ea"/>
                <a:cs typeface="Calibri"/>
              </a:rPr>
              <a:t>and </a:t>
            </a:r>
            <a:r>
              <a:rPr kumimoji="0" lang="en-US" sz="2400" b="0" i="0" u="none" strike="noStrike" kern="1200" cap="none" spc="-15" normalizeH="0" baseline="0" noProof="0" dirty="0">
                <a:ln>
                  <a:noFill/>
                </a:ln>
                <a:solidFill>
                  <a:prstClr val="black"/>
                </a:solidFill>
                <a:effectLst/>
                <a:uLnTx/>
                <a:uFillTx/>
                <a:latin typeface="Calibri"/>
                <a:ea typeface="+mn-ea"/>
                <a:cs typeface="Calibri"/>
              </a:rPr>
              <a:t>may </a:t>
            </a:r>
            <a:r>
              <a:rPr kumimoji="0" lang="en-US" sz="2400" b="0" i="0" u="none" strike="noStrike" kern="1200" cap="none" spc="-5" normalizeH="0" baseline="0" noProof="0" dirty="0">
                <a:ln>
                  <a:noFill/>
                </a:ln>
                <a:solidFill>
                  <a:prstClr val="black"/>
                </a:solidFill>
                <a:effectLst/>
                <a:uLnTx/>
                <a:uFillTx/>
                <a:latin typeface="Calibri"/>
                <a:ea typeface="+mn-ea"/>
                <a:cs typeface="Calibri"/>
              </a:rPr>
              <a:t>not consider </a:t>
            </a:r>
            <a:r>
              <a:rPr kumimoji="0" lang="en-US" sz="2400" b="0" i="0" u="none" strike="noStrike" kern="1200" cap="none" spc="0" normalizeH="0" baseline="0" noProof="0" dirty="0">
                <a:ln>
                  <a:noFill/>
                </a:ln>
                <a:solidFill>
                  <a:prstClr val="black"/>
                </a:solidFill>
                <a:effectLst/>
                <a:uLnTx/>
                <a:uFillTx/>
                <a:latin typeface="Calibri"/>
                <a:ea typeface="+mn-ea"/>
                <a:cs typeface="Calibri"/>
              </a:rPr>
              <a:t>all </a:t>
            </a:r>
            <a:r>
              <a:rPr kumimoji="0" lang="en-US" sz="2400" b="0" i="0" u="none" strike="noStrike" kern="1200" cap="none" spc="-5" normalizeH="0" baseline="0" noProof="0" dirty="0">
                <a:ln>
                  <a:noFill/>
                </a:ln>
                <a:solidFill>
                  <a:prstClr val="black"/>
                </a:solidFill>
                <a:effectLst/>
                <a:uLnTx/>
                <a:uFillTx/>
                <a:latin typeface="Calibri"/>
                <a:ea typeface="+mn-ea"/>
                <a:cs typeface="Calibri"/>
              </a:rPr>
              <a:t>potential </a:t>
            </a:r>
            <a:r>
              <a:rPr kumimoji="0" lang="en-US" sz="2400" b="0" i="0" u="none" strike="noStrike" kern="1200" cap="none" spc="0" normalizeH="0" baseline="0" noProof="0" dirty="0">
                <a:ln>
                  <a:noFill/>
                </a:ln>
                <a:solidFill>
                  <a:prstClr val="black"/>
                </a:solidFill>
                <a:effectLst/>
                <a:uLnTx/>
                <a:uFillTx/>
                <a:latin typeface="Calibri"/>
                <a:ea typeface="+mn-ea"/>
                <a:cs typeface="Calibri"/>
              </a:rPr>
              <a:t>risk </a:t>
            </a:r>
            <a:r>
              <a:rPr kumimoji="0" lang="en-US" sz="2400" b="0" i="0" u="none" strike="noStrike" kern="1200" cap="none" spc="-575" normalizeH="0" baseline="0" noProof="0" dirty="0">
                <a:ln>
                  <a:noFill/>
                </a:ln>
                <a:solidFill>
                  <a:prstClr val="black"/>
                </a:solidFill>
                <a:effectLst/>
                <a:uLnTx/>
                <a:uFillTx/>
                <a:latin typeface="Calibri"/>
                <a:ea typeface="+mn-ea"/>
                <a:cs typeface="Calibri"/>
              </a:rPr>
              <a:t> </a:t>
            </a:r>
            <a:r>
              <a:rPr kumimoji="0" lang="en-US" sz="2400" b="0" i="0" u="none" strike="noStrike" kern="1200" cap="none" spc="-5" normalizeH="0" baseline="0" noProof="0" dirty="0">
                <a:ln>
                  <a:noFill/>
                </a:ln>
                <a:solidFill>
                  <a:prstClr val="black"/>
                </a:solidFill>
                <a:effectLst/>
                <a:uLnTx/>
                <a:uFillTx/>
                <a:latin typeface="Calibri"/>
                <a:ea typeface="+mn-ea"/>
                <a:cs typeface="Calibri"/>
              </a:rPr>
              <a:t>scenarios,</a:t>
            </a:r>
            <a:r>
              <a:rPr kumimoji="0" lang="en-US" sz="2400" b="0" i="0" u="none" strike="noStrike" kern="1200" cap="none" spc="-30" normalizeH="0" baseline="0" noProof="0" dirty="0">
                <a:ln>
                  <a:noFill/>
                </a:ln>
                <a:solidFill>
                  <a:prstClr val="black"/>
                </a:solidFill>
                <a:effectLst/>
                <a:uLnTx/>
                <a:uFillTx/>
                <a:latin typeface="Calibri"/>
                <a:ea typeface="+mn-ea"/>
                <a:cs typeface="Calibri"/>
              </a:rPr>
              <a:t> </a:t>
            </a:r>
            <a:r>
              <a:rPr kumimoji="0" lang="en-US" sz="2400" b="0" i="0" u="none" strike="noStrike" kern="1200" cap="none" spc="0" normalizeH="0" baseline="0" noProof="0" dirty="0">
                <a:ln>
                  <a:noFill/>
                </a:ln>
                <a:solidFill>
                  <a:prstClr val="black"/>
                </a:solidFill>
                <a:effectLst/>
                <a:uLnTx/>
                <a:uFillTx/>
                <a:latin typeface="Calibri"/>
                <a:ea typeface="+mn-ea"/>
                <a:cs typeface="Calibri"/>
              </a:rPr>
              <a:t>especially</a:t>
            </a:r>
            <a:r>
              <a:rPr kumimoji="0" lang="en-US" sz="2400" b="0" i="0" u="none" strike="noStrike" kern="1200" cap="none" spc="-30" normalizeH="0" baseline="0" noProof="0" dirty="0">
                <a:ln>
                  <a:noFill/>
                </a:ln>
                <a:solidFill>
                  <a:prstClr val="black"/>
                </a:solidFill>
                <a:effectLst/>
                <a:uLnTx/>
                <a:uFillTx/>
                <a:latin typeface="Calibri"/>
                <a:ea typeface="+mn-ea"/>
                <a:cs typeface="Calibri"/>
              </a:rPr>
              <a:t> </a:t>
            </a:r>
            <a:r>
              <a:rPr kumimoji="0" lang="en-US" sz="2400" b="0" i="0" u="none" strike="noStrike" kern="1200" cap="none" spc="-10" normalizeH="0" baseline="0" noProof="0" dirty="0">
                <a:ln>
                  <a:noFill/>
                </a:ln>
                <a:solidFill>
                  <a:prstClr val="black"/>
                </a:solidFill>
                <a:effectLst/>
                <a:uLnTx/>
                <a:uFillTx/>
                <a:latin typeface="Calibri"/>
                <a:ea typeface="+mn-ea"/>
                <a:cs typeface="Calibri"/>
              </a:rPr>
              <a:t>remote </a:t>
            </a:r>
            <a:r>
              <a:rPr kumimoji="0" lang="en-US" sz="2400" b="0" i="0" u="none" strike="noStrike" kern="1200" cap="none" spc="-5" normalizeH="0" baseline="0" noProof="0" dirty="0">
                <a:ln>
                  <a:noFill/>
                </a:ln>
                <a:solidFill>
                  <a:prstClr val="black"/>
                </a:solidFill>
                <a:effectLst/>
                <a:uLnTx/>
                <a:uFillTx/>
                <a:latin typeface="Calibri"/>
                <a:ea typeface="+mn-ea"/>
                <a:cs typeface="Calibri"/>
              </a:rPr>
              <a:t>or</a:t>
            </a:r>
            <a:r>
              <a:rPr kumimoji="0" lang="en-US" sz="2400" b="0" i="0" u="none" strike="noStrike" kern="1200" cap="none" spc="5" normalizeH="0" baseline="0" noProof="0" dirty="0">
                <a:ln>
                  <a:noFill/>
                </a:ln>
                <a:solidFill>
                  <a:prstClr val="black"/>
                </a:solidFill>
                <a:effectLst/>
                <a:uLnTx/>
                <a:uFillTx/>
                <a:latin typeface="Calibri"/>
                <a:ea typeface="+mn-ea"/>
                <a:cs typeface="Calibri"/>
              </a:rPr>
              <a:t> </a:t>
            </a:r>
            <a:r>
              <a:rPr kumimoji="0" lang="en-US" sz="2400" b="0" i="0" u="none" strike="noStrike" kern="1200" cap="none" spc="-5" normalizeH="0" baseline="0" noProof="0" dirty="0">
                <a:ln>
                  <a:noFill/>
                </a:ln>
                <a:solidFill>
                  <a:prstClr val="black"/>
                </a:solidFill>
                <a:effectLst/>
                <a:uLnTx/>
                <a:uFillTx/>
                <a:latin typeface="Calibri"/>
                <a:ea typeface="+mn-ea"/>
                <a:cs typeface="Calibri"/>
              </a:rPr>
              <a:t>seemingly</a:t>
            </a:r>
            <a:r>
              <a:rPr kumimoji="0" lang="en-US" sz="2400" b="0" i="0" u="none" strike="noStrike" kern="1200" cap="none" spc="-45" normalizeH="0" baseline="0" noProof="0" dirty="0">
                <a:ln>
                  <a:noFill/>
                </a:ln>
                <a:solidFill>
                  <a:prstClr val="black"/>
                </a:solidFill>
                <a:effectLst/>
                <a:uLnTx/>
                <a:uFillTx/>
                <a:latin typeface="Calibri"/>
                <a:ea typeface="+mn-ea"/>
                <a:cs typeface="Calibri"/>
              </a:rPr>
              <a:t> </a:t>
            </a:r>
            <a:r>
              <a:rPr kumimoji="0" lang="en-US" sz="2400" b="0" i="0" u="none" strike="noStrike" kern="1200" cap="none" spc="-10" normalizeH="0" baseline="0" noProof="0" dirty="0">
                <a:ln>
                  <a:noFill/>
                </a:ln>
                <a:solidFill>
                  <a:prstClr val="black"/>
                </a:solidFill>
                <a:effectLst/>
                <a:uLnTx/>
                <a:uFillTx/>
                <a:latin typeface="Calibri"/>
                <a:ea typeface="+mn-ea"/>
                <a:cs typeface="Calibri"/>
              </a:rPr>
              <a:t>unrelated</a:t>
            </a:r>
            <a:r>
              <a:rPr kumimoji="0" lang="en-US" sz="2400" b="0" i="0" u="none" strike="noStrike" kern="1200" cap="none" spc="-35" normalizeH="0" baseline="0" noProof="0" dirty="0">
                <a:ln>
                  <a:noFill/>
                </a:ln>
                <a:solidFill>
                  <a:prstClr val="black"/>
                </a:solidFill>
                <a:effectLst/>
                <a:uLnTx/>
                <a:uFillTx/>
                <a:latin typeface="Calibri"/>
                <a:ea typeface="+mn-ea"/>
                <a:cs typeface="Calibri"/>
              </a:rPr>
              <a:t> </a:t>
            </a:r>
            <a:r>
              <a:rPr kumimoji="0" lang="en-US" sz="2400" b="0" i="0" u="none" strike="noStrike" kern="1200" cap="none" spc="-5" normalizeH="0" baseline="0" noProof="0" dirty="0">
                <a:ln>
                  <a:noFill/>
                </a:ln>
                <a:solidFill>
                  <a:prstClr val="black"/>
                </a:solidFill>
                <a:effectLst/>
                <a:uLnTx/>
                <a:uFillTx/>
                <a:latin typeface="Calibri"/>
                <a:ea typeface="+mn-ea"/>
                <a:cs typeface="Calibri"/>
              </a:rPr>
              <a:t>ones.</a:t>
            </a:r>
            <a:endParaRPr kumimoji="0" lang="en-US" sz="2400" b="0" i="0" u="none" strike="noStrike" kern="1200" cap="none" spc="0" normalizeH="0" baseline="0" noProof="0" dirty="0">
              <a:ln>
                <a:noFill/>
              </a:ln>
              <a:solidFill>
                <a:prstClr val="black"/>
              </a:solidFill>
              <a:effectLst/>
              <a:uLnTx/>
              <a:uFillTx/>
              <a:latin typeface="Calibri"/>
              <a:ea typeface="+mn-ea"/>
              <a:cs typeface="Calibri"/>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endPar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endParaRPr>
          </a:p>
        </p:txBody>
      </p:sp>
    </p:spTree>
    <p:extLst>
      <p:ext uri="{BB962C8B-B14F-4D97-AF65-F5344CB8AC3E}">
        <p14:creationId xmlns:p14="http://schemas.microsoft.com/office/powerpoint/2010/main" val="861287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981914-7DF1-398B-DBC8-E7FD13028231}"/>
              </a:ext>
            </a:extLst>
          </p:cNvPr>
          <p:cNvSpPr txBox="1"/>
          <p:nvPr/>
        </p:nvSpPr>
        <p:spPr>
          <a:xfrm>
            <a:off x="2102646" y="653605"/>
            <a:ext cx="7986707" cy="53399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Bottom-up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bottom-up approach to developing risk scenarios is based on describing risk events that are specific to individual enterprise situations,</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typically hypothetical situations envisioned by the people performing the job functions in specific processes.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risk practitioner and</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assessment team start with one or more generic risk scenarios, then refine them to meet their individual organizational needs including building</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complex scenarios to account for coinciding events.</a:t>
            </a: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Bottom-up scenario development can be a good way to identify scenarios that are highly dependent on the specific technical workings of a</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process or system, which may not be apparent to anyone who is not intimately involved with that work but could have substantial consequences</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for the enterprise.</a:t>
            </a:r>
          </a:p>
          <a:p>
            <a:pPr marR="0" lvl="1" algn="l" defTabSz="914400" rtl="0" eaLnBrk="1" fontAlgn="auto" latinLnBrk="0" hangingPunct="1">
              <a:lnSpc>
                <a:spcPct val="100000"/>
              </a:lnSpc>
              <a:spcBef>
                <a:spcPts val="0"/>
              </a:spcBef>
              <a:spcAft>
                <a:spcPts val="1200"/>
              </a:spcAft>
              <a:buClrTx/>
              <a:buSzTx/>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Disadvantage</a:t>
            </a:r>
          </a:p>
          <a:p>
            <a:pPr marL="1257300" lvl="2" indent="-342900">
              <a:spcAft>
                <a:spcPts val="1200"/>
              </a:spcAft>
              <a:buFont typeface="+mj-lt"/>
              <a:buAutoNum type="arabicPeriod"/>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risk scenarios developed may be too numerous and may span all manner of  likelihood, causing them to be unwieldy to manage and maintain</a:t>
            </a:r>
          </a:p>
          <a:p>
            <a:pPr marL="1257300" lvl="2" indent="-342900">
              <a:spcAft>
                <a:spcPts val="1200"/>
              </a:spcAft>
              <a:buFont typeface="+mj-lt"/>
              <a:buAutoNum type="arabicPeriod"/>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it may take a lot of work to reduce the number of relevant, likely scenarios to a manageable level.</a:t>
            </a:r>
          </a:p>
        </p:txBody>
      </p:sp>
    </p:spTree>
    <p:extLst>
      <p:ext uri="{BB962C8B-B14F-4D97-AF65-F5344CB8AC3E}">
        <p14:creationId xmlns:p14="http://schemas.microsoft.com/office/powerpoint/2010/main" val="3889270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68AAC9-690A-6826-E3E6-BE0FCEB6EF85}"/>
              </a:ext>
            </a:extLst>
          </p:cNvPr>
          <p:cNvSpPr txBox="1"/>
          <p:nvPr/>
        </p:nvSpPr>
        <p:spPr>
          <a:xfrm>
            <a:off x="2679031" y="729109"/>
            <a:ext cx="6833937" cy="437042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Benefits of Using Risk Scenarios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Risk scenarios facilitate communication in risk management by constructing a narrative that can inspire people to act.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The use of risk scenarios</a:t>
            </a:r>
            <a:r>
              <a:rPr kumimoji="0" lang="ar-SA"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can enhance the risk management effort by helping the risk team to understand and explain risk to the business process owners and other</a:t>
            </a:r>
            <a:r>
              <a:rPr kumimoji="0" lang="ar-SA"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stakeholders.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Additionally, a well-developed scenario provides a realistic and practical view of risk that is more aligned with business</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objectives, historical events and emerging threats envisioned by the enterprise than would be found by consulting a broadly applicable standard</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or </a:t>
            </a:r>
            <a:r>
              <a:rPr kumimoji="0" lang="en-GB" sz="16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Arial" panose="020B0604020202020204" pitchFamily="34" charset="0"/>
              </a:rPr>
              <a:t>catalog</a:t>
            </a: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of controls.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These benefits make risk scenarios valuable as means of gathering and framing information used in subsequent steps in</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risk-management process.</a:t>
            </a:r>
          </a:p>
        </p:txBody>
      </p:sp>
    </p:spTree>
    <p:extLst>
      <p:ext uri="{BB962C8B-B14F-4D97-AF65-F5344CB8AC3E}">
        <p14:creationId xmlns:p14="http://schemas.microsoft.com/office/powerpoint/2010/main" val="694629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08EC84-F664-3BC8-4B97-8449D4A29AD1}"/>
              </a:ext>
            </a:extLst>
          </p:cNvPr>
          <p:cNvPicPr>
            <a:picLocks noChangeAspect="1"/>
          </p:cNvPicPr>
          <p:nvPr/>
        </p:nvPicPr>
        <p:blipFill>
          <a:blip r:embed="rId3"/>
          <a:stretch>
            <a:fillRect/>
          </a:stretch>
        </p:blipFill>
        <p:spPr>
          <a:xfrm>
            <a:off x="6071934" y="218353"/>
            <a:ext cx="6096001" cy="4072594"/>
          </a:xfrm>
          <a:prstGeom prst="rect">
            <a:avLst/>
          </a:prstGeom>
        </p:spPr>
      </p:pic>
      <p:sp>
        <p:nvSpPr>
          <p:cNvPr id="6" name="TextBox 5">
            <a:extLst>
              <a:ext uri="{FF2B5EF4-FFF2-40B4-BE49-F238E27FC236}">
                <a16:creationId xmlns:a16="http://schemas.microsoft.com/office/drawing/2014/main" id="{6E6AAD36-CFC7-F20B-A5C8-B7BA0F45E884}"/>
              </a:ext>
            </a:extLst>
          </p:cNvPr>
          <p:cNvSpPr txBox="1"/>
          <p:nvPr/>
        </p:nvSpPr>
        <p:spPr>
          <a:xfrm>
            <a:off x="1492416" y="490168"/>
            <a:ext cx="4235116" cy="2031325"/>
          </a:xfrm>
          <a:prstGeom prst="rect">
            <a:avLst/>
          </a:prstGeom>
          <a:noFill/>
        </p:spPr>
        <p:txBody>
          <a:bodyPr wrap="square">
            <a:spAutoFit/>
          </a:bodyPr>
          <a:lstStyle/>
          <a:p>
            <a:pPr marL="285750" indent="-285750">
              <a:buFont typeface="Wingdings" panose="05000000000000000000" pitchFamily="2" charset="2"/>
              <a:buChar char="q"/>
            </a:pPr>
            <a:r>
              <a:rPr lang="en-US" sz="1400" dirty="0">
                <a:solidFill>
                  <a:srgbClr val="0070C0"/>
                </a:solidFill>
                <a:latin typeface="Berlin Sans FB" panose="020E0602020502020306" pitchFamily="34" charset="0"/>
              </a:rPr>
              <a:t>Scenario building is a crucial step in the risk management process because it clearly communicates to decision-makers how, where, and why adverse events can occur.</a:t>
            </a:r>
          </a:p>
          <a:p>
            <a:pPr marL="285750" indent="-285750">
              <a:buFont typeface="Wingdings" panose="05000000000000000000" pitchFamily="2" charset="2"/>
              <a:buChar char="q"/>
            </a:pPr>
            <a:endParaRPr lang="en-US" sz="1400" dirty="0">
              <a:solidFill>
                <a:srgbClr val="0070C0"/>
              </a:solidFill>
              <a:latin typeface="Berlin Sans FB" panose="020E0602020502020306" pitchFamily="34" charset="0"/>
            </a:endParaRPr>
          </a:p>
          <a:p>
            <a:pPr marL="285750" indent="-285750">
              <a:buFont typeface="Wingdings" panose="05000000000000000000" pitchFamily="2" charset="2"/>
              <a:buChar char="q"/>
            </a:pPr>
            <a:r>
              <a:rPr lang="en-US" sz="1400" dirty="0">
                <a:solidFill>
                  <a:srgbClr val="0070C0"/>
                </a:solidFill>
                <a:latin typeface="Berlin Sans FB" panose="020E0602020502020306" pitchFamily="34" charset="0"/>
              </a:rPr>
              <a:t>Risk statements are description of risk that everyone from the C-suite to developers can read and get a clear idea of how an event can affect the organization if it were to occur.</a:t>
            </a:r>
          </a:p>
        </p:txBody>
      </p:sp>
      <p:sp>
        <p:nvSpPr>
          <p:cNvPr id="10" name="TextBox 9">
            <a:extLst>
              <a:ext uri="{FF2B5EF4-FFF2-40B4-BE49-F238E27FC236}">
                <a16:creationId xmlns:a16="http://schemas.microsoft.com/office/drawing/2014/main" id="{3E6D5DCD-97F2-E23A-49D1-5C0C3E842C36}"/>
              </a:ext>
            </a:extLst>
          </p:cNvPr>
          <p:cNvSpPr txBox="1"/>
          <p:nvPr/>
        </p:nvSpPr>
        <p:spPr>
          <a:xfrm>
            <a:off x="6247731" y="320891"/>
            <a:ext cx="6096000" cy="338554"/>
          </a:xfrm>
          <a:prstGeom prst="rect">
            <a:avLst/>
          </a:prstGeom>
          <a:noFill/>
        </p:spPr>
        <p:txBody>
          <a:bodyPr wrap="square">
            <a:spAutoFit/>
          </a:bodyPr>
          <a:lstStyle/>
          <a:p>
            <a:r>
              <a:rPr lang="en-US" sz="1600" dirty="0">
                <a:solidFill>
                  <a:srgbClr val="002060"/>
                </a:solidFill>
              </a:rPr>
              <a:t>Risk scenarios and statements are written after risks are identified</a:t>
            </a:r>
          </a:p>
        </p:txBody>
      </p:sp>
      <p:sp>
        <p:nvSpPr>
          <p:cNvPr id="12" name="TextBox 11">
            <a:extLst>
              <a:ext uri="{FF2B5EF4-FFF2-40B4-BE49-F238E27FC236}">
                <a16:creationId xmlns:a16="http://schemas.microsoft.com/office/drawing/2014/main" id="{64321E5A-DCF4-946B-CD5C-9BF4F539D1B9}"/>
              </a:ext>
            </a:extLst>
          </p:cNvPr>
          <p:cNvSpPr txBox="1"/>
          <p:nvPr/>
        </p:nvSpPr>
        <p:spPr>
          <a:xfrm>
            <a:off x="1148013" y="3124200"/>
            <a:ext cx="4947987" cy="3046988"/>
          </a:xfrm>
          <a:prstGeom prst="rect">
            <a:avLst/>
          </a:prstGeom>
          <a:noFill/>
        </p:spPr>
        <p:txBody>
          <a:bodyPr wrap="square">
            <a:spAutoFit/>
          </a:bodyPr>
          <a:lstStyle/>
          <a:p>
            <a:r>
              <a:rPr lang="en-US" sz="2000" b="1" dirty="0">
                <a:solidFill>
                  <a:srgbClr val="C00000"/>
                </a:solidFill>
                <a:latin typeface="Berlin Sans FB Demi" panose="020E0802020502020306" pitchFamily="34" charset="0"/>
              </a:rPr>
              <a:t>Risk statement examples</a:t>
            </a:r>
            <a:br>
              <a:rPr lang="en-US" b="1" dirty="0"/>
            </a:br>
            <a:endParaRPr lang="en-US" dirty="0"/>
          </a:p>
          <a:p>
            <a:pPr marL="285750" indent="-285750">
              <a:buFont typeface="Wingdings" panose="05000000000000000000" pitchFamily="2" charset="2"/>
              <a:buChar char="q"/>
            </a:pPr>
            <a:r>
              <a:rPr lang="en-US" sz="1400" dirty="0">
                <a:solidFill>
                  <a:srgbClr val="0070C0"/>
                </a:solidFill>
                <a:latin typeface="Berlin Sans FB" panose="020E0602020502020306" pitchFamily="34" charset="0"/>
              </a:rPr>
              <a:t>Privileged insider shares confidential customer data with competitors, resulting in losses in competitive advantage.</a:t>
            </a:r>
          </a:p>
          <a:p>
            <a:pPr marL="285750" indent="-285750">
              <a:buFont typeface="Wingdings" panose="05000000000000000000" pitchFamily="2" charset="2"/>
              <a:buChar char="q"/>
            </a:pPr>
            <a:endParaRPr lang="en-US" sz="1400" dirty="0">
              <a:solidFill>
                <a:srgbClr val="0070C0"/>
              </a:solidFill>
              <a:latin typeface="Berlin Sans FB" panose="020E0602020502020306" pitchFamily="34" charset="0"/>
            </a:endParaRPr>
          </a:p>
          <a:p>
            <a:pPr marL="285750" indent="-285750">
              <a:buFont typeface="Wingdings" panose="05000000000000000000" pitchFamily="2" charset="2"/>
              <a:buChar char="q"/>
            </a:pPr>
            <a:r>
              <a:rPr lang="en-US" sz="1400" dirty="0">
                <a:solidFill>
                  <a:srgbClr val="0070C0"/>
                </a:solidFill>
                <a:latin typeface="Berlin Sans FB" panose="020E0602020502020306" pitchFamily="34" charset="0"/>
              </a:rPr>
              <a:t>Cybercriminals infect endpoints with ransomware encrypting files and locking workstations, resulting in disruption of operations.</a:t>
            </a:r>
          </a:p>
          <a:p>
            <a:pPr marL="285750" indent="-285750">
              <a:buFont typeface="Wingdings" panose="05000000000000000000" pitchFamily="2" charset="2"/>
              <a:buChar char="q"/>
            </a:pPr>
            <a:endParaRPr lang="en-US" sz="1400" dirty="0">
              <a:solidFill>
                <a:srgbClr val="0070C0"/>
              </a:solidFill>
              <a:latin typeface="Berlin Sans FB" panose="020E0602020502020306" pitchFamily="34" charset="0"/>
            </a:endParaRPr>
          </a:p>
          <a:p>
            <a:pPr marL="285750" indent="-285750">
              <a:buFont typeface="Wingdings" panose="05000000000000000000" pitchFamily="2" charset="2"/>
              <a:buChar char="q"/>
            </a:pPr>
            <a:r>
              <a:rPr lang="en-US" sz="1400" dirty="0">
                <a:solidFill>
                  <a:srgbClr val="0070C0"/>
                </a:solidFill>
                <a:latin typeface="Berlin Sans FB" panose="020E0602020502020306" pitchFamily="34" charset="0"/>
              </a:rPr>
              <a:t>Cybercriminals copy confidential customer data and threaten to make it public unless a ransom is paid, resulting in response costs, reputation damage and potential litigation.</a:t>
            </a:r>
          </a:p>
        </p:txBody>
      </p:sp>
      <p:sp>
        <p:nvSpPr>
          <p:cNvPr id="14" name="TextBox 13">
            <a:extLst>
              <a:ext uri="{FF2B5EF4-FFF2-40B4-BE49-F238E27FC236}">
                <a16:creationId xmlns:a16="http://schemas.microsoft.com/office/drawing/2014/main" id="{960D0BD1-9D44-DFE7-CA43-62CD2BECDF99}"/>
              </a:ext>
            </a:extLst>
          </p:cNvPr>
          <p:cNvSpPr txBox="1"/>
          <p:nvPr/>
        </p:nvSpPr>
        <p:spPr>
          <a:xfrm>
            <a:off x="6854091" y="4393485"/>
            <a:ext cx="5017477" cy="1677382"/>
          </a:xfrm>
          <a:prstGeom prst="rect">
            <a:avLst/>
          </a:prstGeom>
          <a:noFill/>
        </p:spPr>
        <p:txBody>
          <a:bodyPr wrap="square">
            <a:spAutoFit/>
          </a:bodyPr>
          <a:lstStyle/>
          <a:p>
            <a:pPr marL="285750" indent="-285750">
              <a:spcBef>
                <a:spcPts val="600"/>
              </a:spcBef>
              <a:buFont typeface="Wingdings" panose="05000000000000000000" pitchFamily="2" charset="2"/>
              <a:buChar char="§"/>
            </a:pPr>
            <a:r>
              <a:rPr lang="en-US" sz="1400" dirty="0">
                <a:solidFill>
                  <a:srgbClr val="C00000"/>
                </a:solidFill>
                <a:latin typeface="Berlin Sans FB" panose="020E0602020502020306" pitchFamily="34" charset="0"/>
              </a:rPr>
              <a:t>Figure  above for the components of a risk scenario. </a:t>
            </a:r>
          </a:p>
          <a:p>
            <a:pPr marL="285750" indent="-285750">
              <a:spcBef>
                <a:spcPts val="600"/>
              </a:spcBef>
              <a:buFont typeface="Wingdings" panose="05000000000000000000" pitchFamily="2" charset="2"/>
              <a:buChar char="§"/>
            </a:pPr>
            <a:r>
              <a:rPr lang="en-US" sz="1400" dirty="0">
                <a:solidFill>
                  <a:srgbClr val="C00000"/>
                </a:solidFill>
                <a:latin typeface="Berlin Sans FB" panose="020E0602020502020306" pitchFamily="34" charset="0"/>
              </a:rPr>
              <a:t>Risk scenarios are most often written as narratives, describing in detail the asset at risk, who or what can act against the asset, their intent or motivation (if applicable), the circumstances and threat actor methods associated with the threat event, the effect on the company if/when it happens, and when or how often the event might occur.</a:t>
            </a:r>
          </a:p>
        </p:txBody>
      </p:sp>
    </p:spTree>
    <p:extLst>
      <p:ext uri="{BB962C8B-B14F-4D97-AF65-F5344CB8AC3E}">
        <p14:creationId xmlns:p14="http://schemas.microsoft.com/office/powerpoint/2010/main" val="3059135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D6ABE0-02AF-490D-ECAD-79CAA6AEDF78}"/>
              </a:ext>
            </a:extLst>
          </p:cNvPr>
          <p:cNvPicPr>
            <a:picLocks noChangeAspect="1"/>
          </p:cNvPicPr>
          <p:nvPr/>
        </p:nvPicPr>
        <p:blipFill>
          <a:blip r:embed="rId2"/>
          <a:stretch>
            <a:fillRect/>
          </a:stretch>
        </p:blipFill>
        <p:spPr>
          <a:xfrm>
            <a:off x="879581" y="0"/>
            <a:ext cx="10140886" cy="6228861"/>
          </a:xfrm>
          <a:prstGeom prst="rect">
            <a:avLst/>
          </a:prstGeom>
        </p:spPr>
      </p:pic>
    </p:spTree>
    <p:extLst>
      <p:ext uri="{BB962C8B-B14F-4D97-AF65-F5344CB8AC3E}">
        <p14:creationId xmlns:p14="http://schemas.microsoft.com/office/powerpoint/2010/main" val="403336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567463"/>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heavy" spc="-10" dirty="0">
                <a:solidFill>
                  <a:srgbClr val="C00000"/>
                </a:solidFill>
                <a:uFill>
                  <a:solidFill>
                    <a:srgbClr val="000000"/>
                  </a:solidFill>
                </a:uFill>
              </a:rPr>
              <a:t>Example Risk Scenario</a:t>
            </a:r>
            <a:r>
              <a:rPr u="heavy" spc="-30" dirty="0">
                <a:uFill>
                  <a:solidFill>
                    <a:srgbClr val="000000"/>
                  </a:solidFill>
                </a:uFill>
              </a:rPr>
              <a:t>	</a:t>
            </a:r>
          </a:p>
        </p:txBody>
      </p:sp>
      <p:sp>
        <p:nvSpPr>
          <p:cNvPr id="3" name="object 3"/>
          <p:cNvSpPr txBox="1"/>
          <p:nvPr/>
        </p:nvSpPr>
        <p:spPr>
          <a:xfrm>
            <a:off x="916939" y="1793493"/>
            <a:ext cx="7846061" cy="3132909"/>
          </a:xfrm>
          <a:prstGeom prst="rect">
            <a:avLst/>
          </a:prstGeom>
        </p:spPr>
        <p:txBody>
          <a:bodyPr vert="horz" wrap="square" lIns="0" tIns="54610" rIns="0" bIns="0" rtlCol="0">
            <a:spAutoFit/>
          </a:bodyPr>
          <a:lstStyle/>
          <a:p>
            <a:pPr marL="241300" marR="5080" lvl="0" indent="-229235" algn="l" defTabSz="457200" rtl="0" eaLnBrk="1" fontAlgn="auto" latinLnBrk="0" hangingPunct="1">
              <a:lnSpc>
                <a:spcPct val="90000"/>
              </a:lnSpc>
              <a:spcBef>
                <a:spcPts val="600"/>
              </a:spcBef>
              <a:spcAft>
                <a:spcPts val="600"/>
              </a:spcAft>
              <a:buClrTx/>
              <a:buSzTx/>
              <a:buFont typeface="Arial MT"/>
              <a:buChar char="•"/>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foreign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intelligence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agency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uses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zero-day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exploit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cause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buffer </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overflow</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critical</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U.S.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Department</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20" normalizeH="0" baseline="0" noProof="0" dirty="0">
                <a:ln>
                  <a:noFill/>
                </a:ln>
                <a:solidFill>
                  <a:prstClr val="black"/>
                </a:solidFill>
                <a:effectLst/>
                <a:uLnTx/>
                <a:uFillTx/>
                <a:latin typeface="Calibri"/>
                <a:ea typeface="+mn-ea"/>
                <a:cs typeface="Calibri"/>
              </a:rPr>
              <a:t>Defense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Internet-facing</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web </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application,</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resulting</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ability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execute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arbitrary</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commands</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on </a:t>
            </a:r>
            <a:r>
              <a:rPr kumimoji="0" sz="2000" b="0" i="0" u="none" strike="noStrike" kern="1200" cap="none" spc="-5" normalizeH="0" baseline="0" noProof="0" dirty="0">
                <a:ln>
                  <a:noFill/>
                </a:ln>
                <a:solidFill>
                  <a:prstClr val="black"/>
                </a:solidFill>
                <a:effectLst/>
                <a:uLnTx/>
                <a:uFillTx/>
                <a:latin typeface="Calibri"/>
                <a:ea typeface="+mn-ea"/>
                <a:cs typeface="Calibri"/>
              </a:rPr>
              <a:t> 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30" normalizeH="0" baseline="0" noProof="0" dirty="0">
                <a:ln>
                  <a:noFill/>
                </a:ln>
                <a:solidFill>
                  <a:prstClr val="black"/>
                </a:solidFill>
                <a:effectLst/>
                <a:uLnTx/>
                <a:uFillTx/>
                <a:latin typeface="Calibri"/>
                <a:ea typeface="+mn-ea"/>
                <a:cs typeface="Calibri"/>
              </a:rPr>
              <a:t>system</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exfiltrate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data.</a:t>
            </a:r>
            <a:r>
              <a:rPr kumimoji="0" sz="2000" b="0" i="0" u="none" strike="noStrike" kern="1200" cap="none" spc="25" normalizeH="0" baseline="0" noProof="0" dirty="0">
                <a:ln>
                  <a:noFill/>
                </a:ln>
                <a:solidFill>
                  <a:prstClr val="black"/>
                </a:solidFill>
                <a:effectLst/>
                <a:uLnTx/>
                <a:uFillTx/>
                <a:latin typeface="Calibri"/>
                <a:ea typeface="+mn-ea"/>
                <a:cs typeface="Calibri"/>
              </a:rPr>
              <a:t> </a:t>
            </a:r>
            <a:endParaRPr kumimoji="0" lang="en-US" sz="2000" b="0" i="0" u="none" strike="noStrike" kern="1200" cap="none" spc="25" normalizeH="0" baseline="0" noProof="0" dirty="0">
              <a:ln>
                <a:noFill/>
              </a:ln>
              <a:solidFill>
                <a:prstClr val="black"/>
              </a:solidFill>
              <a:effectLst/>
              <a:uLnTx/>
              <a:uFillTx/>
              <a:latin typeface="Calibri"/>
              <a:ea typeface="+mn-ea"/>
              <a:cs typeface="Calibri"/>
            </a:endParaRPr>
          </a:p>
          <a:p>
            <a:pPr marL="241300" marR="5080" lvl="0" indent="-229235" algn="l" defTabSz="457200" rtl="0" eaLnBrk="1" fontAlgn="auto" latinLnBrk="0" hangingPunct="1">
              <a:lnSpc>
                <a:spcPct val="90000"/>
              </a:lnSpc>
              <a:spcBef>
                <a:spcPts val="600"/>
              </a:spcBef>
              <a:spcAft>
                <a:spcPts val="600"/>
              </a:spcAft>
              <a:buClrTx/>
              <a:buSzTx/>
              <a:buFont typeface="Arial MT"/>
              <a:buChar char="•"/>
              <a:tabLst>
                <a:tab pos="2419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attack</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not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detected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because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 </a:t>
            </a:r>
            <a:r>
              <a:rPr kumimoji="0" sz="2000" b="0" i="0" u="none" strike="noStrike" kern="1200" cap="none" spc="-6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lack</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10" normalizeH="0" baseline="0" noProof="0" dirty="0">
                <a:ln>
                  <a:noFill/>
                </a:ln>
                <a:solidFill>
                  <a:prstClr val="black"/>
                </a:solidFill>
                <a:effectLst/>
                <a:uLnTx/>
                <a:uFillTx/>
                <a:latin typeface="Calibri"/>
                <a:ea typeface="+mn-ea"/>
                <a:cs typeface="Calibri"/>
              </a:rPr>
              <a:t>adequate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intrusion</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detection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security</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controls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place; </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therefore,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response</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mitigation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 </a:t>
            </a:r>
            <a:r>
              <a:rPr kumimoji="0" sz="2000" b="0" i="0" u="none" strike="noStrike" kern="1200" cap="none" spc="-20" normalizeH="0" baseline="0" noProof="0" dirty="0">
                <a:ln>
                  <a:noFill/>
                </a:ln>
                <a:solidFill>
                  <a:prstClr val="black"/>
                </a:solidFill>
                <a:effectLst/>
                <a:uLnTx/>
                <a:uFillTx/>
                <a:latin typeface="Calibri"/>
                <a:ea typeface="+mn-ea"/>
                <a:cs typeface="Calibri"/>
              </a:rPr>
              <a:t>attack</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are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delayed. </a:t>
            </a:r>
            <a:r>
              <a:rPr kumimoji="0" sz="2000" b="0" i="0" u="none" strike="noStrike" kern="1200" cap="none" spc="-15" normalizeH="0" baseline="0" noProof="0" dirty="0">
                <a:ln>
                  <a:noFill/>
                </a:ln>
                <a:solidFill>
                  <a:prstClr val="black"/>
                </a:solidFill>
                <a:effectLst/>
                <a:uLnTx/>
                <a:uFillTx/>
                <a:latin typeface="Calibri"/>
                <a:ea typeface="+mn-ea"/>
                <a:cs typeface="Calibri"/>
              </a:rPr>
              <a:t> </a:t>
            </a:r>
            <a:endParaRPr kumimoji="0" lang="en-US" sz="2000" b="0" i="0" u="none" strike="noStrike" kern="1200" cap="none" spc="-15" normalizeH="0" baseline="0" noProof="0" dirty="0">
              <a:ln>
                <a:noFill/>
              </a:ln>
              <a:solidFill>
                <a:prstClr val="black"/>
              </a:solidFill>
              <a:effectLst/>
              <a:uLnTx/>
              <a:uFillTx/>
              <a:latin typeface="Calibri"/>
              <a:ea typeface="+mn-ea"/>
              <a:cs typeface="Calibri"/>
            </a:endParaRPr>
          </a:p>
          <a:p>
            <a:pPr marL="241300" marR="5080" lvl="0" indent="-229235" algn="l" defTabSz="457200" rtl="0" eaLnBrk="1" fontAlgn="auto" latinLnBrk="0" hangingPunct="1">
              <a:lnSpc>
                <a:spcPct val="90000"/>
              </a:lnSpc>
              <a:spcBef>
                <a:spcPts val="600"/>
              </a:spcBef>
              <a:spcAft>
                <a:spcPts val="600"/>
              </a:spcAft>
              <a:buClrTx/>
              <a:buSzTx/>
              <a:buFont typeface="Arial MT"/>
              <a:buChar char="•"/>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Because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10" normalizeH="0" baseline="0" noProof="0" dirty="0">
                <a:ln>
                  <a:noFill/>
                </a:ln>
                <a:solidFill>
                  <a:prstClr val="black"/>
                </a:solidFill>
                <a:effectLst/>
                <a:uLnTx/>
                <a:uFillTx/>
                <a:latin typeface="Calibri"/>
                <a:ea typeface="+mn-ea"/>
                <a:cs typeface="Calibri"/>
              </a:rPr>
              <a:t>potential</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delay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detection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response,</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 </a:t>
            </a:r>
            <a:r>
              <a:rPr kumimoji="0" sz="2000" b="0" i="0" u="none" strike="noStrike" kern="1200" cap="none" spc="-20" normalizeH="0" baseline="0" noProof="0" dirty="0">
                <a:ln>
                  <a:noFill/>
                </a:ln>
                <a:solidFill>
                  <a:prstClr val="black"/>
                </a:solidFill>
                <a:effectLst/>
                <a:uLnTx/>
                <a:uFillTx/>
                <a:latin typeface="Calibri"/>
                <a:ea typeface="+mn-ea"/>
                <a:cs typeface="Calibri"/>
              </a:rPr>
              <a:t>foreign </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agency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could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carry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attack</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at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any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time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they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want,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for</a:t>
            </a:r>
            <a:r>
              <a:rPr kumimoji="0" sz="2000" b="0" i="0" u="none" strike="noStrike" kern="1200" cap="none" spc="-5" normalizeH="0" baseline="0" noProof="0" dirty="0">
                <a:ln>
                  <a:noFill/>
                </a:ln>
                <a:solidFill>
                  <a:prstClr val="black"/>
                </a:solidFill>
                <a:effectLst/>
                <a:uLnTx/>
                <a:uFillTx/>
                <a:latin typeface="Calibri"/>
                <a:ea typeface="+mn-ea"/>
                <a:cs typeface="Calibri"/>
              </a:rPr>
              <a:t> as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long</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 </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they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want,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until</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 </a:t>
            </a:r>
            <a:r>
              <a:rPr kumimoji="0" sz="2000" b="0" i="0" u="none" strike="noStrike" kern="1200" cap="none" spc="-15" normalizeH="0" baseline="0" noProof="0" dirty="0">
                <a:ln>
                  <a:noFill/>
                </a:ln>
                <a:solidFill>
                  <a:prstClr val="black"/>
                </a:solidFill>
                <a:effectLst/>
                <a:uLnTx/>
                <a:uFillTx/>
                <a:latin typeface="Calibri"/>
                <a:ea typeface="+mn-ea"/>
                <a:cs typeface="Calibri"/>
              </a:rPr>
              <a:t>threat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detected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defended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against.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1001423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567463"/>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heavy" spc="-10" dirty="0">
                <a:solidFill>
                  <a:srgbClr val="C00000"/>
                </a:solidFill>
                <a:uFill>
                  <a:solidFill>
                    <a:srgbClr val="000000"/>
                  </a:solidFill>
                </a:uFill>
              </a:rPr>
              <a:t>Example Risk Scenario: Answer</a:t>
            </a:r>
            <a:r>
              <a:rPr u="heavy" spc="-45" dirty="0">
                <a:uFill>
                  <a:solidFill>
                    <a:srgbClr val="000000"/>
                  </a:solidFill>
                </a:uFill>
              </a:rPr>
              <a:t>	</a:t>
            </a:r>
          </a:p>
        </p:txBody>
      </p:sp>
      <p:graphicFrame>
        <p:nvGraphicFramePr>
          <p:cNvPr id="3" name="object 3"/>
          <p:cNvGraphicFramePr>
            <a:graphicFrameLocks noGrp="1"/>
          </p:cNvGraphicFramePr>
          <p:nvPr/>
        </p:nvGraphicFramePr>
        <p:xfrm>
          <a:off x="1182687" y="1899157"/>
          <a:ext cx="9536430" cy="4166678"/>
        </p:xfrm>
        <a:graphic>
          <a:graphicData uri="http://schemas.openxmlformats.org/drawingml/2006/table">
            <a:tbl>
              <a:tblPr firstRow="1" bandRow="1">
                <a:tableStyleId>{2D5ABB26-0587-4C30-8999-92F81FD0307C}</a:tableStyleId>
              </a:tblPr>
              <a:tblGrid>
                <a:gridCol w="4768215">
                  <a:extLst>
                    <a:ext uri="{9D8B030D-6E8A-4147-A177-3AD203B41FA5}">
                      <a16:colId xmlns:a16="http://schemas.microsoft.com/office/drawing/2014/main" val="20000"/>
                    </a:ext>
                  </a:extLst>
                </a:gridCol>
                <a:gridCol w="4768215">
                  <a:extLst>
                    <a:ext uri="{9D8B030D-6E8A-4147-A177-3AD203B41FA5}">
                      <a16:colId xmlns:a16="http://schemas.microsoft.com/office/drawing/2014/main" val="20001"/>
                    </a:ext>
                  </a:extLst>
                </a:gridCol>
              </a:tblGrid>
              <a:tr h="508634">
                <a:tc>
                  <a:txBody>
                    <a:bodyPr/>
                    <a:lstStyle/>
                    <a:p>
                      <a:pPr marL="91440">
                        <a:lnSpc>
                          <a:spcPct val="100000"/>
                        </a:lnSpc>
                        <a:spcBef>
                          <a:spcPts val="240"/>
                        </a:spcBef>
                      </a:pPr>
                      <a:r>
                        <a:rPr sz="1800" b="1" spc="-5" dirty="0">
                          <a:solidFill>
                            <a:srgbClr val="FFFFFF"/>
                          </a:solidFill>
                          <a:latin typeface="Calibri"/>
                          <a:cs typeface="Calibri"/>
                        </a:rPr>
                        <a:t>Risk</a:t>
                      </a:r>
                      <a:r>
                        <a:rPr sz="1800" b="1" spc="-35" dirty="0">
                          <a:solidFill>
                            <a:srgbClr val="FFFFFF"/>
                          </a:solidFill>
                          <a:latin typeface="Calibri"/>
                          <a:cs typeface="Calibri"/>
                        </a:rPr>
                        <a:t> </a:t>
                      </a:r>
                      <a:r>
                        <a:rPr sz="1800" b="1" dirty="0">
                          <a:solidFill>
                            <a:srgbClr val="FFFFFF"/>
                          </a:solidFill>
                          <a:latin typeface="Calibri"/>
                          <a:cs typeface="Calibri"/>
                        </a:rPr>
                        <a:t>Scenario</a:t>
                      </a:r>
                      <a:r>
                        <a:rPr sz="1800" b="1" spc="-55" dirty="0">
                          <a:solidFill>
                            <a:srgbClr val="FFFFFF"/>
                          </a:solidFill>
                          <a:latin typeface="Calibri"/>
                          <a:cs typeface="Calibri"/>
                        </a:rPr>
                        <a:t> </a:t>
                      </a:r>
                      <a:r>
                        <a:rPr sz="1800" b="1" spc="-5" dirty="0">
                          <a:solidFill>
                            <a:srgbClr val="FFFFFF"/>
                          </a:solidFill>
                          <a:latin typeface="Calibri"/>
                          <a:cs typeface="Calibri"/>
                        </a:rPr>
                        <a:t>Component</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92075">
                        <a:lnSpc>
                          <a:spcPct val="100000"/>
                        </a:lnSpc>
                        <a:spcBef>
                          <a:spcPts val="240"/>
                        </a:spcBef>
                      </a:pPr>
                      <a:r>
                        <a:rPr sz="1800" b="1" spc="-5" dirty="0">
                          <a:solidFill>
                            <a:srgbClr val="FFFFFF"/>
                          </a:solidFill>
                          <a:latin typeface="Calibri"/>
                          <a:cs typeface="Calibri"/>
                        </a:rPr>
                        <a:t>Description</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508635">
                <a:tc>
                  <a:txBody>
                    <a:bodyPr/>
                    <a:lstStyle/>
                    <a:p>
                      <a:pPr marL="91440">
                        <a:lnSpc>
                          <a:spcPct val="100000"/>
                        </a:lnSpc>
                        <a:spcBef>
                          <a:spcPts val="240"/>
                        </a:spcBef>
                      </a:pPr>
                      <a:r>
                        <a:rPr sz="1800" spc="-10" dirty="0">
                          <a:latin typeface="Calibri"/>
                          <a:cs typeface="Calibri"/>
                        </a:rPr>
                        <a:t>Threat</a:t>
                      </a:r>
                      <a:r>
                        <a:rPr sz="1800" spc="-40" dirty="0">
                          <a:latin typeface="Calibri"/>
                          <a:cs typeface="Calibri"/>
                        </a:rPr>
                        <a:t> </a:t>
                      </a:r>
                      <a:r>
                        <a:rPr sz="1800" spc="-5" dirty="0">
                          <a:latin typeface="Calibri"/>
                          <a:cs typeface="Calibri"/>
                        </a:rPr>
                        <a:t>Agent</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2075">
                        <a:lnSpc>
                          <a:spcPct val="100000"/>
                        </a:lnSpc>
                        <a:spcBef>
                          <a:spcPts val="240"/>
                        </a:spcBef>
                      </a:pPr>
                      <a:r>
                        <a:rPr sz="1800" spc="-10" dirty="0">
                          <a:latin typeface="Calibri"/>
                          <a:cs typeface="Calibri"/>
                        </a:rPr>
                        <a:t>Foreign</a:t>
                      </a:r>
                      <a:r>
                        <a:rPr sz="1800" spc="5" dirty="0">
                          <a:latin typeface="Calibri"/>
                          <a:cs typeface="Calibri"/>
                        </a:rPr>
                        <a:t> </a:t>
                      </a:r>
                      <a:r>
                        <a:rPr sz="1800" spc="-10" dirty="0">
                          <a:latin typeface="Calibri"/>
                          <a:cs typeface="Calibri"/>
                        </a:rPr>
                        <a:t>Intelligence</a:t>
                      </a:r>
                      <a:r>
                        <a:rPr sz="1800" spc="10" dirty="0">
                          <a:latin typeface="Calibri"/>
                          <a:cs typeface="Calibri"/>
                        </a:rPr>
                        <a:t> </a:t>
                      </a:r>
                      <a:r>
                        <a:rPr sz="1800" spc="-5" dirty="0">
                          <a:latin typeface="Calibri"/>
                          <a:cs typeface="Calibri"/>
                        </a:rPr>
                        <a:t>Agency</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1"/>
                  </a:ext>
                </a:extLst>
              </a:tr>
              <a:tr h="508635">
                <a:tc>
                  <a:txBody>
                    <a:bodyPr/>
                    <a:lstStyle/>
                    <a:p>
                      <a:pPr marL="91440">
                        <a:lnSpc>
                          <a:spcPct val="100000"/>
                        </a:lnSpc>
                        <a:spcBef>
                          <a:spcPts val="240"/>
                        </a:spcBef>
                      </a:pPr>
                      <a:r>
                        <a:rPr sz="1800" spc="-10" dirty="0">
                          <a:latin typeface="Calibri"/>
                          <a:cs typeface="Calibri"/>
                        </a:rPr>
                        <a:t>Threat</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2075">
                        <a:lnSpc>
                          <a:spcPct val="100000"/>
                        </a:lnSpc>
                        <a:spcBef>
                          <a:spcPts val="240"/>
                        </a:spcBef>
                      </a:pPr>
                      <a:r>
                        <a:rPr sz="1800" spc="-15" dirty="0">
                          <a:latin typeface="Calibri"/>
                          <a:cs typeface="Calibri"/>
                        </a:rPr>
                        <a:t>Zero-Day</a:t>
                      </a:r>
                      <a:r>
                        <a:rPr sz="1800" spc="-35" dirty="0">
                          <a:latin typeface="Calibri"/>
                          <a:cs typeface="Calibri"/>
                        </a:rPr>
                        <a:t> </a:t>
                      </a:r>
                      <a:r>
                        <a:rPr sz="1800" spc="-5" dirty="0">
                          <a:latin typeface="Calibri"/>
                          <a:cs typeface="Calibri"/>
                        </a:rPr>
                        <a:t>Exploit</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2"/>
                  </a:ext>
                </a:extLst>
              </a:tr>
              <a:tr h="508635">
                <a:tc>
                  <a:txBody>
                    <a:bodyPr/>
                    <a:lstStyle/>
                    <a:p>
                      <a:pPr marL="91440">
                        <a:lnSpc>
                          <a:spcPct val="100000"/>
                        </a:lnSpc>
                        <a:spcBef>
                          <a:spcPts val="245"/>
                        </a:spcBef>
                      </a:pPr>
                      <a:r>
                        <a:rPr sz="1800" spc="-5" dirty="0">
                          <a:latin typeface="Calibri"/>
                          <a:cs typeface="Calibri"/>
                        </a:rPr>
                        <a:t>Asset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92075">
                        <a:lnSpc>
                          <a:spcPct val="100000"/>
                        </a:lnSpc>
                        <a:spcBef>
                          <a:spcPts val="245"/>
                        </a:spcBef>
                      </a:pPr>
                      <a:r>
                        <a:rPr sz="1800" spc="-10" dirty="0">
                          <a:latin typeface="Calibri"/>
                          <a:cs typeface="Calibri"/>
                        </a:rPr>
                        <a:t>Critical</a:t>
                      </a:r>
                      <a:r>
                        <a:rPr sz="1800" spc="5" dirty="0">
                          <a:latin typeface="Calibri"/>
                          <a:cs typeface="Calibri"/>
                        </a:rPr>
                        <a:t> </a:t>
                      </a:r>
                      <a:r>
                        <a:rPr sz="1800" spc="-15" dirty="0">
                          <a:latin typeface="Calibri"/>
                          <a:cs typeface="Calibri"/>
                        </a:rPr>
                        <a:t>System</a:t>
                      </a:r>
                      <a:r>
                        <a:rPr sz="1800" spc="-10" dirty="0">
                          <a:latin typeface="Calibri"/>
                          <a:cs typeface="Calibri"/>
                        </a:rPr>
                        <a:t> Application</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3"/>
                  </a:ext>
                </a:extLst>
              </a:tr>
              <a:tr h="877951">
                <a:tc>
                  <a:txBody>
                    <a:bodyPr/>
                    <a:lstStyle/>
                    <a:p>
                      <a:pPr marL="91440">
                        <a:lnSpc>
                          <a:spcPct val="100000"/>
                        </a:lnSpc>
                        <a:spcBef>
                          <a:spcPts val="245"/>
                        </a:spcBef>
                      </a:pPr>
                      <a:r>
                        <a:rPr sz="1800" spc="-10" dirty="0">
                          <a:latin typeface="Calibri"/>
                          <a:cs typeface="Calibri"/>
                        </a:rPr>
                        <a:t>Vulnerability</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2075" marR="802005">
                        <a:lnSpc>
                          <a:spcPct val="100000"/>
                        </a:lnSpc>
                        <a:spcBef>
                          <a:spcPts val="245"/>
                        </a:spcBef>
                      </a:pPr>
                      <a:r>
                        <a:rPr sz="1800" spc="-5" dirty="0">
                          <a:latin typeface="Calibri"/>
                          <a:cs typeface="Calibri"/>
                        </a:rPr>
                        <a:t>Application</a:t>
                      </a:r>
                      <a:r>
                        <a:rPr sz="1800" dirty="0">
                          <a:latin typeface="Calibri"/>
                          <a:cs typeface="Calibri"/>
                        </a:rPr>
                        <a:t> </a:t>
                      </a:r>
                      <a:r>
                        <a:rPr sz="1800" spc="-5" dirty="0">
                          <a:latin typeface="Calibri"/>
                          <a:cs typeface="Calibri"/>
                        </a:rPr>
                        <a:t>vulnerability</a:t>
                      </a:r>
                      <a:r>
                        <a:rPr sz="1800" spc="15" dirty="0">
                          <a:latin typeface="Calibri"/>
                          <a:cs typeface="Calibri"/>
                        </a:rPr>
                        <a:t> </a:t>
                      </a:r>
                      <a:r>
                        <a:rPr sz="1800" spc="-10" dirty="0">
                          <a:latin typeface="Calibri"/>
                          <a:cs typeface="Calibri"/>
                        </a:rPr>
                        <a:t>allowing</a:t>
                      </a:r>
                      <a:r>
                        <a:rPr sz="1800" spc="15" dirty="0">
                          <a:latin typeface="Calibri"/>
                          <a:cs typeface="Calibri"/>
                        </a:rPr>
                        <a:t> </a:t>
                      </a:r>
                      <a:r>
                        <a:rPr sz="1800" dirty="0">
                          <a:latin typeface="Calibri"/>
                          <a:cs typeface="Calibri"/>
                        </a:rPr>
                        <a:t>a</a:t>
                      </a:r>
                      <a:r>
                        <a:rPr sz="1800" spc="5" dirty="0">
                          <a:latin typeface="Calibri"/>
                          <a:cs typeface="Calibri"/>
                        </a:rPr>
                        <a:t> </a:t>
                      </a:r>
                      <a:r>
                        <a:rPr sz="1800" spc="-15" dirty="0">
                          <a:latin typeface="Calibri"/>
                          <a:cs typeface="Calibri"/>
                        </a:rPr>
                        <a:t>buffer </a:t>
                      </a:r>
                      <a:r>
                        <a:rPr sz="1800" spc="-395" dirty="0">
                          <a:latin typeface="Calibri"/>
                          <a:cs typeface="Calibri"/>
                        </a:rPr>
                        <a:t> </a:t>
                      </a:r>
                      <a:r>
                        <a:rPr sz="1800" spc="-10" dirty="0">
                          <a:latin typeface="Calibri"/>
                          <a:cs typeface="Calibri"/>
                        </a:rPr>
                        <a:t>overflow</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4"/>
                  </a:ext>
                </a:extLst>
              </a:tr>
              <a:tr h="1254188">
                <a:tc>
                  <a:txBody>
                    <a:bodyPr/>
                    <a:lstStyle/>
                    <a:p>
                      <a:pPr marL="91440">
                        <a:lnSpc>
                          <a:spcPct val="100000"/>
                        </a:lnSpc>
                        <a:spcBef>
                          <a:spcPts val="250"/>
                        </a:spcBef>
                      </a:pPr>
                      <a:r>
                        <a:rPr sz="1800" spc="-10" dirty="0">
                          <a:latin typeface="Calibri"/>
                          <a:cs typeface="Calibri"/>
                        </a:rPr>
                        <a:t>Time/Location</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92075" marR="833119" algn="just">
                        <a:lnSpc>
                          <a:spcPct val="100000"/>
                        </a:lnSpc>
                        <a:spcBef>
                          <a:spcPts val="250"/>
                        </a:spcBef>
                      </a:pPr>
                      <a:r>
                        <a:rPr sz="1800" spc="-5" dirty="0">
                          <a:latin typeface="Calibri"/>
                          <a:cs typeface="Calibri"/>
                        </a:rPr>
                        <a:t>Time </a:t>
                      </a:r>
                      <a:r>
                        <a:rPr sz="1800" dirty="0">
                          <a:latin typeface="Calibri"/>
                          <a:cs typeface="Calibri"/>
                        </a:rPr>
                        <a:t>and </a:t>
                      </a:r>
                      <a:r>
                        <a:rPr sz="1800" spc="-10" dirty="0">
                          <a:latin typeface="Calibri"/>
                          <a:cs typeface="Calibri"/>
                        </a:rPr>
                        <a:t>duration </a:t>
                      </a:r>
                      <a:r>
                        <a:rPr sz="1800" spc="-5" dirty="0">
                          <a:latin typeface="Calibri"/>
                          <a:cs typeface="Calibri"/>
                        </a:rPr>
                        <a:t>of </a:t>
                      </a:r>
                      <a:r>
                        <a:rPr sz="1800" spc="-20" dirty="0">
                          <a:latin typeface="Calibri"/>
                          <a:cs typeface="Calibri"/>
                        </a:rPr>
                        <a:t>attacker’s </a:t>
                      </a:r>
                      <a:r>
                        <a:rPr sz="1800" spc="-5" dirty="0">
                          <a:latin typeface="Calibri"/>
                          <a:cs typeface="Calibri"/>
                        </a:rPr>
                        <a:t>choosing; </a:t>
                      </a:r>
                      <a:r>
                        <a:rPr sz="1800" spc="-395" dirty="0">
                          <a:latin typeface="Calibri"/>
                          <a:cs typeface="Calibri"/>
                        </a:rPr>
                        <a:t> </a:t>
                      </a:r>
                      <a:r>
                        <a:rPr sz="1800" spc="-10" dirty="0">
                          <a:latin typeface="Calibri"/>
                          <a:cs typeface="Calibri"/>
                        </a:rPr>
                        <a:t>external </a:t>
                      </a:r>
                      <a:r>
                        <a:rPr sz="1800" spc="-15" dirty="0">
                          <a:latin typeface="Calibri"/>
                          <a:cs typeface="Calibri"/>
                        </a:rPr>
                        <a:t>systems </a:t>
                      </a:r>
                      <a:r>
                        <a:rPr sz="1800" spc="-5" dirty="0">
                          <a:latin typeface="Calibri"/>
                          <a:cs typeface="Calibri"/>
                        </a:rPr>
                        <a:t>only; </a:t>
                      </a:r>
                      <a:r>
                        <a:rPr sz="1800" spc="-10" dirty="0">
                          <a:latin typeface="Calibri"/>
                          <a:cs typeface="Calibri"/>
                        </a:rPr>
                        <a:t>indefinite delay </a:t>
                      </a:r>
                      <a:r>
                        <a:rPr sz="1800" spc="-5" dirty="0">
                          <a:latin typeface="Calibri"/>
                          <a:cs typeface="Calibri"/>
                        </a:rPr>
                        <a:t>in </a:t>
                      </a:r>
                      <a:r>
                        <a:rPr sz="1800" dirty="0">
                          <a:latin typeface="Calibri"/>
                          <a:cs typeface="Calibri"/>
                        </a:rPr>
                        <a:t> </a:t>
                      </a:r>
                      <a:r>
                        <a:rPr sz="1800" spc="-10" dirty="0">
                          <a:latin typeface="Calibri"/>
                          <a:cs typeface="Calibri"/>
                        </a:rPr>
                        <a:t>detection</a:t>
                      </a:r>
                      <a:r>
                        <a:rPr sz="1800" spc="15" dirty="0">
                          <a:latin typeface="Calibri"/>
                          <a:cs typeface="Calibri"/>
                        </a:rPr>
                        <a:t> </a:t>
                      </a:r>
                      <a:r>
                        <a:rPr sz="1800" dirty="0">
                          <a:latin typeface="Calibri"/>
                          <a:cs typeface="Calibri"/>
                        </a:rPr>
                        <a:t>and</a:t>
                      </a:r>
                      <a:r>
                        <a:rPr sz="1800" spc="10" dirty="0">
                          <a:latin typeface="Calibri"/>
                          <a:cs typeface="Calibri"/>
                        </a:rPr>
                        <a:t> </a:t>
                      </a:r>
                      <a:r>
                        <a:rPr sz="1800" spc="-5" dirty="0">
                          <a:latin typeface="Calibri"/>
                          <a:cs typeface="Calibri"/>
                        </a:rPr>
                        <a:t>response</a:t>
                      </a:r>
                      <a:r>
                        <a:rPr sz="1800" dirty="0">
                          <a:latin typeface="Calibri"/>
                          <a:cs typeface="Calibri"/>
                        </a:rPr>
                        <a:t> time</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55141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8BA0CA-7B4E-B2B4-45D4-30E6B1211121}"/>
              </a:ext>
            </a:extLst>
          </p:cNvPr>
          <p:cNvSpPr txBox="1"/>
          <p:nvPr/>
        </p:nvSpPr>
        <p:spPr>
          <a:xfrm>
            <a:off x="1950139" y="674400"/>
            <a:ext cx="8845063" cy="5509200"/>
          </a:xfrm>
          <a:prstGeom prst="rect">
            <a:avLst/>
          </a:prstGeom>
          <a:noFill/>
        </p:spPr>
        <p:txBody>
          <a:bodyPr wrap="square">
            <a:spAutoFit/>
          </a:bodyPr>
          <a:lstStyle/>
          <a:p>
            <a:pPr>
              <a:spcAft>
                <a:spcPts val="600"/>
              </a:spcAft>
            </a:pPr>
            <a:r>
              <a:rPr lang="en-US" b="1" dirty="0">
                <a:solidFill>
                  <a:srgbClr val="C00000"/>
                </a:solidFill>
                <a:effectLst>
                  <a:outerShdw blurRad="38100" dist="38100" dir="2700000" algn="tl">
                    <a:srgbClr val="000000">
                      <a:alpha val="43137"/>
                    </a:srgbClr>
                  </a:outerShdw>
                </a:effectLst>
              </a:rPr>
              <a:t>Structure of risk scenarios</a:t>
            </a:r>
          </a:p>
          <a:p>
            <a:pPr lvl="1">
              <a:buFont typeface="+mj-lt"/>
              <a:buAutoNum type="arabicPeriod"/>
            </a:pPr>
            <a:r>
              <a:rPr lang="en-US" sz="1600" dirty="0"/>
              <a:t>Because [risk cause],</a:t>
            </a:r>
          </a:p>
          <a:p>
            <a:pPr lvl="1">
              <a:buFont typeface="+mj-lt"/>
              <a:buAutoNum type="arabicPeriod"/>
            </a:pPr>
            <a:r>
              <a:rPr lang="en-US" sz="1600" dirty="0"/>
              <a:t>[risk event] happens,</a:t>
            </a:r>
          </a:p>
          <a:p>
            <a:pPr lvl="1">
              <a:buFont typeface="+mj-lt"/>
              <a:buAutoNum type="arabicPeriod"/>
            </a:pPr>
            <a:r>
              <a:rPr lang="en-US" sz="1600" dirty="0"/>
              <a:t>causing [risk impact].</a:t>
            </a:r>
          </a:p>
          <a:p>
            <a:pPr lvl="1">
              <a:buFont typeface="+mj-lt"/>
              <a:buAutoNum type="arabicPeriod"/>
            </a:pPr>
            <a:endParaRPr lang="en-US" b="1" dirty="0">
              <a:solidFill>
                <a:srgbClr val="C00000"/>
              </a:solidFill>
            </a:endParaRPr>
          </a:p>
          <a:p>
            <a:pPr>
              <a:spcAft>
                <a:spcPts val="600"/>
              </a:spcAft>
            </a:pPr>
            <a:r>
              <a:rPr lang="en-US" b="1" dirty="0">
                <a:solidFill>
                  <a:srgbClr val="C00000"/>
                </a:solidFill>
                <a:effectLst>
                  <a:outerShdw blurRad="38100" dist="38100" dir="2700000" algn="tl">
                    <a:srgbClr val="000000">
                      <a:alpha val="43137"/>
                    </a:srgbClr>
                  </a:outerShdw>
                </a:effectLst>
              </a:rPr>
              <a:t>Example 1:</a:t>
            </a:r>
          </a:p>
          <a:p>
            <a:pPr marL="800100" lvl="1" indent="-342900">
              <a:spcAft>
                <a:spcPts val="600"/>
              </a:spcAft>
              <a:buFont typeface="+mj-lt"/>
              <a:buAutoNum type="arabicPeriod"/>
            </a:pPr>
            <a:r>
              <a:rPr lang="en-US" sz="1600" dirty="0"/>
              <a:t>Because a system does not enforce strong passwords or account lockout policies and does not log failed login attempts,</a:t>
            </a:r>
          </a:p>
          <a:p>
            <a:pPr marL="800100" lvl="1" indent="-342900">
              <a:spcAft>
                <a:spcPts val="600"/>
              </a:spcAft>
              <a:buFont typeface="+mj-lt"/>
              <a:buAutoNum type="arabicPeriod"/>
            </a:pPr>
            <a:r>
              <a:rPr lang="en-US" sz="1600" dirty="0"/>
              <a:t>a hacker gains unauthorized access to information stored in the system by performing a brute-force-password-guessing attack.</a:t>
            </a:r>
          </a:p>
          <a:p>
            <a:pPr marL="800100" lvl="1" indent="-342900">
              <a:spcAft>
                <a:spcPts val="600"/>
              </a:spcAft>
              <a:buFont typeface="+mj-lt"/>
              <a:buAutoNum type="arabicPeriod"/>
            </a:pPr>
            <a:r>
              <a:rPr lang="en-US" sz="1600" dirty="0"/>
              <a:t>The hacker uses the information to commit identity fraud that leads to an investigation by the Privacy Commissioner and reputational damage to the Minister and government organization.</a:t>
            </a:r>
            <a:endParaRPr lang="en-US" sz="1600" b="1" dirty="0"/>
          </a:p>
          <a:p>
            <a:pPr>
              <a:spcAft>
                <a:spcPts val="600"/>
              </a:spcAft>
            </a:pPr>
            <a:r>
              <a:rPr lang="en-US" b="1" dirty="0">
                <a:solidFill>
                  <a:srgbClr val="C00000"/>
                </a:solidFill>
              </a:rPr>
              <a:t>Example 2:</a:t>
            </a:r>
          </a:p>
          <a:p>
            <a:pPr marL="800100" lvl="1" indent="-342900">
              <a:spcAft>
                <a:spcPts val="600"/>
              </a:spcAft>
              <a:buFont typeface="+mj-lt"/>
              <a:buAutoNum type="arabicPeriod"/>
            </a:pPr>
            <a:r>
              <a:rPr lang="en-US" sz="1600" dirty="0"/>
              <a:t>Because disk encryption has not been enabled on all of the organization's laptop devices,</a:t>
            </a:r>
          </a:p>
          <a:p>
            <a:pPr marL="800100" lvl="1" indent="-342900">
              <a:spcAft>
                <a:spcPts val="600"/>
              </a:spcAft>
              <a:buFont typeface="+mj-lt"/>
              <a:buAutoNum type="arabicPeriod"/>
            </a:pPr>
            <a:r>
              <a:rPr lang="en-US" sz="1600" dirty="0"/>
              <a:t>when an employee loses their laptop,</a:t>
            </a:r>
          </a:p>
          <a:p>
            <a:pPr marL="800100" lvl="1" indent="-342900">
              <a:spcAft>
                <a:spcPts val="600"/>
              </a:spcAft>
              <a:buFont typeface="+mj-lt"/>
              <a:buAutoNum type="arabicPeriod"/>
            </a:pPr>
            <a:r>
              <a:rPr lang="en-US" sz="1600" dirty="0"/>
              <a:t>this leads to official information being disclosed to an unauthorized party and reputational damage to the Minister and government organization.</a:t>
            </a:r>
          </a:p>
        </p:txBody>
      </p:sp>
    </p:spTree>
    <p:extLst>
      <p:ext uri="{BB962C8B-B14F-4D97-AF65-F5344CB8AC3E}">
        <p14:creationId xmlns:p14="http://schemas.microsoft.com/office/powerpoint/2010/main" val="4017611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33A77F-4A80-2469-2FEE-7DA843E40655}"/>
              </a:ext>
            </a:extLst>
          </p:cNvPr>
          <p:cNvSpPr txBox="1"/>
          <p:nvPr/>
        </p:nvSpPr>
        <p:spPr>
          <a:xfrm>
            <a:off x="1486877" y="147488"/>
            <a:ext cx="6099906" cy="369332"/>
          </a:xfrm>
          <a:prstGeom prst="rect">
            <a:avLst/>
          </a:prstGeom>
          <a:noFill/>
        </p:spPr>
        <p:txBody>
          <a:bodyPr wrap="square">
            <a:spAutoFit/>
          </a:bodyPr>
          <a:lstStyle/>
          <a:p>
            <a:r>
              <a:rPr lang="en-US" b="1" dirty="0"/>
              <a:t>Types of Cyber Risk Scenarios</a:t>
            </a:r>
          </a:p>
        </p:txBody>
      </p:sp>
      <p:sp>
        <p:nvSpPr>
          <p:cNvPr id="5" name="TextBox 4">
            <a:extLst>
              <a:ext uri="{FF2B5EF4-FFF2-40B4-BE49-F238E27FC236}">
                <a16:creationId xmlns:a16="http://schemas.microsoft.com/office/drawing/2014/main" id="{543F9F45-488E-9CD6-EDA8-977088CDA9EB}"/>
              </a:ext>
            </a:extLst>
          </p:cNvPr>
          <p:cNvSpPr txBox="1"/>
          <p:nvPr/>
        </p:nvSpPr>
        <p:spPr>
          <a:xfrm>
            <a:off x="1768229" y="662889"/>
            <a:ext cx="9517185" cy="5242589"/>
          </a:xfrm>
          <a:prstGeom prst="rect">
            <a:avLst/>
          </a:prstGeom>
          <a:noFill/>
        </p:spPr>
        <p:txBody>
          <a:bodyPr wrap="square">
            <a:spAutoFit/>
          </a:bodyPr>
          <a:lstStyle/>
          <a:p>
            <a:pPr marL="0" marR="0">
              <a:lnSpc>
                <a:spcPct val="107000"/>
              </a:lnSpc>
              <a:spcBef>
                <a:spcPts val="0"/>
              </a:spcBef>
              <a:spcAft>
                <a:spcPts val="800"/>
              </a:spcAft>
            </a:pPr>
            <a:r>
              <a:rPr lang="en-US" sz="2000" b="1" kern="0" dirty="0">
                <a:solidFill>
                  <a:srgbClr val="C00000"/>
                </a:solidFill>
                <a:effectLst/>
                <a:latin typeface="Berlin Sans FB Demi" panose="020E0802020502020306" pitchFamily="34" charset="0"/>
                <a:ea typeface="Times New Roman" panose="02020603050405020304" pitchFamily="18" charset="0"/>
                <a:cs typeface="Times New Roman" panose="02020603050405020304" pitchFamily="18" charset="0"/>
              </a:rPr>
              <a:t>Risk Scenarios Fall into Seven Categories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lvl="1">
              <a:lnSpc>
                <a:spcPct val="107000"/>
              </a:lnSpc>
              <a:spcAft>
                <a:spcPts val="800"/>
              </a:spcAft>
            </a:pPr>
            <a:r>
              <a:rPr lang="en-US" sz="2000" b="1" kern="0" dirty="0">
                <a:solidFill>
                  <a:srgbClr val="C00000"/>
                </a:solidFill>
                <a:effectLst/>
                <a:latin typeface="Berlin Sans FB Demi" panose="020E0802020502020306" pitchFamily="34" charset="0"/>
                <a:ea typeface="Times New Roman" panose="02020603050405020304" pitchFamily="18" charset="0"/>
                <a:cs typeface="Times New Roman" panose="02020603050405020304" pitchFamily="18" charset="0"/>
              </a:rPr>
              <a:t>1. Malware /Ransomware attack</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1257300" lvl="2" indent="-342900">
              <a:lnSpc>
                <a:spcPct val="107000"/>
              </a:lnSpc>
              <a:spcBef>
                <a:spcPts val="600"/>
              </a:spcBef>
              <a:spcAft>
                <a:spcPts val="600"/>
              </a:spcAft>
              <a:buFont typeface="Wingdings" panose="05000000000000000000" pitchFamily="2" charset="2"/>
              <a:buChar char=""/>
            </a:pPr>
            <a:r>
              <a:rPr lang="en-US" sz="1400" kern="0" dirty="0">
                <a:effectLst/>
                <a:latin typeface="Berlin Sans FB" panose="020E0602020502020306" pitchFamily="34" charset="0"/>
                <a:ea typeface="Times New Roman" panose="02020603050405020304" pitchFamily="18" charset="0"/>
                <a:cs typeface="Times New Roman" panose="02020603050405020304" pitchFamily="18" charset="0"/>
              </a:rPr>
              <a:t>Malware-based attack designed to pressure a company to pay a ransom by encrypting and withholding access to systems or files, and furthering extorting the victim by threatening to make public sensitive information.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1257300" lvl="2" indent="-342900">
              <a:lnSpc>
                <a:spcPct val="107000"/>
              </a:lnSpc>
              <a:spcBef>
                <a:spcPts val="600"/>
              </a:spcBef>
              <a:spcAft>
                <a:spcPts val="600"/>
              </a:spcAft>
              <a:buFont typeface="Wingdings" panose="05000000000000000000" pitchFamily="2" charset="2"/>
              <a:buChar char=""/>
            </a:pPr>
            <a:r>
              <a:rPr lang="en-US" sz="1400" kern="0" dirty="0">
                <a:latin typeface="Berlin Sans FB" panose="020E0602020502020306" pitchFamily="34" charset="0"/>
                <a:cs typeface="Times New Roman" panose="02020603050405020304" pitchFamily="18" charset="0"/>
              </a:rPr>
              <a:t>An apparent ransomware attack may also be a cover for “wiper” malware intended purely for destruction of data and systems for example. </a:t>
            </a:r>
          </a:p>
          <a:p>
            <a:pPr marL="1257300" lvl="2" indent="-342900">
              <a:lnSpc>
                <a:spcPct val="107000"/>
              </a:lnSpc>
              <a:spcBef>
                <a:spcPts val="600"/>
              </a:spcBef>
              <a:spcAft>
                <a:spcPts val="600"/>
              </a:spcAft>
              <a:buFont typeface="Wingdings" panose="05000000000000000000" pitchFamily="2" charset="2"/>
              <a:buChar char=""/>
            </a:pPr>
            <a:r>
              <a:rPr lang="en-US" sz="1400" kern="0" dirty="0">
                <a:latin typeface="Berlin Sans FB" panose="020E0602020502020306" pitchFamily="34" charset="0"/>
                <a:cs typeface="Times New Roman" panose="02020603050405020304" pitchFamily="18" charset="0"/>
              </a:rPr>
              <a:t>Shamoon, also known as W32. </a:t>
            </a:r>
            <a:r>
              <a:rPr lang="en-US" sz="1400" kern="0" dirty="0" err="1">
                <a:latin typeface="Berlin Sans FB" panose="020E0602020502020306" pitchFamily="34" charset="0"/>
                <a:cs typeface="Times New Roman" panose="02020603050405020304" pitchFamily="18" charset="0"/>
              </a:rPr>
              <a:t>Distrack</a:t>
            </a:r>
            <a:r>
              <a:rPr lang="en-US" sz="1400" kern="0" dirty="0">
                <a:latin typeface="Berlin Sans FB" panose="020E0602020502020306" pitchFamily="34" charset="0"/>
                <a:cs typeface="Times New Roman" panose="02020603050405020304" pitchFamily="18" charset="0"/>
              </a:rPr>
              <a:t>, is an aggressive, disk-wiping malware program that was first seen in attacks on the Saudi energy sector in 2012 by a </a:t>
            </a:r>
            <a:r>
              <a:rPr lang="en-US" sz="1400" kern="0" dirty="0" err="1">
                <a:latin typeface="Berlin Sans FB" panose="020E0602020502020306" pitchFamily="34" charset="0"/>
                <a:cs typeface="Times New Roman" panose="02020603050405020304" pitchFamily="18" charset="0"/>
              </a:rPr>
              <a:t>a</a:t>
            </a:r>
            <a:r>
              <a:rPr lang="en-US" sz="1400" kern="0" dirty="0">
                <a:latin typeface="Berlin Sans FB" panose="020E0602020502020306" pitchFamily="34" charset="0"/>
                <a:cs typeface="Times New Roman" panose="02020603050405020304" pitchFamily="18" charset="0"/>
              </a:rPr>
              <a:t> company insider with privileged access to Aramco's network. The discovery of the malware was announced by Symantec and Kaspersky Labs in August of 2012 </a:t>
            </a:r>
          </a:p>
          <a:p>
            <a:pPr marL="1257300" lvl="2" indent="-342900">
              <a:lnSpc>
                <a:spcPct val="107000"/>
              </a:lnSpc>
              <a:spcBef>
                <a:spcPts val="600"/>
              </a:spcBef>
              <a:spcAft>
                <a:spcPts val="600"/>
              </a:spcAft>
              <a:buFont typeface="Wingdings" panose="05000000000000000000" pitchFamily="2" charset="2"/>
              <a:buChar char=""/>
            </a:pPr>
            <a:r>
              <a:rPr lang="en-US" sz="1400" kern="0" dirty="0">
                <a:latin typeface="Berlin Sans FB" panose="020E0602020502020306" pitchFamily="34" charset="0"/>
                <a:cs typeface="Times New Roman" panose="02020603050405020304" pitchFamily="18" charset="0"/>
              </a:rPr>
              <a:t>Over 35.000 computers at Aramco became useless and had to be replaced. The virus erased data on three-quarters of Aramco’s corporate PCs, such as documents, spreadsheets, e-mails and other important files.</a:t>
            </a:r>
          </a:p>
          <a:p>
            <a:pPr marL="1257300" lvl="2" indent="-342900">
              <a:lnSpc>
                <a:spcPct val="107000"/>
              </a:lnSpc>
              <a:spcBef>
                <a:spcPts val="600"/>
              </a:spcBef>
              <a:spcAft>
                <a:spcPts val="600"/>
              </a:spcAft>
              <a:buFont typeface="Wingdings" panose="05000000000000000000" pitchFamily="2" charset="2"/>
              <a:buChar char=""/>
            </a:pPr>
            <a:r>
              <a:rPr lang="en-US" sz="1400" kern="0" dirty="0">
                <a:latin typeface="Berlin Sans FB" panose="020E0602020502020306" pitchFamily="34" charset="0"/>
                <a:cs typeface="Times New Roman" panose="02020603050405020304" pitchFamily="18" charset="0"/>
              </a:rPr>
              <a:t>Aramco was forced to shut down the company’s internal corporate network, disabling employees’ e-mail and Internet access, to stop the virus from spreading.</a:t>
            </a:r>
          </a:p>
          <a:p>
            <a:pPr marL="1257300" lvl="2" indent="-342900">
              <a:lnSpc>
                <a:spcPct val="107000"/>
              </a:lnSpc>
              <a:spcBef>
                <a:spcPts val="600"/>
              </a:spcBef>
              <a:spcAft>
                <a:spcPts val="600"/>
              </a:spcAft>
              <a:buFont typeface="Wingdings" panose="05000000000000000000" pitchFamily="2" charset="2"/>
              <a:buChar char=""/>
            </a:pPr>
            <a:r>
              <a:rPr lang="en-US" sz="1400" kern="0" dirty="0">
                <a:latin typeface="Berlin Sans FB" panose="020E0602020502020306" pitchFamily="34" charset="0"/>
                <a:cs typeface="Times New Roman" panose="02020603050405020304" pitchFamily="18" charset="0"/>
              </a:rPr>
              <a:t>The attack destroyed 85 percent of the company’s hardware and for ten days made business operations impossible.31 Another well-known example of a ransomware attack is WannaCry, a ransom crypto worm that affected more than 200,000 computers across more than 150 countries.</a:t>
            </a:r>
          </a:p>
        </p:txBody>
      </p:sp>
    </p:spTree>
    <p:extLst>
      <p:ext uri="{BB962C8B-B14F-4D97-AF65-F5344CB8AC3E}">
        <p14:creationId xmlns:p14="http://schemas.microsoft.com/office/powerpoint/2010/main" val="1458433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9D758E-41A5-0D67-4454-F25A9FEEE068}"/>
              </a:ext>
            </a:extLst>
          </p:cNvPr>
          <p:cNvSpPr txBox="1"/>
          <p:nvPr/>
        </p:nvSpPr>
        <p:spPr>
          <a:xfrm>
            <a:off x="1867877" y="108707"/>
            <a:ext cx="8729784" cy="6483570"/>
          </a:xfrm>
          <a:prstGeom prst="rect">
            <a:avLst/>
          </a:prstGeom>
          <a:noFill/>
        </p:spPr>
        <p:txBody>
          <a:bodyPr wrap="square">
            <a:spAutoFit/>
          </a:bodyPr>
          <a:lstStyle/>
          <a:p>
            <a:pPr marL="0" marR="0">
              <a:lnSpc>
                <a:spcPct val="107000"/>
              </a:lnSpc>
              <a:spcBef>
                <a:spcPts val="0"/>
              </a:spcBef>
              <a:spcAft>
                <a:spcPts val="800"/>
              </a:spcAft>
            </a:pPr>
            <a:r>
              <a:rPr lang="en-US" sz="2000" b="1" kern="0" dirty="0">
                <a:solidFill>
                  <a:srgbClr val="C00000"/>
                </a:solidFill>
                <a:effectLst/>
                <a:latin typeface="Berlin Sans FB Demi" panose="020E0802020502020306" pitchFamily="34" charset="0"/>
                <a:ea typeface="Times New Roman" panose="02020603050405020304" pitchFamily="18" charset="0"/>
                <a:cs typeface="Times New Roman" panose="02020603050405020304" pitchFamily="18" charset="0"/>
              </a:rPr>
              <a:t>2. Insider Error</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07000"/>
              </a:lnSpc>
              <a:spcBef>
                <a:spcPts val="0"/>
              </a:spcBef>
              <a:spcAft>
                <a:spcPts val="800"/>
              </a:spcAft>
              <a:buFont typeface="Wingdings" panose="05000000000000000000" pitchFamily="2" charset="2"/>
              <a:buChar char="§"/>
            </a:pPr>
            <a:r>
              <a:rPr lang="en-US" sz="1400" kern="0" dirty="0">
                <a:effectLst/>
                <a:latin typeface="Berlin Sans FB" panose="020E0602020502020306" pitchFamily="34" charset="0"/>
                <a:ea typeface="Times New Roman" panose="02020603050405020304" pitchFamily="18" charset="0"/>
                <a:cs typeface="Times New Roman" panose="02020603050405020304" pitchFamily="18" charset="0"/>
              </a:rPr>
              <a:t>Misconfigurations, failure to renew expired certificates, improper publishing and other errors by staff members can have damaging consequences to the bottom line.</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0" dirty="0">
                <a:solidFill>
                  <a:srgbClr val="C00000"/>
                </a:solidFill>
                <a:effectLst/>
                <a:latin typeface="Berlin Sans FB Demi" panose="020E0802020502020306" pitchFamily="34" charset="0"/>
                <a:ea typeface="Times New Roman" panose="02020603050405020304" pitchFamily="18" charset="0"/>
                <a:cs typeface="Times New Roman" panose="02020603050405020304" pitchFamily="18" charset="0"/>
              </a:rPr>
              <a:t>3. Insider Privilege Abuse</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07000"/>
              </a:lnSpc>
              <a:spcBef>
                <a:spcPts val="0"/>
              </a:spcBef>
              <a:spcAft>
                <a:spcPts val="800"/>
              </a:spcAft>
              <a:buFont typeface="Wingdings" panose="05000000000000000000" pitchFamily="2" charset="2"/>
              <a:buChar char="§"/>
            </a:pPr>
            <a:r>
              <a:rPr lang="en-US" sz="1400" kern="0" dirty="0">
                <a:effectLst/>
                <a:latin typeface="Berlin Sans FB" panose="020E0602020502020306" pitchFamily="34" charset="0"/>
                <a:ea typeface="Times New Roman" panose="02020603050405020304" pitchFamily="18" charset="0"/>
                <a:cs typeface="Times New Roman" panose="02020603050405020304" pitchFamily="18" charset="0"/>
              </a:rPr>
              <a:t>Whether it is the intentional and malicious disclosure or modification of sensitive data or a logic bomb taking down the network, your most trusted employees can cause significant loss to the company by sabotage.</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0" dirty="0">
                <a:solidFill>
                  <a:srgbClr val="C00000"/>
                </a:solidFill>
                <a:effectLst/>
                <a:latin typeface="Berlin Sans FB Demi" panose="020E0802020502020306" pitchFamily="34" charset="0"/>
                <a:ea typeface="Times New Roman" panose="02020603050405020304" pitchFamily="18" charset="0"/>
                <a:cs typeface="Times New Roman" panose="02020603050405020304" pitchFamily="18" charset="0"/>
              </a:rPr>
              <a:t>4. System Intrusion</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07000"/>
              </a:lnSpc>
              <a:spcBef>
                <a:spcPts val="0"/>
              </a:spcBef>
              <a:spcAft>
                <a:spcPts val="800"/>
              </a:spcAft>
              <a:buFont typeface="Wingdings" panose="05000000000000000000" pitchFamily="2" charset="2"/>
              <a:buChar char="§"/>
            </a:pPr>
            <a:r>
              <a:rPr lang="en-US" sz="1400" kern="0" dirty="0">
                <a:effectLst/>
                <a:latin typeface="Berlin Sans FB" panose="020E0602020502020306" pitchFamily="34" charset="0"/>
                <a:ea typeface="Times New Roman" panose="02020603050405020304" pitchFamily="18" charset="0"/>
                <a:cs typeface="Times New Roman" panose="02020603050405020304" pitchFamily="18" charset="0"/>
              </a:rPr>
              <a:t>Through code exploitation or good old fashioned brute force password guessing, a bad actor gets a foothold in your network and can access your most sensitive assets, resulting in a data breach, business interruption or other perils. This category does not include ransomware or social engineering-based attacks.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0" dirty="0">
                <a:solidFill>
                  <a:srgbClr val="C00000"/>
                </a:solidFill>
                <a:effectLst/>
                <a:latin typeface="Berlin Sans FB Demi" panose="020E0802020502020306" pitchFamily="34" charset="0"/>
                <a:ea typeface="Times New Roman" panose="02020603050405020304" pitchFamily="18" charset="0"/>
                <a:cs typeface="Times New Roman" panose="02020603050405020304" pitchFamily="18" charset="0"/>
              </a:rPr>
              <a:t>5. Social Engineering</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07000"/>
              </a:lnSpc>
              <a:spcBef>
                <a:spcPts val="0"/>
              </a:spcBef>
              <a:spcAft>
                <a:spcPts val="800"/>
              </a:spcAft>
              <a:buFont typeface="Wingdings" panose="05000000000000000000" pitchFamily="2" charset="2"/>
              <a:buChar char="§"/>
            </a:pPr>
            <a:r>
              <a:rPr lang="en-US" sz="1400" kern="0" dirty="0">
                <a:effectLst/>
                <a:latin typeface="Berlin Sans FB" panose="020E0602020502020306" pitchFamily="34" charset="0"/>
                <a:ea typeface="Times New Roman" panose="02020603050405020304" pitchFamily="18" charset="0"/>
                <a:cs typeface="Times New Roman" panose="02020603050405020304" pitchFamily="18" charset="0"/>
              </a:rPr>
              <a:t>Tricking insiders into sharing confidential or personal information or making a payment, often through an email that appears to come from a friend, a well-known brand or business partner, possibly resulting in data breach or business interruption if an attacker gains entry to the network.</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0" dirty="0">
                <a:solidFill>
                  <a:srgbClr val="C00000"/>
                </a:solidFill>
                <a:effectLst/>
                <a:latin typeface="Berlin Sans FB Demi" panose="020E0802020502020306" pitchFamily="34" charset="0"/>
                <a:ea typeface="Times New Roman" panose="02020603050405020304" pitchFamily="18" charset="0"/>
                <a:cs typeface="Times New Roman" panose="02020603050405020304" pitchFamily="18" charset="0"/>
              </a:rPr>
              <a:t> 6. Web Application Attacks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07000"/>
              </a:lnSpc>
              <a:spcBef>
                <a:spcPts val="0"/>
              </a:spcBef>
              <a:spcAft>
                <a:spcPts val="800"/>
              </a:spcAft>
              <a:buFont typeface="Wingdings" panose="05000000000000000000" pitchFamily="2" charset="2"/>
              <a:buChar char="§"/>
            </a:pPr>
            <a:r>
              <a:rPr lang="en-US" sz="1400" kern="0" dirty="0">
                <a:effectLst/>
                <a:latin typeface="Berlin Sans FB" panose="020E0602020502020306" pitchFamily="34" charset="0"/>
                <a:ea typeface="Times New Roman" panose="02020603050405020304" pitchFamily="18" charset="0"/>
                <a:cs typeface="Times New Roman" panose="02020603050405020304" pitchFamily="18" charset="0"/>
              </a:rPr>
              <a:t>Compromise of a web application via brute force or code exploitation to create business interruption or data breach, or possibly gain a foothold to target critical assets.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0" dirty="0">
                <a:solidFill>
                  <a:srgbClr val="C00000"/>
                </a:solidFill>
                <a:effectLst/>
                <a:latin typeface="Berlin Sans FB Demi" panose="020E0802020502020306" pitchFamily="34" charset="0"/>
                <a:ea typeface="Times New Roman" panose="02020603050405020304" pitchFamily="18" charset="0"/>
                <a:cs typeface="Times New Roman" panose="02020603050405020304" pitchFamily="18" charset="0"/>
              </a:rPr>
              <a:t>7. Denial of Service</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07000"/>
              </a:lnSpc>
              <a:spcBef>
                <a:spcPts val="0"/>
              </a:spcBef>
              <a:spcAft>
                <a:spcPts val="800"/>
              </a:spcAft>
              <a:buFont typeface="Wingdings" panose="05000000000000000000" pitchFamily="2" charset="2"/>
              <a:buChar char="§"/>
            </a:pPr>
            <a:r>
              <a:rPr lang="en-US" sz="1400" kern="0" dirty="0">
                <a:effectLst/>
                <a:latin typeface="Berlin Sans FB" panose="020E0602020502020306" pitchFamily="34" charset="0"/>
                <a:ea typeface="Times New Roman" panose="02020603050405020304" pitchFamily="18" charset="0"/>
                <a:cs typeface="Times New Roman" panose="02020603050405020304" pitchFamily="18" charset="0"/>
              </a:rPr>
              <a:t>Attackers flood the victim’s system with traffic, making it unavailable and leading to business interruption.</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200" kern="100" dirty="0">
                <a:effectLst/>
                <a:latin typeface="Berlin Sans FB" panose="020E0602020502020306" pitchFamily="34" charset="0"/>
                <a:ea typeface="Calibri" panose="020F0502020204030204" pitchFamily="34" charset="0"/>
                <a:cs typeface="Arial" panose="020B0604020202020204" pitchFamily="34" charset="0"/>
              </a:rPr>
              <a:t>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4519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567463"/>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heavy" spc="-10" dirty="0">
                <a:solidFill>
                  <a:srgbClr val="C00000"/>
                </a:solidFill>
                <a:uFill>
                  <a:solidFill>
                    <a:srgbClr val="000000"/>
                  </a:solidFill>
                </a:uFill>
              </a:rPr>
              <a:t>Developing Risk Scenarios</a:t>
            </a:r>
            <a:r>
              <a:rPr u="heavy" spc="-30" dirty="0">
                <a:uFill>
                  <a:solidFill>
                    <a:srgbClr val="000000"/>
                  </a:solidFill>
                </a:uFill>
              </a:rPr>
              <a:t>	</a:t>
            </a:r>
          </a:p>
        </p:txBody>
      </p:sp>
      <p:sp>
        <p:nvSpPr>
          <p:cNvPr id="3" name="object 3"/>
          <p:cNvSpPr txBox="1"/>
          <p:nvPr/>
        </p:nvSpPr>
        <p:spPr>
          <a:xfrm>
            <a:off x="1447800" y="1447800"/>
            <a:ext cx="8227061" cy="3783329"/>
          </a:xfrm>
          <a:prstGeom prst="rect">
            <a:avLst/>
          </a:prstGeom>
        </p:spPr>
        <p:txBody>
          <a:bodyPr vert="horz" wrap="square" lIns="0" tIns="57785" rIns="0" bIns="0" rtlCol="0">
            <a:spAutoFit/>
          </a:bodyPr>
          <a:lstStyle/>
          <a:p>
            <a:pPr marL="469265" marR="783590" lvl="0" indent="-457200" algn="l" defTabSz="457200" rtl="0" eaLnBrk="1" fontAlgn="auto" latinLnBrk="0" hangingPunct="1">
              <a:lnSpc>
                <a:spcPts val="2810"/>
              </a:lnSpc>
              <a:spcBef>
                <a:spcPts val="455"/>
              </a:spcBef>
              <a:spcAft>
                <a:spcPts val="0"/>
              </a:spcAft>
              <a:buClrTx/>
              <a:buSzTx/>
              <a:buFont typeface="+mj-lt"/>
              <a:buAutoNum type="arabicPeriod"/>
              <a:tabLst>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Review</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business</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mission</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determine</a:t>
            </a:r>
            <a:r>
              <a:rPr kumimoji="0" sz="2000" b="0" i="0" u="none" strike="noStrike" kern="1200" cap="none" spc="-5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what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types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0" normalizeH="0" baseline="0" noProof="0" dirty="0">
                <a:ln>
                  <a:noFill/>
                </a:ln>
                <a:solidFill>
                  <a:prstClr val="black"/>
                </a:solidFill>
                <a:effectLst/>
                <a:uLnTx/>
                <a:uFillTx/>
                <a:latin typeface="Calibri"/>
                <a:ea typeface="+mn-ea"/>
                <a:cs typeface="Calibri"/>
              </a:rPr>
              <a:t>risk</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could </a:t>
            </a:r>
            <a:r>
              <a:rPr kumimoji="0" sz="2000" b="0" i="0" u="none" strike="noStrike" kern="1200" cap="none" spc="-57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impact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achievement</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mission.</a:t>
            </a:r>
          </a:p>
          <a:p>
            <a:pPr marL="469265" marR="685800" lvl="0" indent="-457200" algn="l" defTabSz="457200" rtl="0" eaLnBrk="1" fontAlgn="auto" latinLnBrk="0" hangingPunct="1">
              <a:lnSpc>
                <a:spcPts val="2810"/>
              </a:lnSpc>
              <a:spcBef>
                <a:spcPts val="994"/>
              </a:spcBef>
              <a:spcAft>
                <a:spcPts val="0"/>
              </a:spcAft>
              <a:buClrTx/>
              <a:buSzTx/>
              <a:buFont typeface="+mj-lt"/>
              <a:buAutoNum type="arabicPeriod"/>
              <a:tabLst>
                <a:tab pos="2419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Generate </a:t>
            </a:r>
            <a:r>
              <a:rPr kumimoji="0" sz="2000" b="0" i="0" u="none" strike="noStrike" kern="1200" cap="none" spc="0" normalizeH="0" baseline="0" noProof="0" dirty="0">
                <a:ln>
                  <a:noFill/>
                </a:ln>
                <a:solidFill>
                  <a:prstClr val="black"/>
                </a:solidFill>
                <a:effectLst/>
                <a:uLnTx/>
                <a:uFillTx/>
                <a:latin typeface="Calibri"/>
                <a:ea typeface="+mn-ea"/>
                <a:cs typeface="Calibri"/>
              </a:rPr>
              <a:t>risk </a:t>
            </a:r>
            <a:r>
              <a:rPr kumimoji="0" sz="2000" b="0" i="0" u="none" strike="noStrike" kern="1200" cap="none" spc="-5" normalizeH="0" baseline="0" noProof="0" dirty="0">
                <a:ln>
                  <a:noFill/>
                </a:ln>
                <a:solidFill>
                  <a:prstClr val="black"/>
                </a:solidFill>
                <a:effectLst/>
                <a:uLnTx/>
                <a:uFillTx/>
                <a:latin typeface="Calibri"/>
                <a:ea typeface="+mn-ea"/>
                <a:cs typeface="Calibri"/>
              </a:rPr>
              <a:t>scenarios </a:t>
            </a:r>
            <a:r>
              <a:rPr kumimoji="0" sz="2000" b="0" i="0" u="none" strike="noStrike" kern="1200" cap="none" spc="-25" normalizeH="0" baseline="0" noProof="0" dirty="0">
                <a:ln>
                  <a:noFill/>
                </a:ln>
                <a:solidFill>
                  <a:prstClr val="black"/>
                </a:solidFill>
                <a:effectLst/>
                <a:uLnTx/>
                <a:uFillTx/>
                <a:latin typeface="Calibri"/>
                <a:ea typeface="+mn-ea"/>
                <a:cs typeface="Calibri"/>
              </a:rPr>
              <a:t>for </a:t>
            </a:r>
            <a:r>
              <a:rPr kumimoji="0" sz="2000" b="0" i="0" u="none" strike="noStrike" kern="1200" cap="none" spc="0" normalizeH="0" baseline="0" noProof="0" dirty="0">
                <a:ln>
                  <a:noFill/>
                </a:ln>
                <a:solidFill>
                  <a:prstClr val="black"/>
                </a:solidFill>
                <a:effectLst/>
                <a:uLnTx/>
                <a:uFillTx/>
                <a:latin typeface="Calibri"/>
                <a:ea typeface="+mn-ea"/>
                <a:cs typeface="Calibri"/>
              </a:rPr>
              <a:t>all the </a:t>
            </a:r>
            <a:r>
              <a:rPr kumimoji="0" sz="2000" b="0" i="0" u="none" strike="noStrike" kern="1200" cap="none" spc="-5" normalizeH="0" baseline="0" noProof="0" dirty="0">
                <a:ln>
                  <a:noFill/>
                </a:ln>
                <a:solidFill>
                  <a:prstClr val="black"/>
                </a:solidFill>
                <a:effectLst/>
                <a:uLnTx/>
                <a:uFillTx/>
                <a:latin typeface="Calibri"/>
                <a:ea typeface="+mn-ea"/>
                <a:cs typeface="Calibri"/>
              </a:rPr>
              <a:t>possible </a:t>
            </a:r>
            <a:r>
              <a:rPr kumimoji="0" sz="2000" b="0" i="0" u="none" strike="noStrike" kern="1200" cap="none" spc="-15" normalizeH="0" baseline="0" noProof="0" dirty="0">
                <a:ln>
                  <a:noFill/>
                </a:ln>
                <a:solidFill>
                  <a:prstClr val="black"/>
                </a:solidFill>
                <a:effectLst/>
                <a:uLnTx/>
                <a:uFillTx/>
                <a:latin typeface="Calibri"/>
                <a:ea typeface="+mn-ea"/>
                <a:cs typeface="Calibri"/>
              </a:rPr>
              <a:t>negative </a:t>
            </a:r>
            <a:r>
              <a:rPr kumimoji="0" sz="2000" b="0" i="0" u="none" strike="noStrike" kern="1200" cap="none" spc="-10" normalizeH="0" baseline="0" noProof="0" dirty="0">
                <a:ln>
                  <a:noFill/>
                </a:ln>
                <a:solidFill>
                  <a:prstClr val="black"/>
                </a:solidFill>
                <a:effectLst/>
                <a:uLnTx/>
                <a:uFillTx/>
                <a:latin typeface="Calibri"/>
                <a:ea typeface="+mn-ea"/>
                <a:cs typeface="Calibri"/>
              </a:rPr>
              <a:t>events </a:t>
            </a:r>
            <a:r>
              <a:rPr kumimoji="0" sz="2000" b="0" i="0" u="none" strike="noStrike" kern="1200" cap="none" spc="-5" normalizeH="0" baseline="0" noProof="0" dirty="0">
                <a:ln>
                  <a:noFill/>
                </a:ln>
                <a:solidFill>
                  <a:prstClr val="black"/>
                </a:solidFill>
                <a:effectLst/>
                <a:uLnTx/>
                <a:uFillTx/>
                <a:latin typeface="Calibri"/>
                <a:ea typeface="+mn-ea"/>
                <a:cs typeface="Calibri"/>
              </a:rPr>
              <a:t>that </a:t>
            </a:r>
            <a:r>
              <a:rPr kumimoji="0" sz="2000" b="0" i="0" u="none" strike="noStrike" kern="1200" cap="none" spc="-10" normalizeH="0" baseline="0" noProof="0" dirty="0">
                <a:ln>
                  <a:noFill/>
                </a:ln>
                <a:solidFill>
                  <a:prstClr val="black"/>
                </a:solidFill>
                <a:effectLst/>
                <a:uLnTx/>
                <a:uFillTx/>
                <a:latin typeface="Calibri"/>
                <a:ea typeface="+mn-ea"/>
                <a:cs typeface="Calibri"/>
              </a:rPr>
              <a:t>could </a:t>
            </a:r>
            <a:r>
              <a:rPr kumimoji="0" sz="2000" b="0" i="0" u="none" strike="noStrike" kern="1200" cap="none" spc="-57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happen</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organization.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149225" lvl="0" indent="-457200" algn="l" defTabSz="457200" rtl="0" eaLnBrk="1" fontAlgn="auto" latinLnBrk="0" hangingPunct="1">
              <a:lnSpc>
                <a:spcPts val="2810"/>
              </a:lnSpc>
              <a:spcBef>
                <a:spcPts val="1005"/>
              </a:spcBef>
              <a:spcAft>
                <a:spcPts val="0"/>
              </a:spcAft>
              <a:buClrTx/>
              <a:buSzTx/>
              <a:buFont typeface="+mj-lt"/>
              <a:buAutoNum type="arabicPeriod"/>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Develop </a:t>
            </a:r>
            <a:r>
              <a:rPr kumimoji="0" sz="2000" b="0" i="0" u="none" strike="noStrike" kern="1200" cap="none" spc="-10" normalizeH="0" baseline="0" noProof="0" dirty="0">
                <a:ln>
                  <a:noFill/>
                </a:ln>
                <a:solidFill>
                  <a:prstClr val="black"/>
                </a:solidFill>
                <a:effectLst/>
                <a:uLnTx/>
                <a:uFillTx/>
                <a:latin typeface="Calibri"/>
                <a:ea typeface="+mn-ea"/>
                <a:cs typeface="Calibri"/>
              </a:rPr>
              <a:t>more detailed </a:t>
            </a:r>
            <a:r>
              <a:rPr kumimoji="0" sz="2000" b="0" i="0" u="none" strike="noStrike" kern="1200" cap="none" spc="0" normalizeH="0" baseline="0" noProof="0" dirty="0">
                <a:ln>
                  <a:noFill/>
                </a:ln>
                <a:solidFill>
                  <a:prstClr val="black"/>
                </a:solidFill>
                <a:effectLst/>
                <a:uLnTx/>
                <a:uFillTx/>
                <a:latin typeface="Calibri"/>
                <a:ea typeface="+mn-ea"/>
                <a:cs typeface="Calibri"/>
              </a:rPr>
              <a:t>risk </a:t>
            </a:r>
            <a:r>
              <a:rPr kumimoji="0" sz="2000" b="0" i="0" u="none" strike="noStrike" kern="1200" cap="none" spc="-5" normalizeH="0" baseline="0" noProof="0" dirty="0">
                <a:ln>
                  <a:noFill/>
                </a:ln>
                <a:solidFill>
                  <a:prstClr val="black"/>
                </a:solidFill>
                <a:effectLst/>
                <a:uLnTx/>
                <a:uFillTx/>
                <a:latin typeface="Calibri"/>
                <a:ea typeface="+mn-ea"/>
                <a:cs typeface="Calibri"/>
              </a:rPr>
              <a:t>scenarios that </a:t>
            </a:r>
            <a:r>
              <a:rPr kumimoji="0" sz="2000" b="0" i="0" u="none" strike="noStrike" kern="1200" cap="none" spc="-10" normalizeH="0" baseline="0" noProof="0" dirty="0">
                <a:ln>
                  <a:noFill/>
                </a:ln>
                <a:solidFill>
                  <a:prstClr val="black"/>
                </a:solidFill>
                <a:effectLst/>
                <a:uLnTx/>
                <a:uFillTx/>
                <a:latin typeface="Calibri"/>
                <a:ea typeface="+mn-ea"/>
                <a:cs typeface="Calibri"/>
              </a:rPr>
              <a:t>could </a:t>
            </a:r>
            <a:r>
              <a:rPr kumimoji="0" sz="2000" b="0" i="0" u="none" strike="noStrike" kern="1200" cap="none" spc="-20" normalizeH="0" baseline="0" noProof="0" dirty="0">
                <a:ln>
                  <a:noFill/>
                </a:ln>
                <a:solidFill>
                  <a:prstClr val="black"/>
                </a:solidFill>
                <a:effectLst/>
                <a:uLnTx/>
                <a:uFillTx/>
                <a:latin typeface="Calibri"/>
                <a:ea typeface="+mn-ea"/>
                <a:cs typeface="Calibri"/>
              </a:rPr>
              <a:t>affect </a:t>
            </a:r>
            <a:r>
              <a:rPr kumimoji="0" sz="2000" b="0" i="0" u="none" strike="noStrike" kern="1200" cap="none" spc="0" normalizeH="0" baseline="0" noProof="0" dirty="0">
                <a:ln>
                  <a:noFill/>
                </a:ln>
                <a:solidFill>
                  <a:prstClr val="black"/>
                </a:solidFill>
                <a:effectLst/>
                <a:uLnTx/>
                <a:uFillTx/>
                <a:latin typeface="Calibri"/>
                <a:ea typeface="+mn-ea"/>
                <a:cs typeface="Calibri"/>
              </a:rPr>
              <a:t>particular </a:t>
            </a:r>
            <a:r>
              <a:rPr kumimoji="0" sz="2000" b="0" i="0" u="none" strike="noStrike" kern="1200" cap="none" spc="-5" normalizeH="0" baseline="0" noProof="0" dirty="0">
                <a:ln>
                  <a:noFill/>
                </a:ln>
                <a:solidFill>
                  <a:prstClr val="black"/>
                </a:solidFill>
                <a:effectLst/>
                <a:uLnTx/>
                <a:uFillTx/>
                <a:latin typeface="Calibri"/>
                <a:ea typeface="+mn-ea"/>
                <a:cs typeface="Calibri"/>
              </a:rPr>
              <a:t>business </a:t>
            </a:r>
            <a:r>
              <a:rPr kumimoji="0" sz="2000" b="0" i="0" u="none" strike="noStrike" kern="1200" cap="none" spc="-57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objectives</a:t>
            </a:r>
            <a:r>
              <a:rPr kumimoji="0" sz="2000" b="0" i="0" u="none" strike="noStrike" kern="1200" cap="none" spc="-4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or</a:t>
            </a:r>
            <a:r>
              <a:rPr kumimoji="0" sz="2000" b="0" i="0" u="none" strike="noStrike" kern="1200" cap="none" spc="-5" normalizeH="0" baseline="0" noProof="0" dirty="0">
                <a:ln>
                  <a:noFill/>
                </a:ln>
                <a:solidFill>
                  <a:prstClr val="black"/>
                </a:solidFill>
                <a:effectLst/>
                <a:uLnTx/>
                <a:uFillTx/>
                <a:latin typeface="Calibri"/>
                <a:ea typeface="+mn-ea"/>
                <a:cs typeface="Calibri"/>
              </a:rPr>
              <a:t> units.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0" lvl="0" indent="-457200" algn="l" defTabSz="457200" rtl="0" eaLnBrk="1" fontAlgn="auto" latinLnBrk="0" hangingPunct="1">
              <a:lnSpc>
                <a:spcPct val="100000"/>
              </a:lnSpc>
              <a:spcBef>
                <a:spcPts val="640"/>
              </a:spcBef>
              <a:spcAft>
                <a:spcPts val="0"/>
              </a:spcAft>
              <a:buClrTx/>
              <a:buSzTx/>
              <a:buFont typeface="+mj-lt"/>
              <a:buAutoNum type="arabicPeriod"/>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Collect </a:t>
            </a:r>
            <a:r>
              <a:rPr kumimoji="0" sz="2000" b="0" i="0" u="none" strike="noStrike" kern="1200" cap="none" spc="0" normalizeH="0" baseline="0" noProof="0" dirty="0">
                <a:ln>
                  <a:noFill/>
                </a:ln>
                <a:solidFill>
                  <a:prstClr val="black"/>
                </a:solidFill>
                <a:effectLst/>
                <a:uLnTx/>
                <a:uFillTx/>
                <a:latin typeface="Calibri"/>
                <a:ea typeface="+mn-ea"/>
                <a:cs typeface="Calibri"/>
              </a:rPr>
              <a:t>and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assimilate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data</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on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business’s</a:t>
            </a:r>
            <a:r>
              <a:rPr kumimoji="0" sz="2000" b="0" i="0" u="none" strike="noStrike" kern="1200" cap="none" spc="-5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operational</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environment.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5080" lvl="0" indent="-457200" algn="l" defTabSz="457200" rtl="0" eaLnBrk="1" fontAlgn="auto" latinLnBrk="0" hangingPunct="1">
              <a:lnSpc>
                <a:spcPts val="2810"/>
              </a:lnSpc>
              <a:spcBef>
                <a:spcPts val="1035"/>
              </a:spcBef>
              <a:spcAft>
                <a:spcPts val="0"/>
              </a:spcAft>
              <a:buClrTx/>
              <a:buSzTx/>
              <a:buFont typeface="+mj-lt"/>
              <a:buAutoNum type="arabicPeriod"/>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Collect </a:t>
            </a:r>
            <a:r>
              <a:rPr kumimoji="0" sz="2000" b="0" i="0" u="none" strike="noStrike" kern="1200" cap="none" spc="-10" normalizeH="0" baseline="0" noProof="0" dirty="0">
                <a:ln>
                  <a:noFill/>
                </a:ln>
                <a:solidFill>
                  <a:prstClr val="black"/>
                </a:solidFill>
                <a:effectLst/>
                <a:uLnTx/>
                <a:uFillTx/>
                <a:latin typeface="Calibri"/>
                <a:ea typeface="+mn-ea"/>
                <a:cs typeface="Calibri"/>
              </a:rPr>
              <a:t>information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on</a:t>
            </a:r>
            <a:r>
              <a:rPr kumimoji="0" sz="2000" b="0" i="0" u="none" strike="noStrike" kern="1200" cap="none" spc="0" normalizeH="0" baseline="0" noProof="0" dirty="0">
                <a:ln>
                  <a:noFill/>
                </a:ln>
                <a:solidFill>
                  <a:prstClr val="black"/>
                </a:solidFill>
                <a:effectLst/>
                <a:uLnTx/>
                <a:uFillTx/>
                <a:latin typeface="Calibri"/>
                <a:ea typeface="+mn-ea"/>
                <a:cs typeface="Calibri"/>
              </a:rPr>
              <a:t> 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possible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threat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agents,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threat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vectors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(methods </a:t>
            </a:r>
            <a:r>
              <a:rPr kumimoji="0" sz="2000" b="0" i="0" u="none" strike="noStrike" kern="1200" cap="none" spc="-57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that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threat</a:t>
            </a:r>
            <a:r>
              <a:rPr kumimoji="0" sz="2000" b="0" i="0" u="none" strike="noStrike" kern="1200" cap="none" spc="-5" normalizeH="0" baseline="0" noProof="0" dirty="0">
                <a:ln>
                  <a:noFill/>
                </a:ln>
                <a:solidFill>
                  <a:prstClr val="black"/>
                </a:solidFill>
                <a:effectLst/>
                <a:uLnTx/>
                <a:uFillTx/>
                <a:latin typeface="Calibri"/>
                <a:ea typeface="+mn-ea"/>
                <a:cs typeface="Calibri"/>
              </a:rPr>
              <a:t> actor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uses</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to</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deliver</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threat),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assets,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and</a:t>
            </a:r>
            <a:r>
              <a:rPr kumimoji="0" sz="2000" b="0" i="0" u="none" strike="noStrike" kern="1200" cap="none" spc="-5" normalizeH="0" baseline="0" noProof="0" dirty="0">
                <a:ln>
                  <a:noFill/>
                </a:ln>
                <a:solidFill>
                  <a:prstClr val="black"/>
                </a:solidFill>
                <a:effectLst/>
                <a:uLnTx/>
                <a:uFillTx/>
                <a:latin typeface="Calibri"/>
                <a:ea typeface="+mn-ea"/>
                <a:cs typeface="Calibri"/>
              </a:rPr>
              <a:t> vulnerabilities.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12146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sng" spc="-10" dirty="0">
                <a:solidFill>
                  <a:srgbClr val="C00000"/>
                </a:solidFill>
                <a:uFill>
                  <a:solidFill>
                    <a:srgbClr val="000000"/>
                  </a:solidFill>
                </a:uFill>
              </a:rPr>
              <a:t>IT Infrastructure Factors</a:t>
            </a:r>
            <a:br>
              <a:rPr lang="en-US" spc="-10" dirty="0">
                <a:solidFill>
                  <a:srgbClr val="C00000"/>
                </a:solidFill>
                <a:uFill>
                  <a:solidFill>
                    <a:srgbClr val="000000"/>
                  </a:solidFill>
                </a:uFill>
              </a:rPr>
            </a:br>
            <a:endParaRPr u="sng" spc="-35" dirty="0">
              <a:uFill>
                <a:solidFill>
                  <a:srgbClr val="000000"/>
                </a:solidFill>
              </a:uFill>
            </a:endParaRPr>
          </a:p>
        </p:txBody>
      </p:sp>
      <p:sp>
        <p:nvSpPr>
          <p:cNvPr id="3" name="object 3"/>
          <p:cNvSpPr txBox="1"/>
          <p:nvPr/>
        </p:nvSpPr>
        <p:spPr>
          <a:xfrm>
            <a:off x="990600" y="1369377"/>
            <a:ext cx="7848600" cy="3774751"/>
          </a:xfrm>
          <a:prstGeom prst="rect">
            <a:avLst/>
          </a:prstGeom>
        </p:spPr>
        <p:txBody>
          <a:bodyPr vert="horz" wrap="square" lIns="0" tIns="47625" rIns="0" bIns="0" rtlCol="0">
            <a:spAutoFit/>
          </a:bodyPr>
          <a:lstStyle/>
          <a:p>
            <a:pPr marL="241300" marR="0" lvl="0" indent="-229235" algn="l" defTabSz="457200" rtl="0" eaLnBrk="1" fontAlgn="auto" latinLnBrk="0" hangingPunct="1">
              <a:lnSpc>
                <a:spcPct val="100000"/>
              </a:lnSpc>
              <a:spcBef>
                <a:spcPts val="375"/>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IT</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infrastructure</a:t>
            </a:r>
            <a:r>
              <a:rPr kumimoji="0" sz="2400" b="0" i="0" u="none" strike="noStrike" kern="1200" cap="none" spc="5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is</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both</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internal</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3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external</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60" normalizeH="0" baseline="0" noProof="0" dirty="0">
                <a:ln>
                  <a:noFill/>
                </a:ln>
                <a:solidFill>
                  <a:prstClr val="black"/>
                </a:solidFill>
                <a:effectLst/>
                <a:uLnTx/>
                <a:uFillTx/>
                <a:latin typeface="Calibri"/>
                <a:ea typeface="+mn-ea"/>
                <a:cs typeface="Calibri"/>
              </a:rPr>
              <a:t>factor.</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45"/>
              </a:spcBef>
              <a:spcAft>
                <a:spcPts val="0"/>
              </a:spcAft>
              <a:buClrTx/>
              <a:buSzTx/>
              <a:buFont typeface="Arial MT"/>
              <a:buChar char="•"/>
              <a:tabLst>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Internal </a:t>
            </a:r>
            <a:r>
              <a:rPr kumimoji="0" sz="2000" b="0" i="0" u="none" strike="noStrike" kern="1200" cap="none" spc="-5" normalizeH="0" baseline="0" noProof="0" dirty="0">
                <a:ln>
                  <a:noFill/>
                </a:ln>
                <a:solidFill>
                  <a:prstClr val="black"/>
                </a:solidFill>
                <a:effectLst/>
                <a:uLnTx/>
                <a:uFillTx/>
                <a:latin typeface="Calibri"/>
                <a:ea typeface="+mn-ea"/>
                <a:cs typeface="Calibri"/>
              </a:rPr>
              <a:t>pieces support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organization’s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processes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20"/>
              </a:spcBef>
              <a:spcAft>
                <a:spcPts val="0"/>
              </a:spcAft>
              <a:buClrTx/>
              <a:buSzTx/>
              <a:buFont typeface="Arial MT"/>
              <a:buChar char="•"/>
              <a:tabLst>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External</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pieces support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organization’s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outside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interactions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475615" lvl="0" indent="-229235" algn="l" defTabSz="457200" rtl="0" eaLnBrk="1" fontAlgn="auto" latinLnBrk="0" hangingPunct="1">
              <a:lnSpc>
                <a:spcPts val="3020"/>
              </a:lnSpc>
              <a:spcBef>
                <a:spcPts val="1015"/>
              </a:spcBef>
              <a:spcAft>
                <a:spcPts val="0"/>
              </a:spcAft>
              <a:buClrTx/>
              <a:buSzTx/>
              <a:buFont typeface="Arial MT"/>
              <a:buChar char="•"/>
              <a:tabLst>
                <a:tab pos="241935" algn="l"/>
              </a:tabLst>
              <a:defRPr/>
            </a:pPr>
            <a:r>
              <a:rPr kumimoji="0" sz="2400" b="0" i="0" u="none" strike="noStrike" kern="1200" cap="none" spc="-10" normalizeH="0" baseline="0" noProof="0" dirty="0">
                <a:ln>
                  <a:noFill/>
                </a:ln>
                <a:solidFill>
                  <a:prstClr val="black"/>
                </a:solidFill>
                <a:effectLst/>
                <a:uLnTx/>
                <a:uFillTx/>
                <a:latin typeface="Calibri"/>
                <a:ea typeface="+mn-ea"/>
                <a:cs typeface="Calibri"/>
              </a:rPr>
              <a:t>This</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increases</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number</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possible</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scenarios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it</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may </a:t>
            </a:r>
            <a:r>
              <a:rPr kumimoji="0" sz="2400" b="0" i="0" u="none" strike="noStrike" kern="1200" cap="none" spc="-615" normalizeH="0" baseline="0" noProof="0" dirty="0">
                <a:ln>
                  <a:noFill/>
                </a:ln>
                <a:solidFill>
                  <a:prstClr val="black"/>
                </a:solidFill>
                <a:effectLst/>
                <a:uLnTx/>
                <a:uFillTx/>
                <a:latin typeface="Calibri"/>
                <a:ea typeface="+mn-ea"/>
                <a:cs typeface="Calibri"/>
              </a:rPr>
              <a:t> </a:t>
            </a:r>
            <a:r>
              <a:rPr kumimoji="0" sz="2400" b="0" i="0" u="none" strike="noStrike" kern="1200" cap="none" spc="-40" normalizeH="0" baseline="0" noProof="0" dirty="0">
                <a:ln>
                  <a:noFill/>
                </a:ln>
                <a:solidFill>
                  <a:prstClr val="black"/>
                </a:solidFill>
                <a:effectLst/>
                <a:uLnTx/>
                <a:uFillTx/>
                <a:latin typeface="Calibri"/>
                <a:ea typeface="+mn-ea"/>
                <a:cs typeface="Calibri"/>
              </a:rPr>
              <a:t>encounter.</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26670" lvl="0" indent="-229235" algn="l" defTabSz="457200" rtl="0" eaLnBrk="1" fontAlgn="auto" latinLnBrk="0" hangingPunct="1">
              <a:lnSpc>
                <a:spcPts val="3020"/>
              </a:lnSpc>
              <a:spcBef>
                <a:spcPts val="1005"/>
              </a:spcBef>
              <a:spcAft>
                <a:spcPts val="0"/>
              </a:spcAft>
              <a:buClrTx/>
              <a:buSzTx/>
              <a:buFont typeface="Arial MT"/>
              <a:buChar char="•"/>
              <a:tabLst>
                <a:tab pos="241935" algn="l"/>
              </a:tabLst>
              <a:defRPr/>
            </a:pPr>
            <a:r>
              <a:rPr kumimoji="0" sz="2400" b="0" i="0" u="none" strike="noStrike" kern="1200" cap="none" spc="-10" normalizeH="0" baseline="0" noProof="0" dirty="0">
                <a:ln>
                  <a:noFill/>
                </a:ln>
                <a:solidFill>
                  <a:prstClr val="black"/>
                </a:solidFill>
                <a:effectLst/>
                <a:uLnTx/>
                <a:uFillTx/>
                <a:latin typeface="Calibri"/>
                <a:ea typeface="+mn-ea"/>
                <a:cs typeface="Calibri"/>
              </a:rPr>
              <a:t>Design</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implementation</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infrastructure</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can</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increase</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or</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decrease </a:t>
            </a:r>
            <a:r>
              <a:rPr kumimoji="0" sz="2400" b="0" i="0" u="none" strike="noStrike" kern="1200" cap="none" spc="-6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likelihood</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or</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impact</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 the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scenario.</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698500" marR="5080" lvl="1" indent="-228600" algn="l" defTabSz="457200" rtl="0" eaLnBrk="1" fontAlgn="auto" latinLnBrk="0" hangingPunct="1">
              <a:lnSpc>
                <a:spcPct val="90000"/>
              </a:lnSpc>
              <a:spcBef>
                <a:spcPts val="495"/>
              </a:spcBef>
              <a:spcAft>
                <a:spcPts val="0"/>
              </a:spcAft>
              <a:buClrTx/>
              <a:buSzTx/>
              <a:buFont typeface="Arial MT"/>
              <a:buChar char="•"/>
              <a:tabLst>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Outdated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20" normalizeH="0" baseline="0" noProof="0" dirty="0">
                <a:ln>
                  <a:noFill/>
                </a:ln>
                <a:solidFill>
                  <a:prstClr val="black"/>
                </a:solidFill>
                <a:effectLst/>
                <a:uLnTx/>
                <a:uFillTx/>
                <a:latin typeface="Calibri"/>
                <a:ea typeface="+mn-ea"/>
                <a:cs typeface="Calibri"/>
              </a:rPr>
              <a:t> overtaxed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infrastructure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introduces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risk </a:t>
            </a:r>
            <a:r>
              <a:rPr kumimoji="0" sz="2000" b="0" i="0" u="none" strike="noStrike" kern="1200" cap="none" spc="-15" normalizeH="0" baseline="0" noProof="0" dirty="0">
                <a:ln>
                  <a:noFill/>
                </a:ln>
                <a:solidFill>
                  <a:prstClr val="black"/>
                </a:solidFill>
                <a:effectLst/>
                <a:uLnTx/>
                <a:uFillTx/>
                <a:latin typeface="Calibri"/>
                <a:ea typeface="+mn-ea"/>
                <a:cs typeface="Calibri"/>
              </a:rPr>
              <a:t>into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organization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and </a:t>
            </a:r>
            <a:r>
              <a:rPr kumimoji="0" sz="2000" b="0" i="0" u="none" strike="noStrike" kern="1200" cap="none" spc="-5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exposes </a:t>
            </a:r>
            <a:r>
              <a:rPr kumimoji="0" sz="2000" b="0" i="0" u="none" strike="noStrike" kern="1200" cap="none" spc="0" normalizeH="0" baseline="0" noProof="0" dirty="0">
                <a:ln>
                  <a:noFill/>
                </a:ln>
                <a:solidFill>
                  <a:prstClr val="black"/>
                </a:solidFill>
                <a:effectLst/>
                <a:uLnTx/>
                <a:uFillTx/>
                <a:latin typeface="Calibri"/>
                <a:ea typeface="+mn-ea"/>
                <a:cs typeface="Calibri"/>
              </a:rPr>
              <a:t>the </a:t>
            </a:r>
            <a:r>
              <a:rPr kumimoji="0" sz="2000" b="0" i="0" u="none" strike="noStrike" kern="1200" cap="none" spc="-15" normalizeH="0" baseline="0" noProof="0" dirty="0">
                <a:ln>
                  <a:noFill/>
                </a:ln>
                <a:solidFill>
                  <a:prstClr val="black"/>
                </a:solidFill>
                <a:effectLst/>
                <a:uLnTx/>
                <a:uFillTx/>
                <a:latin typeface="Calibri"/>
                <a:ea typeface="+mn-ea"/>
                <a:cs typeface="Calibri"/>
              </a:rPr>
              <a:t>organization to many </a:t>
            </a:r>
            <a:r>
              <a:rPr kumimoji="0" sz="2000" b="0" i="0" u="none" strike="noStrike" kern="1200" cap="none" spc="-10" normalizeH="0" baseline="0" noProof="0" dirty="0">
                <a:ln>
                  <a:noFill/>
                </a:ln>
                <a:solidFill>
                  <a:prstClr val="black"/>
                </a:solidFill>
                <a:effectLst/>
                <a:uLnTx/>
                <a:uFillTx/>
                <a:latin typeface="Calibri"/>
                <a:ea typeface="+mn-ea"/>
                <a:cs typeface="Calibri"/>
              </a:rPr>
              <a:t>more </a:t>
            </a:r>
            <a:r>
              <a:rPr kumimoji="0" sz="2000" b="0" i="0" u="none" strike="noStrike" kern="1200" cap="none" spc="0" normalizeH="0" baseline="0" noProof="0" dirty="0">
                <a:ln>
                  <a:noFill/>
                </a:ln>
                <a:solidFill>
                  <a:prstClr val="black"/>
                </a:solidFill>
                <a:effectLst/>
                <a:uLnTx/>
                <a:uFillTx/>
                <a:latin typeface="Calibri"/>
                <a:ea typeface="+mn-ea"/>
                <a:cs typeface="Calibri"/>
              </a:rPr>
              <a:t>risk </a:t>
            </a:r>
            <a:r>
              <a:rPr kumimoji="0" sz="2000" b="0" i="0" u="none" strike="noStrike" kern="1200" cap="none" spc="-5" normalizeH="0" baseline="0" noProof="0" dirty="0">
                <a:ln>
                  <a:noFill/>
                </a:ln>
                <a:solidFill>
                  <a:prstClr val="black"/>
                </a:solidFill>
                <a:effectLst/>
                <a:uLnTx/>
                <a:uFillTx/>
                <a:latin typeface="Calibri"/>
                <a:ea typeface="+mn-ea"/>
                <a:cs typeface="Calibri"/>
              </a:rPr>
              <a:t>scenarios </a:t>
            </a:r>
            <a:r>
              <a:rPr kumimoji="0" sz="2000" b="0" i="0" u="none" strike="noStrike" kern="1200" cap="none" spc="0" normalizeH="0" baseline="0" noProof="0" dirty="0">
                <a:ln>
                  <a:noFill/>
                </a:ln>
                <a:solidFill>
                  <a:prstClr val="black"/>
                </a:solidFill>
                <a:effectLst/>
                <a:uLnTx/>
                <a:uFillTx/>
                <a:latin typeface="Calibri"/>
                <a:ea typeface="+mn-ea"/>
                <a:cs typeface="Calibri"/>
              </a:rPr>
              <a:t>than a </a:t>
            </a:r>
            <a:r>
              <a:rPr kumimoji="0" sz="2000" b="0" i="0" u="none" strike="noStrike" kern="1200" cap="none" spc="-10" normalizeH="0" baseline="0" noProof="0" dirty="0">
                <a:ln>
                  <a:noFill/>
                </a:ln>
                <a:solidFill>
                  <a:prstClr val="black"/>
                </a:solidFill>
                <a:effectLst/>
                <a:uLnTx/>
                <a:uFillTx/>
                <a:latin typeface="Calibri"/>
                <a:ea typeface="+mn-ea"/>
                <a:cs typeface="Calibri"/>
              </a:rPr>
              <a:t>more </a:t>
            </a:r>
            <a:r>
              <a:rPr kumimoji="0" sz="2000" b="0" i="0" u="none" strike="noStrike" kern="1200" cap="none" spc="-5" normalizeH="0" baseline="0" noProof="0" dirty="0">
                <a:ln>
                  <a:noFill/>
                </a:ln>
                <a:solidFill>
                  <a:prstClr val="black"/>
                </a:solidFill>
                <a:effectLst/>
                <a:uLnTx/>
                <a:uFillTx/>
                <a:latin typeface="Calibri"/>
                <a:ea typeface="+mn-ea"/>
                <a:cs typeface="Calibri"/>
              </a:rPr>
              <a:t>modern, </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robust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infrastructure.</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12146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sng" spc="-10" dirty="0">
                <a:solidFill>
                  <a:srgbClr val="C00000"/>
                </a:solidFill>
                <a:uFill>
                  <a:solidFill>
                    <a:srgbClr val="000000"/>
                  </a:solidFill>
                </a:uFill>
              </a:rPr>
              <a:t>Risk Scenario Stakeholders</a:t>
            </a:r>
            <a:br>
              <a:rPr lang="en-US" u="heavy" spc="-10" dirty="0">
                <a:solidFill>
                  <a:srgbClr val="C00000"/>
                </a:solidFill>
                <a:uFill>
                  <a:solidFill>
                    <a:srgbClr val="000000"/>
                  </a:solidFill>
                </a:uFill>
              </a:rPr>
            </a:br>
            <a:endParaRPr u="heavy" spc="-60" dirty="0">
              <a:uFill>
                <a:solidFill>
                  <a:srgbClr val="000000"/>
                </a:solidFill>
              </a:uFill>
            </a:endParaRPr>
          </a:p>
        </p:txBody>
      </p:sp>
      <p:sp>
        <p:nvSpPr>
          <p:cNvPr id="3" name="object 3"/>
          <p:cNvSpPr txBox="1"/>
          <p:nvPr/>
        </p:nvSpPr>
        <p:spPr>
          <a:xfrm>
            <a:off x="1086486" y="1295400"/>
            <a:ext cx="8387715" cy="4762842"/>
          </a:xfrm>
          <a:prstGeom prst="rect">
            <a:avLst/>
          </a:prstGeom>
        </p:spPr>
        <p:txBody>
          <a:bodyPr vert="horz" wrap="square" lIns="0" tIns="12700" rIns="0" bIns="0" rtlCol="0">
            <a:spAutoFit/>
          </a:bodyPr>
          <a:lstStyle/>
          <a:p>
            <a:pPr marL="241300" marR="0" lvl="0" indent="-229235" algn="l" defTabSz="457200" rtl="0" eaLnBrk="1" fontAlgn="auto" latinLnBrk="0" hangingPunct="1">
              <a:lnSpc>
                <a:spcPct val="100000"/>
              </a:lnSpc>
              <a:spcBef>
                <a:spcPts val="100"/>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prstClr val="black"/>
                </a:solidFill>
                <a:effectLst/>
                <a:uLnTx/>
                <a:uFillTx/>
                <a:latin typeface="Calibri"/>
                <a:ea typeface="+mn-ea"/>
                <a:cs typeface="Calibri"/>
              </a:rPr>
              <a:t>Stakeholders</a:t>
            </a:r>
            <a:r>
              <a:rPr kumimoji="0" sz="2400" b="0" i="0" u="none" strike="noStrike" kern="1200" cap="none" spc="-5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include</a:t>
            </a:r>
          </a:p>
          <a:p>
            <a:pPr marL="698500" marR="0" lvl="1" indent="-229235" algn="l" defTabSz="457200" rtl="0" eaLnBrk="1" fontAlgn="auto" latinLnBrk="0" hangingPunct="1">
              <a:lnSpc>
                <a:spcPts val="2160"/>
              </a:lnSpc>
              <a:spcBef>
                <a:spcPts val="40"/>
              </a:spcBef>
              <a:spcAft>
                <a:spcPts val="0"/>
              </a:spcAft>
              <a:buClrTx/>
              <a:buSzTx/>
              <a:buFont typeface="Arial MT"/>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People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who</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directly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manage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are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responsible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for</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asset</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10" normalizeH="0" baseline="0" noProof="0" dirty="0">
                <a:ln>
                  <a:noFill/>
                </a:ln>
                <a:solidFill>
                  <a:prstClr val="black"/>
                </a:solidFill>
                <a:effectLst/>
                <a:uLnTx/>
                <a:uFillTx/>
                <a:latin typeface="Calibri"/>
                <a:ea typeface="+mn-ea"/>
                <a:cs typeface="Calibri"/>
              </a:rPr>
              <a:t> process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a:t>
            </a:r>
            <a:r>
              <a:rPr kumimoji="0" sz="2000" b="0" i="0" u="none" strike="noStrike" kern="1200" cap="none" spc="-5" normalizeH="0" baseline="0" noProof="0" dirty="0">
                <a:ln>
                  <a:noFill/>
                </a:ln>
                <a:solidFill>
                  <a:prstClr val="black"/>
                </a:solidFill>
                <a:effectLst/>
                <a:uLnTx/>
                <a:uFillTx/>
                <a:latin typeface="Calibri"/>
                <a:ea typeface="+mn-ea"/>
                <a:cs typeface="Calibri"/>
              </a:rPr>
              <a:t> question,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who</a:t>
            </a:r>
            <a:r>
              <a:rPr kumimoji="0" lang="en-US"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manage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affected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organizational</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level.</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15"/>
              </a:spcBef>
              <a:spcAft>
                <a:spcPts val="0"/>
              </a:spcAft>
              <a:buClrTx/>
              <a:buSzTx/>
              <a:buFont typeface="Arial MT"/>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People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responsible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for</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managing</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associated</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with</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their</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asset</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10" normalizeH="0" baseline="0" noProof="0" dirty="0">
                <a:ln>
                  <a:noFill/>
                </a:ln>
                <a:solidFill>
                  <a:prstClr val="black"/>
                </a:solidFill>
                <a:effectLst/>
                <a:uLnTx/>
                <a:uFillTx/>
                <a:latin typeface="Calibri"/>
                <a:ea typeface="+mn-ea"/>
                <a:cs typeface="Calibri"/>
              </a:rPr>
              <a:t> area</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807085" lvl="1" indent="-228600" algn="l" defTabSz="457200" rtl="0" eaLnBrk="1" fontAlgn="auto" latinLnBrk="0" hangingPunct="1">
              <a:lnSpc>
                <a:spcPct val="80000"/>
              </a:lnSpc>
              <a:spcBef>
                <a:spcPts val="500"/>
              </a:spcBef>
              <a:spcAft>
                <a:spcPts val="0"/>
              </a:spcAft>
              <a:buClrTx/>
              <a:buSzTx/>
              <a:buFont typeface="Arial MT"/>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People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who</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are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 </a:t>
            </a:r>
            <a:r>
              <a:rPr kumimoji="0" sz="2000" b="0" i="0" u="none" strike="noStrike" kern="1200" cap="none" spc="-5" normalizeH="0" baseline="0" noProof="0" dirty="0">
                <a:ln>
                  <a:noFill/>
                </a:ln>
                <a:solidFill>
                  <a:prstClr val="black"/>
                </a:solidFill>
                <a:effectLst/>
                <a:uLnTx/>
                <a:uFillTx/>
                <a:latin typeface="Calibri"/>
                <a:ea typeface="+mn-ea"/>
                <a:cs typeface="Calibri"/>
              </a:rPr>
              <a:t>management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 </a:t>
            </a:r>
            <a:r>
              <a:rPr kumimoji="0" sz="2000" b="0" i="0" u="none" strike="noStrike" kern="1200" cap="none" spc="-15" normalizeH="0" baseline="0" noProof="0" dirty="0">
                <a:ln>
                  <a:noFill/>
                </a:ln>
                <a:solidFill>
                  <a:prstClr val="black"/>
                </a:solidFill>
                <a:effectLst/>
                <a:uLnTx/>
                <a:uFillTx/>
                <a:latin typeface="Calibri"/>
                <a:ea typeface="+mn-ea"/>
                <a:cs typeface="Calibri"/>
              </a:rPr>
              <a:t>executive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positions responsible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for</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managing</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 </a:t>
            </a:r>
            <a:r>
              <a:rPr kumimoji="0" sz="2000" b="0" i="0" u="none" strike="noStrike" kern="1200" cap="none" spc="-44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throughout</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entire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organization.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ct val="100000"/>
              </a:lnSpc>
              <a:spcBef>
                <a:spcPts val="405"/>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prstClr val="black"/>
                </a:solidFill>
                <a:effectLst/>
                <a:uLnTx/>
                <a:uFillTx/>
                <a:latin typeface="Calibri"/>
                <a:ea typeface="+mn-ea"/>
                <a:cs typeface="Calibri"/>
              </a:rPr>
              <a:t>For</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risk</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scenarios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40"/>
              </a:spcBef>
              <a:spcAft>
                <a:spcPts val="0"/>
              </a:spcAft>
              <a:buClrTx/>
              <a:buSzTx/>
              <a:buFont typeface="Arial MT"/>
              <a:buChar char="•"/>
              <a:tabLst>
                <a:tab pos="698500" algn="l"/>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Develop </a:t>
            </a:r>
            <a:r>
              <a:rPr kumimoji="0" sz="2000" b="0" i="0" u="none" strike="noStrike" kern="1200" cap="none" spc="0" normalizeH="0" baseline="0" noProof="0" dirty="0">
                <a:ln>
                  <a:noFill/>
                </a:ln>
                <a:solidFill>
                  <a:prstClr val="black"/>
                </a:solidFill>
                <a:effectLst/>
                <a:uLnTx/>
                <a:uFillTx/>
                <a:latin typeface="Calibri"/>
                <a:ea typeface="+mn-ea"/>
                <a:cs typeface="Calibri"/>
              </a:rPr>
              <a:t>a </a:t>
            </a:r>
            <a:r>
              <a:rPr kumimoji="0" sz="2000" b="0" i="0" u="none" strike="noStrike" kern="1200" cap="none" spc="-10" normalizeH="0" baseline="0" noProof="0" dirty="0">
                <a:ln>
                  <a:noFill/>
                </a:ln>
                <a:solidFill>
                  <a:prstClr val="black"/>
                </a:solidFill>
                <a:effectLst/>
                <a:uLnTx/>
                <a:uFillTx/>
                <a:latin typeface="Calibri"/>
                <a:ea typeface="+mn-ea"/>
                <a:cs typeface="Calibri"/>
              </a:rPr>
              <a:t>list</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of</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potential</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stakeholders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5"/>
              </a:spcBef>
              <a:spcAft>
                <a:spcPts val="0"/>
              </a:spcAft>
              <a:buClrTx/>
              <a:buSzTx/>
              <a:buFont typeface="Arial MT"/>
              <a:buChar char="•"/>
              <a:tabLst>
                <a:tab pos="698500" algn="l"/>
                <a:tab pos="699135" algn="l"/>
              </a:tabLst>
              <a:defRPr/>
            </a:pPr>
            <a:r>
              <a:rPr kumimoji="0" sz="2000" b="0" i="0" u="none" strike="noStrike" kern="1200" cap="none" spc="0" normalizeH="0" baseline="0" noProof="0" dirty="0">
                <a:ln>
                  <a:noFill/>
                </a:ln>
                <a:solidFill>
                  <a:prstClr val="black"/>
                </a:solidFill>
                <a:effectLst/>
                <a:uLnTx/>
                <a:uFillTx/>
                <a:latin typeface="Calibri"/>
                <a:ea typeface="+mn-ea"/>
                <a:cs typeface="Calibri"/>
              </a:rPr>
              <a:t>Include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them</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your</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discussions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concerning</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to</a:t>
            </a:r>
            <a:r>
              <a:rPr kumimoji="0" sz="2000" b="0" i="0" u="none" strike="noStrike" kern="1200" cap="none" spc="0" normalizeH="0" baseline="0" noProof="0" dirty="0">
                <a:ln>
                  <a:noFill/>
                </a:ln>
                <a:solidFill>
                  <a:prstClr val="black"/>
                </a:solidFill>
                <a:effectLst/>
                <a:uLnTx/>
                <a:uFillTx/>
                <a:latin typeface="Calibri"/>
                <a:ea typeface="+mn-ea"/>
                <a:cs typeface="Calibri"/>
              </a:rPr>
              <a:t> their</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areas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that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might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be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affected.</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81280" lvl="1" indent="-228600" algn="l" defTabSz="457200" rtl="0" eaLnBrk="1" fontAlgn="auto" latinLnBrk="0" hangingPunct="1">
              <a:lnSpc>
                <a:spcPct val="80000"/>
              </a:lnSpc>
              <a:spcBef>
                <a:spcPts val="495"/>
              </a:spcBef>
              <a:spcAft>
                <a:spcPts val="0"/>
              </a:spcAft>
              <a:buClrTx/>
              <a:buSzTx/>
              <a:buFont typeface="Arial MT"/>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Send</a:t>
            </a:r>
            <a:r>
              <a:rPr kumimoji="0" sz="2000" b="0" i="0" u="none" strike="noStrike" kern="1200" cap="none" spc="0" normalizeH="0" baseline="0" noProof="0" dirty="0">
                <a:ln>
                  <a:noFill/>
                </a:ln>
                <a:solidFill>
                  <a:prstClr val="black"/>
                </a:solidFill>
                <a:effectLst/>
                <a:uLnTx/>
                <a:uFillTx/>
                <a:latin typeface="Calibri"/>
                <a:ea typeface="+mn-ea"/>
                <a:cs typeface="Calibri"/>
              </a:rPr>
              <a:t> them all</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relevant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products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you produce</a:t>
            </a:r>
            <a:r>
              <a:rPr kumimoji="0" sz="2000" b="0" i="0" u="none" strike="noStrike" kern="1200" cap="none" spc="-15" normalizeH="0" baseline="0" noProof="0" dirty="0">
                <a:ln>
                  <a:noFill/>
                </a:ln>
                <a:solidFill>
                  <a:prstClr val="black"/>
                </a:solidFill>
                <a:effectLst/>
                <a:uLnTx/>
                <a:uFillTx/>
                <a:latin typeface="Calibri"/>
                <a:ea typeface="+mn-ea"/>
                <a:cs typeface="Calibri"/>
              </a:rPr>
              <a:t> regarding</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could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potentially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affect </a:t>
            </a:r>
            <a:r>
              <a:rPr kumimoji="0" sz="2000" b="0" i="0" u="none" strike="noStrike" kern="1200" cap="none" spc="-434"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them,</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such</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assessments,</a:t>
            </a:r>
            <a:r>
              <a:rPr kumimoji="0" sz="2000" b="0" i="0" u="none" strike="noStrike" kern="1200" cap="none" spc="5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briefings,</a:t>
            </a:r>
            <a:r>
              <a:rPr kumimoji="0" sz="2000" b="0" i="0" u="none" strike="noStrike" kern="1200" cap="none" spc="0" normalizeH="0" baseline="0" noProof="0" dirty="0">
                <a:ln>
                  <a:noFill/>
                </a:ln>
                <a:solidFill>
                  <a:prstClr val="black"/>
                </a:solidFill>
                <a:effectLst/>
                <a:uLnTx/>
                <a:uFillTx/>
                <a:latin typeface="Calibri"/>
                <a:ea typeface="+mn-ea"/>
                <a:cs typeface="Calibri"/>
              </a:rPr>
              <a:t> and</a:t>
            </a:r>
            <a:r>
              <a:rPr kumimoji="0" lang="en-US"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reports.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ts val="2595"/>
              </a:lnSpc>
              <a:spcBef>
                <a:spcPts val="415"/>
              </a:spcBef>
              <a:spcAft>
                <a:spcPts val="0"/>
              </a:spcAft>
              <a:buClrTx/>
              <a:buSzTx/>
              <a:buFont typeface="Arial MT"/>
              <a:buChar char="•"/>
              <a:tabLst>
                <a:tab pos="241935" algn="l"/>
              </a:tabLst>
              <a:defRPr/>
            </a:pPr>
            <a:r>
              <a:rPr kumimoji="0" sz="2400" b="0" i="0" u="none" strike="noStrike" kern="1200" cap="none" spc="-10" normalizeH="0" baseline="0" noProof="0" dirty="0">
                <a:ln>
                  <a:noFill/>
                </a:ln>
                <a:solidFill>
                  <a:prstClr val="black"/>
                </a:solidFill>
                <a:effectLst/>
                <a:uLnTx/>
                <a:uFillTx/>
                <a:latin typeface="Calibri"/>
                <a:ea typeface="+mn-ea"/>
                <a:cs typeface="Calibri"/>
              </a:rPr>
              <a:t>They</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should</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be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considered</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before</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and</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after</a:t>
            </a:r>
            <a:r>
              <a:rPr kumimoji="0" sz="2400" b="0" i="0" u="none" strike="noStrike" kern="1200" cap="none" spc="-5" normalizeH="0" baseline="0" noProof="0" dirty="0">
                <a:ln>
                  <a:noFill/>
                </a:ln>
                <a:solidFill>
                  <a:prstClr val="black"/>
                </a:solidFill>
                <a:effectLst/>
                <a:uLnTx/>
                <a:uFillTx/>
                <a:latin typeface="Calibri"/>
                <a:ea typeface="+mn-ea"/>
                <a:cs typeface="Calibri"/>
              </a:rPr>
              <a:t> developing </a:t>
            </a:r>
            <a:r>
              <a:rPr kumimoji="0" sz="2400" b="0" i="0" u="none" strike="noStrike" kern="1200" cap="none" spc="0" normalizeH="0" baseline="0" noProof="0" dirty="0">
                <a:ln>
                  <a:noFill/>
                </a:ln>
                <a:solidFill>
                  <a:prstClr val="black"/>
                </a:solidFill>
                <a:effectLst/>
                <a:uLnTx/>
                <a:uFillTx/>
                <a:latin typeface="Calibri"/>
                <a:ea typeface="+mn-ea"/>
                <a:cs typeface="Calibri"/>
              </a:rPr>
              <a:t>risk</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scenarios </a:t>
            </a:r>
            <a:r>
              <a:rPr kumimoji="0" sz="2400" b="0" i="0" u="none" strike="noStrike" kern="1200" cap="none" spc="-15" normalizeH="0" baseline="0" noProof="0" dirty="0">
                <a:ln>
                  <a:noFill/>
                </a:ln>
                <a:solidFill>
                  <a:prstClr val="black"/>
                </a:solidFill>
                <a:effectLst/>
                <a:uLnTx/>
                <a:uFillTx/>
                <a:latin typeface="Calibri"/>
                <a:ea typeface="+mn-ea"/>
                <a:cs typeface="Calibri"/>
              </a:rPr>
              <a:t>to</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develop</a:t>
            </a:r>
            <a:r>
              <a:rPr kumimoji="0" lang="en-US"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a:t>
            </a:r>
            <a:r>
              <a:rPr kumimoji="0" sz="2400" b="0" i="0" u="none" strike="noStrike" kern="1200" cap="none" spc="-10" normalizeH="0" baseline="0" noProof="0" dirty="0">
                <a:ln>
                  <a:noFill/>
                </a:ln>
                <a:solidFill>
                  <a:prstClr val="black"/>
                </a:solidFill>
                <a:effectLst/>
                <a:uLnTx/>
                <a:uFillTx/>
                <a:latin typeface="Calibri"/>
                <a:ea typeface="+mn-ea"/>
                <a:cs typeface="Calibri"/>
              </a:rPr>
              <a:t> more </a:t>
            </a:r>
            <a:r>
              <a:rPr kumimoji="0" sz="2400" b="0" i="0" u="none" strike="noStrike" kern="1200" cap="none" spc="-5" normalizeH="0" baseline="0" noProof="0" dirty="0">
                <a:ln>
                  <a:noFill/>
                </a:ln>
                <a:solidFill>
                  <a:prstClr val="black"/>
                </a:solidFill>
                <a:effectLst/>
                <a:uLnTx/>
                <a:uFillTx/>
                <a:latin typeface="Calibri"/>
                <a:ea typeface="+mn-ea"/>
                <a:cs typeface="Calibri"/>
              </a:rPr>
              <a:t>detailed</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scenario,</a:t>
            </a:r>
            <a:r>
              <a:rPr kumimoji="0" sz="2400" b="0" i="0" u="none" strike="noStrike" kern="1200" cap="none" spc="-5" normalizeH="0" baseline="0" noProof="0" dirty="0">
                <a:ln>
                  <a:noFill/>
                </a:ln>
                <a:solidFill>
                  <a:prstClr val="black"/>
                </a:solidFill>
                <a:effectLst/>
                <a:uLnTx/>
                <a:uFillTx/>
                <a:latin typeface="Calibri"/>
                <a:ea typeface="+mn-ea"/>
                <a:cs typeface="Calibri"/>
              </a:rPr>
              <a:t> based on </a:t>
            </a:r>
            <a:r>
              <a:rPr kumimoji="0" sz="2400" b="0" i="0" u="none" strike="noStrike" kern="1200" cap="none" spc="0" normalizeH="0" baseline="0" noProof="0" dirty="0">
                <a:ln>
                  <a:noFill/>
                </a:ln>
                <a:solidFill>
                  <a:prstClr val="black"/>
                </a:solidFill>
                <a:effectLst/>
                <a:uLnTx/>
                <a:uFillTx/>
                <a:latin typeface="Calibri"/>
                <a:ea typeface="+mn-ea"/>
                <a:cs typeface="Calibri"/>
              </a:rPr>
              <a:t>their</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knowledge of</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relevant</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factors.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12146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sng" spc="-10" dirty="0">
                <a:solidFill>
                  <a:srgbClr val="C00000"/>
                </a:solidFill>
                <a:effectLst>
                  <a:outerShdw blurRad="38100" dist="38100" dir="2700000" algn="tl">
                    <a:srgbClr val="000000">
                      <a:alpha val="43137"/>
                    </a:srgbClr>
                  </a:outerShdw>
                </a:effectLst>
                <a:uFill>
                  <a:solidFill>
                    <a:srgbClr val="000000"/>
                  </a:solidFill>
                </a:uFill>
              </a:rPr>
              <a:t>Analyzing Risk Scenarios</a:t>
            </a:r>
            <a:br>
              <a:rPr lang="en-US" u="heavy" spc="-10" dirty="0">
                <a:solidFill>
                  <a:srgbClr val="C00000"/>
                </a:solidFill>
                <a:uFill>
                  <a:solidFill>
                    <a:srgbClr val="000000"/>
                  </a:solidFill>
                </a:uFill>
              </a:rPr>
            </a:br>
            <a:endParaRPr u="heavy" spc="-30" dirty="0">
              <a:uFill>
                <a:solidFill>
                  <a:srgbClr val="000000"/>
                </a:solidFill>
              </a:uFill>
            </a:endParaRPr>
          </a:p>
        </p:txBody>
      </p:sp>
      <p:sp>
        <p:nvSpPr>
          <p:cNvPr id="3" name="object 3"/>
          <p:cNvSpPr txBox="1"/>
          <p:nvPr/>
        </p:nvSpPr>
        <p:spPr>
          <a:xfrm>
            <a:off x="1219201" y="1371600"/>
            <a:ext cx="8534400" cy="2861489"/>
          </a:xfrm>
          <a:prstGeom prst="rect">
            <a:avLst/>
          </a:prstGeom>
        </p:spPr>
        <p:txBody>
          <a:bodyPr vert="horz" wrap="square" lIns="0" tIns="97790" rIns="0" bIns="0" rtlCol="0">
            <a:spAutoFit/>
          </a:bodyPr>
          <a:lstStyle/>
          <a:p>
            <a:pPr marL="241300" marR="0" lvl="0" indent="-229235" algn="l" defTabSz="457200" rtl="0" eaLnBrk="1" fontAlgn="auto" latinLnBrk="0" hangingPunct="1">
              <a:lnSpc>
                <a:spcPct val="100000"/>
              </a:lnSpc>
              <a:spcBef>
                <a:spcPts val="770"/>
              </a:spcBef>
              <a:spcAft>
                <a:spcPts val="0"/>
              </a:spcAft>
              <a:buClrTx/>
              <a:buSzTx/>
              <a:buFont typeface="Arial MT"/>
              <a:buChar char="•"/>
              <a:tabLst>
                <a:tab pos="241935" algn="l"/>
              </a:tabLst>
              <a:defRPr/>
            </a:pPr>
            <a:r>
              <a:rPr kumimoji="0" sz="2400" b="0" i="0" u="none" strike="noStrike" kern="1200" cap="none" spc="-10" normalizeH="0" baseline="0" noProof="0" dirty="0">
                <a:ln>
                  <a:noFill/>
                </a:ln>
                <a:solidFill>
                  <a:prstClr val="black"/>
                </a:solidFill>
                <a:effectLst/>
                <a:uLnTx/>
                <a:uFillTx/>
                <a:latin typeface="Calibri"/>
                <a:ea typeface="+mn-ea"/>
                <a:cs typeface="Calibri"/>
              </a:rPr>
              <a:t>Analyzing</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scenarios</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to</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calculate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their</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impact</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likelihood</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ct val="100000"/>
              </a:lnSpc>
              <a:spcBef>
                <a:spcPts val="670"/>
              </a:spcBef>
              <a:spcAft>
                <a:spcPts val="0"/>
              </a:spcAft>
              <a:buClrTx/>
              <a:buSzTx/>
              <a:buFont typeface="Arial MT"/>
              <a:buChar char="•"/>
              <a:tabLst>
                <a:tab pos="241935" algn="l"/>
              </a:tabLst>
              <a:defRPr/>
            </a:pPr>
            <a:r>
              <a:rPr kumimoji="0" sz="2400" b="0" i="0" u="none" strike="noStrike" kern="1200" cap="none" spc="-25" normalizeH="0" baseline="0" noProof="0" dirty="0">
                <a:ln>
                  <a:noFill/>
                </a:ln>
                <a:solidFill>
                  <a:prstClr val="black"/>
                </a:solidFill>
                <a:effectLst/>
                <a:uLnTx/>
                <a:uFillTx/>
                <a:latin typeface="Calibri"/>
                <a:ea typeface="+mn-ea"/>
                <a:cs typeface="Calibri"/>
              </a:rPr>
              <a:t>Factors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that</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may</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affect</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calculation.</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35"/>
              </a:spcBef>
              <a:spcAft>
                <a:spcPts val="0"/>
              </a:spcAft>
              <a:buClrTx/>
              <a:buSzTx/>
              <a:buFont typeface="Arial MT"/>
              <a:buChar char="•"/>
              <a:tabLst>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organizational</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factors,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such </a:t>
            </a:r>
            <a:r>
              <a:rPr kumimoji="0" sz="2000" b="0" i="0" u="none" strike="noStrike" kern="1200" cap="none" spc="0" normalizeH="0" baseline="0" noProof="0" dirty="0">
                <a:ln>
                  <a:noFill/>
                </a:ln>
                <a:solidFill>
                  <a:prstClr val="black"/>
                </a:solidFill>
                <a:effectLst/>
                <a:uLnTx/>
                <a:uFillTx/>
                <a:latin typeface="Calibri"/>
                <a:ea typeface="+mn-ea"/>
                <a:cs typeface="Calibri"/>
              </a:rPr>
              <a:t>as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structure, </a:t>
            </a:r>
            <a:r>
              <a:rPr kumimoji="0" sz="2000" b="0" i="0" u="none" strike="noStrike" kern="1200" cap="none" spc="-5" normalizeH="0" baseline="0" noProof="0" dirty="0">
                <a:ln>
                  <a:noFill/>
                </a:ln>
                <a:solidFill>
                  <a:prstClr val="black"/>
                </a:solidFill>
                <a:effectLst/>
                <a:uLnTx/>
                <a:uFillTx/>
                <a:latin typeface="Calibri"/>
                <a:ea typeface="+mn-ea"/>
                <a:cs typeface="Calibri"/>
              </a:rPr>
              <a:t>policies,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and</a:t>
            </a:r>
          </a:p>
          <a:p>
            <a:pPr marL="698500" marR="0" lvl="1" indent="-229235" algn="l" defTabSz="457200" rtl="0" eaLnBrk="1" fontAlgn="auto" latinLnBrk="0" hangingPunct="1">
              <a:lnSpc>
                <a:spcPct val="100000"/>
              </a:lnSpc>
              <a:spcBef>
                <a:spcPts val="215"/>
              </a:spcBef>
              <a:spcAft>
                <a:spcPts val="0"/>
              </a:spcAft>
              <a:buClrTx/>
              <a:buSzTx/>
              <a:buFont typeface="Arial MT"/>
              <a:buChar char="•"/>
              <a:tabLst>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infrastructure </a:t>
            </a:r>
            <a:r>
              <a:rPr kumimoji="0" sz="2000" b="0" i="0" u="none" strike="noStrike" kern="1200" cap="none" spc="-15" normalizeH="0" baseline="0" noProof="0" dirty="0">
                <a:ln>
                  <a:noFill/>
                </a:ln>
                <a:solidFill>
                  <a:prstClr val="black"/>
                </a:solidFill>
                <a:effectLst/>
                <a:uLnTx/>
                <a:uFillTx/>
                <a:latin typeface="Calibri"/>
                <a:ea typeface="+mn-ea"/>
                <a:cs typeface="Calibri"/>
              </a:rPr>
              <a:t>factors, </a:t>
            </a:r>
            <a:r>
              <a:rPr kumimoji="0" sz="2000" b="0" i="0" u="none" strike="noStrike" kern="1200" cap="none" spc="-5" normalizeH="0" baseline="0" noProof="0" dirty="0">
                <a:ln>
                  <a:noFill/>
                </a:ln>
                <a:solidFill>
                  <a:prstClr val="black"/>
                </a:solidFill>
                <a:effectLst/>
                <a:uLnTx/>
                <a:uFillTx/>
                <a:latin typeface="Calibri"/>
                <a:ea typeface="+mn-ea"/>
                <a:cs typeface="Calibri"/>
              </a:rPr>
              <a:t>such</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as </a:t>
            </a:r>
            <a:r>
              <a:rPr kumimoji="0" sz="2000" b="0" i="0" u="none" strike="noStrike" kern="1200" cap="none" spc="-25" normalizeH="0" baseline="0" noProof="0" dirty="0">
                <a:ln>
                  <a:noFill/>
                </a:ln>
                <a:solidFill>
                  <a:prstClr val="black"/>
                </a:solidFill>
                <a:effectLst/>
                <a:uLnTx/>
                <a:uFillTx/>
                <a:latin typeface="Calibri"/>
                <a:ea typeface="+mn-ea"/>
                <a:cs typeface="Calibri"/>
              </a:rPr>
              <a:t>technology,</a:t>
            </a:r>
            <a:r>
              <a:rPr kumimoji="0" sz="2000" b="0" i="0" u="none" strike="noStrike" kern="1200" cap="none" spc="-10" normalizeH="0" baseline="0" noProof="0" dirty="0">
                <a:ln>
                  <a:noFill/>
                </a:ln>
                <a:solidFill>
                  <a:prstClr val="black"/>
                </a:solidFill>
                <a:effectLst/>
                <a:uLnTx/>
                <a:uFillTx/>
                <a:latin typeface="Calibri"/>
                <a:ea typeface="+mn-ea"/>
                <a:cs typeface="Calibri"/>
              </a:rPr>
              <a:t> architecture,</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and </a:t>
            </a:r>
            <a:r>
              <a:rPr kumimoji="0" sz="2000" b="0" i="0" u="none" strike="noStrike" kern="1200" cap="none" spc="-5" normalizeH="0" baseline="0" noProof="0" dirty="0">
                <a:ln>
                  <a:noFill/>
                </a:ln>
                <a:solidFill>
                  <a:prstClr val="black"/>
                </a:solidFill>
                <a:effectLst/>
                <a:uLnTx/>
                <a:uFillTx/>
                <a:latin typeface="Calibri"/>
                <a:ea typeface="+mn-ea"/>
                <a:cs typeface="Calibri"/>
              </a:rPr>
              <a:t>security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controls.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5080" lvl="0" indent="-229235" algn="l" defTabSz="457200" rtl="0" eaLnBrk="1" fontAlgn="auto" latinLnBrk="0" hangingPunct="1">
              <a:lnSpc>
                <a:spcPts val="3030"/>
              </a:lnSpc>
              <a:spcBef>
                <a:spcPts val="1010"/>
              </a:spcBef>
              <a:spcAft>
                <a:spcPts val="0"/>
              </a:spcAft>
              <a:buClrTx/>
              <a:buSzTx/>
              <a:buFont typeface="Arial MT"/>
              <a:buChar char="•"/>
              <a:tabLst>
                <a:tab pos="241935" algn="l"/>
              </a:tabLst>
              <a:defRPr/>
            </a:pPr>
            <a:r>
              <a:rPr kumimoji="0" sz="2400" b="0" i="0" u="none" strike="noStrike" kern="1200" cap="none" spc="-10" normalizeH="0" baseline="0" noProof="0" dirty="0">
                <a:ln>
                  <a:noFill/>
                </a:ln>
                <a:solidFill>
                  <a:prstClr val="black"/>
                </a:solidFill>
                <a:effectLst/>
                <a:uLnTx/>
                <a:uFillTx/>
                <a:latin typeface="Calibri"/>
                <a:ea typeface="+mn-ea"/>
                <a:cs typeface="Calibri"/>
              </a:rPr>
              <a:t>These</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different</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factors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weigh</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in</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on</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how</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likely</a:t>
            </a:r>
            <a:r>
              <a:rPr kumimoji="0" sz="2400" b="0" i="0" u="none" strike="noStrike" kern="1200" cap="none" spc="-5" normalizeH="0" baseline="0" noProof="0" dirty="0">
                <a:ln>
                  <a:noFill/>
                </a:ln>
                <a:solidFill>
                  <a:prstClr val="black"/>
                </a:solidFill>
                <a:effectLst/>
                <a:uLnTx/>
                <a:uFillTx/>
                <a:latin typeface="Calibri"/>
                <a:ea typeface="+mn-ea"/>
                <a:cs typeface="Calibri"/>
              </a:rPr>
              <a:t> a</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scenario</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to</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35" normalizeH="0" baseline="0" noProof="0" dirty="0">
                <a:ln>
                  <a:noFill/>
                </a:ln>
                <a:solidFill>
                  <a:prstClr val="black"/>
                </a:solidFill>
                <a:effectLst/>
                <a:uLnTx/>
                <a:uFillTx/>
                <a:latin typeface="Calibri"/>
                <a:ea typeface="+mn-ea"/>
                <a:cs typeface="Calibri"/>
              </a:rPr>
              <a:t>take </a:t>
            </a:r>
            <a:r>
              <a:rPr kumimoji="0" sz="2400" b="0" i="0" u="none" strike="noStrike" kern="1200" cap="none" spc="-6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place,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as </a:t>
            </a:r>
            <a:r>
              <a:rPr kumimoji="0" sz="2400" b="0" i="0" u="none" strike="noStrike" kern="1200" cap="none" spc="-10" normalizeH="0" baseline="0" noProof="0" dirty="0">
                <a:ln>
                  <a:noFill/>
                </a:ln>
                <a:solidFill>
                  <a:prstClr val="black"/>
                </a:solidFill>
                <a:effectLst/>
                <a:uLnTx/>
                <a:uFillTx/>
                <a:latin typeface="Calibri"/>
                <a:ea typeface="+mn-ea"/>
                <a:cs typeface="Calibri"/>
              </a:rPr>
              <a:t>well</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as</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what</a:t>
            </a:r>
            <a:r>
              <a:rPr kumimoji="0" sz="2400" b="0" i="0" u="none" strike="noStrike" kern="1200" cap="none" spc="-5" normalizeH="0" baseline="0" noProof="0" dirty="0">
                <a:ln>
                  <a:noFill/>
                </a:ln>
                <a:solidFill>
                  <a:prstClr val="black"/>
                </a:solidFill>
                <a:effectLst/>
                <a:uLnTx/>
                <a:uFillTx/>
                <a:latin typeface="Calibri"/>
                <a:ea typeface="+mn-ea"/>
                <a:cs typeface="Calibri"/>
              </a:rPr>
              <a:t> its</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potential</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impact</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will</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be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to</a:t>
            </a:r>
            <a:r>
              <a:rPr kumimoji="0" sz="2400" b="0" i="0" u="none" strike="noStrike" kern="1200" cap="none" spc="-5" normalizeH="0" baseline="0" noProof="0" dirty="0">
                <a:ln>
                  <a:noFill/>
                </a:ln>
                <a:solidFill>
                  <a:prstClr val="black"/>
                </a:solidFill>
                <a:effectLst/>
                <a:uLnTx/>
                <a:uFillTx/>
                <a:latin typeface="Calibri"/>
                <a:ea typeface="+mn-ea"/>
                <a:cs typeface="Calibri"/>
              </a:rPr>
              <a:t> the </a:t>
            </a:r>
            <a:r>
              <a:rPr kumimoji="0" sz="2400" b="0" i="0" u="none" strike="noStrike" kern="1200" cap="none" spc="-10" normalizeH="0" baseline="0" noProof="0" dirty="0">
                <a:ln>
                  <a:noFill/>
                </a:ln>
                <a:solidFill>
                  <a:prstClr val="black"/>
                </a:solidFill>
                <a:effectLst/>
                <a:uLnTx/>
                <a:uFillTx/>
                <a:latin typeface="Calibri"/>
                <a:ea typeface="+mn-ea"/>
                <a:cs typeface="Calibri"/>
              </a:rPr>
              <a:t>asset</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or </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organization.</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533400"/>
            <a:ext cx="8387715" cy="112146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sng" spc="-10" dirty="0">
                <a:solidFill>
                  <a:srgbClr val="C00000"/>
                </a:solidFill>
                <a:uFill>
                  <a:solidFill>
                    <a:srgbClr val="000000"/>
                  </a:solidFill>
                </a:uFill>
              </a:rPr>
              <a:t>Likelihood and Impact</a:t>
            </a:r>
            <a:br>
              <a:rPr lang="en-US" u="heavy" spc="-10" dirty="0">
                <a:solidFill>
                  <a:srgbClr val="C00000"/>
                </a:solidFill>
                <a:uFill>
                  <a:solidFill>
                    <a:srgbClr val="000000"/>
                  </a:solidFill>
                </a:uFill>
              </a:rPr>
            </a:br>
            <a:endParaRPr u="heavy" spc="-30" dirty="0">
              <a:uFill>
                <a:solidFill>
                  <a:srgbClr val="000000"/>
                </a:solidFill>
              </a:uFill>
            </a:endParaRPr>
          </a:p>
        </p:txBody>
      </p:sp>
      <p:sp>
        <p:nvSpPr>
          <p:cNvPr id="3" name="object 3"/>
          <p:cNvSpPr txBox="1"/>
          <p:nvPr/>
        </p:nvSpPr>
        <p:spPr>
          <a:xfrm>
            <a:off x="1143000" y="1219200"/>
            <a:ext cx="7391400" cy="3508653"/>
          </a:xfrm>
          <a:prstGeom prst="rect">
            <a:avLst/>
          </a:prstGeom>
        </p:spPr>
        <p:txBody>
          <a:bodyPr vert="horz" wrap="square" lIns="0" tIns="60960" rIns="0" bIns="0" rtlCol="0">
            <a:spAutoFit/>
          </a:bodyPr>
          <a:lstStyle/>
          <a:p>
            <a:pPr marL="241300" marR="5080" lvl="0" indent="-229235" algn="l" defTabSz="457200" rtl="0" eaLnBrk="1" fontAlgn="auto" latinLnBrk="0" hangingPunct="1">
              <a:lnSpc>
                <a:spcPts val="3020"/>
              </a:lnSpc>
              <a:spcBef>
                <a:spcPts val="480"/>
              </a:spcBef>
              <a:spcAft>
                <a:spcPts val="0"/>
              </a:spcAft>
              <a:buClrTx/>
              <a:buSzTx/>
              <a:buFont typeface="Arial MT"/>
              <a:buChar char="•"/>
              <a:tabLst>
                <a:tab pos="241935" algn="l"/>
                <a:tab pos="3745229"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Likelihood</a:t>
            </a:r>
            <a:r>
              <a:rPr kumimoji="0" sz="2000" b="1"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realistic</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level</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certainty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that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event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will</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45" normalizeH="0" baseline="0" noProof="0" dirty="0">
                <a:ln>
                  <a:noFill/>
                </a:ln>
                <a:solidFill>
                  <a:prstClr val="black"/>
                </a:solidFill>
                <a:effectLst/>
                <a:uLnTx/>
                <a:uFillTx/>
                <a:latin typeface="Calibri"/>
                <a:ea typeface="+mn-ea"/>
                <a:cs typeface="Calibri"/>
              </a:rPr>
              <a:t>occur,</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i.e. </a:t>
            </a:r>
            <a:r>
              <a:rPr kumimoji="0" sz="2000" b="0" i="0" u="none" strike="noStrike" kern="1200" cap="none" spc="-6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how</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likely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 </a:t>
            </a:r>
            <a:r>
              <a:rPr kumimoji="0" sz="2000" b="0" i="0" u="none" strike="noStrike" kern="1200" cap="none" spc="-15" normalizeH="0" baseline="0" noProof="0" dirty="0">
                <a:ln>
                  <a:noFill/>
                </a:ln>
                <a:solidFill>
                  <a:prstClr val="black"/>
                </a:solidFill>
                <a:effectLst/>
                <a:uLnTx/>
                <a:uFillTx/>
                <a:latin typeface="Calibri"/>
                <a:ea typeface="+mn-ea"/>
                <a:cs typeface="Calibri"/>
              </a:rPr>
              <a:t>threat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lang="en-US"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exploit</a:t>
            </a:r>
            <a:r>
              <a:rPr kumimoji="0" sz="2000" b="0" i="0" u="none" strike="noStrike" kern="1200" cap="none" spc="-5" normalizeH="0" baseline="0" noProof="0" dirty="0">
                <a:ln>
                  <a:noFill/>
                </a:ln>
                <a:solidFill>
                  <a:prstClr val="black"/>
                </a:solidFill>
                <a:effectLst/>
                <a:uLnTx/>
                <a:uFillTx/>
                <a:latin typeface="Calibri"/>
                <a:ea typeface="+mn-ea"/>
                <a:cs typeface="Calibri"/>
              </a:rPr>
              <a:t> a</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particular</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vulnerability.</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118110" lvl="1" indent="-228600" algn="l" defTabSz="457200" rtl="0" eaLnBrk="1" fontAlgn="auto" latinLnBrk="0" hangingPunct="1">
              <a:lnSpc>
                <a:spcPts val="2590"/>
              </a:lnSpc>
              <a:spcBef>
                <a:spcPts val="535"/>
              </a:spcBef>
              <a:spcAft>
                <a:spcPts val="0"/>
              </a:spcAft>
              <a:buClrTx/>
              <a:buSzTx/>
              <a:buFont typeface="Arial MT"/>
              <a:buChar char="•"/>
              <a:tabLst>
                <a:tab pos="699135" algn="l"/>
                <a:tab pos="4486275" algn="l"/>
              </a:tabLst>
              <a:defRPr/>
            </a:pPr>
            <a:r>
              <a:rPr kumimoji="0" sz="1800" b="0" i="0" u="none" strike="noStrike" kern="1200" cap="none" spc="-5" normalizeH="0" baseline="0" noProof="0" dirty="0">
                <a:ln>
                  <a:noFill/>
                </a:ln>
                <a:solidFill>
                  <a:prstClr val="black"/>
                </a:solidFill>
                <a:effectLst/>
                <a:uLnTx/>
                <a:uFillTx/>
                <a:latin typeface="Calibri"/>
                <a:ea typeface="+mn-ea"/>
                <a:cs typeface="Calibri"/>
              </a:rPr>
              <a:t>The</a:t>
            </a:r>
            <a:r>
              <a:rPr kumimoji="0" sz="1800" b="0" i="0" u="none" strike="noStrike" kern="1200" cap="none" spc="5"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terms</a:t>
            </a:r>
            <a:r>
              <a:rPr kumimoji="0" sz="1800" b="0" i="0" u="none" strike="noStrike" kern="1200" cap="none" spc="-20" normalizeH="0" baseline="0" noProof="0" dirty="0">
                <a:ln>
                  <a:noFill/>
                </a:ln>
                <a:solidFill>
                  <a:prstClr val="black"/>
                </a:solidFill>
                <a:effectLst/>
                <a:uLnTx/>
                <a:uFillTx/>
                <a:latin typeface="Calibri"/>
                <a:ea typeface="+mn-ea"/>
                <a:cs typeface="Calibri"/>
              </a:rPr>
              <a:t> </a:t>
            </a:r>
            <a:r>
              <a:rPr kumimoji="0" sz="1800" b="0" i="1" u="none" strike="noStrike" kern="1200" cap="none" spc="-10" normalizeH="0" baseline="0" noProof="0" dirty="0">
                <a:ln>
                  <a:noFill/>
                </a:ln>
                <a:solidFill>
                  <a:prstClr val="black"/>
                </a:solidFill>
                <a:effectLst/>
                <a:uLnTx/>
                <a:uFillTx/>
                <a:latin typeface="Calibri"/>
                <a:ea typeface="+mn-ea"/>
                <a:cs typeface="Calibri"/>
              </a:rPr>
              <a:t>likelihood</a:t>
            </a:r>
            <a:r>
              <a:rPr kumimoji="0" sz="1800" b="0" i="1" u="none" strike="noStrike" kern="1200" cap="none" spc="5"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and</a:t>
            </a:r>
            <a:r>
              <a:rPr kumimoji="0" sz="1800" b="0" i="0" u="none" strike="noStrike" kern="1200" cap="none" spc="-5" normalizeH="0" baseline="0" noProof="0" dirty="0">
                <a:ln>
                  <a:noFill/>
                </a:ln>
                <a:solidFill>
                  <a:prstClr val="black"/>
                </a:solidFill>
                <a:effectLst/>
                <a:uLnTx/>
                <a:uFillTx/>
                <a:latin typeface="Calibri"/>
                <a:ea typeface="+mn-ea"/>
                <a:cs typeface="Calibri"/>
              </a:rPr>
              <a:t> </a:t>
            </a:r>
            <a:r>
              <a:rPr kumimoji="0" sz="1800" b="0" i="1" u="none" strike="noStrike" kern="1200" cap="none" spc="-5" normalizeH="0" baseline="0" noProof="0" dirty="0">
                <a:ln>
                  <a:noFill/>
                </a:ln>
                <a:solidFill>
                  <a:prstClr val="black"/>
                </a:solidFill>
                <a:effectLst/>
                <a:uLnTx/>
                <a:uFillTx/>
                <a:latin typeface="Calibri"/>
                <a:ea typeface="+mn-ea"/>
                <a:cs typeface="Calibri"/>
              </a:rPr>
              <a:t>probability</a:t>
            </a:r>
            <a:r>
              <a:rPr kumimoji="0" sz="1800" b="0" i="1"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15" normalizeH="0" baseline="0" noProof="0" dirty="0">
                <a:ln>
                  <a:noFill/>
                </a:ln>
                <a:solidFill>
                  <a:prstClr val="black"/>
                </a:solidFill>
                <a:effectLst/>
                <a:uLnTx/>
                <a:uFillTx/>
                <a:latin typeface="Calibri"/>
                <a:ea typeface="+mn-ea"/>
                <a:cs typeface="Calibri"/>
              </a:rPr>
              <a:t>are</a:t>
            </a:r>
            <a:r>
              <a:rPr kumimoji="0" sz="1800" b="0" i="0" u="none" strike="noStrike" kern="1200" cap="none" spc="0" normalizeH="0" baseline="0" noProof="0" dirty="0">
                <a:ln>
                  <a:noFill/>
                </a:ln>
                <a:solidFill>
                  <a:prstClr val="black"/>
                </a:solidFill>
                <a:effectLst/>
                <a:uLnTx/>
                <a:uFillTx/>
                <a:latin typeface="Calibri"/>
                <a:ea typeface="+mn-ea"/>
                <a:cs typeface="Calibri"/>
              </a:rPr>
              <a:t> </a:t>
            </a:r>
            <a:r>
              <a:rPr kumimoji="0" sz="1800" b="0" i="0" u="none" strike="noStrike" kern="1200" cap="none" spc="-30" normalizeH="0" baseline="0" noProof="0" dirty="0">
                <a:ln>
                  <a:noFill/>
                </a:ln>
                <a:solidFill>
                  <a:prstClr val="black"/>
                </a:solidFill>
                <a:effectLst/>
                <a:uLnTx/>
                <a:uFillTx/>
                <a:latin typeface="Calibri"/>
                <a:ea typeface="+mn-ea"/>
                <a:cs typeface="Calibri"/>
              </a:rPr>
              <a:t>similar,</a:t>
            </a:r>
            <a:r>
              <a:rPr kumimoji="0" sz="1800" b="0" i="0" u="none" strike="noStrike" kern="1200" cap="none" spc="-2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determining</a:t>
            </a:r>
            <a:r>
              <a:rPr kumimoji="0" sz="1800" b="0" i="0" u="none" strike="noStrike" kern="1200" cap="none" spc="-30"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the </a:t>
            </a:r>
            <a:r>
              <a:rPr kumimoji="0" sz="1800" b="0" i="0" u="none" strike="noStrike" kern="1200" cap="none" spc="-10" normalizeH="0" baseline="0" noProof="0" dirty="0">
                <a:ln>
                  <a:noFill/>
                </a:ln>
                <a:solidFill>
                  <a:prstClr val="black"/>
                </a:solidFill>
                <a:effectLst/>
                <a:uLnTx/>
                <a:uFillTx/>
                <a:latin typeface="Calibri"/>
                <a:ea typeface="+mn-ea"/>
                <a:cs typeface="Calibri"/>
              </a:rPr>
              <a:t>probability </a:t>
            </a:r>
            <a:r>
              <a:rPr kumimoji="0" sz="1800" b="0" i="0" u="none" strike="noStrike" kern="1200" cap="none" spc="-5" normalizeH="0" baseline="0" noProof="0" dirty="0">
                <a:ln>
                  <a:noFill/>
                </a:ln>
                <a:solidFill>
                  <a:prstClr val="black"/>
                </a:solidFill>
                <a:effectLst/>
                <a:uLnTx/>
                <a:uFillTx/>
                <a:latin typeface="Calibri"/>
                <a:ea typeface="+mn-ea"/>
                <a:cs typeface="Calibri"/>
              </a:rPr>
              <a:t> of</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an </a:t>
            </a:r>
            <a:r>
              <a:rPr kumimoji="0" sz="1800" b="0" i="0" u="none" strike="noStrike" kern="1200" cap="none" spc="-15" normalizeH="0" baseline="0" noProof="0" dirty="0">
                <a:ln>
                  <a:noFill/>
                </a:ln>
                <a:solidFill>
                  <a:prstClr val="black"/>
                </a:solidFill>
                <a:effectLst/>
                <a:uLnTx/>
                <a:uFillTx/>
                <a:latin typeface="Calibri"/>
                <a:ea typeface="+mn-ea"/>
                <a:cs typeface="Calibri"/>
              </a:rPr>
              <a:t>event</a:t>
            </a:r>
            <a:r>
              <a:rPr kumimoji="0" sz="1800" b="0" i="0" u="none" strike="noStrike" kern="1200" cap="none" spc="15"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implies</a:t>
            </a:r>
            <a:r>
              <a:rPr kumimoji="0" sz="1800" b="0" i="0" u="none" strike="noStrike" kern="1200" cap="none" spc="-20"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the</a:t>
            </a:r>
            <a:r>
              <a:rPr kumimoji="0" sz="1800" b="0" i="0" u="none" strike="noStrike" kern="1200" cap="none" spc="-5" normalizeH="0" baseline="0" noProof="0" dirty="0">
                <a:ln>
                  <a:noFill/>
                </a:ln>
                <a:solidFill>
                  <a:prstClr val="black"/>
                </a:solidFill>
                <a:effectLst/>
                <a:uLnTx/>
                <a:uFillTx/>
                <a:latin typeface="Calibri"/>
                <a:ea typeface="+mn-ea"/>
                <a:cs typeface="Calibri"/>
              </a:rPr>
              <a:t> use</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of	</a:t>
            </a:r>
            <a:r>
              <a:rPr kumimoji="0" sz="1800" b="0" i="0" u="none" strike="noStrike" kern="1200" cap="none" spc="-15" normalizeH="0" baseline="0" noProof="0" dirty="0">
                <a:ln>
                  <a:noFill/>
                </a:ln>
                <a:solidFill>
                  <a:prstClr val="black"/>
                </a:solidFill>
                <a:effectLst/>
                <a:uLnTx/>
                <a:uFillTx/>
                <a:latin typeface="Calibri"/>
                <a:ea typeface="+mn-ea"/>
                <a:cs typeface="Calibri"/>
              </a:rPr>
              <a:t>statistical </a:t>
            </a:r>
            <a:r>
              <a:rPr kumimoji="0" sz="1800" b="0" i="0" u="none" strike="noStrike" kern="1200" cap="none" spc="-5" normalizeH="0" baseline="0" noProof="0" dirty="0">
                <a:ln>
                  <a:noFill/>
                </a:ln>
                <a:solidFill>
                  <a:prstClr val="black"/>
                </a:solidFill>
                <a:effectLst/>
                <a:uLnTx/>
                <a:uFillTx/>
                <a:latin typeface="Calibri"/>
                <a:ea typeface="+mn-ea"/>
                <a:cs typeface="Calibri"/>
              </a:rPr>
              <a:t>analysis, </a:t>
            </a:r>
            <a:r>
              <a:rPr kumimoji="0" sz="1800" b="0" i="0" u="none" strike="noStrike" kern="1200" cap="none" spc="-10" normalizeH="0" baseline="0" noProof="0" dirty="0">
                <a:ln>
                  <a:noFill/>
                </a:ln>
                <a:solidFill>
                  <a:prstClr val="black"/>
                </a:solidFill>
                <a:effectLst/>
                <a:uLnTx/>
                <a:uFillTx/>
                <a:latin typeface="Calibri"/>
                <a:ea typeface="+mn-ea"/>
                <a:cs typeface="Calibri"/>
              </a:rPr>
              <a:t>definitive </a:t>
            </a:r>
            <a:r>
              <a:rPr kumimoji="0" sz="1800" b="0" i="0" u="none" strike="noStrike" kern="1200" cap="none" spc="-5" normalizeH="0" baseline="0" noProof="0" dirty="0">
                <a:ln>
                  <a:noFill/>
                </a:ln>
                <a:solidFill>
                  <a:prstClr val="black"/>
                </a:solidFill>
                <a:effectLst/>
                <a:uLnTx/>
                <a:uFillTx/>
                <a:latin typeface="Calibri"/>
                <a:ea typeface="+mn-ea"/>
                <a:cs typeface="Calibri"/>
              </a:rPr>
              <a:t>quantifiable </a:t>
            </a:r>
            <a:r>
              <a:rPr kumimoji="0" sz="1800" b="0" i="0" u="none" strike="noStrike" kern="1200" cap="none" spc="-15" normalizeH="0" baseline="0" noProof="0" dirty="0">
                <a:ln>
                  <a:noFill/>
                </a:ln>
                <a:solidFill>
                  <a:prstClr val="black"/>
                </a:solidFill>
                <a:effectLst/>
                <a:uLnTx/>
                <a:uFillTx/>
                <a:latin typeface="Calibri"/>
                <a:ea typeface="+mn-ea"/>
                <a:cs typeface="Calibri"/>
              </a:rPr>
              <a:t>data, </a:t>
            </a:r>
            <a:r>
              <a:rPr kumimoji="0" sz="1800" b="0" i="0" u="none" strike="noStrike" kern="1200" cap="none" spc="-525"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and</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mathematics.</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ct val="100000"/>
              </a:lnSpc>
              <a:spcBef>
                <a:spcPts val="595"/>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Impact</a:t>
            </a:r>
            <a:r>
              <a:rPr kumimoji="0" sz="2000" b="1"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degree</a:t>
            </a:r>
            <a:r>
              <a:rPr kumimoji="0" sz="2000" b="0" i="0" u="none" strike="noStrike" kern="1200" cap="none" spc="-5" normalizeH="0" baseline="0" noProof="0" dirty="0">
                <a:ln>
                  <a:noFill/>
                </a:ln>
                <a:solidFill>
                  <a:prstClr val="black"/>
                </a:solidFill>
                <a:effectLst/>
                <a:uLnTx/>
                <a:uFillTx/>
                <a:latin typeface="Calibri"/>
                <a:ea typeface="+mn-ea"/>
                <a:cs typeface="Calibri"/>
              </a:rPr>
              <a:t> of</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harm</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organization.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175895" lvl="1" indent="-228600" algn="l" defTabSz="457200" rtl="0" eaLnBrk="1" fontAlgn="auto" latinLnBrk="0" hangingPunct="1">
              <a:lnSpc>
                <a:spcPts val="3020"/>
              </a:lnSpc>
              <a:spcBef>
                <a:spcPts val="555"/>
              </a:spcBef>
              <a:spcAft>
                <a:spcPts val="0"/>
              </a:spcAft>
              <a:buClrTx/>
              <a:buSzTx/>
              <a:buFont typeface="Arial MT"/>
              <a:buChar char="•"/>
              <a:tabLst>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Sometimes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impact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measured</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terms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cost,</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such</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dollars</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 </a:t>
            </a:r>
            <a:r>
              <a:rPr kumimoji="0" sz="2000" b="0" i="0" u="none" strike="noStrike" kern="1200" cap="none" spc="-6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replace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130"/>
              </a:spcBef>
              <a:spcAft>
                <a:spcPts val="0"/>
              </a:spcAft>
              <a:buClrTx/>
              <a:buSzTx/>
              <a:buFont typeface="Arial MT"/>
              <a:buChar char="•"/>
              <a:tabLst>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Impact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may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not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necessarily</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 </a:t>
            </a:r>
            <a:r>
              <a:rPr kumimoji="0" sz="2000" b="0" i="0" u="none" strike="noStrike" kern="1200" cap="none" spc="-10" normalizeH="0" baseline="0" noProof="0" dirty="0">
                <a:ln>
                  <a:noFill/>
                </a:ln>
                <a:solidFill>
                  <a:prstClr val="black"/>
                </a:solidFill>
                <a:effectLst/>
                <a:uLnTx/>
                <a:uFillTx/>
                <a:latin typeface="Calibri"/>
                <a:ea typeface="+mn-ea"/>
                <a:cs typeface="Calibri"/>
              </a:rPr>
              <a:t>single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instance</a:t>
            </a:r>
            <a:r>
              <a:rPr kumimoji="0" sz="2000" b="0" i="0" u="none" strike="noStrike" kern="1200" cap="none" spc="4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loss.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0600" y="533400"/>
            <a:ext cx="9772650" cy="874598"/>
          </a:xfrm>
          <a:prstGeom prst="rect">
            <a:avLst/>
          </a:prstGeom>
        </p:spPr>
        <p:txBody>
          <a:bodyPr vert="horz" wrap="square" lIns="0" tIns="12700" rIns="0" bIns="0" rtlCol="0">
            <a:spAutoFit/>
          </a:bodyPr>
          <a:lstStyle/>
          <a:p>
            <a:pPr marL="12700">
              <a:lnSpc>
                <a:spcPct val="100000"/>
              </a:lnSpc>
              <a:spcBef>
                <a:spcPts val="100"/>
              </a:spcBef>
            </a:pPr>
            <a:r>
              <a:rPr sz="2800" u="sng" spc="-10" dirty="0">
                <a:solidFill>
                  <a:srgbClr val="C00000"/>
                </a:solidFill>
                <a:uFill>
                  <a:solidFill>
                    <a:srgbClr val="000000"/>
                  </a:solidFill>
                </a:uFill>
              </a:rPr>
              <a:t>Organizational Factors Affecting Likelihood and Impact</a:t>
            </a:r>
            <a:br>
              <a:rPr lang="en-US" sz="2800" u="heavy" spc="-10" dirty="0">
                <a:solidFill>
                  <a:srgbClr val="C00000"/>
                </a:solidFill>
                <a:uFill>
                  <a:solidFill>
                    <a:srgbClr val="000000"/>
                  </a:solidFill>
                </a:uFill>
              </a:rPr>
            </a:br>
            <a:endParaRPr sz="2800" u="heavy" spc="-10" dirty="0">
              <a:solidFill>
                <a:srgbClr val="C00000"/>
              </a:solidFill>
              <a:uFill>
                <a:solidFill>
                  <a:srgbClr val="000000"/>
                </a:solidFill>
              </a:uFill>
            </a:endParaRPr>
          </a:p>
        </p:txBody>
      </p:sp>
      <p:sp>
        <p:nvSpPr>
          <p:cNvPr id="4" name="object 4"/>
          <p:cNvSpPr txBox="1"/>
          <p:nvPr/>
        </p:nvSpPr>
        <p:spPr>
          <a:xfrm>
            <a:off x="1143000" y="1035203"/>
            <a:ext cx="9829800" cy="4787593"/>
          </a:xfrm>
          <a:prstGeom prst="rect">
            <a:avLst/>
          </a:prstGeom>
        </p:spPr>
        <p:txBody>
          <a:bodyPr vert="horz" wrap="square" lIns="0" tIns="13335" rIns="0" bIns="0" rtlCol="0">
            <a:spAutoFit/>
          </a:bodyPr>
          <a:lstStyle/>
          <a:p>
            <a:pPr marL="241300" marR="0" lvl="0" indent="-229235" algn="l" defTabSz="457200" rtl="0" eaLnBrk="1" fontAlgn="auto" latinLnBrk="0" hangingPunct="1">
              <a:lnSpc>
                <a:spcPts val="2970"/>
              </a:lnSpc>
              <a:spcBef>
                <a:spcPts val="105"/>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Organizational structure:</a:t>
            </a:r>
          </a:p>
          <a:p>
            <a:pPr marL="698500" marR="0" lvl="1" indent="-229235" algn="l" defTabSz="457200" rtl="0" eaLnBrk="1" fontAlgn="auto" latinLnBrk="0" hangingPunct="1">
              <a:lnSpc>
                <a:spcPts val="2095"/>
              </a:lnSpc>
              <a:spcBef>
                <a:spcPts val="0"/>
              </a:spcBef>
              <a:spcAft>
                <a:spcPts val="0"/>
              </a:spcAft>
              <a:buClrTx/>
              <a:buSzTx/>
              <a:buFont typeface="Arial MT"/>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Chain</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command,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span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control,</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budget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resource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allocation,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business</a:t>
            </a:r>
            <a:r>
              <a:rPr kumimoji="0" lang="en-US"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priority.</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ts val="2355"/>
              </a:lnSpc>
              <a:spcBef>
                <a:spcPts val="0"/>
              </a:spcBef>
              <a:spcAft>
                <a:spcPts val="0"/>
              </a:spcAft>
              <a:buClrTx/>
              <a:buSzTx/>
              <a:buFont typeface="Arial MT"/>
              <a:buChar char="•"/>
              <a:tabLst>
                <a:tab pos="698500" algn="l"/>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Processes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since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organization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may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organized</a:t>
            </a:r>
            <a:r>
              <a:rPr kumimoji="0" sz="2000" b="0" i="0" u="none" strike="noStrike" kern="1200" cap="none" spc="-5" normalizeH="0" baseline="0" noProof="0" dirty="0">
                <a:ln>
                  <a:noFill/>
                </a:ln>
                <a:solidFill>
                  <a:prstClr val="black"/>
                </a:solidFill>
                <a:effectLst/>
                <a:uLnTx/>
                <a:uFillTx/>
                <a:latin typeface="Calibri"/>
                <a:ea typeface="+mn-ea"/>
                <a:cs typeface="Calibri"/>
              </a:rPr>
              <a:t> on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functional</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basis.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ts val="2495"/>
              </a:lnSpc>
              <a:spcBef>
                <a:spcPts val="0"/>
              </a:spcBef>
              <a:spcAft>
                <a:spcPts val="0"/>
              </a:spcAft>
              <a:buClrTx/>
              <a:buSzTx/>
              <a:buFont typeface="Arial MT"/>
              <a:buChar char="•"/>
              <a:tabLst>
                <a:tab pos="698500" algn="l"/>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way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organization </a:t>
            </a:r>
            <a:r>
              <a:rPr kumimoji="0" sz="2000" b="0" i="0" u="none" strike="noStrike" kern="1200" cap="none" spc="-10" normalizeH="0" baseline="0" noProof="0" dirty="0">
                <a:ln>
                  <a:noFill/>
                </a:ln>
                <a:solidFill>
                  <a:prstClr val="black"/>
                </a:solidFill>
                <a:effectLst/>
                <a:uLnTx/>
                <a:uFillTx/>
                <a:latin typeface="Calibri"/>
                <a:ea typeface="+mn-ea"/>
                <a:cs typeface="Calibri"/>
              </a:rPr>
              <a:t>prepares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for</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10" normalizeH="0" baseline="0" noProof="0" dirty="0">
                <a:ln>
                  <a:noFill/>
                </a:ln>
                <a:solidFill>
                  <a:prstClr val="black"/>
                </a:solidFill>
                <a:effectLst/>
                <a:uLnTx/>
                <a:uFillTx/>
                <a:latin typeface="Calibri"/>
                <a:ea typeface="+mn-ea"/>
                <a:cs typeface="Calibri"/>
              </a:rPr>
              <a:t> responds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scenarios.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ts val="2970"/>
              </a:lnSpc>
              <a:spcBef>
                <a:spcPts val="105"/>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Organizational governance:</a:t>
            </a:r>
          </a:p>
          <a:p>
            <a:pPr marL="698500" marR="0" lvl="1" indent="-229235" algn="l" defTabSz="457200" rtl="0" eaLnBrk="1" fontAlgn="auto" latinLnBrk="0" hangingPunct="1">
              <a:lnSpc>
                <a:spcPts val="2350"/>
              </a:lnSpc>
              <a:spcBef>
                <a:spcPts val="0"/>
              </a:spcBef>
              <a:spcAft>
                <a:spcPts val="0"/>
              </a:spcAft>
              <a:buClrTx/>
              <a:buSzTx/>
              <a:buFont typeface="Arial MT"/>
              <a:buChar char="•"/>
              <a:tabLst>
                <a:tab pos="698500" algn="l"/>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Drive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organizational</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direction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terms</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compliance.</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ts val="2095"/>
              </a:lnSpc>
              <a:spcBef>
                <a:spcPts val="0"/>
              </a:spcBef>
              <a:spcAft>
                <a:spcPts val="0"/>
              </a:spcAft>
              <a:buClrTx/>
              <a:buSzTx/>
              <a:buFont typeface="Arial MT"/>
              <a:buChar char="•"/>
              <a:tabLst>
                <a:tab pos="698500" algn="l"/>
                <a:tab pos="699135" algn="l"/>
              </a:tabLst>
              <a:defRPr/>
            </a:pPr>
            <a:r>
              <a:rPr kumimoji="0" sz="2000" b="0" i="0" u="none" strike="noStrike" kern="1200" cap="none" spc="-20" normalizeH="0" baseline="0" noProof="0" dirty="0">
                <a:ln>
                  <a:noFill/>
                </a:ln>
                <a:solidFill>
                  <a:prstClr val="black"/>
                </a:solidFill>
                <a:effectLst/>
                <a:uLnTx/>
                <a:uFillTx/>
                <a:latin typeface="Calibri"/>
                <a:ea typeface="+mn-ea"/>
                <a:cs typeface="Calibri"/>
              </a:rPr>
              <a:t>May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help</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hinder 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business’s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35" normalizeH="0" baseline="0" noProof="0" dirty="0">
                <a:ln>
                  <a:noFill/>
                </a:ln>
                <a:solidFill>
                  <a:prstClr val="black"/>
                </a:solidFill>
                <a:effectLst/>
                <a:uLnTx/>
                <a:uFillTx/>
                <a:latin typeface="Calibri"/>
                <a:ea typeface="+mn-ea"/>
                <a:cs typeface="Calibri"/>
              </a:rPr>
              <a:t>strategy,</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depending upon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importance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that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0" indent="0" algn="l" defTabSz="457200" rtl="0" eaLnBrk="1" fontAlgn="auto" latinLnBrk="0" hangingPunct="1">
              <a:lnSpc>
                <a:spcPts val="2245"/>
              </a:lnSpc>
              <a:spcBef>
                <a:spcPts val="0"/>
              </a:spcBef>
              <a:spcAft>
                <a:spcPts val="0"/>
              </a:spcAft>
              <a:buClrTx/>
              <a:buSzTx/>
              <a:buFontTx/>
              <a:buNone/>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organizational</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leadership</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places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management.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ts val="2970"/>
              </a:lnSpc>
              <a:spcBef>
                <a:spcPts val="105"/>
              </a:spcBef>
              <a:spcAft>
                <a:spcPts val="0"/>
              </a:spcAft>
              <a:buClrTx/>
              <a:buSzTx/>
              <a:buFont typeface="Arial MT"/>
              <a:buChar char="•"/>
              <a:tabLst>
                <a:tab pos="241935"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Organization’s tolerance and appetite for risk:</a:t>
            </a:r>
          </a:p>
          <a:p>
            <a:pPr marL="698500" marR="5080" lvl="1" indent="-228600" algn="l" defTabSz="457200" rtl="0" eaLnBrk="1" fontAlgn="auto" latinLnBrk="0" hangingPunct="1">
              <a:lnSpc>
                <a:spcPct val="70000"/>
              </a:lnSpc>
              <a:spcBef>
                <a:spcPts val="645"/>
              </a:spcBef>
              <a:spcAft>
                <a:spcPts val="0"/>
              </a:spcAft>
              <a:buClrTx/>
              <a:buSzTx/>
              <a:buFont typeface="Arial MT"/>
              <a:buChar char="•"/>
              <a:tabLst>
                <a:tab pos="698500" algn="l"/>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Organization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may</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engage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riskier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business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pursuits, </a:t>
            </a:r>
            <a:r>
              <a:rPr kumimoji="0" sz="2000" b="0" i="0" u="none" strike="noStrike" kern="1200" cap="none" spc="-5" normalizeH="0" baseline="0" noProof="0" dirty="0">
                <a:ln>
                  <a:noFill/>
                </a:ln>
                <a:solidFill>
                  <a:prstClr val="black"/>
                </a:solidFill>
                <a:effectLst/>
                <a:uLnTx/>
                <a:uFillTx/>
                <a:latin typeface="Calibri"/>
                <a:ea typeface="+mn-ea"/>
                <a:cs typeface="Calibri"/>
              </a:rPr>
              <a:t>which </a:t>
            </a:r>
            <a:r>
              <a:rPr kumimoji="0" sz="2000" b="0" i="0" u="none" strike="noStrike" kern="1200" cap="none" spc="-15" normalizeH="0" baseline="0" noProof="0" dirty="0">
                <a:ln>
                  <a:noFill/>
                </a:ln>
                <a:solidFill>
                  <a:prstClr val="black"/>
                </a:solidFill>
                <a:effectLst/>
                <a:uLnTx/>
                <a:uFillTx/>
                <a:latin typeface="Calibri"/>
                <a:ea typeface="+mn-ea"/>
                <a:cs typeface="Calibri"/>
              </a:rPr>
              <a:t>may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increase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scenarios </a:t>
            </a:r>
            <a:r>
              <a:rPr kumimoji="0" sz="2000" b="0" i="0" u="none" strike="noStrike" kern="1200" cap="none" spc="-484"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their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likelihood</a:t>
            </a:r>
            <a:r>
              <a:rPr kumimoji="0" sz="2000" b="0" i="0" u="none" strike="noStrike" kern="1200" cap="none" spc="-5" normalizeH="0" baseline="0" noProof="0" dirty="0">
                <a:ln>
                  <a:noFill/>
                </a:ln>
                <a:solidFill>
                  <a:prstClr val="black"/>
                </a:solidFill>
                <a:effectLst/>
                <a:uLnTx/>
                <a:uFillTx/>
                <a:latin typeface="Calibri"/>
                <a:ea typeface="+mn-ea"/>
                <a:cs typeface="Calibri"/>
              </a:rPr>
              <a:t> and</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impact.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ts val="1955"/>
              </a:lnSpc>
              <a:spcBef>
                <a:spcPts val="0"/>
              </a:spcBef>
              <a:spcAft>
                <a:spcPts val="0"/>
              </a:spcAft>
              <a:buClrTx/>
              <a:buSzTx/>
              <a:buFont typeface="Arial MT"/>
              <a:buChar char="•"/>
              <a:tabLst>
                <a:tab pos="698500" algn="l"/>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Organizations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that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have</a:t>
            </a:r>
            <a:r>
              <a:rPr kumimoji="0" sz="2000" b="0" i="0" u="none" strike="noStrike" kern="1200" cap="none" spc="-5" normalizeH="0" baseline="0" noProof="0" dirty="0">
                <a:ln>
                  <a:noFill/>
                </a:ln>
                <a:solidFill>
                  <a:prstClr val="black"/>
                </a:solidFill>
                <a:effectLst/>
                <a:uLnTx/>
                <a:uFillTx/>
                <a:latin typeface="Calibri"/>
                <a:ea typeface="+mn-ea"/>
                <a:cs typeface="Calibri"/>
              </a:rPr>
              <a:t> a</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low</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tolerance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appetite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for</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reducing</a:t>
            </a:r>
            <a:r>
              <a:rPr kumimoji="0" sz="2000" b="0" i="0" u="none" strike="noStrike" kern="1200" cap="none" spc="-5" normalizeH="0" baseline="0" noProof="0" dirty="0">
                <a:ln>
                  <a:noFill/>
                </a:ln>
                <a:solidFill>
                  <a:prstClr val="black"/>
                </a:solidFill>
                <a:effectLst/>
                <a:uLnTx/>
                <a:uFillTx/>
                <a:latin typeface="Calibri"/>
                <a:ea typeface="+mn-ea"/>
                <a:cs typeface="Calibri"/>
              </a:rPr>
              <a:t> 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number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0" indent="0" algn="l" defTabSz="457200" rtl="0" eaLnBrk="1" fontAlgn="auto" latinLnBrk="0" hangingPunct="1">
              <a:lnSpc>
                <a:spcPts val="2100"/>
              </a:lnSpc>
              <a:spcBef>
                <a:spcPts val="0"/>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level</a:t>
            </a:r>
            <a:r>
              <a:rPr kumimoji="0" sz="2000" b="0" i="0" u="none" strike="noStrike" kern="1200" cap="none" spc="0" normalizeH="0" baseline="0" noProof="0" dirty="0">
                <a:ln>
                  <a:noFill/>
                </a:ln>
                <a:solidFill>
                  <a:prstClr val="black"/>
                </a:solidFill>
                <a:effectLst/>
                <a:uLnTx/>
                <a:uFillTx/>
                <a:latin typeface="Calibri"/>
                <a:ea typeface="+mn-ea"/>
                <a:cs typeface="Calibri"/>
              </a:rPr>
              <a:t> of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scenarios</a:t>
            </a:r>
            <a:r>
              <a:rPr kumimoji="0" sz="2000" b="0" i="0" u="none" strike="noStrike" kern="1200" cap="none" spc="-10" normalizeH="0" baseline="0" noProof="0" dirty="0">
                <a:ln>
                  <a:noFill/>
                </a:ln>
                <a:solidFill>
                  <a:prstClr val="black"/>
                </a:solidFill>
                <a:effectLst/>
                <a:uLnTx/>
                <a:uFillTx/>
                <a:latin typeface="Calibri"/>
                <a:ea typeface="+mn-ea"/>
                <a:cs typeface="Calibri"/>
              </a:rPr>
              <a:t> that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may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affect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them</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reducing</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likelihood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 impact.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210820" lvl="1" indent="-228600" algn="l" defTabSz="457200" rtl="0" eaLnBrk="1" fontAlgn="auto" latinLnBrk="0" hangingPunct="1">
              <a:lnSpc>
                <a:spcPct val="70000"/>
              </a:lnSpc>
              <a:spcBef>
                <a:spcPts val="650"/>
              </a:spcBef>
              <a:spcAft>
                <a:spcPts val="0"/>
              </a:spcAft>
              <a:buClrTx/>
              <a:buSzTx/>
              <a:buFont typeface="Arial MT"/>
              <a:buChar char="•"/>
              <a:tabLst>
                <a:tab pos="698500" algn="l"/>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Organizations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tend</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have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lower</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tolerance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appetite</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may</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also </a:t>
            </a:r>
            <a:r>
              <a:rPr kumimoji="0" sz="2000" b="0" i="0" u="none" strike="noStrike" kern="1200" cap="none" spc="-10" normalizeH="0" baseline="0" noProof="0" dirty="0">
                <a:ln>
                  <a:noFill/>
                </a:ln>
                <a:solidFill>
                  <a:prstClr val="black"/>
                </a:solidFill>
                <a:effectLst/>
                <a:uLnTx/>
                <a:uFillTx/>
                <a:latin typeface="Calibri"/>
                <a:ea typeface="+mn-ea"/>
                <a:cs typeface="Calibri"/>
              </a:rPr>
              <a:t>increase </a:t>
            </a:r>
            <a:r>
              <a:rPr kumimoji="0" sz="2000" b="0" i="0" u="none" strike="noStrike" kern="1200" cap="none" spc="-484"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their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level</a:t>
            </a:r>
            <a:r>
              <a:rPr kumimoji="0" sz="2000" b="0" i="0" u="none" strike="noStrike" kern="1200" cap="none" spc="0" normalizeH="0" baseline="0" noProof="0" dirty="0">
                <a:ln>
                  <a:noFill/>
                </a:ln>
                <a:solidFill>
                  <a:prstClr val="black"/>
                </a:solidFill>
                <a:effectLst/>
                <a:uLnTx/>
                <a:uFillTx/>
                <a:latin typeface="Calibri"/>
                <a:ea typeface="+mn-ea"/>
                <a:cs typeface="Calibri"/>
              </a:rPr>
              <a:t> of</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commitment</a:t>
            </a:r>
            <a:r>
              <a:rPr kumimoji="0" sz="2000" b="0" i="0" u="none" strike="noStrike" kern="1200" cap="none" spc="4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controls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would reduce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939" y="684657"/>
            <a:ext cx="9615805" cy="874598"/>
          </a:xfrm>
          <a:prstGeom prst="rect">
            <a:avLst/>
          </a:prstGeom>
        </p:spPr>
        <p:txBody>
          <a:bodyPr vert="horz" wrap="square" lIns="0" tIns="12700" rIns="0" bIns="0" rtlCol="0">
            <a:spAutoFit/>
          </a:bodyPr>
          <a:lstStyle/>
          <a:p>
            <a:pPr marL="12700">
              <a:lnSpc>
                <a:spcPct val="100000"/>
              </a:lnSpc>
              <a:spcBef>
                <a:spcPts val="100"/>
              </a:spcBef>
            </a:pPr>
            <a:r>
              <a:rPr sz="2800" u="sng" spc="-10" dirty="0">
                <a:solidFill>
                  <a:srgbClr val="C00000"/>
                </a:solidFill>
                <a:uFill>
                  <a:solidFill>
                    <a:srgbClr val="000000"/>
                  </a:solidFill>
                </a:uFill>
              </a:rPr>
              <a:t>Technological Factors Affecting Likelihood and Impact</a:t>
            </a:r>
            <a:br>
              <a:rPr lang="en-US" sz="2800" u="heavy" spc="-10" dirty="0">
                <a:solidFill>
                  <a:srgbClr val="C00000"/>
                </a:solidFill>
                <a:uFill>
                  <a:solidFill>
                    <a:srgbClr val="000000"/>
                  </a:solidFill>
                </a:uFill>
              </a:rPr>
            </a:br>
            <a:endParaRPr sz="2800" u="heavy" spc="-10" dirty="0">
              <a:solidFill>
                <a:srgbClr val="C00000"/>
              </a:solidFill>
              <a:uFill>
                <a:solidFill>
                  <a:srgbClr val="000000"/>
                </a:solidFill>
              </a:uFill>
            </a:endParaRPr>
          </a:p>
        </p:txBody>
      </p:sp>
      <p:sp>
        <p:nvSpPr>
          <p:cNvPr id="4" name="object 4"/>
          <p:cNvSpPr txBox="1"/>
          <p:nvPr/>
        </p:nvSpPr>
        <p:spPr>
          <a:xfrm>
            <a:off x="1042035" y="1371600"/>
            <a:ext cx="9490709" cy="3397020"/>
          </a:xfrm>
          <a:prstGeom prst="rect">
            <a:avLst/>
          </a:prstGeom>
        </p:spPr>
        <p:txBody>
          <a:bodyPr vert="horz" wrap="square" lIns="0" tIns="54610" rIns="0" bIns="0" rtlCol="0">
            <a:spAutoFit/>
          </a:bodyPr>
          <a:lstStyle/>
          <a:p>
            <a:pPr marL="241300" marR="23495" lvl="0" indent="-229235" algn="l" defTabSz="457200" rtl="0" eaLnBrk="1" fontAlgn="auto" latinLnBrk="0" hangingPunct="1">
              <a:lnSpc>
                <a:spcPct val="90000"/>
              </a:lnSpc>
              <a:spcBef>
                <a:spcPts val="430"/>
              </a:spcBef>
              <a:spcAft>
                <a:spcPts val="0"/>
              </a:spcAft>
              <a:buClrTx/>
              <a:buSzTx/>
              <a:buFont typeface="Arial MT"/>
              <a:buChar char="•"/>
              <a:tabLst>
                <a:tab pos="241935" algn="l"/>
              </a:tabLst>
              <a:defRPr/>
            </a:pPr>
            <a:r>
              <a:rPr kumimoji="0" sz="2400" b="0" i="0" u="none" strike="noStrike" kern="1200" cap="none" spc="-20" normalizeH="0" baseline="0" noProof="0" dirty="0">
                <a:ln>
                  <a:noFill/>
                </a:ln>
                <a:solidFill>
                  <a:prstClr val="black"/>
                </a:solidFill>
                <a:effectLst/>
                <a:uLnTx/>
                <a:uFillTx/>
                <a:latin typeface="Calibri"/>
                <a:ea typeface="+mn-ea"/>
                <a:cs typeface="Calibri"/>
              </a:rPr>
              <a:t>Organizations</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that</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rapidly</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change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business</a:t>
            </a:r>
            <a:r>
              <a:rPr kumimoji="0" sz="2400" b="0" i="0" u="none" strike="noStrike" kern="1200" cap="none" spc="55"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strategy</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or</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markets</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or </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develop</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new</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products</a:t>
            </a:r>
            <a:r>
              <a:rPr kumimoji="0" sz="2400" b="0" i="0" u="none" strike="noStrike" kern="1200" cap="none" spc="5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or</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processes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are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typically</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at</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mercy</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of </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established</a:t>
            </a:r>
            <a:r>
              <a:rPr kumimoji="0" sz="2400" b="0" i="0" u="none" strike="noStrike" kern="1200" cap="none" spc="4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infrastructures</a:t>
            </a:r>
            <a:r>
              <a:rPr kumimoji="0" sz="2400" b="0" i="0" u="none" strike="noStrike" kern="1200" cap="none" spc="5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that</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are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more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slow-moving</a:t>
            </a:r>
            <a:r>
              <a:rPr kumimoji="0" sz="2400" b="0" i="0" u="none" strike="noStrike" kern="1200" cap="none" spc="3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or</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even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static </a:t>
            </a:r>
            <a:r>
              <a:rPr kumimoji="0" sz="2400" b="0" i="0" u="none" strike="noStrike" kern="1200" cap="none" spc="-6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in </a:t>
            </a:r>
            <a:r>
              <a:rPr kumimoji="0" sz="2400" b="0" i="0" u="none" strike="noStrike" kern="1200" cap="none" spc="-15" normalizeH="0" baseline="0" noProof="0" dirty="0">
                <a:ln>
                  <a:noFill/>
                </a:ln>
                <a:solidFill>
                  <a:prstClr val="black"/>
                </a:solidFill>
                <a:effectLst/>
                <a:uLnTx/>
                <a:uFillTx/>
                <a:latin typeface="Calibri"/>
                <a:ea typeface="+mn-ea"/>
                <a:cs typeface="Calibri"/>
              </a:rPr>
              <a:t>nature.</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698500" marR="30480" lvl="1" indent="-228600" algn="l" defTabSz="457200" rtl="0" eaLnBrk="1" fontAlgn="auto" latinLnBrk="0" hangingPunct="1">
              <a:lnSpc>
                <a:spcPts val="2590"/>
              </a:lnSpc>
              <a:spcBef>
                <a:spcPts val="575"/>
              </a:spcBef>
              <a:spcAft>
                <a:spcPts val="0"/>
              </a:spcAft>
              <a:buClrTx/>
              <a:buSzTx/>
              <a:buFont typeface="Arial MT"/>
              <a:buChar char="•"/>
              <a:tabLst>
                <a:tab pos="699135" algn="l"/>
              </a:tabLst>
              <a:defRPr/>
            </a:pP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static</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nature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installed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technology </a:t>
            </a:r>
            <a:r>
              <a:rPr kumimoji="0" sz="2000" b="0" i="0" u="none" strike="noStrike" kern="1200" cap="none" spc="-15" normalizeH="0" baseline="0" noProof="0" dirty="0">
                <a:ln>
                  <a:noFill/>
                </a:ln>
                <a:solidFill>
                  <a:prstClr val="black"/>
                </a:solidFill>
                <a:effectLst/>
                <a:uLnTx/>
                <a:uFillTx/>
                <a:latin typeface="Calibri"/>
                <a:ea typeface="+mn-ea"/>
                <a:cs typeface="Calibri"/>
              </a:rPr>
              <a:t>may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actually</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increase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likelihood </a:t>
            </a:r>
            <a:r>
              <a:rPr kumimoji="0" sz="2000" b="0" i="0" u="none" strike="noStrike" kern="1200" cap="none" spc="-52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impact</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0" normalizeH="0" baseline="0" noProof="0" dirty="0">
                <a:ln>
                  <a:noFill/>
                </a:ln>
                <a:solidFill>
                  <a:prstClr val="black"/>
                </a:solidFill>
                <a:effectLst/>
                <a:uLnTx/>
                <a:uFillTx/>
                <a:latin typeface="Calibri"/>
                <a:ea typeface="+mn-ea"/>
                <a:cs typeface="Calibri"/>
              </a:rPr>
              <a:t>risk</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scenarios.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ts val="2735"/>
              </a:lnSpc>
              <a:spcBef>
                <a:spcPts val="180"/>
              </a:spcBef>
              <a:spcAft>
                <a:spcPts val="0"/>
              </a:spcAft>
              <a:buClrTx/>
              <a:buSzTx/>
              <a:buFont typeface="Arial MT"/>
              <a:buChar char="•"/>
              <a:tabLst>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New</a:t>
            </a:r>
            <a:r>
              <a:rPr kumimoji="0" sz="2000" b="0" i="0" u="none" strike="noStrike" kern="1200" cap="none" spc="0" normalizeH="0" baseline="0" noProof="0" dirty="0">
                <a:ln>
                  <a:noFill/>
                </a:ln>
                <a:solidFill>
                  <a:prstClr val="black"/>
                </a:solidFill>
                <a:effectLst/>
                <a:uLnTx/>
                <a:uFillTx/>
                <a:latin typeface="Calibri"/>
                <a:ea typeface="+mn-ea"/>
                <a:cs typeface="Calibri"/>
              </a:rPr>
              <a:t> and</a:t>
            </a:r>
            <a:r>
              <a:rPr kumimoji="0" sz="2000" b="0" i="0" u="none" strike="noStrike" kern="1200" cap="none" spc="-5" normalizeH="0" baseline="0" noProof="0" dirty="0">
                <a:ln>
                  <a:noFill/>
                </a:ln>
                <a:solidFill>
                  <a:prstClr val="black"/>
                </a:solidFill>
                <a:effectLst/>
                <a:uLnTx/>
                <a:uFillTx/>
                <a:latin typeface="Calibri"/>
                <a:ea typeface="+mn-ea"/>
                <a:cs typeface="Calibri"/>
              </a:rPr>
              <a:t> emerging</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threats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that</a:t>
            </a:r>
            <a:r>
              <a:rPr kumimoji="0" sz="2000" b="0" i="0" u="none" strike="noStrike" kern="1200" cap="none" spc="-15" normalizeH="0" baseline="0" noProof="0" dirty="0">
                <a:ln>
                  <a:noFill/>
                </a:ln>
                <a:solidFill>
                  <a:prstClr val="black"/>
                </a:solidFill>
                <a:effectLst/>
                <a:uLnTx/>
                <a:uFillTx/>
                <a:latin typeface="Calibri"/>
                <a:ea typeface="+mn-ea"/>
                <a:cs typeface="Calibri"/>
              </a:rPr>
              <a:t> are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identified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every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day</a:t>
            </a:r>
            <a:r>
              <a:rPr kumimoji="0" sz="2000" b="0" i="0" u="none" strike="noStrike" kern="1200" cap="none" spc="0" normalizeH="0" baseline="0" noProof="0" dirty="0">
                <a:ln>
                  <a:noFill/>
                </a:ln>
                <a:solidFill>
                  <a:prstClr val="black"/>
                </a:solidFill>
                <a:effectLst/>
                <a:uLnTx/>
                <a:uFillTx/>
                <a:latin typeface="Calibri"/>
                <a:ea typeface="+mn-ea"/>
                <a:cs typeface="Calibri"/>
              </a:rPr>
              <a:t> also</a:t>
            </a:r>
            <a:r>
              <a:rPr kumimoji="0" sz="2000" b="0" i="0" u="none" strike="noStrike" kern="1200" cap="none" spc="-5" normalizeH="0" baseline="0" noProof="0" dirty="0">
                <a:ln>
                  <a:noFill/>
                </a:ln>
                <a:solidFill>
                  <a:prstClr val="black"/>
                </a:solidFill>
                <a:effectLst/>
                <a:uLnTx/>
                <a:uFillTx/>
                <a:latin typeface="Calibri"/>
                <a:ea typeface="+mn-ea"/>
                <a:cs typeface="Calibri"/>
              </a:rPr>
              <a:t> cause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a:t>
            </a:r>
          </a:p>
          <a:p>
            <a:pPr marL="698500" marR="0" lvl="0" indent="0" algn="l" defTabSz="457200" rtl="0" eaLnBrk="1" fontAlgn="auto" latinLnBrk="0" hangingPunct="1">
              <a:lnSpc>
                <a:spcPts val="2735"/>
              </a:lnSpc>
              <a:spcBef>
                <a:spcPts val="0"/>
              </a:spcBef>
              <a:spcAft>
                <a:spcPts val="0"/>
              </a:spcAft>
              <a:buClrTx/>
              <a:buSzTx/>
              <a:buFontTx/>
              <a:buNone/>
              <a:tabLst/>
              <a:defRPr/>
            </a:pPr>
            <a:r>
              <a:rPr kumimoji="0" sz="2000" b="0" i="0" u="none" strike="noStrike" kern="1200" cap="none" spc="-25" normalizeH="0" baseline="0" noProof="0" dirty="0">
                <a:ln>
                  <a:noFill/>
                </a:ln>
                <a:solidFill>
                  <a:prstClr val="black"/>
                </a:solidFill>
                <a:effectLst/>
                <a:uLnTx/>
                <a:uFillTx/>
                <a:latin typeface="Calibri"/>
                <a:ea typeface="+mn-ea"/>
                <a:cs typeface="Calibri"/>
              </a:rPr>
              <a:t>organization’s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technologies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to</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 </a:t>
            </a:r>
            <a:r>
              <a:rPr kumimoji="0" sz="2000" b="0" i="0" u="none" strike="noStrike" kern="1200" cap="none" spc="-10" normalizeH="0" baseline="0" noProof="0" dirty="0">
                <a:ln>
                  <a:noFill/>
                </a:ln>
                <a:solidFill>
                  <a:prstClr val="black"/>
                </a:solidFill>
                <a:effectLst/>
                <a:uLnTx/>
                <a:uFillTx/>
                <a:latin typeface="Calibri"/>
                <a:ea typeface="+mn-ea"/>
                <a:cs typeface="Calibri"/>
              </a:rPr>
              <a:t>reactive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mode.</a:t>
            </a:r>
          </a:p>
          <a:p>
            <a:pPr marL="241300" marR="5080" lvl="0" indent="-229235" algn="l" defTabSz="457200" rtl="0" eaLnBrk="1" fontAlgn="auto" latinLnBrk="0" hangingPunct="1">
              <a:lnSpc>
                <a:spcPts val="3020"/>
              </a:lnSpc>
              <a:spcBef>
                <a:spcPts val="1015"/>
              </a:spcBef>
              <a:spcAft>
                <a:spcPts val="0"/>
              </a:spcAft>
              <a:buClrTx/>
              <a:buSzTx/>
              <a:buFont typeface="Arial MT"/>
              <a:buChar char="•"/>
              <a:tabLst>
                <a:tab pos="241935" algn="l"/>
              </a:tabLst>
              <a:defRPr/>
            </a:pPr>
            <a:r>
              <a:rPr kumimoji="0" sz="2400" b="0" i="0" u="none" strike="noStrike" kern="1200" cap="none" spc="-30" normalizeH="0" baseline="0" noProof="0" dirty="0">
                <a:ln>
                  <a:noFill/>
                </a:ln>
                <a:solidFill>
                  <a:prstClr val="black"/>
                </a:solidFill>
                <a:effectLst/>
                <a:uLnTx/>
                <a:uFillTx/>
                <a:latin typeface="Calibri"/>
                <a:ea typeface="+mn-ea"/>
                <a:cs typeface="Calibri"/>
              </a:rPr>
              <a:t>Technology</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can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have</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both</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positive</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negative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effects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on</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likelihood </a:t>
            </a:r>
            <a:r>
              <a:rPr kumimoji="0" sz="2400" b="0" i="0" u="none" strike="noStrike" kern="1200" cap="none" spc="-6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impact.</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533400"/>
            <a:ext cx="8387715" cy="112146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sng" spc="-10" dirty="0">
                <a:solidFill>
                  <a:srgbClr val="C00000"/>
                </a:solidFill>
                <a:uFill>
                  <a:solidFill>
                    <a:srgbClr val="000000"/>
                  </a:solidFill>
                </a:uFill>
              </a:rPr>
              <a:t>Risk Register</a:t>
            </a:r>
            <a:br>
              <a:rPr lang="en-US" u="heavy" spc="-10" dirty="0">
                <a:solidFill>
                  <a:srgbClr val="C00000"/>
                </a:solidFill>
                <a:uFill>
                  <a:solidFill>
                    <a:srgbClr val="000000"/>
                  </a:solidFill>
                </a:uFill>
              </a:rPr>
            </a:br>
            <a:endParaRPr u="heavy" spc="-50" dirty="0">
              <a:uFill>
                <a:solidFill>
                  <a:srgbClr val="000000"/>
                </a:solidFill>
              </a:uFill>
            </a:endParaRPr>
          </a:p>
        </p:txBody>
      </p:sp>
      <p:sp>
        <p:nvSpPr>
          <p:cNvPr id="3" name="object 3"/>
          <p:cNvSpPr txBox="1"/>
          <p:nvPr/>
        </p:nvSpPr>
        <p:spPr>
          <a:xfrm>
            <a:off x="1528126" y="1143000"/>
            <a:ext cx="7617461" cy="4329134"/>
          </a:xfrm>
          <a:prstGeom prst="rect">
            <a:avLst/>
          </a:prstGeom>
        </p:spPr>
        <p:txBody>
          <a:bodyPr vert="horz" wrap="square" lIns="0" tIns="60960" rIns="0" bIns="0" rtlCol="0">
            <a:spAutoFit/>
          </a:bodyPr>
          <a:lstStyle/>
          <a:p>
            <a:pPr marL="12065" marR="5080" lvl="0" indent="0" algn="l" defTabSz="457200" rtl="0" eaLnBrk="1" fontAlgn="auto" latinLnBrk="0" hangingPunct="1">
              <a:lnSpc>
                <a:spcPts val="3020"/>
              </a:lnSpc>
              <a:spcBef>
                <a:spcPts val="480"/>
              </a:spcBef>
              <a:spcAft>
                <a:spcPts val="0"/>
              </a:spcAft>
              <a:buClrTx/>
              <a:buSzTx/>
              <a:buFontTx/>
              <a:buNone/>
              <a:tabLst>
                <a:tab pos="241935" algn="l"/>
              </a:tabLst>
              <a:defRPr/>
            </a:pPr>
            <a:r>
              <a:rPr kumimoji="0"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rPr>
              <a:t>Risk register </a:t>
            </a:r>
            <a:endParaRPr kumimoji="0" lang="en-US" sz="2400" b="0" i="0" u="none" strike="noStrike" kern="1200" cap="none" spc="-15" normalizeH="0" baseline="0" noProof="0" dirty="0">
              <a:ln>
                <a:noFill/>
              </a:ln>
              <a:solidFill>
                <a:srgbClr val="7030A0"/>
              </a:solidFill>
              <a:effectLst/>
              <a:uLnTx/>
              <a:uFillTx/>
              <a:latin typeface="Berlin Sans FB" panose="020E0602020502020306" pitchFamily="34" charset="0"/>
              <a:ea typeface="+mn-ea"/>
              <a:cs typeface="Calibri"/>
            </a:endParaRPr>
          </a:p>
          <a:p>
            <a:pPr marL="469265" marR="5080" lvl="0" indent="-457200" algn="l" defTabSz="457200" rtl="0" eaLnBrk="1" fontAlgn="auto" latinLnBrk="0" hangingPunct="1">
              <a:lnSpc>
                <a:spcPts val="3020"/>
              </a:lnSpc>
              <a:spcBef>
                <a:spcPts val="480"/>
              </a:spcBef>
              <a:spcAft>
                <a:spcPts val="0"/>
              </a:spcAft>
              <a:buClrTx/>
              <a:buSzTx/>
              <a:buFont typeface="+mj-lt"/>
              <a:buAutoNum type="arabicPeriod"/>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is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product</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 </a:t>
            </a:r>
            <a:r>
              <a:rPr kumimoji="0" sz="2000" b="0" i="0" u="none" strike="noStrike" kern="1200" cap="none" spc="-10" normalizeH="0" baseline="0" noProof="0" dirty="0">
                <a:ln>
                  <a:noFill/>
                </a:ln>
                <a:solidFill>
                  <a:prstClr val="black"/>
                </a:solidFill>
                <a:effectLst/>
                <a:uLnTx/>
                <a:uFillTx/>
                <a:latin typeface="Calibri"/>
                <a:ea typeface="+mn-ea"/>
                <a:cs typeface="Calibri"/>
              </a:rPr>
              <a:t>document</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reflects</a:t>
            </a:r>
            <a:r>
              <a:rPr kumimoji="0" sz="2000" b="0" i="0" u="none" strike="noStrike" kern="1200" cap="none" spc="-5" normalizeH="0" baseline="0" noProof="0" dirty="0">
                <a:ln>
                  <a:noFill/>
                </a:ln>
                <a:solidFill>
                  <a:prstClr val="black"/>
                </a:solidFill>
                <a:effectLst/>
                <a:uLnTx/>
                <a:uFillTx/>
                <a:latin typeface="Calibri"/>
                <a:ea typeface="+mn-ea"/>
                <a:cs typeface="Calibri"/>
              </a:rPr>
              <a:t> the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different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 </a:t>
            </a:r>
            <a:r>
              <a:rPr kumimoji="0" sz="2000" b="0" i="0" u="none" strike="noStrike" kern="1200" cap="none" spc="-6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scenarios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factors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for</a:t>
            </a:r>
            <a:r>
              <a:rPr kumimoji="0" sz="2000" b="0" i="0" u="none" strike="noStrike" kern="1200" cap="none" spc="-5" normalizeH="0" baseline="0" noProof="0" dirty="0">
                <a:ln>
                  <a:noFill/>
                </a:ln>
                <a:solidFill>
                  <a:prstClr val="black"/>
                </a:solidFill>
                <a:effectLst/>
                <a:uLnTx/>
                <a:uFillTx/>
                <a:latin typeface="Calibri"/>
                <a:ea typeface="+mn-ea"/>
                <a:cs typeface="Calibri"/>
              </a:rPr>
              <a:t> a </a:t>
            </a:r>
            <a:r>
              <a:rPr kumimoji="0" sz="2000" b="0" i="0" u="none" strike="noStrike" kern="1200" cap="none" spc="-10" normalizeH="0" baseline="0" noProof="0" dirty="0">
                <a:ln>
                  <a:noFill/>
                </a:ln>
                <a:solidFill>
                  <a:prstClr val="black"/>
                </a:solidFill>
                <a:effectLst/>
                <a:uLnTx/>
                <a:uFillTx/>
                <a:latin typeface="Calibri"/>
                <a:ea typeface="+mn-ea"/>
                <a:cs typeface="Calibri"/>
              </a:rPr>
              <a:t>given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context.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485140" lvl="0" indent="-457200" algn="l" defTabSz="457200" rtl="0" eaLnBrk="1" fontAlgn="auto" latinLnBrk="0" hangingPunct="1">
              <a:lnSpc>
                <a:spcPts val="3020"/>
              </a:lnSpc>
              <a:spcBef>
                <a:spcPts val="1015"/>
              </a:spcBef>
              <a:spcAft>
                <a:spcPts val="0"/>
              </a:spcAft>
              <a:buClrTx/>
              <a:buSzTx/>
              <a:buFont typeface="+mj-lt"/>
              <a:buAutoNum type="arabicPeriod"/>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It </a:t>
            </a:r>
            <a:r>
              <a:rPr kumimoji="0" sz="2000" b="0" i="0" u="none" strike="noStrike" kern="1200" cap="none" spc="-10" normalizeH="0" baseline="0" noProof="0" dirty="0">
                <a:ln>
                  <a:noFill/>
                </a:ln>
                <a:solidFill>
                  <a:prstClr val="black"/>
                </a:solidFill>
                <a:effectLst/>
                <a:uLnTx/>
                <a:uFillTx/>
                <a:latin typeface="Calibri"/>
                <a:ea typeface="+mn-ea"/>
                <a:cs typeface="Calibri"/>
              </a:rPr>
              <a:t>could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be </a:t>
            </a:r>
            <a:r>
              <a:rPr kumimoji="0" sz="2000" b="0" i="0" u="none" strike="noStrike" kern="1200" cap="none" spc="-25" normalizeH="0" baseline="0" noProof="0" dirty="0">
                <a:ln>
                  <a:noFill/>
                </a:ln>
                <a:solidFill>
                  <a:prstClr val="black"/>
                </a:solidFill>
                <a:effectLst/>
                <a:uLnTx/>
                <a:uFillTx/>
                <a:latin typeface="Calibri"/>
                <a:ea typeface="+mn-ea"/>
                <a:cs typeface="Calibri"/>
              </a:rPr>
              <a:t>for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 </a:t>
            </a:r>
            <a:r>
              <a:rPr kumimoji="0" sz="2000" b="0" i="0" u="none" strike="noStrike" kern="1200" cap="none" spc="-10" normalizeH="0" baseline="0" noProof="0" dirty="0">
                <a:ln>
                  <a:noFill/>
                </a:ln>
                <a:solidFill>
                  <a:prstClr val="black"/>
                </a:solidFill>
                <a:effectLst/>
                <a:uLnTx/>
                <a:uFillTx/>
                <a:latin typeface="Calibri"/>
                <a:ea typeface="+mn-ea"/>
                <a:cs typeface="Calibri"/>
              </a:rPr>
              <a:t>single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system,</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for</a:t>
            </a:r>
            <a:r>
              <a:rPr kumimoji="0" sz="2000" b="0" i="0" u="none" strike="noStrike" kern="1200" cap="none" spc="-5" normalizeH="0" baseline="0" noProof="0" dirty="0">
                <a:ln>
                  <a:noFill/>
                </a:ln>
                <a:solidFill>
                  <a:prstClr val="black"/>
                </a:solidFill>
                <a:effectLst/>
                <a:uLnTx/>
                <a:uFillTx/>
                <a:latin typeface="Calibri"/>
                <a:ea typeface="+mn-ea"/>
                <a:cs typeface="Calibri"/>
              </a:rPr>
              <a:t> a</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component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system,</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or </a:t>
            </a:r>
            <a:r>
              <a:rPr kumimoji="0" sz="2000" b="0" i="0" u="none" strike="noStrike" kern="1200" cap="none" spc="-6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even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for</a:t>
            </a:r>
            <a:r>
              <a:rPr kumimoji="0" sz="2000" b="0" i="0" u="none" strike="noStrike" kern="1200" cap="none" spc="-5" normalizeH="0" baseline="0" noProof="0" dirty="0">
                <a:ln>
                  <a:noFill/>
                </a:ln>
                <a:solidFill>
                  <a:prstClr val="black"/>
                </a:solidFill>
                <a:effectLst/>
                <a:uLnTx/>
                <a:uFillTx/>
                <a:latin typeface="Calibri"/>
                <a:ea typeface="+mn-ea"/>
                <a:cs typeface="Calibri"/>
              </a:rPr>
              <a:t> a</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higher-level</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organizational</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element.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0" lvl="0" indent="-457200" algn="l" defTabSz="457200" rtl="0" eaLnBrk="1" fontAlgn="auto" latinLnBrk="0" hangingPunct="1">
              <a:lnSpc>
                <a:spcPct val="100000"/>
              </a:lnSpc>
              <a:spcBef>
                <a:spcPts val="625"/>
              </a:spcBef>
              <a:spcAft>
                <a:spcPts val="0"/>
              </a:spcAft>
              <a:buClrTx/>
              <a:buSzTx/>
              <a:buFont typeface="+mj-lt"/>
              <a:buAutoNum type="arabicPeriod"/>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It also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may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address</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only</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small</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portion</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specific</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piece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337820" lvl="0" indent="-457200" algn="l" defTabSz="457200" rtl="0" eaLnBrk="1" fontAlgn="auto" latinLnBrk="0" hangingPunct="1">
              <a:lnSpc>
                <a:spcPts val="3020"/>
              </a:lnSpc>
              <a:spcBef>
                <a:spcPts val="1045"/>
              </a:spcBef>
              <a:spcAft>
                <a:spcPts val="0"/>
              </a:spcAft>
              <a:buClrTx/>
              <a:buSzTx/>
              <a:buFont typeface="+mj-lt"/>
              <a:buAutoNum type="arabicPeriod"/>
              <a:tabLst>
                <a:tab pos="2419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The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register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used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record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manage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serves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 </a:t>
            </a:r>
            <a:r>
              <a:rPr kumimoji="0" sz="2000" b="0" i="0" u="none" strike="noStrike" kern="1200" cap="none" spc="-61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reference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point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for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tracking</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through</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its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life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cycle.</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415290" lvl="0" indent="-457200" algn="l" defTabSz="457200" rtl="0" eaLnBrk="1" fontAlgn="auto" latinLnBrk="0" hangingPunct="1">
              <a:lnSpc>
                <a:spcPts val="3020"/>
              </a:lnSpc>
              <a:spcBef>
                <a:spcPts val="1015"/>
              </a:spcBef>
              <a:spcAft>
                <a:spcPts val="0"/>
              </a:spcAft>
              <a:buClrTx/>
              <a:buSzTx/>
              <a:buFont typeface="+mj-lt"/>
              <a:buAutoNum type="arabicPeriod"/>
              <a:tabLst>
                <a:tab pos="241935" algn="l"/>
              </a:tabLst>
              <a:defRPr/>
            </a:pPr>
            <a:r>
              <a:rPr kumimoji="0" sz="2000" b="0" i="0" u="none" strike="noStrike" kern="1200" cap="none" spc="-25" normalizeH="0" baseline="0" noProof="0" dirty="0">
                <a:ln>
                  <a:noFill/>
                </a:ln>
                <a:solidFill>
                  <a:prstClr val="black"/>
                </a:solidFill>
                <a:effectLst/>
                <a:uLnTx/>
                <a:uFillTx/>
                <a:latin typeface="Calibri"/>
                <a:ea typeface="+mn-ea"/>
                <a:cs typeface="Calibri"/>
              </a:rPr>
              <a:t>Different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organizations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may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have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different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entries</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elements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on </a:t>
            </a:r>
            <a:r>
              <a:rPr kumimoji="0" sz="2000" b="0" i="0" u="none" strike="noStrike" kern="1200" cap="none" spc="-6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their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own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registers.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12146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sng" spc="-10" dirty="0">
                <a:solidFill>
                  <a:srgbClr val="C00000"/>
                </a:solidFill>
                <a:uFill>
                  <a:solidFill>
                    <a:srgbClr val="000000"/>
                  </a:solidFill>
                </a:uFill>
              </a:rPr>
              <a:t>Elements of Risk Register</a:t>
            </a:r>
            <a:br>
              <a:rPr lang="en-US" u="heavy" spc="-10" dirty="0">
                <a:solidFill>
                  <a:srgbClr val="C00000"/>
                </a:solidFill>
                <a:uFill>
                  <a:solidFill>
                    <a:srgbClr val="000000"/>
                  </a:solidFill>
                </a:uFill>
              </a:rPr>
            </a:br>
            <a:endParaRPr u="heavy" spc="-50" dirty="0">
              <a:uFill>
                <a:solidFill>
                  <a:srgbClr val="000000"/>
                </a:solidFill>
              </a:uFill>
            </a:endParaRPr>
          </a:p>
        </p:txBody>
      </p:sp>
      <p:sp>
        <p:nvSpPr>
          <p:cNvPr id="3" name="object 3"/>
          <p:cNvSpPr txBox="1"/>
          <p:nvPr/>
        </p:nvSpPr>
        <p:spPr>
          <a:xfrm>
            <a:off x="1447800" y="1392237"/>
            <a:ext cx="6765290" cy="4073525"/>
          </a:xfrm>
          <a:prstGeom prst="rect">
            <a:avLst/>
          </a:prstGeom>
        </p:spPr>
        <p:txBody>
          <a:bodyPr vert="horz" wrap="square" lIns="0" tIns="13335" rIns="0" bIns="0" rtlCol="0">
            <a:spAutoFit/>
          </a:bodyPr>
          <a:lstStyle/>
          <a:p>
            <a:pPr marL="241300" marR="0" lvl="0" indent="-229235" algn="l" defTabSz="457200" rtl="0" eaLnBrk="1" fontAlgn="auto" latinLnBrk="0" hangingPunct="1">
              <a:lnSpc>
                <a:spcPts val="3115"/>
              </a:lnSpc>
              <a:spcBef>
                <a:spcPts val="105"/>
              </a:spcBef>
              <a:spcAft>
                <a:spcPts val="0"/>
              </a:spcAft>
              <a:buClrTx/>
              <a:buSzTx/>
              <a:buFont typeface="Arial MT"/>
              <a:buChar char="•"/>
              <a:tabLst>
                <a:tab pos="241935" algn="l"/>
              </a:tabLst>
              <a:defRPr/>
            </a:pPr>
            <a:r>
              <a:rPr kumimoji="0" sz="2400" b="0" i="0" u="none" strike="noStrike" kern="1200" cap="none" spc="0" normalizeH="0" baseline="0" noProof="0" dirty="0">
                <a:ln>
                  <a:noFill/>
                </a:ln>
                <a:solidFill>
                  <a:prstClr val="black"/>
                </a:solidFill>
                <a:effectLst/>
                <a:uLnTx/>
                <a:uFillTx/>
                <a:latin typeface="Calibri"/>
                <a:ea typeface="+mn-ea"/>
                <a:cs typeface="Calibri"/>
              </a:rPr>
              <a:t>Risk</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register</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could include</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following:</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20"/>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factors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10"/>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Threat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agents,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threats,</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and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vulnerabilities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15"/>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scenarios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10"/>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20" normalizeH="0" baseline="0" noProof="0" dirty="0">
                <a:ln>
                  <a:noFill/>
                </a:ln>
                <a:solidFill>
                  <a:prstClr val="black"/>
                </a:solidFill>
                <a:effectLst/>
                <a:uLnTx/>
                <a:uFillTx/>
                <a:latin typeface="Calibri"/>
                <a:ea typeface="+mn-ea"/>
                <a:cs typeface="Calibri"/>
              </a:rPr>
              <a:t>Criticality,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severity,</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priority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10"/>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Asset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information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15"/>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Impact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asset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10"/>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Likelihood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threat</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exploiting</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vulnerability</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10"/>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Current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status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response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actions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15"/>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Resources</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that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may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committed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respond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10"/>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ownership</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information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ts val="2620"/>
              </a:lnSpc>
              <a:spcBef>
                <a:spcPts val="0"/>
              </a:spcBef>
              <a:spcAft>
                <a:spcPts val="0"/>
              </a:spcAft>
              <a:buClrTx/>
              <a:buSzTx/>
              <a:buFont typeface="Wingdings" panose="05000000000000000000" pitchFamily="2" charset="2"/>
              <a:buChar char="§"/>
              <a:tabLst>
                <a:tab pos="698500" algn="l"/>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Planned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milestones</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toward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 </a:t>
            </a:r>
            <a:r>
              <a:rPr kumimoji="0" sz="2000" b="0" i="0" u="none" strike="noStrike" kern="1200" cap="none" spc="-10" normalizeH="0" baseline="0" noProof="0" dirty="0">
                <a:ln>
                  <a:noFill/>
                </a:ln>
                <a:solidFill>
                  <a:prstClr val="black"/>
                </a:solidFill>
                <a:effectLst/>
                <a:uLnTx/>
                <a:uFillTx/>
                <a:latin typeface="Calibri"/>
                <a:ea typeface="+mn-ea"/>
                <a:cs typeface="Calibri"/>
              </a:rPr>
              <a:t>response</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12146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sng" spc="-10" dirty="0">
                <a:solidFill>
                  <a:srgbClr val="C00000"/>
                </a:solidFill>
                <a:uFill>
                  <a:solidFill>
                    <a:srgbClr val="000000"/>
                  </a:solidFill>
                </a:uFill>
              </a:rPr>
              <a:t>Basic Risk Register Example</a:t>
            </a:r>
            <a:br>
              <a:rPr lang="en-US" u="heavy" spc="-10" dirty="0">
                <a:solidFill>
                  <a:srgbClr val="C00000"/>
                </a:solidFill>
                <a:uFill>
                  <a:solidFill>
                    <a:srgbClr val="000000"/>
                  </a:solidFill>
                </a:uFill>
              </a:rPr>
            </a:br>
            <a:endParaRPr u="heavy" spc="-15" dirty="0">
              <a:uFill>
                <a:solidFill>
                  <a:srgbClr val="000000"/>
                </a:solidFill>
              </a:uFill>
            </a:endParaRPr>
          </a:p>
        </p:txBody>
      </p:sp>
      <p:pic>
        <p:nvPicPr>
          <p:cNvPr id="6" name="Picture 5">
            <a:extLst>
              <a:ext uri="{FF2B5EF4-FFF2-40B4-BE49-F238E27FC236}">
                <a16:creationId xmlns:a16="http://schemas.microsoft.com/office/drawing/2014/main" id="{B7894131-D983-1F3B-7034-F33C9E3CFC13}"/>
              </a:ext>
            </a:extLst>
          </p:cNvPr>
          <p:cNvPicPr>
            <a:picLocks noChangeAspect="1"/>
          </p:cNvPicPr>
          <p:nvPr/>
        </p:nvPicPr>
        <p:blipFill>
          <a:blip r:embed="rId2"/>
          <a:stretch>
            <a:fillRect/>
          </a:stretch>
        </p:blipFill>
        <p:spPr>
          <a:xfrm>
            <a:off x="1490073" y="1420194"/>
            <a:ext cx="9211854" cy="401761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1708" y="-1784060"/>
            <a:ext cx="10735799" cy="2968120"/>
          </a:xfrm>
          <a:prstGeom prst="rect">
            <a:avLst/>
          </a:prstGeom>
        </p:spPr>
        <p:txBody>
          <a:bodyPr vert="horz" wrap="square" lIns="0" tIns="13335" rIns="0" bIns="0" rtlCol="0">
            <a:spAutoFit/>
          </a:bodyPr>
          <a:lstStyle/>
          <a:p>
            <a:pPr marL="12700">
              <a:lnSpc>
                <a:spcPct val="100000"/>
              </a:lnSpc>
              <a:spcBef>
                <a:spcPts val="105"/>
              </a:spcBef>
            </a:pPr>
            <a:br>
              <a:rPr lang="en-US" u="sng" spc="-10" dirty="0">
                <a:solidFill>
                  <a:srgbClr val="C00000"/>
                </a:solidFill>
                <a:uFill>
                  <a:solidFill>
                    <a:srgbClr val="000000"/>
                  </a:solidFill>
                </a:uFill>
              </a:rPr>
            </a:br>
            <a:br>
              <a:rPr lang="en-US" u="sng" spc="-10" dirty="0">
                <a:solidFill>
                  <a:srgbClr val="C00000"/>
                </a:solidFill>
                <a:uFill>
                  <a:solidFill>
                    <a:srgbClr val="000000"/>
                  </a:solidFill>
                </a:uFill>
              </a:rPr>
            </a:br>
            <a:br>
              <a:rPr lang="en-US" u="sng" spc="-10" dirty="0">
                <a:solidFill>
                  <a:srgbClr val="C00000"/>
                </a:solidFill>
                <a:uFill>
                  <a:solidFill>
                    <a:srgbClr val="000000"/>
                  </a:solidFill>
                </a:uFill>
              </a:rPr>
            </a:br>
            <a:r>
              <a:rPr u="sng" spc="-10" dirty="0">
                <a:solidFill>
                  <a:srgbClr val="C00000"/>
                </a:solidFill>
                <a:uFill>
                  <a:solidFill>
                    <a:srgbClr val="000000"/>
                  </a:solidFill>
                </a:uFill>
              </a:rPr>
              <a:t>Creating and Maintaining a Risk Register</a:t>
            </a:r>
            <a:endParaRPr u="heavy" spc="-10" dirty="0">
              <a:solidFill>
                <a:srgbClr val="C00000"/>
              </a:solidFill>
              <a:uFill>
                <a:solidFill>
                  <a:srgbClr val="000000"/>
                </a:solidFill>
              </a:uFill>
            </a:endParaRPr>
          </a:p>
        </p:txBody>
      </p:sp>
      <p:sp>
        <p:nvSpPr>
          <p:cNvPr id="3" name="object 3"/>
          <p:cNvSpPr txBox="1"/>
          <p:nvPr/>
        </p:nvSpPr>
        <p:spPr>
          <a:xfrm>
            <a:off x="1463431" y="1333769"/>
            <a:ext cx="7848600" cy="4034154"/>
          </a:xfrm>
          <a:prstGeom prst="rect">
            <a:avLst/>
          </a:prstGeom>
        </p:spPr>
        <p:txBody>
          <a:bodyPr vert="horz" wrap="square" lIns="0" tIns="12065" rIns="0" bIns="0" rtlCol="0">
            <a:spAutoFit/>
          </a:bodyPr>
          <a:lstStyle/>
          <a:p>
            <a:pPr marL="354965" marR="0" lvl="0" indent="-342900" algn="l" defTabSz="457200" rtl="0" eaLnBrk="1" fontAlgn="auto" latinLnBrk="0" hangingPunct="1">
              <a:lnSpc>
                <a:spcPts val="3190"/>
              </a:lnSpc>
              <a:spcBef>
                <a:spcPts val="95"/>
              </a:spcBef>
              <a:spcAft>
                <a:spcPts val="0"/>
              </a:spcAft>
              <a:buClrTx/>
              <a:buSzTx/>
              <a:buFont typeface="Wingdings" panose="05000000000000000000" pitchFamily="2" charset="2"/>
              <a:buChar char="§"/>
              <a:tabLst>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Creating</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maintaining</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register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usually</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determined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part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of</a:t>
            </a:r>
            <a:r>
              <a:rPr kumimoji="0" lang="en-US"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30" normalizeH="0" baseline="0" noProof="0" dirty="0">
                <a:ln>
                  <a:noFill/>
                </a:ln>
                <a:solidFill>
                  <a:prstClr val="black"/>
                </a:solidFill>
                <a:effectLst/>
                <a:uLnTx/>
                <a:uFillTx/>
                <a:latin typeface="Calibri"/>
                <a:ea typeface="+mn-ea"/>
                <a:cs typeface="Calibri"/>
              </a:rPr>
              <a:t>organization’s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management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strategy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plan.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354965" marR="615950" lvl="0" indent="-342900" algn="l" defTabSz="457200" rtl="0" eaLnBrk="1" fontAlgn="auto" latinLnBrk="0" hangingPunct="1">
              <a:lnSpc>
                <a:spcPts val="3020"/>
              </a:lnSpc>
              <a:spcBef>
                <a:spcPts val="1060"/>
              </a:spcBef>
              <a:spcAft>
                <a:spcPts val="0"/>
              </a:spcAft>
              <a:buClrTx/>
              <a:buSzTx/>
              <a:buFont typeface="Wingdings" panose="05000000000000000000" pitchFamily="2" charset="2"/>
              <a:buChar char="§"/>
              <a:tabLst>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Determine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all 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different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factors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that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affect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given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or </a:t>
            </a:r>
            <a:r>
              <a:rPr kumimoji="0" sz="2000" b="0" i="0" u="none" strike="noStrike" kern="1200" cap="none" spc="-6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organizational</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element.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354965" marR="552450" lvl="0" indent="-342900" algn="l" defTabSz="457200" rtl="0" eaLnBrk="1" fontAlgn="auto" latinLnBrk="0" hangingPunct="1">
              <a:lnSpc>
                <a:spcPts val="3030"/>
              </a:lnSpc>
              <a:spcBef>
                <a:spcPts val="994"/>
              </a:spcBef>
              <a:spcAft>
                <a:spcPts val="0"/>
              </a:spcAft>
              <a:buClrTx/>
              <a:buSzTx/>
              <a:buFont typeface="Wingdings" panose="05000000000000000000" pitchFamily="2" charset="2"/>
              <a:buChar char="§"/>
              <a:tabLst>
                <a:tab pos="2419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Develop</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scenarios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within</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context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specified</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asset </a:t>
            </a:r>
            <a:r>
              <a:rPr kumimoji="0" sz="2000" b="0" i="0" u="none" strike="noStrike" kern="1200" cap="none" spc="-10" normalizeH="0" baseline="0" noProof="0" dirty="0">
                <a:ln>
                  <a:noFill/>
                </a:ln>
                <a:solidFill>
                  <a:prstClr val="black"/>
                </a:solidFill>
                <a:effectLst/>
                <a:uLnTx/>
                <a:uFillTx/>
                <a:latin typeface="Calibri"/>
                <a:ea typeface="+mn-ea"/>
                <a:cs typeface="Calibri"/>
              </a:rPr>
              <a:t>or </a:t>
            </a:r>
            <a:r>
              <a:rPr kumimoji="0" sz="2000" b="0" i="0" u="none" strike="noStrike" kern="1200" cap="none" spc="-6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process</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map</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them</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those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assets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register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document.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354965" marR="0" lvl="0" indent="-342900" algn="l" defTabSz="457200" rtl="0" eaLnBrk="1" fontAlgn="auto" latinLnBrk="0" hangingPunct="1">
              <a:lnSpc>
                <a:spcPct val="100000"/>
              </a:lnSpc>
              <a:spcBef>
                <a:spcPts val="610"/>
              </a:spcBef>
              <a:spcAft>
                <a:spcPts val="0"/>
              </a:spcAft>
              <a:buClrTx/>
              <a:buSzTx/>
              <a:buFont typeface="Wingdings" panose="05000000000000000000" pitchFamily="2" charset="2"/>
              <a:buChar char="§"/>
              <a:tabLst>
                <a:tab pos="2419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Consider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all</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threats,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vulnerabilities,</a:t>
            </a:r>
            <a:r>
              <a:rPr kumimoji="0" sz="2000" b="0" i="0" u="none" strike="noStrike" kern="1200" cap="none" spc="4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likelihood,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354965" marR="316865" lvl="0" indent="-342900" algn="l" defTabSz="457200" rtl="0" eaLnBrk="1" fontAlgn="auto" latinLnBrk="0" hangingPunct="1">
              <a:lnSpc>
                <a:spcPts val="3020"/>
              </a:lnSpc>
              <a:spcBef>
                <a:spcPts val="1055"/>
              </a:spcBef>
              <a:spcAft>
                <a:spcPts val="0"/>
              </a:spcAft>
              <a:buClrTx/>
              <a:buSzTx/>
              <a:buFont typeface="Wingdings" panose="05000000000000000000" pitchFamily="2" charset="2"/>
              <a:buChar char="§"/>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Quantify</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qualify)</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according</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assessment</a:t>
            </a:r>
            <a:r>
              <a:rPr kumimoji="0" sz="2000" b="0" i="0" u="none" strike="noStrike" kern="1200" cap="none" spc="4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methodology </a:t>
            </a:r>
            <a:r>
              <a:rPr kumimoji="0" sz="2000" b="0" i="0" u="none" strike="noStrike" kern="1200" cap="none" spc="-6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used,</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record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 risk</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0" normalizeH="0" baseline="0" noProof="0" dirty="0">
                <a:ln>
                  <a:noFill/>
                </a:ln>
                <a:solidFill>
                  <a:prstClr val="black"/>
                </a:solidFill>
                <a:effectLst/>
                <a:uLnTx/>
                <a:uFillTx/>
                <a:latin typeface="Calibri"/>
                <a:ea typeface="+mn-ea"/>
                <a:cs typeface="Calibri"/>
              </a:rPr>
              <a:t>register.</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9452" y="1321308"/>
            <a:ext cx="8342376" cy="45720"/>
          </a:xfrm>
          <a:prstGeom prst="rect">
            <a:avLst/>
          </a:prstGeom>
        </p:spPr>
      </p:pic>
      <p:sp>
        <p:nvSpPr>
          <p:cNvPr id="3" name="object 3"/>
          <p:cNvSpPr txBox="1">
            <a:spLocks noGrp="1"/>
          </p:cNvSpPr>
          <p:nvPr>
            <p:ph type="title"/>
          </p:nvPr>
        </p:nvSpPr>
        <p:spPr>
          <a:xfrm>
            <a:off x="4343400" y="3276600"/>
            <a:ext cx="2332990" cy="696595"/>
          </a:xfrm>
          <a:prstGeom prst="rect">
            <a:avLst/>
          </a:prstGeom>
        </p:spPr>
        <p:txBody>
          <a:bodyPr vert="horz" wrap="square" lIns="0" tIns="13335" rIns="0" bIns="0" rtlCol="0">
            <a:spAutoFit/>
          </a:bodyPr>
          <a:lstStyle/>
          <a:p>
            <a:pPr marL="12700">
              <a:lnSpc>
                <a:spcPct val="100000"/>
              </a:lnSpc>
              <a:spcBef>
                <a:spcPts val="105"/>
              </a:spcBef>
            </a:pPr>
            <a:r>
              <a:rPr spc="-5" dirty="0"/>
              <a:t>Thank</a:t>
            </a:r>
            <a:r>
              <a:rPr spc="-85" dirty="0"/>
              <a:t> </a:t>
            </a:r>
            <a:r>
              <a:rPr spc="-20"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TotalTime>
  <Words>3487</Words>
  <Application>Microsoft Office PowerPoint</Application>
  <PresentationFormat>Widescreen</PresentationFormat>
  <Paragraphs>228</Paragraphs>
  <Slides>32</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32</vt:i4>
      </vt:variant>
    </vt:vector>
  </HeadingPairs>
  <TitlesOfParts>
    <vt:vector size="43" baseType="lpstr">
      <vt:lpstr>Arial</vt:lpstr>
      <vt:lpstr>Arial MT</vt:lpstr>
      <vt:lpstr>Berlin Sans FB</vt:lpstr>
      <vt:lpstr>Berlin Sans FB Demi</vt:lpstr>
      <vt:lpstr>Calibri</vt:lpstr>
      <vt:lpstr>Calibri Light</vt:lpstr>
      <vt:lpstr>Century Gothic</vt:lpstr>
      <vt:lpstr>Courier New</vt:lpstr>
      <vt:lpstr>Wingdings</vt:lpstr>
      <vt:lpstr>Office Theme</vt:lpstr>
      <vt:lpstr>Retrospect</vt:lpstr>
      <vt:lpstr>PowerPoint Presentation</vt:lpstr>
      <vt:lpstr>PowerPoint Presentation</vt:lpstr>
      <vt:lpstr>PowerPoint Presentation</vt:lpstr>
      <vt:lpstr>PowerPoint Presentation</vt:lpstr>
      <vt:lpstr>Assets </vt:lpstr>
      <vt:lpstr>Threats and Vulnerabilities </vt:lpstr>
      <vt:lpstr>Time and Location </vt:lpstr>
      <vt:lpstr>PowerPoint Presentation</vt:lpstr>
      <vt:lpstr>Developing Risk Scenarios Approaches</vt:lpstr>
      <vt:lpstr>PowerPoint Presentation</vt:lpstr>
      <vt:lpstr>PowerPoint Presentation</vt:lpstr>
      <vt:lpstr>PowerPoint Presentation</vt:lpstr>
      <vt:lpstr>PowerPoint Presentation</vt:lpstr>
      <vt:lpstr>PowerPoint Presentation</vt:lpstr>
      <vt:lpstr>PowerPoint Presentation</vt:lpstr>
      <vt:lpstr>Example Risk Scenario </vt:lpstr>
      <vt:lpstr>Example Risk Scenario: Answer </vt:lpstr>
      <vt:lpstr>PowerPoint Presentation</vt:lpstr>
      <vt:lpstr>PowerPoint Presentation</vt:lpstr>
      <vt:lpstr>PowerPoint Presentation</vt:lpstr>
      <vt:lpstr>Developing Risk Scenarios </vt:lpstr>
      <vt:lpstr>IT Infrastructure Factors </vt:lpstr>
      <vt:lpstr>Risk Scenario Stakeholders </vt:lpstr>
      <vt:lpstr>Analyzing Risk Scenarios </vt:lpstr>
      <vt:lpstr>Likelihood and Impact </vt:lpstr>
      <vt:lpstr>Organizational Factors Affecting Likelihood and Impact </vt:lpstr>
      <vt:lpstr>Technological Factors Affecting Likelihood and Impact </vt:lpstr>
      <vt:lpstr>Risk Register </vt:lpstr>
      <vt:lpstr>Elements of Risk Register </vt:lpstr>
      <vt:lpstr>Basic Risk Register Example </vt:lpstr>
      <vt:lpstr>   Creating and Maintaining a Risk Register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13</cp:revision>
  <dcterms:created xsi:type="dcterms:W3CDTF">2023-05-21T10:54:21Z</dcterms:created>
  <dcterms:modified xsi:type="dcterms:W3CDTF">2023-06-19T23:34:28Z</dcterms:modified>
</cp:coreProperties>
</file>
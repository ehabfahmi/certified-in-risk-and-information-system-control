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7" r:id="rId3"/>
  </p:sldMasterIdLst>
  <p:notesMasterIdLst>
    <p:notesMasterId r:id="rId51"/>
  </p:notesMasterIdLst>
  <p:sldIdLst>
    <p:sldId id="401" r:id="rId4"/>
    <p:sldId id="2754" r:id="rId5"/>
    <p:sldId id="2755" r:id="rId6"/>
    <p:sldId id="404" r:id="rId7"/>
    <p:sldId id="403" r:id="rId8"/>
    <p:sldId id="1266" r:id="rId9"/>
    <p:sldId id="1267" r:id="rId10"/>
    <p:sldId id="1268" r:id="rId11"/>
    <p:sldId id="295" r:id="rId12"/>
    <p:sldId id="297" r:id="rId13"/>
    <p:sldId id="1269" r:id="rId14"/>
    <p:sldId id="1097" r:id="rId15"/>
    <p:sldId id="393" r:id="rId16"/>
    <p:sldId id="394" r:id="rId17"/>
    <p:sldId id="1083" r:id="rId18"/>
    <p:sldId id="414" r:id="rId19"/>
    <p:sldId id="415" r:id="rId20"/>
    <p:sldId id="416" r:id="rId21"/>
    <p:sldId id="417" r:id="rId22"/>
    <p:sldId id="418" r:id="rId23"/>
    <p:sldId id="2758" r:id="rId24"/>
    <p:sldId id="2760" r:id="rId25"/>
    <p:sldId id="419" r:id="rId26"/>
    <p:sldId id="420" r:id="rId27"/>
    <p:sldId id="421" r:id="rId28"/>
    <p:sldId id="422" r:id="rId29"/>
    <p:sldId id="423" r:id="rId30"/>
    <p:sldId id="424" r:id="rId31"/>
    <p:sldId id="425" r:id="rId32"/>
    <p:sldId id="426" r:id="rId33"/>
    <p:sldId id="427" r:id="rId34"/>
    <p:sldId id="428" r:id="rId35"/>
    <p:sldId id="429" r:id="rId36"/>
    <p:sldId id="430" r:id="rId37"/>
    <p:sldId id="434" r:id="rId38"/>
    <p:sldId id="435" r:id="rId39"/>
    <p:sldId id="1216" r:id="rId40"/>
    <p:sldId id="1210" r:id="rId41"/>
    <p:sldId id="1211" r:id="rId42"/>
    <p:sldId id="436" r:id="rId43"/>
    <p:sldId id="1146" r:id="rId44"/>
    <p:sldId id="437" r:id="rId45"/>
    <p:sldId id="438" r:id="rId46"/>
    <p:sldId id="439" r:id="rId47"/>
    <p:sldId id="440" r:id="rId48"/>
    <p:sldId id="2856" r:id="rId49"/>
    <p:sldId id="285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29" autoAdjust="0"/>
    <p:restoredTop sz="94660"/>
  </p:normalViewPr>
  <p:slideViewPr>
    <p:cSldViewPr snapToGrid="0">
      <p:cViewPr varScale="1">
        <p:scale>
          <a:sx n="125" d="100"/>
          <a:sy n="125" d="100"/>
        </p:scale>
        <p:origin x="156" y="9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DE91D1-45AA-440D-95DE-E53C96A39FE0}" type="datetimeFigureOut">
              <a:rPr lang="en-US" smtClean="0"/>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998D80-D39E-4869-A6E6-9622B589E245}" type="slidenum">
              <a:rPr lang="en-US" smtClean="0"/>
              <a:t>‹#›</a:t>
            </a:fld>
            <a:endParaRPr lang="en-US"/>
          </a:p>
        </p:txBody>
      </p:sp>
    </p:spTree>
    <p:extLst>
      <p:ext uri="{BB962C8B-B14F-4D97-AF65-F5344CB8AC3E}">
        <p14:creationId xmlns:p14="http://schemas.microsoft.com/office/powerpoint/2010/main" val="1810878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85721C-84CA-4F95-B5FF-1236DE668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3264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3.xml"/><Relationship Id="rId4" Type="http://schemas.openxmlformats.org/officeDocument/2006/relationships/image" Target="../media/image11.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22.jpe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4E0B-8F23-A3E8-986B-286D3CAA38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420EC5-5B3F-A316-C086-9930DEE70D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4A250C-3668-EFFD-1FF7-97AF0427365C}"/>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5" name="Footer Placeholder 4">
            <a:extLst>
              <a:ext uri="{FF2B5EF4-FFF2-40B4-BE49-F238E27FC236}">
                <a16:creationId xmlns:a16="http://schemas.microsoft.com/office/drawing/2014/main" id="{5BB748DF-C6C9-D94B-3BE0-95743916B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C8757-7245-EA69-539B-0DE87847DA72}"/>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3979090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034D9-A585-009C-C209-10129A8D03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CB9BD8-1403-2097-FE1F-39987B117C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83543-DC69-A63C-4C14-B609882FD3F5}"/>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5" name="Footer Placeholder 4">
            <a:extLst>
              <a:ext uri="{FF2B5EF4-FFF2-40B4-BE49-F238E27FC236}">
                <a16:creationId xmlns:a16="http://schemas.microsoft.com/office/drawing/2014/main" id="{D2B029A5-F385-53CF-417F-F54F41626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197B0B-7B52-3752-EC8F-8536393E9213}"/>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1130046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AF23-6DAF-A97A-5864-BA610D81D7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11B619-F911-5152-F458-DEFFD6CC73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08942D-97CB-6EEA-8758-E9FDBFCA7FB5}"/>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5" name="Footer Placeholder 4">
            <a:extLst>
              <a:ext uri="{FF2B5EF4-FFF2-40B4-BE49-F238E27FC236}">
                <a16:creationId xmlns:a16="http://schemas.microsoft.com/office/drawing/2014/main" id="{1D7DE69B-A40C-1311-1A52-C7C8C2158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F6DF9-A7D6-10E8-AF1F-C3522143F100}"/>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3496546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2680-00A0-96CE-EF16-55EBC2B8B2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A67831-E8F2-0735-641E-4563023984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AFDCC0-869B-B172-13DB-CC5A69FCF2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5D314A-FA54-4801-76B1-859A043CEBDF}"/>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6" name="Footer Placeholder 5">
            <a:extLst>
              <a:ext uri="{FF2B5EF4-FFF2-40B4-BE49-F238E27FC236}">
                <a16:creationId xmlns:a16="http://schemas.microsoft.com/office/drawing/2014/main" id="{B18BE604-F41A-7C7B-64C0-40B960A453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8A44B4-082B-AB77-684A-8FDBA07A7174}"/>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435025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BAD05-997C-8AD1-2D0E-D961BA02DF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5BCAF0-3DCA-0671-B0E1-93771E39DA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1FCA8C-CFBB-ED34-F066-9CB22D8880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629D1C-7E71-B506-43B9-0D11482C6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7FBB8E-B9DF-8623-18B1-E03106C8B6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A43A77-BEAE-D1C1-E5F5-52FF0BEF6261}"/>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8" name="Footer Placeholder 7">
            <a:extLst>
              <a:ext uri="{FF2B5EF4-FFF2-40B4-BE49-F238E27FC236}">
                <a16:creationId xmlns:a16="http://schemas.microsoft.com/office/drawing/2014/main" id="{FEE7182D-9447-E2C8-5B5F-7C69630AF0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48BA1-0521-5EB4-6AB0-56BC933B30AE}"/>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2235462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EEBC2-48D1-CEB1-7252-B4429A6201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D298B2-E432-8BA1-0C13-02EB41081C87}"/>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4" name="Footer Placeholder 3">
            <a:extLst>
              <a:ext uri="{FF2B5EF4-FFF2-40B4-BE49-F238E27FC236}">
                <a16:creationId xmlns:a16="http://schemas.microsoft.com/office/drawing/2014/main" id="{083EACEE-F5B8-0DE5-FD74-E0C75AD34C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81D637-DAA7-19F7-0399-08C97C7AAF7A}"/>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624154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6CA5A-B5B8-C66C-EFD3-57774079A0D4}"/>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3" name="Footer Placeholder 2">
            <a:extLst>
              <a:ext uri="{FF2B5EF4-FFF2-40B4-BE49-F238E27FC236}">
                <a16:creationId xmlns:a16="http://schemas.microsoft.com/office/drawing/2014/main" id="{89F4A949-E3DB-8CDC-76E4-42B7D4A620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C82168-0C86-51B6-2AAD-AEE1135D0D5A}"/>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182186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5340-3E2D-80C8-D77C-FFCC194DF1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45940-725C-7231-3A2B-791F2FF716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37FFE8-20C3-6883-1B43-990873491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EC37B9-1FB7-077A-F3BC-B745A581BFB9}"/>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6" name="Footer Placeholder 5">
            <a:extLst>
              <a:ext uri="{FF2B5EF4-FFF2-40B4-BE49-F238E27FC236}">
                <a16:creationId xmlns:a16="http://schemas.microsoft.com/office/drawing/2014/main" id="{7B8A1D08-FFD7-FD1F-39AE-002445988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92CDC4-5ABA-3E7B-952D-4992C5191AF5}"/>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1926497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79DA0-254D-20DC-0DC8-9875954B8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2D030A-26DE-3CA5-E3EF-650503171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9B79FB-A85B-AEA0-6321-AEE7E0C5BD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57EF30-C7B1-9891-7787-6FC8BBD9861F}"/>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6" name="Footer Placeholder 5">
            <a:extLst>
              <a:ext uri="{FF2B5EF4-FFF2-40B4-BE49-F238E27FC236}">
                <a16:creationId xmlns:a16="http://schemas.microsoft.com/office/drawing/2014/main" id="{C9F9ED10-6F96-25BB-14B4-7DD84D416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0C4A5-F83A-637B-EFD4-EBF87F384BA0}"/>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404060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955F7-AEF1-0088-F9B6-BF981C024D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A6A3A1-1EF9-39E3-62E1-F4C15078C6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27E79-346E-0066-D7CE-F7086C8C8C65}"/>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5" name="Footer Placeholder 4">
            <a:extLst>
              <a:ext uri="{FF2B5EF4-FFF2-40B4-BE49-F238E27FC236}">
                <a16:creationId xmlns:a16="http://schemas.microsoft.com/office/drawing/2014/main" id="{8EF963A9-1044-8037-384A-186D21ACF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2507AF-7EFB-E3FE-F367-89BBFC90D25B}"/>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2995787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122F91-8004-09E1-C77A-6F9FFF84C6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1BD3CE-20F0-6E97-CAEC-E055CDB65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335AD-53B5-FACF-E1A4-D95E7779A458}"/>
              </a:ext>
            </a:extLst>
          </p:cNvPr>
          <p:cNvSpPr>
            <a:spLocks noGrp="1"/>
          </p:cNvSpPr>
          <p:nvPr>
            <p:ph type="dt" sz="half" idx="10"/>
          </p:nvPr>
        </p:nvSpPr>
        <p:spPr/>
        <p:txBody>
          <a:bodyPr/>
          <a:lstStyle/>
          <a:p>
            <a:fld id="{3C2C804F-7B7C-42E8-BD2E-9179D504F7D1}" type="datetimeFigureOut">
              <a:rPr lang="en-US" smtClean="0"/>
              <a:t>6/20/2023</a:t>
            </a:fld>
            <a:endParaRPr lang="en-US"/>
          </a:p>
        </p:txBody>
      </p:sp>
      <p:sp>
        <p:nvSpPr>
          <p:cNvPr id="5" name="Footer Placeholder 4">
            <a:extLst>
              <a:ext uri="{FF2B5EF4-FFF2-40B4-BE49-F238E27FC236}">
                <a16:creationId xmlns:a16="http://schemas.microsoft.com/office/drawing/2014/main" id="{29DDB502-CD13-B713-E966-1E6782386A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6BC712-5FC8-9F14-9522-754EBADE506F}"/>
              </a:ext>
            </a:extLst>
          </p:cNvPr>
          <p:cNvSpPr>
            <a:spLocks noGrp="1"/>
          </p:cNvSpPr>
          <p:nvPr>
            <p:ph type="sldNum" sz="quarter" idx="12"/>
          </p:nvPr>
        </p:nvSpPr>
        <p:spPr/>
        <p:txBody>
          <a:bodyPr/>
          <a:lstStyle/>
          <a:p>
            <a:fld id="{A21042C6-B785-4328-BACF-0E56E21B7876}" type="slidenum">
              <a:rPr lang="en-US" smtClean="0"/>
              <a:t>‹#›</a:t>
            </a:fld>
            <a:endParaRPr lang="en-US"/>
          </a:p>
        </p:txBody>
      </p:sp>
    </p:spTree>
    <p:extLst>
      <p:ext uri="{BB962C8B-B14F-4D97-AF65-F5344CB8AC3E}">
        <p14:creationId xmlns:p14="http://schemas.microsoft.com/office/powerpoint/2010/main" val="3786630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4386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980077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130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72490D-569B-4A9C-B9BB-4F77B651EC5B}"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833275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72490D-569B-4A9C-B9BB-4F77B651EC5B}"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026387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72490D-569B-4A9C-B9BB-4F77B651EC5B}"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732482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072490D-569B-4A9C-B9BB-4F77B651EC5B}"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8550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072490D-569B-4A9C-B9BB-4F77B651EC5B}" type="datetimeFigureOut">
              <a:rPr lang="en-US" smtClean="0"/>
              <a:t>6/20/2023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629BCD-CBB7-492B-AC0D-782C189D9EBA}" type="slidenum">
              <a:rPr lang="en-US" smtClean="0"/>
              <a:t>‹#›</a:t>
            </a:fld>
            <a:endParaRPr lang="en-US"/>
          </a:p>
        </p:txBody>
      </p:sp>
    </p:spTree>
    <p:extLst>
      <p:ext uri="{BB962C8B-B14F-4D97-AF65-F5344CB8AC3E}">
        <p14:creationId xmlns:p14="http://schemas.microsoft.com/office/powerpoint/2010/main" val="2263262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72490D-569B-4A9C-B9BB-4F77B651EC5B}"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117829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1662861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3101103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20501958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1839518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8758710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15748763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973716514"/>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757556061"/>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2746050419"/>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3688999778"/>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3237888067"/>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3167288397"/>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445664286"/>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3744968007"/>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1765284353"/>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187275186"/>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827487372"/>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594478563"/>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425845613"/>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227967377"/>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2647492320"/>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078974783"/>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5381063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hoto layout 1">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855995310"/>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334342632"/>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a:t>Click icon to add picture</a:t>
            </a:r>
            <a:endParaRPr lang="en-US" dirty="0"/>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678251873"/>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a:t>Click icon to add picture</a:t>
            </a:r>
            <a:endParaRPr lang="en-US" dirty="0"/>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090967995"/>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a:t>Click icon to add picture</a:t>
            </a:r>
            <a:endParaRPr lang="en-US" dirty="0"/>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238312414"/>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endParaRPr lang="en-US" dirty="0"/>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endParaRPr lang="en-US" dirty="0"/>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324734638"/>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a:t>Click icon to add table</a:t>
            </a:r>
            <a:endParaRPr lang="en-US" dirty="0"/>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85456590"/>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6304715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3275942142"/>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31185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2210536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6900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413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41672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9270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34" Type="http://schemas.openxmlformats.org/officeDocument/2006/relationships/slideLayout" Target="../slideLayouts/slideLayout56.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33" Type="http://schemas.openxmlformats.org/officeDocument/2006/relationships/slideLayout" Target="../slideLayouts/slideLayout55.xml"/><Relationship Id="rId38"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slideLayout" Target="../slideLayouts/slideLayout51.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32" Type="http://schemas.openxmlformats.org/officeDocument/2006/relationships/slideLayout" Target="../slideLayouts/slideLayout54.xml"/><Relationship Id="rId37" Type="http://schemas.openxmlformats.org/officeDocument/2006/relationships/theme" Target="../theme/theme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36" Type="http://schemas.openxmlformats.org/officeDocument/2006/relationships/slideLayout" Target="../slideLayouts/slideLayout58.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slideLayout" Target="../slideLayouts/slideLayout53.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slideLayout" Target="../slideLayouts/slideLayout52.xml"/><Relationship Id="rId35"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16E12F-4D41-C63E-9268-34B6A8574D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88C574-3690-3217-8AF8-A29B18CBEC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DB055-FF0B-344F-F386-CC17F82F9F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2C804F-7B7C-42E8-BD2E-9179D504F7D1}" type="datetimeFigureOut">
              <a:rPr lang="en-US" smtClean="0"/>
              <a:t>6/20/2023</a:t>
            </a:fld>
            <a:endParaRPr lang="en-US"/>
          </a:p>
        </p:txBody>
      </p:sp>
      <p:sp>
        <p:nvSpPr>
          <p:cNvPr id="5" name="Footer Placeholder 4">
            <a:extLst>
              <a:ext uri="{FF2B5EF4-FFF2-40B4-BE49-F238E27FC236}">
                <a16:creationId xmlns:a16="http://schemas.microsoft.com/office/drawing/2014/main" id="{91AB748A-B6FB-42C0-835D-499B5046D9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9DE3C47-321E-4287-0DD6-7C80B0CA87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1042C6-B785-4328-BACF-0E56E21B7876}" type="slidenum">
              <a:rPr lang="en-US" smtClean="0"/>
              <a:t>‹#›</a:t>
            </a:fld>
            <a:endParaRPr lang="en-US"/>
          </a:p>
        </p:txBody>
      </p:sp>
    </p:spTree>
    <p:extLst>
      <p:ext uri="{BB962C8B-B14F-4D97-AF65-F5344CB8AC3E}">
        <p14:creationId xmlns:p14="http://schemas.microsoft.com/office/powerpoint/2010/main" val="583521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072490D-569B-4A9C-B9BB-4F77B651EC5B}" type="datetimeFigureOut">
              <a:rPr lang="en-US" smtClean="0"/>
              <a:t>6/20/2023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629BCD-CBB7-492B-AC0D-782C189D9EB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3413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
        <p:nvSpPr>
          <p:cNvPr id="5" name="Title Placeholder 1">
            <a:extLst>
              <a:ext uri="{FF2B5EF4-FFF2-40B4-BE49-F238E27FC236}">
                <a16:creationId xmlns:a16="http://schemas.microsoft.com/office/drawing/2014/main" id="{C051EDF6-F393-453C-BE03-6C609C79C1C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EAD52D76-0CC5-4FD1-8FCA-FBF4C849DF4B}"/>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ID" hidden="1">
            <a:extLst>
              <a:ext uri="{FF2B5EF4-FFF2-40B4-BE49-F238E27FC236}">
                <a16:creationId xmlns:a16="http://schemas.microsoft.com/office/drawing/2014/main" id="{153F64AA-806D-4AB3-9AC4-89F7D691A787}"/>
              </a:ext>
            </a:extLst>
          </p:cNvPr>
          <p:cNvGrpSpPr/>
          <p:nvPr userDrawn="1"/>
        </p:nvGrpSpPr>
        <p:grpSpPr>
          <a:xfrm>
            <a:off x="0" y="0"/>
            <a:ext cx="12192000" cy="6858000"/>
            <a:chOff x="0" y="0"/>
            <a:chExt cx="12192000" cy="6858000"/>
          </a:xfrm>
        </p:grpSpPr>
        <p:cxnSp>
          <p:nvCxnSpPr>
            <p:cNvPr id="9" name="Straight Connector 8">
              <a:extLst>
                <a:ext uri="{FF2B5EF4-FFF2-40B4-BE49-F238E27FC236}">
                  <a16:creationId xmlns:a16="http://schemas.microsoft.com/office/drawing/2014/main" id="{A16CDF7E-AEFF-4B97-B937-B632842567AF}"/>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8B80AA8-AFF0-4D9B-B727-9CE703025EB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96A746-D5A2-4701-8C1D-5134A713B596}"/>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D0948D4-2229-44DB-AC2B-87CEACE41FF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AA6EE4C-3CC0-470D-867F-EBDC05BA21A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F7C4DCC-BD95-4C5A-947D-7501C11DCAC7}"/>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41A03F2-E1AD-4FA3-A920-F97314F0ED51}"/>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C423F3E-45CC-4A8D-956F-6BD12544E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D13E2D3-DC4E-4451-A425-4E5B1DD1D4B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2EC9DB9-484D-43D0-B25E-7FABFDF69F7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8566EE-0C01-45AD-80C7-97D635490409}"/>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AD2505E-E133-473B-8AD2-4A0F0EFD3337}"/>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F5C1D48-163A-417A-97DF-3DBD7E72D99C}"/>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9E88F66-3433-4480-91E7-2FD8A1407959}"/>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777104-2CDA-404A-943F-0F6DB50E34D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1097EC-2090-4884-8030-6D5D4B44C4A2}"/>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D6E507-3812-4BF3-843D-41182872DF8D}"/>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C6BF925-C175-4223-BD69-DD45D713F775}"/>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F6D4FCC-8F31-4516-AA7F-94837A913876}"/>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03510DB-6C4A-4336-B5E9-4049DE260CC3}"/>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43C6B2B-7588-4738-895E-0B25BD81551B}"/>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D1F18FF-C1B3-45C9-850D-F79960AB6C11}"/>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184A68-8A78-42DA-A082-BD39BC227D68}"/>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9EE35EA-9C0E-45F4-BC3E-958B9843B37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2ADC499-887D-43E6-95DA-B750E95F6F49}"/>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750EB61-3FF8-403C-9B03-B0ED63AB1CBF}"/>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D12EF19-7DFF-4B11-BB98-7647604D534F}"/>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C5D4C70-30A1-4C4D-9F8E-AF88A0E9EDDF}"/>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1C25F88-02D8-4067-A894-4E89C0571513}"/>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8EFC200-B614-4F23-974D-B55AD5F764E0}"/>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FD56745-73C3-42DB-BB90-D3B34E3ADCCA}"/>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E35B433-F8DE-44A2-AF77-0C148BA9A09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45949E3-08E1-4732-9F6B-C43019DC55CC}"/>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2208E01-FB99-45B3-9D0C-16DD8BB30CB3}"/>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3" name=".64 square" hidden="1">
            <a:extLst>
              <a:ext uri="{FF2B5EF4-FFF2-40B4-BE49-F238E27FC236}">
                <a16:creationId xmlns:a16="http://schemas.microsoft.com/office/drawing/2014/main" id="{32B9B8F4-D14B-444C-AA0A-D482AEDCE00F}"/>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4" name=".32 square" hidden="1">
            <a:extLst>
              <a:ext uri="{FF2B5EF4-FFF2-40B4-BE49-F238E27FC236}">
                <a16:creationId xmlns:a16="http://schemas.microsoft.com/office/drawing/2014/main" id="{952DCA8B-2AAB-4E66-BA6D-0E2309B316BF}"/>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63284803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Lst>
  <p:transition>
    <p:fade/>
  </p:transition>
  <p:hf sldNum="0" hdr="0" ft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guide id="55" pos="368">
          <p15:clr>
            <a:srgbClr val="C35EA4"/>
          </p15:clr>
        </p15:guide>
        <p15:guide id="56" pos="7313">
          <p15:clr>
            <a:srgbClr val="C35EA4"/>
          </p15:clr>
        </p15:guide>
        <p15:guide id="57" orient="horz" pos="369">
          <p15:clr>
            <a:srgbClr val="C35EA4"/>
          </p15:clr>
        </p15:guide>
        <p15:guide id="58" orient="horz" pos="3949">
          <p15:clr>
            <a:srgbClr val="C35EA4"/>
          </p15:clr>
        </p15:guide>
        <p15:guide id="59" orient="horz" pos="184">
          <p15:clr>
            <a:srgbClr val="A4A3A4"/>
          </p15:clr>
        </p15:guide>
        <p15:guide id="60" pos="185">
          <p15:clr>
            <a:srgbClr val="A4A3A4"/>
          </p15:clr>
        </p15:guide>
        <p15:guide id="61" orient="horz" pos="4135">
          <p15:clr>
            <a:srgbClr val="A4A3A4"/>
          </p15:clr>
        </p15:guide>
        <p15:guide id="62"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8.xml"/><Relationship Id="rId4" Type="http://schemas.openxmlformats.org/officeDocument/2006/relationships/image" Target="../media/image37.jpg"/></Relationships>
</file>

<file path=ppt/slides/_rels/slide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18.xml"/><Relationship Id="rId4" Type="http://schemas.openxmlformats.org/officeDocument/2006/relationships/image" Target="../media/image40.jpg"/></Relationships>
</file>

<file path=ppt/slides/_rels/slide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12.xml"/><Relationship Id="rId4" Type="http://schemas.openxmlformats.org/officeDocument/2006/relationships/image" Target="../media/image5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hyperlink" Target="https://en.wikipedia.org/wiki/STRIDE_(security)" TargetMode="Externa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8.xml"/><Relationship Id="rId5" Type="http://schemas.openxmlformats.org/officeDocument/2006/relationships/image" Target="../media/image61.png"/><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2219B5-4856-70A0-FE75-469D35DAA728}"/>
              </a:ext>
            </a:extLst>
          </p:cNvPr>
          <p:cNvPicPr>
            <a:picLocks noChangeAspect="1"/>
          </p:cNvPicPr>
          <p:nvPr/>
        </p:nvPicPr>
        <p:blipFill rotWithShape="1">
          <a:blip r:embed="rId2"/>
          <a:srcRect t="37237" b="21802"/>
          <a:stretch/>
        </p:blipFill>
        <p:spPr>
          <a:xfrm>
            <a:off x="1794258" y="1305699"/>
            <a:ext cx="10135721" cy="2809102"/>
          </a:xfrm>
          <a:prstGeom prst="rect">
            <a:avLst/>
          </a:prstGeom>
        </p:spPr>
      </p:pic>
      <p:pic>
        <p:nvPicPr>
          <p:cNvPr id="4" name="Picture 3">
            <a:extLst>
              <a:ext uri="{FF2B5EF4-FFF2-40B4-BE49-F238E27FC236}">
                <a16:creationId xmlns:a16="http://schemas.microsoft.com/office/drawing/2014/main" id="{134FC063-58FF-573C-09C2-1299D8854A9C}"/>
              </a:ext>
            </a:extLst>
          </p:cNvPr>
          <p:cNvPicPr>
            <a:picLocks noChangeAspect="1"/>
          </p:cNvPicPr>
          <p:nvPr/>
        </p:nvPicPr>
        <p:blipFill rotWithShape="1">
          <a:blip r:embed="rId3">
            <a:extLst>
              <a:ext uri="{28A0092B-C50C-407E-A947-70E740481C1C}">
                <a14:useLocalDpi xmlns:a14="http://schemas.microsoft.com/office/drawing/2010/main" val="0"/>
              </a:ext>
            </a:extLst>
          </a:blip>
          <a:srcRect b="86550"/>
          <a:stretch/>
        </p:blipFill>
        <p:spPr>
          <a:xfrm>
            <a:off x="632724" y="296781"/>
            <a:ext cx="10135720" cy="922421"/>
          </a:xfrm>
          <a:prstGeom prst="rect">
            <a:avLst/>
          </a:prstGeom>
        </p:spPr>
      </p:pic>
      <p:pic>
        <p:nvPicPr>
          <p:cNvPr id="5" name="Picture 4">
            <a:extLst>
              <a:ext uri="{FF2B5EF4-FFF2-40B4-BE49-F238E27FC236}">
                <a16:creationId xmlns:a16="http://schemas.microsoft.com/office/drawing/2014/main" id="{14BC5D62-9811-BB45-F7D9-2AD88DC33BFE}"/>
              </a:ext>
            </a:extLst>
          </p:cNvPr>
          <p:cNvPicPr>
            <a:picLocks noChangeAspect="1"/>
          </p:cNvPicPr>
          <p:nvPr/>
        </p:nvPicPr>
        <p:blipFill rotWithShape="1">
          <a:blip r:embed="rId2"/>
          <a:srcRect t="81321"/>
          <a:stretch/>
        </p:blipFill>
        <p:spPr>
          <a:xfrm>
            <a:off x="237305" y="4534929"/>
            <a:ext cx="11308995" cy="1429266"/>
          </a:xfrm>
          <a:prstGeom prst="rect">
            <a:avLst/>
          </a:prstGeom>
        </p:spPr>
      </p:pic>
    </p:spTree>
    <p:extLst>
      <p:ext uri="{BB962C8B-B14F-4D97-AF65-F5344CB8AC3E}">
        <p14:creationId xmlns:p14="http://schemas.microsoft.com/office/powerpoint/2010/main" val="3652604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8124C8-8BDF-4725-E0EE-62A677746B4D}"/>
              </a:ext>
            </a:extLst>
          </p:cNvPr>
          <p:cNvPicPr>
            <a:picLocks noChangeAspect="1"/>
          </p:cNvPicPr>
          <p:nvPr/>
        </p:nvPicPr>
        <p:blipFill>
          <a:blip r:embed="rId2"/>
          <a:stretch>
            <a:fillRect/>
          </a:stretch>
        </p:blipFill>
        <p:spPr>
          <a:xfrm>
            <a:off x="311888" y="574891"/>
            <a:ext cx="11568223" cy="3434576"/>
          </a:xfrm>
          <a:prstGeom prst="rect">
            <a:avLst/>
          </a:prstGeom>
        </p:spPr>
      </p:pic>
      <p:pic>
        <p:nvPicPr>
          <p:cNvPr id="5" name="Picture 4">
            <a:extLst>
              <a:ext uri="{FF2B5EF4-FFF2-40B4-BE49-F238E27FC236}">
                <a16:creationId xmlns:a16="http://schemas.microsoft.com/office/drawing/2014/main" id="{D467658B-8457-0293-D6E1-5E02FC259ABB}"/>
              </a:ext>
            </a:extLst>
          </p:cNvPr>
          <p:cNvPicPr>
            <a:picLocks noChangeAspect="1"/>
          </p:cNvPicPr>
          <p:nvPr/>
        </p:nvPicPr>
        <p:blipFill>
          <a:blip r:embed="rId3"/>
          <a:stretch>
            <a:fillRect/>
          </a:stretch>
        </p:blipFill>
        <p:spPr>
          <a:xfrm>
            <a:off x="761468" y="4009467"/>
            <a:ext cx="7394081" cy="618732"/>
          </a:xfrm>
          <a:prstGeom prst="rect">
            <a:avLst/>
          </a:prstGeom>
        </p:spPr>
      </p:pic>
    </p:spTree>
    <p:extLst>
      <p:ext uri="{BB962C8B-B14F-4D97-AF65-F5344CB8AC3E}">
        <p14:creationId xmlns:p14="http://schemas.microsoft.com/office/powerpoint/2010/main" val="1149867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3AFAE8-DC14-C42F-B2CE-66DB4A2F2DE6}"/>
              </a:ext>
            </a:extLst>
          </p:cNvPr>
          <p:cNvPicPr>
            <a:picLocks noChangeAspect="1"/>
          </p:cNvPicPr>
          <p:nvPr/>
        </p:nvPicPr>
        <p:blipFill>
          <a:blip r:embed="rId2"/>
          <a:stretch>
            <a:fillRect/>
          </a:stretch>
        </p:blipFill>
        <p:spPr>
          <a:xfrm>
            <a:off x="886046" y="719253"/>
            <a:ext cx="10419907" cy="5419493"/>
          </a:xfrm>
          <a:prstGeom prst="rect">
            <a:avLst/>
          </a:prstGeom>
        </p:spPr>
      </p:pic>
    </p:spTree>
    <p:extLst>
      <p:ext uri="{BB962C8B-B14F-4D97-AF65-F5344CB8AC3E}">
        <p14:creationId xmlns:p14="http://schemas.microsoft.com/office/powerpoint/2010/main" val="972660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7ED013-1E35-2EE6-D5D7-EDA4E5730EFD}"/>
              </a:ext>
            </a:extLst>
          </p:cNvPr>
          <p:cNvSpPr txBox="1"/>
          <p:nvPr/>
        </p:nvSpPr>
        <p:spPr>
          <a:xfrm>
            <a:off x="1548715" y="261800"/>
            <a:ext cx="5819826" cy="58477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IT Risk Identification</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identification is important because only risk that is identified can be assessed and treated appropriately.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When the enterprise fails to identify a risk, it is not included in the strategic planning process used by senior management to promote value creation.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should work closely with business process owners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The risk practitioner should also consult with the various information technology and cybersecurity functions to understand the development, acquisition, implementation and integration processes for the wide range of technologies used by the enterprise and the purpose of these technologies.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 addition, they should also understand how data and information are processed and handled along with the purpose of the data.</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717163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E44D79-DCCE-B22A-D154-53B1A3831525}"/>
              </a:ext>
            </a:extLst>
          </p:cNvPr>
          <p:cNvPicPr>
            <a:picLocks noChangeAspect="1"/>
          </p:cNvPicPr>
          <p:nvPr/>
        </p:nvPicPr>
        <p:blipFill rotWithShape="1">
          <a:blip r:embed="rId2"/>
          <a:srcRect b="6094"/>
          <a:stretch/>
        </p:blipFill>
        <p:spPr>
          <a:xfrm>
            <a:off x="517595" y="98854"/>
            <a:ext cx="10679014" cy="5867606"/>
          </a:xfrm>
          <a:prstGeom prst="rect">
            <a:avLst/>
          </a:prstGeom>
        </p:spPr>
      </p:pic>
    </p:spTree>
    <p:extLst>
      <p:ext uri="{BB962C8B-B14F-4D97-AF65-F5344CB8AC3E}">
        <p14:creationId xmlns:p14="http://schemas.microsoft.com/office/powerpoint/2010/main" val="1843604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2F3D8C-C587-4AD5-AC0F-B9E0BED451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085" y="990331"/>
            <a:ext cx="9617242" cy="2081231"/>
          </a:xfrm>
          <a:prstGeom prst="rect">
            <a:avLst/>
          </a:prstGeom>
        </p:spPr>
      </p:pic>
      <p:pic>
        <p:nvPicPr>
          <p:cNvPr id="5" name="Picture 4">
            <a:extLst>
              <a:ext uri="{FF2B5EF4-FFF2-40B4-BE49-F238E27FC236}">
                <a16:creationId xmlns:a16="http://schemas.microsoft.com/office/drawing/2014/main" id="{403700DF-796A-4CE5-843C-765897A373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5979" y="3158733"/>
            <a:ext cx="9866145" cy="2843771"/>
          </a:xfrm>
          <a:prstGeom prst="rect">
            <a:avLst/>
          </a:prstGeom>
        </p:spPr>
      </p:pic>
      <p:sp>
        <p:nvSpPr>
          <p:cNvPr id="4" name="TextBox 3">
            <a:extLst>
              <a:ext uri="{FF2B5EF4-FFF2-40B4-BE49-F238E27FC236}">
                <a16:creationId xmlns:a16="http://schemas.microsoft.com/office/drawing/2014/main" id="{A16A2FE6-0CF3-4ECF-BA00-A709C12914A6}"/>
              </a:ext>
            </a:extLst>
          </p:cNvPr>
          <p:cNvSpPr txBox="1"/>
          <p:nvPr/>
        </p:nvSpPr>
        <p:spPr>
          <a:xfrm>
            <a:off x="3039979" y="441158"/>
            <a:ext cx="478108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Management Concepts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Risk Definitions</a:t>
            </a:r>
          </a:p>
        </p:txBody>
      </p:sp>
    </p:spTree>
    <p:extLst>
      <p:ext uri="{BB962C8B-B14F-4D97-AF65-F5344CB8AC3E}">
        <p14:creationId xmlns:p14="http://schemas.microsoft.com/office/powerpoint/2010/main" val="166686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CBB7C9-BC32-474C-87F9-D2C132DD4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653" y="685259"/>
            <a:ext cx="5578069" cy="1867440"/>
          </a:xfrm>
          <a:prstGeom prst="rect">
            <a:avLst/>
          </a:prstGeom>
        </p:spPr>
      </p:pic>
      <p:pic>
        <p:nvPicPr>
          <p:cNvPr id="9" name="Picture 8">
            <a:extLst>
              <a:ext uri="{FF2B5EF4-FFF2-40B4-BE49-F238E27FC236}">
                <a16:creationId xmlns:a16="http://schemas.microsoft.com/office/drawing/2014/main" id="{14577469-AEBA-4180-B7CA-6401262F1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8165" y="2552699"/>
            <a:ext cx="5350744" cy="1752601"/>
          </a:xfrm>
          <a:prstGeom prst="rect">
            <a:avLst/>
          </a:prstGeom>
        </p:spPr>
      </p:pic>
      <p:pic>
        <p:nvPicPr>
          <p:cNvPr id="11" name="Picture 10">
            <a:extLst>
              <a:ext uri="{FF2B5EF4-FFF2-40B4-BE49-F238E27FC236}">
                <a16:creationId xmlns:a16="http://schemas.microsoft.com/office/drawing/2014/main" id="{07D28FC9-A333-4A5C-BDA0-4513B09D81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1494" y="4419601"/>
            <a:ext cx="7101138" cy="1678350"/>
          </a:xfrm>
          <a:prstGeom prst="rect">
            <a:avLst/>
          </a:prstGeom>
        </p:spPr>
      </p:pic>
      <p:sp>
        <p:nvSpPr>
          <p:cNvPr id="2" name="Rectangle 1">
            <a:extLst>
              <a:ext uri="{FF2B5EF4-FFF2-40B4-BE49-F238E27FC236}">
                <a16:creationId xmlns:a16="http://schemas.microsoft.com/office/drawing/2014/main" id="{D2894D67-C3CF-4A3E-92C5-69EA2540ACFA}"/>
              </a:ext>
            </a:extLst>
          </p:cNvPr>
          <p:cNvSpPr/>
          <p:nvPr/>
        </p:nvSpPr>
        <p:spPr>
          <a:xfrm>
            <a:off x="6800860" y="760049"/>
            <a:ext cx="4399967" cy="156966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Threats might be naturally occurring such as hurricanes and wildfires, or manmade such as hacking and terrorism.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 can't normally control what threats are out there. They exist independently.</a:t>
            </a:r>
          </a:p>
        </p:txBody>
      </p:sp>
    </p:spTree>
    <p:extLst>
      <p:ext uri="{BB962C8B-B14F-4D97-AF65-F5344CB8AC3E}">
        <p14:creationId xmlns:p14="http://schemas.microsoft.com/office/powerpoint/2010/main" val="3751679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501D54-9A9B-4FB4-8D33-5E6586932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507987"/>
            <a:ext cx="6690672" cy="1684311"/>
          </a:xfrm>
          <a:prstGeom prst="rect">
            <a:avLst/>
          </a:prstGeom>
        </p:spPr>
      </p:pic>
      <p:pic>
        <p:nvPicPr>
          <p:cNvPr id="7" name="Picture 6">
            <a:extLst>
              <a:ext uri="{FF2B5EF4-FFF2-40B4-BE49-F238E27FC236}">
                <a16:creationId xmlns:a16="http://schemas.microsoft.com/office/drawing/2014/main" id="{86C507CD-DF27-468D-BA9A-FB6E0290B9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4536" y="2565475"/>
            <a:ext cx="6690672" cy="1727050"/>
          </a:xfrm>
          <a:prstGeom prst="rect">
            <a:avLst/>
          </a:prstGeom>
        </p:spPr>
      </p:pic>
      <p:pic>
        <p:nvPicPr>
          <p:cNvPr id="9" name="Picture 8">
            <a:extLst>
              <a:ext uri="{FF2B5EF4-FFF2-40B4-BE49-F238E27FC236}">
                <a16:creationId xmlns:a16="http://schemas.microsoft.com/office/drawing/2014/main" id="{C12B5913-0E41-4005-90A4-288AF75759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4665702"/>
            <a:ext cx="6570746" cy="1332171"/>
          </a:xfrm>
          <a:prstGeom prst="rect">
            <a:avLst/>
          </a:prstGeom>
        </p:spPr>
      </p:pic>
    </p:spTree>
    <p:extLst>
      <p:ext uri="{BB962C8B-B14F-4D97-AF65-F5344CB8AC3E}">
        <p14:creationId xmlns:p14="http://schemas.microsoft.com/office/powerpoint/2010/main" val="1451597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99C8A9-5639-4B34-989B-BABA24FDF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083" y="1147011"/>
            <a:ext cx="10173833" cy="4792829"/>
          </a:xfrm>
          <a:prstGeom prst="rect">
            <a:avLst/>
          </a:prstGeom>
        </p:spPr>
      </p:pic>
    </p:spTree>
    <p:extLst>
      <p:ext uri="{BB962C8B-B14F-4D97-AF65-F5344CB8AC3E}">
        <p14:creationId xmlns:p14="http://schemas.microsoft.com/office/powerpoint/2010/main" val="3353561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E20320-6C95-4579-94F1-F9AA80DA4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252" y="743608"/>
            <a:ext cx="9713495" cy="4894691"/>
          </a:xfrm>
          <a:prstGeom prst="rect">
            <a:avLst/>
          </a:prstGeom>
        </p:spPr>
      </p:pic>
    </p:spTree>
    <p:extLst>
      <p:ext uri="{BB962C8B-B14F-4D97-AF65-F5344CB8AC3E}">
        <p14:creationId xmlns:p14="http://schemas.microsoft.com/office/powerpoint/2010/main" val="2755663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B03AE3-039E-4968-A853-A3F3B59D4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694" y="534591"/>
            <a:ext cx="10282989" cy="5342334"/>
          </a:xfrm>
          <a:prstGeom prst="rect">
            <a:avLst/>
          </a:prstGeom>
        </p:spPr>
      </p:pic>
    </p:spTree>
    <p:extLst>
      <p:ext uri="{BB962C8B-B14F-4D97-AF65-F5344CB8AC3E}">
        <p14:creationId xmlns:p14="http://schemas.microsoft.com/office/powerpoint/2010/main" val="1950547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F6F71C-86A4-4D76-B927-10C59E20B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60" y="539388"/>
            <a:ext cx="10424080" cy="5432285"/>
          </a:xfrm>
          <a:prstGeom prst="rect">
            <a:avLst/>
          </a:prstGeom>
        </p:spPr>
      </p:pic>
    </p:spTree>
    <p:extLst>
      <p:ext uri="{BB962C8B-B14F-4D97-AF65-F5344CB8AC3E}">
        <p14:creationId xmlns:p14="http://schemas.microsoft.com/office/powerpoint/2010/main" val="964349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53A3C7-A6D0-6352-412A-3FA11C365183}"/>
              </a:ext>
            </a:extLst>
          </p:cNvPr>
          <p:cNvSpPr txBox="1"/>
          <p:nvPr/>
        </p:nvSpPr>
        <p:spPr>
          <a:xfrm>
            <a:off x="3517990" y="170225"/>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Catalogue of threats &amp; vulnerabilities</a:t>
            </a:r>
          </a:p>
        </p:txBody>
      </p:sp>
      <p:sp>
        <p:nvSpPr>
          <p:cNvPr id="5" name="TextBox 4">
            <a:extLst>
              <a:ext uri="{FF2B5EF4-FFF2-40B4-BE49-F238E27FC236}">
                <a16:creationId xmlns:a16="http://schemas.microsoft.com/office/drawing/2014/main" id="{10DE722C-CC31-4E44-7909-2B490C4273B1}"/>
              </a:ext>
            </a:extLst>
          </p:cNvPr>
          <p:cNvSpPr txBox="1"/>
          <p:nvPr/>
        </p:nvSpPr>
        <p:spPr>
          <a:xfrm>
            <a:off x="377965" y="544069"/>
            <a:ext cx="11653613" cy="193899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list of threats and vulnerabilities can serve as a help for implementing risk assessment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list is not final – each organization must add their own specific threats and vulnerabilities that endanger the confidentiality, integrity and availability of their assets.</a:t>
            </a:r>
            <a:endPar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rPr>
              <a:t>Threats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Below is a list of threats – this is not a definitive list, it must be adapted to the individual organization:</a:t>
            </a:r>
          </a:p>
        </p:txBody>
      </p:sp>
      <p:sp>
        <p:nvSpPr>
          <p:cNvPr id="8" name="TextBox 7">
            <a:extLst>
              <a:ext uri="{FF2B5EF4-FFF2-40B4-BE49-F238E27FC236}">
                <a16:creationId xmlns:a16="http://schemas.microsoft.com/office/drawing/2014/main" id="{E2219554-ADC0-D2F6-BD2E-FDC2151F19B3}"/>
              </a:ext>
            </a:extLst>
          </p:cNvPr>
          <p:cNvSpPr txBox="1"/>
          <p:nvPr/>
        </p:nvSpPr>
        <p:spPr>
          <a:xfrm>
            <a:off x="377966" y="2779959"/>
            <a:ext cx="3990473" cy="332398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Disclosure of passwords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Eavesdropping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Access to the network by unauthorized persons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Bomb threat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Breach of contractual relations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Breach of legislation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Compromising confidential information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Concealing user identity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Damage caused by a third party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Damages resulting from penetration testing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Destruction of records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Disaster (human caused)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Disaster (natural)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Disclosure of information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
        <p:nvSpPr>
          <p:cNvPr id="11" name="TextBox 10">
            <a:extLst>
              <a:ext uri="{FF2B5EF4-FFF2-40B4-BE49-F238E27FC236}">
                <a16:creationId xmlns:a16="http://schemas.microsoft.com/office/drawing/2014/main" id="{C02EF678-A682-9183-4AC8-2D837D57882C}"/>
              </a:ext>
            </a:extLst>
          </p:cNvPr>
          <p:cNvSpPr txBox="1"/>
          <p:nvPr/>
        </p:nvSpPr>
        <p:spPr>
          <a:xfrm>
            <a:off x="4617958" y="2672238"/>
            <a:ext cx="2956083" cy="35394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Errors in maintenance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Failure of communication links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Falsification of records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Flood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Fraud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Industrial espionage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Information leakage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Interruption of business processes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Loss of electricity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Loss of support services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Malfunction of equipment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Malicious code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Misuse of information systems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Misuse of audit tools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Pollution</a:t>
            </a:r>
          </a:p>
        </p:txBody>
      </p:sp>
      <p:sp>
        <p:nvSpPr>
          <p:cNvPr id="13" name="TextBox 12">
            <a:extLst>
              <a:ext uri="{FF2B5EF4-FFF2-40B4-BE49-F238E27FC236}">
                <a16:creationId xmlns:a16="http://schemas.microsoft.com/office/drawing/2014/main" id="{1ECF5AD1-69B3-264E-3EFE-273AC93B73A3}"/>
              </a:ext>
            </a:extLst>
          </p:cNvPr>
          <p:cNvSpPr txBox="1"/>
          <p:nvPr/>
        </p:nvSpPr>
        <p:spPr>
          <a:xfrm>
            <a:off x="8073079" y="2672238"/>
            <a:ext cx="4308607" cy="35394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Social engineering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Software errors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Strike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Terrorist attacks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Theft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Thunderstroke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Unintentional change of data in an information system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access to the information system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changes of records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installation of software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physical access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use of copyright material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use of software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User error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Vandalism</a:t>
            </a:r>
          </a:p>
        </p:txBody>
      </p:sp>
    </p:spTree>
    <p:extLst>
      <p:ext uri="{BB962C8B-B14F-4D97-AF65-F5344CB8AC3E}">
        <p14:creationId xmlns:p14="http://schemas.microsoft.com/office/powerpoint/2010/main" val="3900608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FA725E-7520-8DDF-DA0B-0B67681FDE27}"/>
              </a:ext>
            </a:extLst>
          </p:cNvPr>
          <p:cNvSpPr txBox="1"/>
          <p:nvPr/>
        </p:nvSpPr>
        <p:spPr>
          <a:xfrm>
            <a:off x="2205789" y="320388"/>
            <a:ext cx="738739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rPr>
              <a:t>Vulnerabilities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list of vulnerabilities – this is not a definitive list, it must be adapted to the individual organization:</a:t>
            </a:r>
          </a:p>
        </p:txBody>
      </p:sp>
      <p:sp>
        <p:nvSpPr>
          <p:cNvPr id="6" name="TextBox 5">
            <a:extLst>
              <a:ext uri="{FF2B5EF4-FFF2-40B4-BE49-F238E27FC236}">
                <a16:creationId xmlns:a16="http://schemas.microsoft.com/office/drawing/2014/main" id="{096EB311-A99C-C3DA-A76C-71529F727BF1}"/>
              </a:ext>
            </a:extLst>
          </p:cNvPr>
          <p:cNvSpPr txBox="1"/>
          <p:nvPr/>
        </p:nvSpPr>
        <p:spPr>
          <a:xfrm>
            <a:off x="352926" y="1554646"/>
            <a:ext cx="3593432" cy="440120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Complicated user interface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Default passwords not changed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Disposal of storage media without deleting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Equipment sensitivity to changes in voltage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Equipment sensitivity to moisture and contaminants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Equipment sensitivity to temperature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cabling security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capacity management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change management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classification of information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control of physical access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maintenance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network management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or irregular backup</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password management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policy for the use of cryptography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B632B368-1780-2D9B-3F93-8836D5561540}"/>
              </a:ext>
            </a:extLst>
          </p:cNvPr>
          <p:cNvSpPr txBox="1"/>
          <p:nvPr/>
        </p:nvSpPr>
        <p:spPr>
          <a:xfrm>
            <a:off x="4379494" y="1554646"/>
            <a:ext cx="3922295" cy="440120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physical protection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protection of cryptographic keys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replacement of older equipment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security awareness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segregation of duties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segregation of operational and testing facilities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supervision of employees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supervision of vendors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Inadequate training of employees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Incomplete specification for software development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Insufficient software testing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access control policy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clean desk and clear screen policy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control over the input and output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internal documentation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or poor implementation of internal audit</a:t>
            </a:r>
          </a:p>
        </p:txBody>
      </p:sp>
      <p:sp>
        <p:nvSpPr>
          <p:cNvPr id="11" name="TextBox 10">
            <a:extLst>
              <a:ext uri="{FF2B5EF4-FFF2-40B4-BE49-F238E27FC236}">
                <a16:creationId xmlns:a16="http://schemas.microsoft.com/office/drawing/2014/main" id="{1E651BAB-B66B-4534-FD3C-E9C8EB830EA2}"/>
              </a:ext>
            </a:extLst>
          </p:cNvPr>
          <p:cNvSpPr txBox="1"/>
          <p:nvPr/>
        </p:nvSpPr>
        <p:spPr>
          <a:xfrm>
            <a:off x="8534400" y="1554646"/>
            <a:ext cx="3657600" cy="39703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procedure for removing access rights upon termination of employment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protection for mobile equipment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redundancy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systems for identification and authentication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validation of the processed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Location vulnerable to flooding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Poor selection of test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Single copy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Too much power in one person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Uncontrolled copying of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Uncontrolled download from the Internet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Uncontrolled use of information systems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Undocumented software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Unmotivated employees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Unprotected public network connections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User rights are not reviewed regularly</a:t>
            </a:r>
          </a:p>
        </p:txBody>
      </p:sp>
    </p:spTree>
    <p:extLst>
      <p:ext uri="{BB962C8B-B14F-4D97-AF65-F5344CB8AC3E}">
        <p14:creationId xmlns:p14="http://schemas.microsoft.com/office/powerpoint/2010/main" val="3819067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6A13B0-7626-416C-B6BC-526CB361799E}"/>
              </a:ext>
            </a:extLst>
          </p:cNvPr>
          <p:cNvPicPr>
            <a:picLocks noChangeAspect="1"/>
          </p:cNvPicPr>
          <p:nvPr/>
        </p:nvPicPr>
        <p:blipFill>
          <a:blip r:embed="rId3"/>
          <a:stretch>
            <a:fillRect/>
          </a:stretch>
        </p:blipFill>
        <p:spPr>
          <a:xfrm>
            <a:off x="1876926" y="775903"/>
            <a:ext cx="8616295" cy="4678411"/>
          </a:xfrm>
          <a:prstGeom prst="rect">
            <a:avLst/>
          </a:prstGeom>
        </p:spPr>
      </p:pic>
    </p:spTree>
    <p:extLst>
      <p:ext uri="{BB962C8B-B14F-4D97-AF65-F5344CB8AC3E}">
        <p14:creationId xmlns:p14="http://schemas.microsoft.com/office/powerpoint/2010/main" val="403863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6BE817-A546-52EF-534E-748D6E19FC6F}"/>
              </a:ext>
            </a:extLst>
          </p:cNvPr>
          <p:cNvSpPr txBox="1"/>
          <p:nvPr/>
        </p:nvSpPr>
        <p:spPr>
          <a:xfrm>
            <a:off x="753979" y="60372"/>
            <a:ext cx="8758990" cy="570925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Methods of Risk Identification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has several possible sources for identification of risk, including: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review of historical events, such as: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Audit or incident reports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Public media (e.g., newspapers, television, etc.)</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Annual reports and press releases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Systematic approaches (expert opinion) in which a risk team examines and questions a business process systematically to determine the potential points of failure, such as: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Vulnerability assessments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Review of business continuity and disaster recovery plans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Interviews and workshops with managers, employees, customers, suppliers and auditors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Inductive methods (theoretical analysis), where a team examines a process to determine the possible point of attack or compromise, such as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penetration testing</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Existing taxonomy, where a risk library with  IT-related risk can be used as a starting point. These libraries are commonly used in governance, risk and compliance (GRC) systems or risk assessment systems.</a:t>
            </a: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process of risk identification serves as the input to another aspect of risk management, as seen in figure 2.5.</a:t>
            </a:r>
          </a:p>
        </p:txBody>
      </p:sp>
    </p:spTree>
    <p:extLst>
      <p:ext uri="{BB962C8B-B14F-4D97-AF65-F5344CB8AC3E}">
        <p14:creationId xmlns:p14="http://schemas.microsoft.com/office/powerpoint/2010/main" val="1002596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9E6298-AF9A-99CB-71A4-43D0A69E1564}"/>
              </a:ext>
            </a:extLst>
          </p:cNvPr>
          <p:cNvPicPr>
            <a:picLocks noChangeAspect="1"/>
          </p:cNvPicPr>
          <p:nvPr/>
        </p:nvPicPr>
        <p:blipFill>
          <a:blip r:embed="rId2"/>
          <a:stretch>
            <a:fillRect/>
          </a:stretch>
        </p:blipFill>
        <p:spPr>
          <a:xfrm>
            <a:off x="930441" y="83081"/>
            <a:ext cx="10129587" cy="6104409"/>
          </a:xfrm>
          <a:prstGeom prst="rect">
            <a:avLst/>
          </a:prstGeom>
        </p:spPr>
      </p:pic>
    </p:spTree>
    <p:extLst>
      <p:ext uri="{BB962C8B-B14F-4D97-AF65-F5344CB8AC3E}">
        <p14:creationId xmlns:p14="http://schemas.microsoft.com/office/powerpoint/2010/main" val="1282069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03BF90-5C96-A846-953E-6511701DC2CB}"/>
              </a:ext>
            </a:extLst>
          </p:cNvPr>
          <p:cNvSpPr txBox="1"/>
          <p:nvPr/>
        </p:nvSpPr>
        <p:spPr>
          <a:xfrm>
            <a:off x="1309036" y="500155"/>
            <a:ext cx="7149164" cy="53399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Changes in the Risk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environment changes as organizations and technologies change and threat actors focus on new areas to attack.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Systems and applications that were once thought to be secure are often found to be vulnerable at a later time.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requires the ongoing monitoring and the evaluation and assessment of the corresponding risk elements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Substantial changes in the risk environment may arise as a result of changes in technology or in business practices.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ensure that new and emerging risk is identified, analyzed, evaluated, assessed and reported, and that the organization is aware of and watching for emerging threats and newly identified vulnerabilities.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includes monitoring vendor alerts, reports from computer emergency response teams (CERTs) and media stories.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When a new issue arises, the risk practitioner should work with the business and system owner to perform a threat analysis and determine if and how the organization should respond.</a:t>
            </a:r>
          </a:p>
        </p:txBody>
      </p:sp>
    </p:spTree>
    <p:extLst>
      <p:ext uri="{BB962C8B-B14F-4D97-AF65-F5344CB8AC3E}">
        <p14:creationId xmlns:p14="http://schemas.microsoft.com/office/powerpoint/2010/main" val="779684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B40731-1035-02EB-5683-E90A3759A869}"/>
              </a:ext>
            </a:extLst>
          </p:cNvPr>
          <p:cNvSpPr txBox="1"/>
          <p:nvPr/>
        </p:nvSpPr>
        <p:spPr>
          <a:xfrm>
            <a:off x="1981200" y="1425658"/>
            <a:ext cx="7636042" cy="290848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Operational Integrity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Maintaining operational integrity often requires procedures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including incident management, identity and access management, change and release management, patch management and project planning. </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processes must be defined and deployed consistently across the enterprise.</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Without them the enterprise may be at risk of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inconsistent management and results, lack of governance and reporting and failure to ensure compliance with regulations.</a:t>
            </a:r>
          </a:p>
        </p:txBody>
      </p:sp>
    </p:spTree>
    <p:extLst>
      <p:ext uri="{BB962C8B-B14F-4D97-AF65-F5344CB8AC3E}">
        <p14:creationId xmlns:p14="http://schemas.microsoft.com/office/powerpoint/2010/main" val="1374438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74B55-EFE9-418C-72C8-D2AD3F20B2ED}"/>
              </a:ext>
            </a:extLst>
          </p:cNvPr>
          <p:cNvSpPr txBox="1"/>
          <p:nvPr/>
        </p:nvSpPr>
        <p:spPr>
          <a:xfrm>
            <a:off x="1780673" y="664456"/>
            <a:ext cx="6616567" cy="45550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Forecasting Risk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Previous incidents, audit reports and failures affecting both internal and external parties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provide the risk practitioner with valuable insight.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Each event offers a wealth of information on what may have gone wrong and how to better protect systems, detect incidents and respond more effectively in the future.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FF0000"/>
                </a:solidFill>
                <a:effectLst/>
                <a:uLnTx/>
                <a:uFillTx/>
                <a:latin typeface="Berlin Sans FB" panose="020E0602020502020306" pitchFamily="34" charset="0"/>
                <a:ea typeface="+mn-ea"/>
                <a:cs typeface="+mn-cs"/>
              </a:rPr>
              <a:t>The greatest threat to the incident response process is a failure to lean from past events and repeat the same errors in the future</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Investigations of past events may also validate or refine the calculation of risk impact, but the risk practitioner is cautioned to remember that no two incidents are identical and that the impact of a future event may differ substantially from a past event with similar characteristics.</a:t>
            </a:r>
          </a:p>
        </p:txBody>
      </p:sp>
    </p:spTree>
    <p:extLst>
      <p:ext uri="{BB962C8B-B14F-4D97-AF65-F5344CB8AC3E}">
        <p14:creationId xmlns:p14="http://schemas.microsoft.com/office/powerpoint/2010/main" val="2606290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D02523-1991-0DC2-4F81-DF51C8645B0D}"/>
              </a:ext>
            </a:extLst>
          </p:cNvPr>
          <p:cNvPicPr>
            <a:picLocks noChangeAspect="1"/>
          </p:cNvPicPr>
          <p:nvPr/>
        </p:nvPicPr>
        <p:blipFill>
          <a:blip r:embed="rId2"/>
          <a:stretch>
            <a:fillRect/>
          </a:stretch>
        </p:blipFill>
        <p:spPr>
          <a:xfrm>
            <a:off x="1311349" y="1048214"/>
            <a:ext cx="9569302" cy="4761571"/>
          </a:xfrm>
          <a:prstGeom prst="rect">
            <a:avLst/>
          </a:prstGeom>
        </p:spPr>
      </p:pic>
    </p:spTree>
    <p:extLst>
      <p:ext uri="{BB962C8B-B14F-4D97-AF65-F5344CB8AC3E}">
        <p14:creationId xmlns:p14="http://schemas.microsoft.com/office/powerpoint/2010/main" val="531205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8023A3-095C-1BE8-36C0-C57482765D00}"/>
              </a:ext>
            </a:extLst>
          </p:cNvPr>
          <p:cNvPicPr>
            <a:picLocks noChangeAspect="1"/>
          </p:cNvPicPr>
          <p:nvPr/>
        </p:nvPicPr>
        <p:blipFill>
          <a:blip r:embed="rId2"/>
          <a:stretch>
            <a:fillRect/>
          </a:stretch>
        </p:blipFill>
        <p:spPr>
          <a:xfrm>
            <a:off x="1056167" y="719253"/>
            <a:ext cx="10079665" cy="5419493"/>
          </a:xfrm>
          <a:prstGeom prst="rect">
            <a:avLst/>
          </a:prstGeom>
        </p:spPr>
      </p:pic>
    </p:spTree>
    <p:extLst>
      <p:ext uri="{BB962C8B-B14F-4D97-AF65-F5344CB8AC3E}">
        <p14:creationId xmlns:p14="http://schemas.microsoft.com/office/powerpoint/2010/main" val="1492615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9B93E3-7A40-4274-DA16-D55A0AC9F1C3}"/>
              </a:ext>
            </a:extLst>
          </p:cNvPr>
          <p:cNvSpPr txBox="1"/>
          <p:nvPr/>
        </p:nvSpPr>
        <p:spPr>
          <a:xfrm>
            <a:off x="1356761" y="464331"/>
            <a:ext cx="7146758" cy="53091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Threat Landscape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Threats can be external or internal, intentional or unintentional. They may be caused by natural events or political, economic or competitive factors. </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Threats always exist and are typically beyond the direct control of the risk practitioner or asset owner.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Threats may be divided into multiple categories, including:</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Physical</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Natural events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Loss of essential services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Disturbance due to radiation</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Compromise or disclosures of information</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Technical failures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Improperly-defined business logic</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Unauthorized actions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Compromise of functions</a:t>
            </a:r>
          </a:p>
        </p:txBody>
      </p:sp>
    </p:spTree>
    <p:extLst>
      <p:ext uri="{BB962C8B-B14F-4D97-AF65-F5344CB8AC3E}">
        <p14:creationId xmlns:p14="http://schemas.microsoft.com/office/powerpoint/2010/main" val="3707724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E3C4D8-D55D-0ADA-1B1A-C138305E6658}"/>
              </a:ext>
            </a:extLst>
          </p:cNvPr>
          <p:cNvSpPr txBox="1"/>
          <p:nvPr/>
        </p:nvSpPr>
        <p:spPr>
          <a:xfrm>
            <a:off x="737937" y="193718"/>
            <a:ext cx="8614610" cy="409342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should document all the threats that may apply to the systems and business processes under review.</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Threats may be the result of accidental actions, intentional/deliberate actions or natural events.</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Threats may originate from either internal or external sources, and actual attacks may leverage a combination of both internal and external sources.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Where threats may be directed by individual actors, the risk practitioner should know and remain aware that such threat actors tend to be imaginative, creative and determined and will explore new methods and avenues of attack.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counter threat actors, the risk practitioner must also be determined and creative, and seek to discover as many threats as possible.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unidentified threat is one for which the organization is more likely to be unprepared and vulnerable than a threat that is well documented.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Sources for information regarding threats are listed in figure 2.6.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pic>
        <p:nvPicPr>
          <p:cNvPr id="4" name="Picture 3">
            <a:extLst>
              <a:ext uri="{FF2B5EF4-FFF2-40B4-BE49-F238E27FC236}">
                <a16:creationId xmlns:a16="http://schemas.microsoft.com/office/drawing/2014/main" id="{6DD42F6B-4CEE-7ACE-6318-0A7A2F6C8D0F}"/>
              </a:ext>
            </a:extLst>
          </p:cNvPr>
          <p:cNvPicPr>
            <a:picLocks noChangeAspect="1"/>
          </p:cNvPicPr>
          <p:nvPr/>
        </p:nvPicPr>
        <p:blipFill rotWithShape="1">
          <a:blip r:embed="rId2"/>
          <a:srcRect t="18353"/>
          <a:stretch/>
        </p:blipFill>
        <p:spPr>
          <a:xfrm>
            <a:off x="621881" y="4211052"/>
            <a:ext cx="11172825" cy="2025817"/>
          </a:xfrm>
          <a:prstGeom prst="rect">
            <a:avLst/>
          </a:prstGeom>
        </p:spPr>
      </p:pic>
    </p:spTree>
    <p:extLst>
      <p:ext uri="{BB962C8B-B14F-4D97-AF65-F5344CB8AC3E}">
        <p14:creationId xmlns:p14="http://schemas.microsoft.com/office/powerpoint/2010/main" val="95710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116137-D710-3364-82B0-273CE90143E9}"/>
              </a:ext>
            </a:extLst>
          </p:cNvPr>
          <p:cNvSpPr txBox="1"/>
          <p:nvPr/>
        </p:nvSpPr>
        <p:spPr>
          <a:xfrm>
            <a:off x="1756611" y="435186"/>
            <a:ext cx="6906126" cy="54014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Internal Threats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Employees are the cause of a significant number of business impacts, which can be intentional and unintentional.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disgruntled employee may intentionally compromise systems or release data that expose the enterprise to legal or reputational risk.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Many employees have access to systems and data that far exceeds their actual job requirements, which can be exploited in an attack.</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The solution to this problem is proper provisioning access to ensure that principles such as need-to-know and least privilege are introduced, but on its own, it is an incomplete solution.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Any system has trusted insiders, and one of them choosing to violate trust is difficult to either predict or prevent.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typical malicious insider is a current or former employee, contractor or other business partner who has or had authorized access to an enterprise network, system or data and intentionally intercepted (exfiltrated), interrupted, modified or fabricated data on the enterprise information systems.</a:t>
            </a:r>
          </a:p>
        </p:txBody>
      </p:sp>
    </p:spTree>
    <p:extLst>
      <p:ext uri="{BB962C8B-B14F-4D97-AF65-F5344CB8AC3E}">
        <p14:creationId xmlns:p14="http://schemas.microsoft.com/office/powerpoint/2010/main" val="655403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D1408E-0ACD-8FE9-B260-EF6EB9D3740A}"/>
              </a:ext>
            </a:extLst>
          </p:cNvPr>
          <p:cNvSpPr txBox="1"/>
          <p:nvPr/>
        </p:nvSpPr>
        <p:spPr>
          <a:xfrm>
            <a:off x="1355558" y="507628"/>
            <a:ext cx="8301789" cy="5355312"/>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first step in addressing personnel threats is to start with the hiring process and to review the qualifications and attitude of prospective employees.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Employment candidates may have submitted incorrect information on job applications and claimed education, certification or experience that they did not actually possess.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the time of hiring, the employee should be required to sign a nondisclosure agreement (NDA) and be advised of the ethics and policies of the enterprise, and a review of references and performance of background checks may be worthwhile where permitted by law.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Throughout employment, employees should be reminded of organizational policies and their responsibilities through awareness sessions and regular management reviews.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One of the best employee-based controls is to interact with employees to understand any frustrations, complaints or issues that they may be facing and to seek to resolve those issues.</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 employee who has been recently demoted or bypassed for a promotion is also a threat.</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the end of employment, an employee should return all organizational assets, including identification badges, equipment (e.g., laptops, mobile phones, access cards, etc.) and uniforms so that they cannot use those to gain unauthorized access in the future.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addition, systems, network and facility access should be revoked immediately prior to the employee departure to minimize the potential for crimes of opportunity.</a:t>
            </a:r>
          </a:p>
        </p:txBody>
      </p:sp>
    </p:spTree>
    <p:extLst>
      <p:ext uri="{BB962C8B-B14F-4D97-AF65-F5344CB8AC3E}">
        <p14:creationId xmlns:p14="http://schemas.microsoft.com/office/powerpoint/2010/main" val="2812506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5A492-F61F-D4E2-F592-2BE80C81685A}"/>
              </a:ext>
            </a:extLst>
          </p:cNvPr>
          <p:cNvSpPr txBox="1"/>
          <p:nvPr/>
        </p:nvSpPr>
        <p:spPr>
          <a:xfrm>
            <a:off x="1772653" y="1441992"/>
            <a:ext cx="6096000" cy="261610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15"/>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Internal threats can also originate from third parties that already operate within the internal environment of an enterprise.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15"/>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also consider vendor staff, business process outsourcing staff or any other external individuals that operate from within the enterprise.</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15"/>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Although they can be considered as external threats, they usually have some internal access points, and higher knowledge and capabilities to potentially initiate a threat from within an enterprise.</a:t>
            </a:r>
          </a:p>
        </p:txBody>
      </p:sp>
    </p:spTree>
    <p:extLst>
      <p:ext uri="{BB962C8B-B14F-4D97-AF65-F5344CB8AC3E}">
        <p14:creationId xmlns:p14="http://schemas.microsoft.com/office/powerpoint/2010/main" val="417150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CC41BD-AD5A-F7D7-AA52-3D72502DF32D}"/>
              </a:ext>
            </a:extLst>
          </p:cNvPr>
          <p:cNvSpPr txBox="1"/>
          <p:nvPr/>
        </p:nvSpPr>
        <p:spPr>
          <a:xfrm>
            <a:off x="729916" y="254548"/>
            <a:ext cx="9376610" cy="62632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External Threats</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threats to information systems from outside the enterprise can originate from anywhere and may take a number of forms, including, but not limited to, the following:</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Espionage</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Theft</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Sabotage</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Terrorism</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Criminal acts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Software errors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Hardware flaws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Mechanical failures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Lost assets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Data corruption</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Facility flaws (freezing pipe/pipe burst)</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Fire</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Supply chain interruption</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Industrial accidents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Disease (epidemic)</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Seismic activity</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Flooding</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Power surge/utility failure</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Severe storms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Natural events such as a flood, storm, earthquake or tornado are unpredictable and may be extremely disruptive and damaging.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use of governmental data and weather monitoring services may identify the threats associated with natural events and allow the risk practitioner to take necessary steps to be prepared.</a:t>
            </a:r>
          </a:p>
        </p:txBody>
      </p:sp>
    </p:spTree>
    <p:extLst>
      <p:ext uri="{BB962C8B-B14F-4D97-AF65-F5344CB8AC3E}">
        <p14:creationId xmlns:p14="http://schemas.microsoft.com/office/powerpoint/2010/main" val="1011929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88433A-83AE-5078-08F2-63182851A1FA}"/>
              </a:ext>
            </a:extLst>
          </p:cNvPr>
          <p:cNvSpPr txBox="1"/>
          <p:nvPr/>
        </p:nvSpPr>
        <p:spPr>
          <a:xfrm>
            <a:off x="1764631" y="743579"/>
            <a:ext cx="7756359" cy="455509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range of external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 actors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include criminals, hacktivists, corporate spies, thieves or advanced persistent threats (APT),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each having different methods, motivations and capabilities.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Where nation-state threat actors will be skilled and determined to break into systems for military or economic purposes, hacktivists will have a different set of skills and motivations to bare in an attempt to publicly humiliate or shame an organization.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term APT refers to advanced, highly-skilled attackers that are determined (persistent) in their attempts to exploit systems and networks.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pose increased skills and the effectiveness of the tools they possess makes the risk of compromise significant.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APTs may be sponsored by governments, organized crime or competitors.</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Most breaches are the result of targets of opportunity, not determined attacks. As seen in the annual reports from Verizon? and other organizations, many enterprises are breached because they were discovered to be easy targets and threat actors took advantage of their vulnerabilities.</a:t>
            </a:r>
          </a:p>
        </p:txBody>
      </p:sp>
    </p:spTree>
    <p:extLst>
      <p:ext uri="{BB962C8B-B14F-4D97-AF65-F5344CB8AC3E}">
        <p14:creationId xmlns:p14="http://schemas.microsoft.com/office/powerpoint/2010/main" val="2674108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020C85-F6EF-C229-90CA-62DA2CC4DC46}"/>
              </a:ext>
            </a:extLst>
          </p:cNvPr>
          <p:cNvSpPr txBox="1"/>
          <p:nvPr/>
        </p:nvSpPr>
        <p:spPr>
          <a:xfrm>
            <a:off x="1074821" y="767643"/>
            <a:ext cx="7732296" cy="458587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Emerging Threats</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Most technologies are built with an emphasis on function and purpose without due consideration for the security implications.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As a result, new technology tends to be a source of new vulnerabilities and may even itself be a threat actor within an information system.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must be alert to the emergence of new technologies and prepare for their introduction into the enterprise, particularly if these technologies promise cost savings or competitive advantage.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Internet of Things (IoT) is an example of a revolution in how enterprises view technology assets, one whose risk is self-evident but that has tempted a wide variety of enterprises by promising to greatly reduce the cost of both initial procurement of IT assets and the rate at which they need to be refreshed.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strategy that emphasizes rejection of new technology is unlikely to remain in place long beyond the point at which something gains executive sponsorship.</a:t>
            </a:r>
          </a:p>
        </p:txBody>
      </p:sp>
    </p:spTree>
    <p:extLst>
      <p:ext uri="{BB962C8B-B14F-4D97-AF65-F5344CB8AC3E}">
        <p14:creationId xmlns:p14="http://schemas.microsoft.com/office/powerpoint/2010/main" val="3783462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A808B4-F9B0-FC3E-7305-86046DD57ACB}"/>
              </a:ext>
            </a:extLst>
          </p:cNvPr>
          <p:cNvSpPr txBox="1"/>
          <p:nvPr/>
        </p:nvSpPr>
        <p:spPr>
          <a:xfrm>
            <a:off x="1138988" y="442624"/>
            <a:ext cx="9240253" cy="529375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Additional Sources for Threat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Additional sources for threat information are discussed in the following sections.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Conducting Interviews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Gathering information from staff is a valuable method of gaining insight into the business from those closest to the processes and most likely to understand their fundamental workings. </a:t>
            </a:r>
          </a:p>
          <a:p>
            <a:pPr marL="800100" marR="0" lvl="1"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can improve the results of an interview producing useful information by adhering to the following good practices:</a:t>
            </a:r>
          </a:p>
          <a:p>
            <a:pPr marL="1257300" marR="0" lvl="2"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Conduct interviews with senior leaders in order to ensure a thorough understanding of the enterprise, including every aspect of each business operation.</a:t>
            </a:r>
          </a:p>
          <a:p>
            <a:pPr marL="1257300" marR="0" lvl="2"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Senior leaders may include board members, administrators, critical third-party service providers, customers, suppliers and managers.</a:t>
            </a:r>
          </a:p>
          <a:p>
            <a:pPr marL="1257300" marR="0" lvl="2"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Encourage interviewees to be open about challenges they face and risk that concerns them along with any potential missed opportunities or problems associated with their current processes, systems and services/products.</a:t>
            </a:r>
          </a:p>
        </p:txBody>
      </p:sp>
    </p:spTree>
    <p:extLst>
      <p:ext uri="{BB962C8B-B14F-4D97-AF65-F5344CB8AC3E}">
        <p14:creationId xmlns:p14="http://schemas.microsoft.com/office/powerpoint/2010/main" val="37014385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B2244-8D1A-0698-A45D-E3022BCB2738}"/>
              </a:ext>
            </a:extLst>
          </p:cNvPr>
          <p:cNvSpPr txBox="1"/>
          <p:nvPr/>
        </p:nvSpPr>
        <p:spPr>
          <a:xfrm>
            <a:off x="898358" y="0"/>
            <a:ext cx="6721642" cy="5924699"/>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Media Reports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Media sources such as newspapers, television, articles and social media can be useful sources of information about threats or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Observation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Watching a process as an independent observer may highlight issues that are unable to be seen as clearly by those performing the operations and can help to identify situations in which documented processes are not being followed or where processes are found to be lacking.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Besides making observations, the risk practitioner should conduct or review the business process mapping to identify out-of-band services and new ways of working created during periods of business reorganization that are not captured in the previous operating models.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Logs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Logs are powerful sources of threats.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logs, when ingested in security information and event management tools, can be used to correlate events from different sources to identify a threat or an incident</a:t>
            </a:r>
          </a:p>
        </p:txBody>
      </p:sp>
    </p:spTree>
    <p:extLst>
      <p:ext uri="{BB962C8B-B14F-4D97-AF65-F5344CB8AC3E}">
        <p14:creationId xmlns:p14="http://schemas.microsoft.com/office/powerpoint/2010/main" val="716883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2C583F-74B4-A8D9-8638-BF3014CD1D27}"/>
              </a:ext>
            </a:extLst>
          </p:cNvPr>
          <p:cNvSpPr txBox="1"/>
          <p:nvPr/>
        </p:nvSpPr>
        <p:spPr>
          <a:xfrm>
            <a:off x="1668379" y="1500897"/>
            <a:ext cx="8045116" cy="29700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Self-assessments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enterprises encourage direct manager involvement in monitoring risk and control effectiveness within their areas of responsibility.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Local managers typically have insight into the behavior of their staff and routine operations, so they are well-suited to evaluate compliance with procedures, recurring problems, risk trends and vulnerabilities.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Properly conducted self-assessments can provide the risk team and Senior  management with regular reporting of risk and assurance of control effectiveness and may also reduce the need for more intense </a:t>
            </a: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auidits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oF</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system reauthorization.</a:t>
            </a:r>
          </a:p>
        </p:txBody>
      </p:sp>
    </p:spTree>
    <p:extLst>
      <p:ext uri="{BB962C8B-B14F-4D97-AF65-F5344CB8AC3E}">
        <p14:creationId xmlns:p14="http://schemas.microsoft.com/office/powerpoint/2010/main" val="3006517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A16640-4521-6314-9673-CCD6956E8925}"/>
              </a:ext>
            </a:extLst>
          </p:cNvPr>
          <p:cNvSpPr txBox="1"/>
          <p:nvPr/>
        </p:nvSpPr>
        <p:spPr>
          <a:xfrm>
            <a:off x="1259305" y="136736"/>
            <a:ext cx="7507706" cy="55707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Third-party Assurance</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Third-party performance of reviews, audits, compliance verification and analysis of the enterprise, its processes, incidents, logs and threat environment can be a valuable source of information about risk, control effectiveness (design and operational efficacy), vulnerabilities and compliance.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User Feedback</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System users are in an excellent position to know the system and its shortcomings, including potential vulnerabilities.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Interacting with users and learning their issues and concerns regarding the system may indicate where security controls could be circumvented for convenience or improved efficiency.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Vendor Reports</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There are many sources for information on current threats and vulnerabilities, new types of malware or emerging attack methods. </a:t>
            </a:r>
          </a:p>
          <a:p>
            <a:pPr marL="742950" marR="0" lvl="1"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government-sponsored CERTs and security vendors provide free or subscription-based reports and analysis, and these can be valuable sources of information for the risk practitioner.</a:t>
            </a:r>
          </a:p>
        </p:txBody>
      </p:sp>
    </p:spTree>
    <p:extLst>
      <p:ext uri="{BB962C8B-B14F-4D97-AF65-F5344CB8AC3E}">
        <p14:creationId xmlns:p14="http://schemas.microsoft.com/office/powerpoint/2010/main" val="663310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DD83D9-963B-DF72-B9A4-F784AAA8D9F2}"/>
              </a:ext>
            </a:extLst>
          </p:cNvPr>
          <p:cNvSpPr txBox="1"/>
          <p:nvPr/>
        </p:nvSpPr>
        <p:spPr>
          <a:xfrm>
            <a:off x="930441" y="299587"/>
            <a:ext cx="8783054" cy="60631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Threat Modeling</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628650" marR="0" lvl="1" indent="-1714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 modeling is an important part of the risk analysis.</a:t>
            </a:r>
          </a:p>
          <a:p>
            <a:pPr marL="628650" marR="0" lvl="1" indent="-1714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Threat modeling involves looking at every possible threat agent,  action or event, attack vector, and vulnerability for a given system,  asset, or process, and then modeling or simulating how it could  progress and the damage that could occur.</a:t>
            </a:r>
          </a:p>
          <a:p>
            <a:pPr marL="628650" marR="0" lvl="1" indent="-1714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prevent threats from taking advantage of system flaws, various threat-modeling methods can steer appropriate response and help make informed decisions around appropriate safeguards and countermeasures needed to protect an asset.</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Threat modeling helps the risk practitioner, systems designers, developers and operators to build systems with attention to defensive controls, built-in security features and proper placement within a strategy of overlapping defenses (defense in depth) that can deter or prevent system failures.</a:t>
            </a:r>
          </a:p>
          <a:p>
            <a:pPr>
              <a:defRPr/>
            </a:pPr>
            <a:r>
              <a:rPr lang="en-US" sz="2400" dirty="0">
                <a:solidFill>
                  <a:srgbClr val="C00000"/>
                </a:solidFill>
                <a:effectLst>
                  <a:outerShdw blurRad="38100" dist="38100" dir="2700000" algn="tl">
                    <a:srgbClr val="000000">
                      <a:alpha val="43137"/>
                    </a:srgbClr>
                  </a:outerShdw>
                </a:effectLst>
                <a:latin typeface="Berlin Sans FB Demi" panose="020E0802020502020306" pitchFamily="34" charset="0"/>
              </a:rPr>
              <a:t>Benefits of threat modeling</a:t>
            </a:r>
          </a:p>
          <a:p>
            <a:pPr lvl="1"/>
            <a:r>
              <a:rPr lang="en-US" sz="1400" dirty="0">
                <a:solidFill>
                  <a:srgbClr val="002060"/>
                </a:solidFill>
                <a:latin typeface="Berlin Sans FB" panose="020E0602020502020306" pitchFamily="34" charset="0"/>
              </a:rPr>
              <a:t>Threat modeling allows you to:</a:t>
            </a:r>
          </a:p>
          <a:p>
            <a:pPr marL="800100" lvl="1" indent="-342900">
              <a:buFont typeface="+mj-lt"/>
              <a:buAutoNum type="arabicPeriod"/>
            </a:pPr>
            <a:r>
              <a:rPr lang="en-US" sz="1400" dirty="0">
                <a:solidFill>
                  <a:srgbClr val="002060"/>
                </a:solidFill>
                <a:latin typeface="Berlin Sans FB" panose="020E0602020502020306" pitchFamily="34" charset="0"/>
              </a:rPr>
              <a:t>Identify and address the biggest threats.</a:t>
            </a:r>
          </a:p>
          <a:p>
            <a:pPr marL="800100" lvl="1" indent="-342900">
              <a:buFont typeface="+mj-lt"/>
              <a:buAutoNum type="arabicPeriod"/>
            </a:pPr>
            <a:r>
              <a:rPr lang="en-US" sz="1400" dirty="0">
                <a:solidFill>
                  <a:srgbClr val="002060"/>
                </a:solidFill>
                <a:latin typeface="Berlin Sans FB" panose="020E0602020502020306" pitchFamily="34" charset="0"/>
              </a:rPr>
              <a:t>Plan mitigations on identified and documented threats, not on a gut feeling.</a:t>
            </a:r>
          </a:p>
          <a:p>
            <a:pPr marL="800100" lvl="1" indent="-342900">
              <a:buFont typeface="+mj-lt"/>
              <a:buAutoNum type="arabicPeriod"/>
            </a:pPr>
            <a:r>
              <a:rPr lang="en-US" sz="1400" dirty="0">
                <a:solidFill>
                  <a:srgbClr val="002060"/>
                </a:solidFill>
                <a:latin typeface="Berlin Sans FB" panose="020E0602020502020306" pitchFamily="34" charset="0"/>
              </a:rPr>
              <a:t>Eliminate security issues in the design phase.</a:t>
            </a:r>
          </a:p>
          <a:p>
            <a:pPr marL="800100" lvl="1" indent="-342900">
              <a:buFont typeface="+mj-lt"/>
              <a:buAutoNum type="arabicPeriod"/>
            </a:pPr>
            <a:r>
              <a:rPr lang="en-US" sz="1400" dirty="0">
                <a:solidFill>
                  <a:srgbClr val="002060"/>
                </a:solidFill>
                <a:latin typeface="Berlin Sans FB" panose="020E0602020502020306" pitchFamily="34" charset="0"/>
              </a:rPr>
              <a:t>Make security decision rationally.</a:t>
            </a:r>
          </a:p>
          <a:p>
            <a:pPr marL="800100" lvl="1" indent="-342900">
              <a:buFont typeface="+mj-lt"/>
              <a:buAutoNum type="arabicPeriod"/>
            </a:pPr>
            <a:r>
              <a:rPr lang="en-US" sz="1400" dirty="0">
                <a:solidFill>
                  <a:srgbClr val="002060"/>
                </a:solidFill>
                <a:latin typeface="Berlin Sans FB" panose="020E0602020502020306" pitchFamily="34" charset="0"/>
              </a:rPr>
              <a:t>Increase the security posture of your application and organization in a cost effective manner.</a:t>
            </a:r>
          </a:p>
          <a:p>
            <a:pPr marL="800100" lvl="1" indent="-342900">
              <a:buFont typeface="+mj-lt"/>
              <a:buAutoNum type="arabicPeriod"/>
            </a:pPr>
            <a:r>
              <a:rPr lang="en-US" sz="1400" dirty="0">
                <a:solidFill>
                  <a:srgbClr val="002060"/>
                </a:solidFill>
                <a:latin typeface="Berlin Sans FB" panose="020E0602020502020306" pitchFamily="34" charset="0"/>
              </a:rPr>
              <a:t>Prioritize development and testing efforts based on identified threats.</a:t>
            </a:r>
          </a:p>
          <a:p>
            <a:pPr marL="800100" lvl="1" indent="-342900">
              <a:buFont typeface="+mj-lt"/>
              <a:buAutoNum type="arabicPeriod"/>
            </a:pPr>
            <a:r>
              <a:rPr lang="en-US" sz="1400" dirty="0">
                <a:solidFill>
                  <a:srgbClr val="002060"/>
                </a:solidFill>
                <a:latin typeface="Berlin Sans FB" panose="020E0602020502020306" pitchFamily="34" charset="0"/>
              </a:rPr>
              <a:t>Threat modeling helps improve your application security posture</a:t>
            </a:r>
          </a:p>
          <a:p>
            <a:pPr marL="800100" lvl="1" indent="-342900">
              <a:buFont typeface="+mj-lt"/>
              <a:buAutoNum type="arabicPeriod"/>
            </a:pPr>
            <a:r>
              <a:rPr lang="en-US" sz="1400" dirty="0">
                <a:solidFill>
                  <a:srgbClr val="002060"/>
                </a:solidFill>
                <a:latin typeface="Berlin Sans FB" panose="020E0602020502020306" pitchFamily="34" charset="0"/>
              </a:rPr>
              <a:t>Threat modeling can improve your organization’s security posture</a:t>
            </a:r>
          </a:p>
          <a:p>
            <a:pPr marL="800100" lvl="1" indent="-342900">
              <a:buFont typeface="+mj-lt"/>
              <a:buAutoNum type="arabicPeriod"/>
            </a:pPr>
            <a:r>
              <a:rPr lang="en-US" sz="1400" dirty="0">
                <a:solidFill>
                  <a:srgbClr val="002060"/>
                </a:solidFill>
                <a:latin typeface="Berlin Sans FB" panose="020E0602020502020306" pitchFamily="34" charset="0"/>
              </a:rPr>
              <a:t>Threat modeling helps prioritize threats, mitigation efforts and budgeting</a:t>
            </a:r>
          </a:p>
          <a:p>
            <a:pPr marL="800100" lvl="1" indent="-342900">
              <a:buFont typeface="+mj-lt"/>
              <a:buAutoNum type="arabicPeriod"/>
            </a:pPr>
            <a:endParaRPr lang="en-US" sz="1400" dirty="0">
              <a:solidFill>
                <a:srgbClr val="002060"/>
              </a:solidFill>
              <a:latin typeface="Berlin Sans FB" panose="020E0602020502020306"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19266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D1C5D3-46E5-6C36-328F-5003BB881D63}"/>
              </a:ext>
            </a:extLst>
          </p:cNvPr>
          <p:cNvSpPr txBox="1"/>
          <p:nvPr/>
        </p:nvSpPr>
        <p:spPr>
          <a:xfrm>
            <a:off x="1612231" y="286125"/>
            <a:ext cx="7387389" cy="267765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answers to these questions can be collected in a threat profile and maintained for each threat community identified by the enterprise. </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profile can be correlated to risk statements, third parties and business processes to gain a clearer picture of end-to-end enterprise risk.</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Several threat-modeling methods can be combined to create a more robust and well-rounded view of potential threats. </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Some methods focus specifically on risk or privacy concerns. </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Figure 2.8 provides a list of threat model methods.</a:t>
            </a:r>
          </a:p>
        </p:txBody>
      </p:sp>
      <p:pic>
        <p:nvPicPr>
          <p:cNvPr id="4" name="Picture 3">
            <a:extLst>
              <a:ext uri="{FF2B5EF4-FFF2-40B4-BE49-F238E27FC236}">
                <a16:creationId xmlns:a16="http://schemas.microsoft.com/office/drawing/2014/main" id="{AF087DB1-4C10-1C63-DDE3-968DE755BDE0}"/>
              </a:ext>
            </a:extLst>
          </p:cNvPr>
          <p:cNvPicPr>
            <a:picLocks noChangeAspect="1"/>
          </p:cNvPicPr>
          <p:nvPr/>
        </p:nvPicPr>
        <p:blipFill rotWithShape="1">
          <a:blip r:embed="rId2"/>
          <a:srcRect b="65146"/>
          <a:stretch/>
        </p:blipFill>
        <p:spPr>
          <a:xfrm>
            <a:off x="710254" y="3144253"/>
            <a:ext cx="10065639" cy="2390274"/>
          </a:xfrm>
          <a:prstGeom prst="rect">
            <a:avLst/>
          </a:prstGeom>
        </p:spPr>
      </p:pic>
    </p:spTree>
    <p:extLst>
      <p:ext uri="{BB962C8B-B14F-4D97-AF65-F5344CB8AC3E}">
        <p14:creationId xmlns:p14="http://schemas.microsoft.com/office/powerpoint/2010/main" val="388480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447"/>
            <a:ext cx="12190413" cy="6285682"/>
          </a:xfrm>
          <a:custGeom>
            <a:avLst/>
            <a:gdLst>
              <a:gd name="connsiteX0" fmla="*/ 0 w 12192000"/>
              <a:gd name="connsiteY0" fmla="*/ 0 h 6845300"/>
              <a:gd name="connsiteX1" fmla="*/ 12192000 w 12192000"/>
              <a:gd name="connsiteY1" fmla="*/ 0 h 6845300"/>
              <a:gd name="connsiteX2" fmla="*/ 12192000 w 12192000"/>
              <a:gd name="connsiteY2" fmla="*/ 6845300 h 6845300"/>
              <a:gd name="connsiteX3" fmla="*/ 0 w 12192000"/>
              <a:gd name="connsiteY3" fmla="*/ 6845300 h 6845300"/>
              <a:gd name="connsiteX4" fmla="*/ 0 w 12192000"/>
              <a:gd name="connsiteY4" fmla="*/ 0 h 68453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45300">
                <a:moveTo>
                  <a:pt x="0" y="0"/>
                </a:moveTo>
                <a:lnTo>
                  <a:pt x="12192000" y="0"/>
                </a:lnTo>
                <a:lnTo>
                  <a:pt x="12192000" y="6845300"/>
                </a:lnTo>
                <a:lnTo>
                  <a:pt x="0" y="68453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1027" name="Picture 3"/>
          <p:cNvPicPr>
            <a:picLocks noChangeAspect="1" noChangeArrowheads="1"/>
          </p:cNvPicPr>
          <p:nvPr/>
        </p:nvPicPr>
        <p:blipFill rotWithShape="1">
          <a:blip r:embed="rId2"/>
          <a:srcRect l="66731"/>
          <a:stretch/>
        </p:blipFill>
        <p:spPr bwMode="auto">
          <a:xfrm>
            <a:off x="6012180" y="802010"/>
            <a:ext cx="1104618" cy="384757"/>
          </a:xfrm>
          <a:prstGeom prst="rect">
            <a:avLst/>
          </a:prstGeom>
          <a:noFill/>
        </p:spPr>
      </p:pic>
      <p:pic>
        <p:nvPicPr>
          <p:cNvPr id="2" name="Picture 3"/>
          <p:cNvPicPr>
            <a:picLocks noChangeAspect="1" noChangeArrowheads="1"/>
          </p:cNvPicPr>
          <p:nvPr/>
        </p:nvPicPr>
        <p:blipFill>
          <a:blip r:embed="rId3"/>
          <a:srcRect/>
          <a:stretch>
            <a:fillRect/>
          </a:stretch>
        </p:blipFill>
        <p:spPr bwMode="auto">
          <a:xfrm>
            <a:off x="2868927" y="1440512"/>
            <a:ext cx="3998451" cy="3926837"/>
          </a:xfrm>
          <a:prstGeom prst="rect">
            <a:avLst/>
          </a:prstGeom>
          <a:noFill/>
        </p:spPr>
      </p:pic>
      <p:pic>
        <p:nvPicPr>
          <p:cNvPr id="3" name="Picture 3"/>
          <p:cNvPicPr>
            <a:picLocks noChangeAspect="1" noChangeArrowheads="1"/>
          </p:cNvPicPr>
          <p:nvPr/>
        </p:nvPicPr>
        <p:blipFill>
          <a:blip r:embed="rId4"/>
          <a:srcRect/>
          <a:stretch>
            <a:fillRect/>
          </a:stretch>
        </p:blipFill>
        <p:spPr bwMode="auto">
          <a:xfrm>
            <a:off x="7653240" y="1380922"/>
            <a:ext cx="3339665" cy="4457120"/>
          </a:xfrm>
          <a:prstGeom prst="rect">
            <a:avLst/>
          </a:prstGeom>
          <a:noFill/>
        </p:spPr>
      </p:pic>
      <p:sp>
        <p:nvSpPr>
          <p:cNvPr id="6" name="TextBox 5">
            <a:extLst>
              <a:ext uri="{FF2B5EF4-FFF2-40B4-BE49-F238E27FC236}">
                <a16:creationId xmlns:a16="http://schemas.microsoft.com/office/drawing/2014/main" id="{DA237FAE-874E-083C-24E1-C62C99EE1EFE}"/>
              </a:ext>
            </a:extLst>
          </p:cNvPr>
          <p:cNvSpPr txBox="1"/>
          <p:nvPr/>
        </p:nvSpPr>
        <p:spPr>
          <a:xfrm>
            <a:off x="2011452" y="590629"/>
            <a:ext cx="415312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7030A0"/>
                </a:solidFill>
                <a:effectLst/>
                <a:uLnTx/>
                <a:uFillTx/>
                <a:latin typeface="Bahnschrift Condensed" panose="020B0502040204020203" pitchFamily="34" charset="0"/>
                <a:ea typeface="+mn-ea"/>
                <a:cs typeface="+mn-cs"/>
              </a:rPr>
              <a:t>Security Threat Modeling</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720573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0568" y="288758"/>
            <a:ext cx="7010400" cy="601703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 stands for spoofing.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Spoofing attacks used falsified identity information to gain access to a system.</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may be as simple as a social engineering attack that fakes the sender's name on an email address,</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or it may be more complicated and involve spoofing IP addresses, MAC addresses, wireless network names, or any other claim of identity.</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Berlin Sans FB" panose="020E0602020502020306" pitchFamily="34" charset="0"/>
                <a:ea typeface="+mn-ea"/>
                <a:cs typeface="+mn-cs"/>
              </a:rPr>
              <a:t>The best control against spoofing is using strong authentication.</a:t>
            </a: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 stands for tampering.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Tampering attacks make unauthorized changes to systems or data in an attempt to gain access or disrupt data integrity.</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example, a student may hack into a college database in an attempt to tamper with his or her grades.</a:t>
            </a:r>
          </a:p>
          <a:p>
            <a:pPr marL="457200" marR="0" lvl="1" indent="0" algn="l" defTabSz="9144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 stands for repudiation.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Repudiation (denial, disclaimer, refusal) attacks attempt to deny responsibility for an action, and may go farther and attempt to blame a third party.</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Requiring digital signatures is a useful control against repudiation attacks.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3367437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8536" y="409073"/>
            <a:ext cx="6324600" cy="61093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Calibri Light"/>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I stands for information disclosure.</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Information disclosure attacks attempt to steal confidential information and disclose it to unauthorized individuals.</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may be done quietly, such as a competitor reading and reacting to an organization's product development plans.</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or it may be public, such as a newspaper disclosing classified government records.</a:t>
            </a: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endPar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D stands for denial of service or DOS.</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DOS attacks attempt to deprive legitimate users access to the information or systems that they need.</a:t>
            </a: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endPar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E stands for elevation of privilege.</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is sometimes also known as privilege escalation.</a:t>
            </a: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Elevation attacks attempt to take a normal user account and transform it into an administrative or super user account that allows the user to exceed its legitimate privileges.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Calibri Light"/>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Wingdings" pitchFamily="2" charset="2"/>
              <a:buChar char="v"/>
              <a:tabLst/>
              <a:defRPr/>
            </a:pPr>
            <a:endParaRPr kumimoji="0" lang="en-US" sz="1800" b="0" i="0" u="none" strike="noStrike" kern="1200" cap="none" spc="0" normalizeH="0" baseline="0" noProof="0" dirty="0">
              <a:ln>
                <a:noFill/>
              </a:ln>
              <a:solidFill>
                <a:srgbClr val="002060"/>
              </a:solidFill>
              <a:effectLst/>
              <a:uLnTx/>
              <a:uFillTx/>
              <a:latin typeface="Calibri Light"/>
              <a:ea typeface="+mn-ea"/>
              <a:cs typeface="+mn-cs"/>
            </a:endParaRPr>
          </a:p>
        </p:txBody>
      </p:sp>
    </p:spTree>
    <p:extLst>
      <p:ext uri="{BB962C8B-B14F-4D97-AF65-F5344CB8AC3E}">
        <p14:creationId xmlns:p14="http://schemas.microsoft.com/office/powerpoint/2010/main" val="4187505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F08F18-8AB6-52DA-7ABE-A330528C5C3F}"/>
              </a:ext>
            </a:extLst>
          </p:cNvPr>
          <p:cNvSpPr txBox="1"/>
          <p:nvPr/>
        </p:nvSpPr>
        <p:spPr>
          <a:xfrm>
            <a:off x="1211178" y="775948"/>
            <a:ext cx="7964905" cy="4251998"/>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Threat modeling in 4 steps</a:t>
            </a:r>
          </a:p>
          <a:p>
            <a:pPr marL="800100" marR="0" lvl="1"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Diagram: what are we building?</a:t>
            </a:r>
          </a:p>
          <a:p>
            <a:pPr marL="800100" marR="0" lvl="1"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Identify threats: what can go wrong?</a:t>
            </a:r>
          </a:p>
          <a:p>
            <a:pPr marL="800100" marR="0" lvl="1"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Mitigate: what are we doing to defend against threats?</a:t>
            </a:r>
          </a:p>
          <a:p>
            <a:pPr marL="800100" marR="0" lvl="1"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Validate: validation of previous steps and act upon them</a:t>
            </a:r>
          </a:p>
          <a:p>
            <a:pPr marL="457200" marR="0" lvl="1" indent="0" algn="l" defTabSz="914400" rtl="0" eaLnBrk="1" fontAlgn="auto" latinLnBrk="0" hangingPunct="1">
              <a:lnSpc>
                <a:spcPct val="107000"/>
              </a:lnSpc>
              <a:spcBef>
                <a:spcPts val="0"/>
              </a:spcBef>
              <a:spcAft>
                <a:spcPts val="800"/>
              </a:spcAft>
              <a:buClrTx/>
              <a:buSzTx/>
              <a:buFontTx/>
              <a:buNone/>
              <a:tabLst/>
              <a:defRPr/>
            </a:pP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endParaRP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Step 1: diagram the application</a:t>
            </a:r>
          </a:p>
          <a:p>
            <a:pPr marL="1200150" marR="0" lvl="2"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this step, you gain a comprehensive understanding of the mechanics of your application or process . In other words: you understand what you are building.</a:t>
            </a:r>
          </a:p>
          <a:p>
            <a:pPr marL="1200150" marR="0" lvl="2"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That makes it a lot easier for you to uncover more relevant and more detailed threats. This also includes the identification of clear security objectives. </a:t>
            </a:r>
          </a:p>
        </p:txBody>
      </p:sp>
    </p:spTree>
    <p:extLst>
      <p:ext uri="{BB962C8B-B14F-4D97-AF65-F5344CB8AC3E}">
        <p14:creationId xmlns:p14="http://schemas.microsoft.com/office/powerpoint/2010/main" val="2863318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06D3E3-8DFC-42E8-A37C-71A853EB07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990" y="1325880"/>
            <a:ext cx="11130210" cy="4551986"/>
          </a:xfrm>
          <a:prstGeom prst="rect">
            <a:avLst/>
          </a:prstGeom>
        </p:spPr>
      </p:pic>
      <p:sp>
        <p:nvSpPr>
          <p:cNvPr id="5" name="Rectangle 4">
            <a:extLst>
              <a:ext uri="{FF2B5EF4-FFF2-40B4-BE49-F238E27FC236}">
                <a16:creationId xmlns:a16="http://schemas.microsoft.com/office/drawing/2014/main" id="{8FB77B6C-375C-4FA4-BEC7-36D8144AEE94}"/>
              </a:ext>
            </a:extLst>
          </p:cNvPr>
          <p:cNvSpPr/>
          <p:nvPr/>
        </p:nvSpPr>
        <p:spPr>
          <a:xfrm>
            <a:off x="1485900" y="228600"/>
            <a:ext cx="9220200" cy="923330"/>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Calibri Light"/>
                <a:ea typeface="+mn-ea"/>
                <a:cs typeface="+mn-cs"/>
              </a:rPr>
              <a:t>When thinking through an attack, it is often helpful to use a system a diagram that shows the data flows, and relationships between systems.</a:t>
            </a: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Calibri Light"/>
                <a:ea typeface="+mn-ea"/>
                <a:cs typeface="+mn-cs"/>
              </a:rPr>
              <a:t>This type of diagramming is a form of reduction analysis. An important threat modeling tool.</a:t>
            </a:r>
          </a:p>
        </p:txBody>
      </p:sp>
    </p:spTree>
    <p:extLst>
      <p:ext uri="{BB962C8B-B14F-4D97-AF65-F5344CB8AC3E}">
        <p14:creationId xmlns:p14="http://schemas.microsoft.com/office/powerpoint/2010/main" val="2576212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6A5434-4B0D-774C-F448-3CCFBDEF595E}"/>
              </a:ext>
            </a:extLst>
          </p:cNvPr>
          <p:cNvSpPr txBox="1"/>
          <p:nvPr/>
        </p:nvSpPr>
        <p:spPr>
          <a:xfrm>
            <a:off x="1435767" y="907254"/>
            <a:ext cx="9119937" cy="4412939"/>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Step 2: identify threats with STRIDE</a:t>
            </a:r>
          </a:p>
          <a:p>
            <a:pPr marL="742950" marR="0" lvl="1"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 use details from the previous step in the STRIDE phase to identify threats relevant to your application scenario and context. With STRIDE, you can flawlessly identify what can go wrong.</a:t>
            </a:r>
          </a:p>
          <a:p>
            <a:pPr marL="742950" marR="0" lvl="1"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hlinkClick r:id="rId2">
                  <a:extLst>
                    <a:ext uri="{A12FA001-AC4F-418D-AE19-62706E023703}">
                      <ahyp:hlinkClr xmlns:ahyp="http://schemas.microsoft.com/office/drawing/2018/hyperlinkcolor" val="tx"/>
                    </a:ext>
                  </a:extLst>
                </a:hlinkClick>
              </a:rPr>
              <a:t>STRIDE</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was developed by Microsoft to educate developers on how to think about computer security threats, and is an acronym for:</a:t>
            </a:r>
          </a:p>
          <a:p>
            <a:pPr marL="1200150" marR="0" lvl="2" indent="-285750" algn="l" defTabSz="914400" rtl="0" eaLnBrk="1" fontAlgn="auto" latinLnBrk="0" hangingPunct="1">
              <a:lnSpc>
                <a:spcPct val="107000"/>
              </a:lnSpc>
              <a:spcBef>
                <a:spcPts val="0"/>
              </a:spcBef>
              <a:spcAft>
                <a:spcPts val="600"/>
              </a:spcAft>
              <a:buClrTx/>
              <a:buSzPts val="1000"/>
              <a:buFont typeface="Wingdings" panose="05000000000000000000" pitchFamily="2" charset="2"/>
              <a:buChar char="§"/>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Spoofing: can an attacker gain access using a false identity?</a:t>
            </a:r>
          </a:p>
          <a:p>
            <a:pPr marL="1200150" marR="0" lvl="2" indent="-285750" algn="l" defTabSz="914400" rtl="0" eaLnBrk="1" fontAlgn="auto" latinLnBrk="0" hangingPunct="1">
              <a:lnSpc>
                <a:spcPct val="107000"/>
              </a:lnSpc>
              <a:spcBef>
                <a:spcPts val="0"/>
              </a:spcBef>
              <a:spcAft>
                <a:spcPts val="600"/>
              </a:spcAft>
              <a:buClrTx/>
              <a:buSzPts val="1000"/>
              <a:buFont typeface="Wingdings" panose="05000000000000000000" pitchFamily="2" charset="2"/>
              <a:buChar char="§"/>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Tampering: can an attacker modify data as it flows through the application?</a:t>
            </a:r>
          </a:p>
          <a:p>
            <a:pPr marL="1200150" marR="0" lvl="2" indent="-285750" algn="l" defTabSz="914400" rtl="0" eaLnBrk="1" fontAlgn="auto" latinLnBrk="0" hangingPunct="1">
              <a:lnSpc>
                <a:spcPct val="107000"/>
              </a:lnSpc>
              <a:spcBef>
                <a:spcPts val="0"/>
              </a:spcBef>
              <a:spcAft>
                <a:spcPts val="600"/>
              </a:spcAft>
              <a:buClrTx/>
              <a:buSzPts val="1000"/>
              <a:buFont typeface="Wingdings" panose="05000000000000000000" pitchFamily="2" charset="2"/>
              <a:buChar char="§"/>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Repudiation: if an attacker denies doing something, can we prove he did it?</a:t>
            </a:r>
          </a:p>
          <a:p>
            <a:pPr marL="1200150" marR="0" lvl="2" indent="-285750" algn="l" defTabSz="914400" rtl="0" eaLnBrk="1" fontAlgn="auto" latinLnBrk="0" hangingPunct="1">
              <a:lnSpc>
                <a:spcPct val="107000"/>
              </a:lnSpc>
              <a:spcBef>
                <a:spcPts val="0"/>
              </a:spcBef>
              <a:spcAft>
                <a:spcPts val="600"/>
              </a:spcAft>
              <a:buClrTx/>
              <a:buSzPts val="1000"/>
              <a:buFont typeface="Wingdings" panose="05000000000000000000" pitchFamily="2" charset="2"/>
              <a:buChar char="§"/>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Information disclosure: can an attacker gain access to private or potentially injurious data?</a:t>
            </a:r>
          </a:p>
          <a:p>
            <a:pPr marL="1200150" marR="0" lvl="2" indent="-285750" algn="l" defTabSz="914400" rtl="0" eaLnBrk="1" fontAlgn="auto" latinLnBrk="0" hangingPunct="1">
              <a:lnSpc>
                <a:spcPct val="107000"/>
              </a:lnSpc>
              <a:spcBef>
                <a:spcPts val="0"/>
              </a:spcBef>
              <a:spcAft>
                <a:spcPts val="600"/>
              </a:spcAft>
              <a:buClrTx/>
              <a:buSzPts val="1000"/>
              <a:buFont typeface="Wingdings" panose="05000000000000000000" pitchFamily="2" charset="2"/>
              <a:buChar char="§"/>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Denial of service: can an attacker crash or reduce the availability on the system?</a:t>
            </a:r>
          </a:p>
          <a:p>
            <a:pPr marL="1200150" marR="0" lvl="2" indent="-285750" algn="l" defTabSz="914400" rtl="0" eaLnBrk="1" fontAlgn="auto" latinLnBrk="0" hangingPunct="1">
              <a:lnSpc>
                <a:spcPct val="107000"/>
              </a:lnSpc>
              <a:spcBef>
                <a:spcPts val="0"/>
              </a:spcBef>
              <a:spcAft>
                <a:spcPts val="600"/>
              </a:spcAft>
              <a:buClrTx/>
              <a:buSzPts val="1000"/>
              <a:buFont typeface="Wingdings" panose="05000000000000000000" pitchFamily="2" charset="2"/>
              <a:buChar char="§"/>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Elevation of privilege: can an attacker assume the identity of a privileged user?</a:t>
            </a:r>
          </a:p>
          <a:p>
            <a:pPr marL="1200150" marR="0" lvl="2"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Each of these threats is the opposite of a property that you want your system to have. Spoofing – for example – is the opposite of authentication.</a:t>
            </a:r>
          </a:p>
        </p:txBody>
      </p:sp>
    </p:spTree>
    <p:extLst>
      <p:ext uri="{BB962C8B-B14F-4D97-AF65-F5344CB8AC3E}">
        <p14:creationId xmlns:p14="http://schemas.microsoft.com/office/powerpoint/2010/main" val="3256494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CD2BAA-A3E8-BB40-DC70-E6F61F5024A8}"/>
              </a:ext>
            </a:extLst>
          </p:cNvPr>
          <p:cNvSpPr txBox="1"/>
          <p:nvPr/>
        </p:nvSpPr>
        <p:spPr>
          <a:xfrm>
            <a:off x="1620252" y="1159322"/>
            <a:ext cx="6657473" cy="3878369"/>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Step 3: mitigate identified vulnerabilities</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this step, you review the layers of your application to identify the necessary security controls related to your threats. </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categories help you focus on those areas where mistakes are most often made.</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Step 4: validate</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final step is to validate the whole threat model. </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Is each threat mitigated or not? And for unmitigated threats: are the residual risks clearly explained and tied into business risks? In the validation step, you also decide and follow-up on the next steps to manage the identified threats</a:t>
            </a:r>
            <a:r>
              <a:rPr kumimoji="0" 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Arial" panose="020B0604020202020204" pitchFamily="34" charset="0"/>
              </a:rPr>
              <a:t>.</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229289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1B0A3B-759E-3B45-768F-7B209A804BAB}"/>
              </a:ext>
            </a:extLst>
          </p:cNvPr>
          <p:cNvSpPr txBox="1"/>
          <p:nvPr/>
        </p:nvSpPr>
        <p:spPr>
          <a:xfrm>
            <a:off x="417497" y="617001"/>
            <a:ext cx="6196664" cy="503214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Process for Attack Simulation and Threat Analysis (PASTA)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742950" lvl="1" indent="-285750">
              <a:spcAft>
                <a:spcPts val="600"/>
              </a:spcAft>
              <a:buFont typeface="Wingdings" panose="05000000000000000000" pitchFamily="2" charset="2"/>
              <a:buChar char="q"/>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PASTA’s steps guide teams to dynamically identify, count, and prioritize threats.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PASTA is an attacker-centric methodology with seven steps.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It is designed to correlate business objectives with technical requirements.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steps of a PASTA threat model are:</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Define business objectives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Define the technical scope of assets and components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Application decomposition and identify application controls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Threat analysis based on threat intelligence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Vulnerability detection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Attack enumeration and modeling</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Risk analysis and development of countermeasures</a:t>
            </a:r>
          </a:p>
        </p:txBody>
      </p:sp>
      <p:pic>
        <p:nvPicPr>
          <p:cNvPr id="2" name="Picture 1">
            <a:extLst>
              <a:ext uri="{FF2B5EF4-FFF2-40B4-BE49-F238E27FC236}">
                <a16:creationId xmlns:a16="http://schemas.microsoft.com/office/drawing/2014/main" id="{60D9198D-C1E1-3468-470F-FEC55C34E7D9}"/>
              </a:ext>
            </a:extLst>
          </p:cNvPr>
          <p:cNvPicPr>
            <a:picLocks noChangeAspect="1"/>
          </p:cNvPicPr>
          <p:nvPr/>
        </p:nvPicPr>
        <p:blipFill>
          <a:blip r:embed="rId2"/>
          <a:stretch>
            <a:fillRect/>
          </a:stretch>
        </p:blipFill>
        <p:spPr>
          <a:xfrm>
            <a:off x="6734175" y="484089"/>
            <a:ext cx="5353050" cy="5238750"/>
          </a:xfrm>
          <a:prstGeom prst="rect">
            <a:avLst/>
          </a:prstGeom>
        </p:spPr>
      </p:pic>
    </p:spTree>
    <p:extLst>
      <p:ext uri="{BB962C8B-B14F-4D97-AF65-F5344CB8AC3E}">
        <p14:creationId xmlns:p14="http://schemas.microsoft.com/office/powerpoint/2010/main" val="2827716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C480ED-B301-FC21-E171-36CEF76D9EFE}"/>
              </a:ext>
            </a:extLst>
          </p:cNvPr>
          <p:cNvSpPr txBox="1"/>
          <p:nvPr/>
        </p:nvSpPr>
        <p:spPr>
          <a:xfrm>
            <a:off x="539416" y="232806"/>
            <a:ext cx="4398344" cy="35086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Attack Trees</a:t>
            </a: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Attack trees are</a:t>
            </a:r>
            <a:r>
              <a:rPr kumimoji="0" lang="en-US" sz="16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charts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that display the paths that attacks can take in a system. </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tree root is the goal of the attack and the leaves are the ways to achieve that goal  for the attacker</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When creating trees for threat modeling, multiple trees are created for a single system, one for each attacker goal.</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is one of the oldest and most widely used threat modeling techniques. </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While once used alone, it is now frequently combined with other methodologies, including PASTA, CVSS, and STRIDE.</a:t>
            </a:r>
          </a:p>
        </p:txBody>
      </p:sp>
      <p:pic>
        <p:nvPicPr>
          <p:cNvPr id="4" name="Picture 3">
            <a:extLst>
              <a:ext uri="{FF2B5EF4-FFF2-40B4-BE49-F238E27FC236}">
                <a16:creationId xmlns:a16="http://schemas.microsoft.com/office/drawing/2014/main" id="{D613D1EB-8FCB-ECD2-71CC-8109BBC33E2E}"/>
              </a:ext>
            </a:extLst>
          </p:cNvPr>
          <p:cNvPicPr>
            <a:picLocks noChangeAspect="1"/>
          </p:cNvPicPr>
          <p:nvPr/>
        </p:nvPicPr>
        <p:blipFill rotWithShape="1">
          <a:blip r:embed="rId2"/>
          <a:srcRect b="59529"/>
          <a:stretch/>
        </p:blipFill>
        <p:spPr>
          <a:xfrm>
            <a:off x="423862" y="4035705"/>
            <a:ext cx="11344275" cy="1992981"/>
          </a:xfrm>
          <a:prstGeom prst="rect">
            <a:avLst/>
          </a:prstGeom>
        </p:spPr>
      </p:pic>
      <p:pic>
        <p:nvPicPr>
          <p:cNvPr id="8" name="Picture 7">
            <a:extLst>
              <a:ext uri="{FF2B5EF4-FFF2-40B4-BE49-F238E27FC236}">
                <a16:creationId xmlns:a16="http://schemas.microsoft.com/office/drawing/2014/main" id="{4E2CD351-FAAB-7980-4EE6-0E9D902C12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0713" y="632487"/>
            <a:ext cx="6401693" cy="2724530"/>
          </a:xfrm>
          <a:prstGeom prst="rect">
            <a:avLst/>
          </a:prstGeom>
        </p:spPr>
      </p:pic>
    </p:spTree>
    <p:extLst>
      <p:ext uri="{BB962C8B-B14F-4D97-AF65-F5344CB8AC3E}">
        <p14:creationId xmlns:p14="http://schemas.microsoft.com/office/powerpoint/2010/main" val="18633372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F70585-29D3-522F-11D3-2E8C88E9B8C1}"/>
              </a:ext>
            </a:extLst>
          </p:cNvPr>
          <p:cNvSpPr txBox="1"/>
          <p:nvPr/>
        </p:nvSpPr>
        <p:spPr>
          <a:xfrm>
            <a:off x="6989445" y="5783580"/>
            <a:ext cx="3472815" cy="369332"/>
          </a:xfrm>
          <a:prstGeom prst="rect">
            <a:avLst/>
          </a:prstGeom>
          <a:noFill/>
        </p:spPr>
        <p:txBody>
          <a:bodyPr wrap="square">
            <a:spAutoFit/>
          </a:bodyPr>
          <a:lstStyle/>
          <a:p>
            <a:r>
              <a:rPr lang="en-US" b="1" dirty="0"/>
              <a:t>A defense tree for the attack tree</a:t>
            </a:r>
          </a:p>
        </p:txBody>
      </p:sp>
      <p:pic>
        <p:nvPicPr>
          <p:cNvPr id="5" name="Picture 4">
            <a:extLst>
              <a:ext uri="{FF2B5EF4-FFF2-40B4-BE49-F238E27FC236}">
                <a16:creationId xmlns:a16="http://schemas.microsoft.com/office/drawing/2014/main" id="{28405BF2-88FE-4ED4-08A5-DCCB033802C6}"/>
              </a:ext>
            </a:extLst>
          </p:cNvPr>
          <p:cNvPicPr>
            <a:picLocks noChangeAspect="1"/>
          </p:cNvPicPr>
          <p:nvPr/>
        </p:nvPicPr>
        <p:blipFill>
          <a:blip r:embed="rId2"/>
          <a:stretch>
            <a:fillRect/>
          </a:stretch>
        </p:blipFill>
        <p:spPr>
          <a:xfrm>
            <a:off x="5814060" y="2792950"/>
            <a:ext cx="5625464" cy="2990630"/>
          </a:xfrm>
          <a:prstGeom prst="rect">
            <a:avLst/>
          </a:prstGeom>
        </p:spPr>
      </p:pic>
      <p:pic>
        <p:nvPicPr>
          <p:cNvPr id="6" name="Picture 5">
            <a:extLst>
              <a:ext uri="{FF2B5EF4-FFF2-40B4-BE49-F238E27FC236}">
                <a16:creationId xmlns:a16="http://schemas.microsoft.com/office/drawing/2014/main" id="{2F3AB175-446B-6B75-1797-8B3FDA4C56D2}"/>
              </a:ext>
            </a:extLst>
          </p:cNvPr>
          <p:cNvPicPr>
            <a:picLocks noChangeAspect="1"/>
          </p:cNvPicPr>
          <p:nvPr/>
        </p:nvPicPr>
        <p:blipFill>
          <a:blip r:embed="rId3"/>
          <a:stretch>
            <a:fillRect/>
          </a:stretch>
        </p:blipFill>
        <p:spPr>
          <a:xfrm>
            <a:off x="142876" y="3343552"/>
            <a:ext cx="5625464" cy="2323350"/>
          </a:xfrm>
          <a:prstGeom prst="rect">
            <a:avLst/>
          </a:prstGeom>
        </p:spPr>
      </p:pic>
      <p:sp>
        <p:nvSpPr>
          <p:cNvPr id="8" name="TextBox 7">
            <a:extLst>
              <a:ext uri="{FF2B5EF4-FFF2-40B4-BE49-F238E27FC236}">
                <a16:creationId xmlns:a16="http://schemas.microsoft.com/office/drawing/2014/main" id="{00977AA8-842C-0C14-7600-6EF3DBB6FFE8}"/>
              </a:ext>
            </a:extLst>
          </p:cNvPr>
          <p:cNvSpPr txBox="1"/>
          <p:nvPr/>
        </p:nvSpPr>
        <p:spPr>
          <a:xfrm>
            <a:off x="1340168" y="5783580"/>
            <a:ext cx="2590800" cy="369332"/>
          </a:xfrm>
          <a:prstGeom prst="rect">
            <a:avLst/>
          </a:prstGeom>
          <a:noFill/>
        </p:spPr>
        <p:txBody>
          <a:bodyPr wrap="square">
            <a:spAutoFit/>
          </a:bodyPr>
          <a:lstStyle/>
          <a:p>
            <a:r>
              <a:rPr lang="en-US" b="1" dirty="0"/>
              <a:t>An example attack tree.</a:t>
            </a:r>
          </a:p>
        </p:txBody>
      </p:sp>
      <p:pic>
        <p:nvPicPr>
          <p:cNvPr id="2" name="Picture 1">
            <a:extLst>
              <a:ext uri="{FF2B5EF4-FFF2-40B4-BE49-F238E27FC236}">
                <a16:creationId xmlns:a16="http://schemas.microsoft.com/office/drawing/2014/main" id="{D3E204C5-165D-868B-4F64-C196062A3BF8}"/>
              </a:ext>
            </a:extLst>
          </p:cNvPr>
          <p:cNvPicPr>
            <a:picLocks noChangeAspect="1"/>
          </p:cNvPicPr>
          <p:nvPr/>
        </p:nvPicPr>
        <p:blipFill rotWithShape="1">
          <a:blip r:embed="rId4"/>
          <a:srcRect b="73967"/>
          <a:stretch/>
        </p:blipFill>
        <p:spPr>
          <a:xfrm>
            <a:off x="5996940" y="2188271"/>
            <a:ext cx="5938019" cy="604679"/>
          </a:xfrm>
          <a:prstGeom prst="rect">
            <a:avLst/>
          </a:prstGeom>
        </p:spPr>
      </p:pic>
      <p:pic>
        <p:nvPicPr>
          <p:cNvPr id="7" name="Picture 6">
            <a:extLst>
              <a:ext uri="{FF2B5EF4-FFF2-40B4-BE49-F238E27FC236}">
                <a16:creationId xmlns:a16="http://schemas.microsoft.com/office/drawing/2014/main" id="{940003E2-5336-6CEB-75B7-F80793B0D8E5}"/>
              </a:ext>
            </a:extLst>
          </p:cNvPr>
          <p:cNvPicPr>
            <a:picLocks noChangeAspect="1"/>
          </p:cNvPicPr>
          <p:nvPr/>
        </p:nvPicPr>
        <p:blipFill rotWithShape="1">
          <a:blip r:embed="rId5"/>
          <a:srcRect l="14162" t="16118"/>
          <a:stretch/>
        </p:blipFill>
        <p:spPr>
          <a:xfrm>
            <a:off x="2914650" y="229622"/>
            <a:ext cx="4838700" cy="2123152"/>
          </a:xfrm>
          <a:prstGeom prst="rect">
            <a:avLst/>
          </a:prstGeom>
        </p:spPr>
      </p:pic>
    </p:spTree>
    <p:extLst>
      <p:ext uri="{BB962C8B-B14F-4D97-AF65-F5344CB8AC3E}">
        <p14:creationId xmlns:p14="http://schemas.microsoft.com/office/powerpoint/2010/main" val="2263926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BC61F1-E76B-9265-8A64-45C74D206C4B}"/>
              </a:ext>
            </a:extLst>
          </p:cNvPr>
          <p:cNvPicPr>
            <a:picLocks noChangeAspect="1"/>
          </p:cNvPicPr>
          <p:nvPr/>
        </p:nvPicPr>
        <p:blipFill rotWithShape="1">
          <a:blip r:embed="rId2"/>
          <a:srcRect b="15211"/>
          <a:stretch/>
        </p:blipFill>
        <p:spPr>
          <a:xfrm>
            <a:off x="1123505" y="370575"/>
            <a:ext cx="9807830" cy="4986285"/>
          </a:xfrm>
          <a:prstGeom prst="rect">
            <a:avLst/>
          </a:prstGeom>
        </p:spPr>
      </p:pic>
    </p:spTree>
    <p:extLst>
      <p:ext uri="{BB962C8B-B14F-4D97-AF65-F5344CB8AC3E}">
        <p14:creationId xmlns:p14="http://schemas.microsoft.com/office/powerpoint/2010/main" val="3793946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6062</TotalTime>
  <Words>4159</Words>
  <Application>Microsoft Office PowerPoint</Application>
  <PresentationFormat>Widescreen</PresentationFormat>
  <Paragraphs>375</Paragraphs>
  <Slides>47</Slides>
  <Notes>1</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47</vt:i4>
      </vt:variant>
    </vt:vector>
  </HeadingPairs>
  <TitlesOfParts>
    <vt:vector size="61" baseType="lpstr">
      <vt:lpstr>Arial</vt:lpstr>
      <vt:lpstr>Bahnschrift Condensed</vt:lpstr>
      <vt:lpstr>Berlin Sans FB</vt:lpstr>
      <vt:lpstr>Berlin Sans FB Demi</vt:lpstr>
      <vt:lpstr>Calibri</vt:lpstr>
      <vt:lpstr>Calibri Light</vt:lpstr>
      <vt:lpstr>Courier New</vt:lpstr>
      <vt:lpstr>Segoe UI</vt:lpstr>
      <vt:lpstr>Segoe UI Semibold</vt:lpstr>
      <vt:lpstr>Times New Roman</vt:lpstr>
      <vt:lpstr>Wingdings</vt:lpstr>
      <vt:lpstr>Office Theme</vt:lpstr>
      <vt:lpstr>Retrospect</vt:lpstr>
      <vt:lpstr>Azure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22</cp:revision>
  <dcterms:created xsi:type="dcterms:W3CDTF">2023-05-16T09:01:20Z</dcterms:created>
  <dcterms:modified xsi:type="dcterms:W3CDTF">2023-06-19T21:24:17Z</dcterms:modified>
</cp:coreProperties>
</file>
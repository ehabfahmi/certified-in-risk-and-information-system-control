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6"/>
  </p:notesMasterIdLst>
  <p:sldIdLst>
    <p:sldId id="1993" r:id="rId3"/>
    <p:sldId id="1994" r:id="rId4"/>
    <p:sldId id="2385" r:id="rId5"/>
    <p:sldId id="2386" r:id="rId6"/>
    <p:sldId id="1472" r:id="rId7"/>
    <p:sldId id="1473" r:id="rId8"/>
    <p:sldId id="2396" r:id="rId9"/>
    <p:sldId id="2395" r:id="rId10"/>
    <p:sldId id="1475" r:id="rId11"/>
    <p:sldId id="1476" r:id="rId12"/>
    <p:sldId id="1935" r:id="rId13"/>
    <p:sldId id="1996" r:id="rId14"/>
    <p:sldId id="1997" r:id="rId15"/>
    <p:sldId id="1998" r:id="rId16"/>
    <p:sldId id="1999" r:id="rId17"/>
    <p:sldId id="2000" r:id="rId18"/>
    <p:sldId id="2001" r:id="rId19"/>
    <p:sldId id="2002" r:id="rId20"/>
    <p:sldId id="2003" r:id="rId21"/>
    <p:sldId id="368" r:id="rId22"/>
    <p:sldId id="2004" r:id="rId23"/>
    <p:sldId id="2005" r:id="rId24"/>
    <p:sldId id="2006" r:id="rId25"/>
    <p:sldId id="2007" r:id="rId26"/>
    <p:sldId id="257" r:id="rId27"/>
    <p:sldId id="258" r:id="rId28"/>
    <p:sldId id="259" r:id="rId29"/>
    <p:sldId id="260" r:id="rId30"/>
    <p:sldId id="261" r:id="rId31"/>
    <p:sldId id="262" r:id="rId32"/>
    <p:sldId id="263" r:id="rId33"/>
    <p:sldId id="264" r:id="rId34"/>
    <p:sldId id="265" r:id="rId35"/>
    <p:sldId id="270" r:id="rId36"/>
    <p:sldId id="271" r:id="rId37"/>
    <p:sldId id="593" r:id="rId38"/>
    <p:sldId id="272" r:id="rId39"/>
    <p:sldId id="273" r:id="rId40"/>
    <p:sldId id="274" r:id="rId41"/>
    <p:sldId id="275" r:id="rId42"/>
    <p:sldId id="278" r:id="rId43"/>
    <p:sldId id="279" r:id="rId44"/>
    <p:sldId id="280" r:id="rId45"/>
    <p:sldId id="281" r:id="rId46"/>
    <p:sldId id="282" r:id="rId47"/>
    <p:sldId id="287" r:id="rId48"/>
    <p:sldId id="288" r:id="rId49"/>
    <p:sldId id="289" r:id="rId50"/>
    <p:sldId id="290" r:id="rId51"/>
    <p:sldId id="292" r:id="rId52"/>
    <p:sldId id="293" r:id="rId53"/>
    <p:sldId id="294" r:id="rId54"/>
    <p:sldId id="295" r:id="rId55"/>
    <p:sldId id="317" r:id="rId56"/>
    <p:sldId id="318" r:id="rId57"/>
    <p:sldId id="600" r:id="rId58"/>
    <p:sldId id="319" r:id="rId59"/>
    <p:sldId id="320" r:id="rId60"/>
    <p:sldId id="601" r:id="rId61"/>
    <p:sldId id="602" r:id="rId62"/>
    <p:sldId id="321" r:id="rId63"/>
    <p:sldId id="322" r:id="rId64"/>
    <p:sldId id="603" r:id="rId65"/>
    <p:sldId id="324" r:id="rId66"/>
    <p:sldId id="325" r:id="rId67"/>
    <p:sldId id="604" r:id="rId68"/>
    <p:sldId id="605" r:id="rId69"/>
    <p:sldId id="606" r:id="rId70"/>
    <p:sldId id="340" r:id="rId71"/>
    <p:sldId id="341" r:id="rId72"/>
    <p:sldId id="607" r:id="rId73"/>
    <p:sldId id="326" r:id="rId74"/>
    <p:sldId id="327" r:id="rId75"/>
    <p:sldId id="328" r:id="rId76"/>
    <p:sldId id="329" r:id="rId77"/>
    <p:sldId id="330" r:id="rId78"/>
    <p:sldId id="331" r:id="rId79"/>
    <p:sldId id="332" r:id="rId80"/>
    <p:sldId id="335" r:id="rId81"/>
    <p:sldId id="336" r:id="rId82"/>
    <p:sldId id="337" r:id="rId83"/>
    <p:sldId id="338" r:id="rId84"/>
    <p:sldId id="339" r:id="rId85"/>
    <p:sldId id="344" r:id="rId86"/>
    <p:sldId id="345" r:id="rId87"/>
    <p:sldId id="346" r:id="rId88"/>
    <p:sldId id="347" r:id="rId89"/>
    <p:sldId id="348" r:id="rId90"/>
    <p:sldId id="350" r:id="rId91"/>
    <p:sldId id="351" r:id="rId92"/>
    <p:sldId id="352" r:id="rId93"/>
    <p:sldId id="353" r:id="rId94"/>
    <p:sldId id="354" r:id="rId95"/>
    <p:sldId id="355" r:id="rId96"/>
    <p:sldId id="356" r:id="rId97"/>
    <p:sldId id="359" r:id="rId98"/>
    <p:sldId id="361" r:id="rId99"/>
    <p:sldId id="362" r:id="rId100"/>
    <p:sldId id="363" r:id="rId101"/>
    <p:sldId id="364" r:id="rId102"/>
    <p:sldId id="365" r:id="rId103"/>
    <p:sldId id="373" r:id="rId104"/>
    <p:sldId id="375" r:id="rId105"/>
    <p:sldId id="376" r:id="rId106"/>
    <p:sldId id="377" r:id="rId107"/>
    <p:sldId id="378" r:id="rId108"/>
    <p:sldId id="2387" r:id="rId109"/>
    <p:sldId id="2388" r:id="rId110"/>
    <p:sldId id="2389" r:id="rId111"/>
    <p:sldId id="2390" r:id="rId112"/>
    <p:sldId id="2393" r:id="rId113"/>
    <p:sldId id="2394" r:id="rId114"/>
    <p:sldId id="928" r:id="rId1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2" d="100"/>
          <a:sy n="122" d="100"/>
        </p:scale>
        <p:origin x="114"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presProps" Target="presProps.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102" Type="http://schemas.openxmlformats.org/officeDocument/2006/relationships/slide" Target="slides/slide100.xml"/><Relationship Id="rId110" Type="http://schemas.openxmlformats.org/officeDocument/2006/relationships/slide" Target="slides/slide108.xml"/><Relationship Id="rId115" Type="http://schemas.openxmlformats.org/officeDocument/2006/relationships/slide" Target="slides/slide113.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13" Type="http://schemas.openxmlformats.org/officeDocument/2006/relationships/slide" Target="slides/slide111.xml"/><Relationship Id="rId118"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3AEFE2-F67A-4FB6-BD48-94B07ADBB4C7}" type="datetimeFigureOut">
              <a:rPr lang="en-US" smtClean="0"/>
              <a:t>6/11/2023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17B62F-983D-42F1-BF50-88CAEB3C3964}" type="slidenum">
              <a:rPr lang="en-US" smtClean="0"/>
              <a:t>‹#›</a:t>
            </a:fld>
            <a:endParaRPr lang="en-US"/>
          </a:p>
        </p:txBody>
      </p:sp>
    </p:spTree>
    <p:extLst>
      <p:ext uri="{BB962C8B-B14F-4D97-AF65-F5344CB8AC3E}">
        <p14:creationId xmlns:p14="http://schemas.microsoft.com/office/powerpoint/2010/main" val="329991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8A7AE5-9EB1-474E-95C5-517554053CE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48942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DBB84D-812C-44BD-814D-BD7BB46E53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514155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2CCE9-3884-B9DB-A790-46E559BE36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982603C-9673-25C4-7B78-C1A331DF65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A1E68CA-5DE9-109C-F355-A3C5AB1BC978}"/>
              </a:ext>
            </a:extLst>
          </p:cNvPr>
          <p:cNvSpPr>
            <a:spLocks noGrp="1"/>
          </p:cNvSpPr>
          <p:nvPr>
            <p:ph type="dt" sz="half" idx="10"/>
          </p:nvPr>
        </p:nvSpPr>
        <p:spPr/>
        <p:txBody>
          <a:bodyPr/>
          <a:lstStyle/>
          <a:p>
            <a:fld id="{E335590F-39D3-4614-9047-B8CDBEF91591}" type="datetimeFigureOut">
              <a:rPr lang="en-US" smtClean="0"/>
              <a:t>6/11/2023</a:t>
            </a:fld>
            <a:endParaRPr lang="en-US"/>
          </a:p>
        </p:txBody>
      </p:sp>
      <p:sp>
        <p:nvSpPr>
          <p:cNvPr id="5" name="Footer Placeholder 4">
            <a:extLst>
              <a:ext uri="{FF2B5EF4-FFF2-40B4-BE49-F238E27FC236}">
                <a16:creationId xmlns:a16="http://schemas.microsoft.com/office/drawing/2014/main" id="{E51D77FF-C1DA-DE73-5558-F7431639AB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9FB5DE-6270-48A3-4719-5D194CF3DB1E}"/>
              </a:ext>
            </a:extLst>
          </p:cNvPr>
          <p:cNvSpPr>
            <a:spLocks noGrp="1"/>
          </p:cNvSpPr>
          <p:nvPr>
            <p:ph type="sldNum" sz="quarter" idx="12"/>
          </p:nvPr>
        </p:nvSpPr>
        <p:spPr/>
        <p:txBody>
          <a:bodyPr/>
          <a:lstStyle/>
          <a:p>
            <a:fld id="{414A2A7E-7D9F-49E8-AE98-6266D8B7F8B8}" type="slidenum">
              <a:rPr lang="en-US" smtClean="0"/>
              <a:t>‹#›</a:t>
            </a:fld>
            <a:endParaRPr lang="en-US"/>
          </a:p>
        </p:txBody>
      </p:sp>
    </p:spTree>
    <p:extLst>
      <p:ext uri="{BB962C8B-B14F-4D97-AF65-F5344CB8AC3E}">
        <p14:creationId xmlns:p14="http://schemas.microsoft.com/office/powerpoint/2010/main" val="2405530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5F5BD-3615-9669-CEF0-88CAE2396B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A8206D-B2F5-6C09-0388-EEB08F36C8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C80285-CA1F-231C-DB64-B8A685CDA9C2}"/>
              </a:ext>
            </a:extLst>
          </p:cNvPr>
          <p:cNvSpPr>
            <a:spLocks noGrp="1"/>
          </p:cNvSpPr>
          <p:nvPr>
            <p:ph type="dt" sz="half" idx="10"/>
          </p:nvPr>
        </p:nvSpPr>
        <p:spPr/>
        <p:txBody>
          <a:bodyPr/>
          <a:lstStyle/>
          <a:p>
            <a:fld id="{E335590F-39D3-4614-9047-B8CDBEF91591}" type="datetimeFigureOut">
              <a:rPr lang="en-US" smtClean="0"/>
              <a:t>6/11/2023</a:t>
            </a:fld>
            <a:endParaRPr lang="en-US"/>
          </a:p>
        </p:txBody>
      </p:sp>
      <p:sp>
        <p:nvSpPr>
          <p:cNvPr id="5" name="Footer Placeholder 4">
            <a:extLst>
              <a:ext uri="{FF2B5EF4-FFF2-40B4-BE49-F238E27FC236}">
                <a16:creationId xmlns:a16="http://schemas.microsoft.com/office/drawing/2014/main" id="{B4D6767E-26EB-7EE1-0037-A482497396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EB3133-4492-AD12-7BD0-DFFA3E28BB70}"/>
              </a:ext>
            </a:extLst>
          </p:cNvPr>
          <p:cNvSpPr>
            <a:spLocks noGrp="1"/>
          </p:cNvSpPr>
          <p:nvPr>
            <p:ph type="sldNum" sz="quarter" idx="12"/>
          </p:nvPr>
        </p:nvSpPr>
        <p:spPr/>
        <p:txBody>
          <a:bodyPr/>
          <a:lstStyle/>
          <a:p>
            <a:fld id="{414A2A7E-7D9F-49E8-AE98-6266D8B7F8B8}" type="slidenum">
              <a:rPr lang="en-US" smtClean="0"/>
              <a:t>‹#›</a:t>
            </a:fld>
            <a:endParaRPr lang="en-US"/>
          </a:p>
        </p:txBody>
      </p:sp>
    </p:spTree>
    <p:extLst>
      <p:ext uri="{BB962C8B-B14F-4D97-AF65-F5344CB8AC3E}">
        <p14:creationId xmlns:p14="http://schemas.microsoft.com/office/powerpoint/2010/main" val="4091457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9BF6B-94A5-48A4-1944-26CC70B94F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3A6B8E5-AF2E-198E-8AB9-F39DAECFF9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CAE414-8C36-458B-252F-27AF3711830E}"/>
              </a:ext>
            </a:extLst>
          </p:cNvPr>
          <p:cNvSpPr>
            <a:spLocks noGrp="1"/>
          </p:cNvSpPr>
          <p:nvPr>
            <p:ph type="dt" sz="half" idx="10"/>
          </p:nvPr>
        </p:nvSpPr>
        <p:spPr/>
        <p:txBody>
          <a:bodyPr/>
          <a:lstStyle/>
          <a:p>
            <a:fld id="{E335590F-39D3-4614-9047-B8CDBEF91591}" type="datetimeFigureOut">
              <a:rPr lang="en-US" smtClean="0"/>
              <a:t>6/11/2023</a:t>
            </a:fld>
            <a:endParaRPr lang="en-US"/>
          </a:p>
        </p:txBody>
      </p:sp>
      <p:sp>
        <p:nvSpPr>
          <p:cNvPr id="5" name="Footer Placeholder 4">
            <a:extLst>
              <a:ext uri="{FF2B5EF4-FFF2-40B4-BE49-F238E27FC236}">
                <a16:creationId xmlns:a16="http://schemas.microsoft.com/office/drawing/2014/main" id="{AEE0F79E-E56F-0597-6F03-5EADB81EC7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04534C-D004-6AB7-A752-C207F5E4788A}"/>
              </a:ext>
            </a:extLst>
          </p:cNvPr>
          <p:cNvSpPr>
            <a:spLocks noGrp="1"/>
          </p:cNvSpPr>
          <p:nvPr>
            <p:ph type="sldNum" sz="quarter" idx="12"/>
          </p:nvPr>
        </p:nvSpPr>
        <p:spPr/>
        <p:txBody>
          <a:bodyPr/>
          <a:lstStyle/>
          <a:p>
            <a:fld id="{414A2A7E-7D9F-49E8-AE98-6266D8B7F8B8}" type="slidenum">
              <a:rPr lang="en-US" smtClean="0"/>
              <a:t>‹#›</a:t>
            </a:fld>
            <a:endParaRPr lang="en-US"/>
          </a:p>
        </p:txBody>
      </p:sp>
    </p:spTree>
    <p:extLst>
      <p:ext uri="{BB962C8B-B14F-4D97-AF65-F5344CB8AC3E}">
        <p14:creationId xmlns:p14="http://schemas.microsoft.com/office/powerpoint/2010/main" val="3920828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BAD3F-D7BE-E961-A40B-9591CD7B7F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FCF8C0-85BF-E65D-29CB-75D2538ECE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C1A404D-0E7E-44D7-CB6B-CFCBA558D3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0B89BBE-08F2-F453-321C-938F63A7782F}"/>
              </a:ext>
            </a:extLst>
          </p:cNvPr>
          <p:cNvSpPr>
            <a:spLocks noGrp="1"/>
          </p:cNvSpPr>
          <p:nvPr>
            <p:ph type="dt" sz="half" idx="10"/>
          </p:nvPr>
        </p:nvSpPr>
        <p:spPr/>
        <p:txBody>
          <a:bodyPr/>
          <a:lstStyle/>
          <a:p>
            <a:fld id="{E335590F-39D3-4614-9047-B8CDBEF91591}" type="datetimeFigureOut">
              <a:rPr lang="en-US" smtClean="0"/>
              <a:t>6/11/2023</a:t>
            </a:fld>
            <a:endParaRPr lang="en-US"/>
          </a:p>
        </p:txBody>
      </p:sp>
      <p:sp>
        <p:nvSpPr>
          <p:cNvPr id="6" name="Footer Placeholder 5">
            <a:extLst>
              <a:ext uri="{FF2B5EF4-FFF2-40B4-BE49-F238E27FC236}">
                <a16:creationId xmlns:a16="http://schemas.microsoft.com/office/drawing/2014/main" id="{B4C25217-DFBC-B175-A12D-8F1CE1C96E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28A7A4-6965-3C17-FB8B-5C3E072F9857}"/>
              </a:ext>
            </a:extLst>
          </p:cNvPr>
          <p:cNvSpPr>
            <a:spLocks noGrp="1"/>
          </p:cNvSpPr>
          <p:nvPr>
            <p:ph type="sldNum" sz="quarter" idx="12"/>
          </p:nvPr>
        </p:nvSpPr>
        <p:spPr/>
        <p:txBody>
          <a:bodyPr/>
          <a:lstStyle/>
          <a:p>
            <a:fld id="{414A2A7E-7D9F-49E8-AE98-6266D8B7F8B8}" type="slidenum">
              <a:rPr lang="en-US" smtClean="0"/>
              <a:t>‹#›</a:t>
            </a:fld>
            <a:endParaRPr lang="en-US"/>
          </a:p>
        </p:txBody>
      </p:sp>
    </p:spTree>
    <p:extLst>
      <p:ext uri="{BB962C8B-B14F-4D97-AF65-F5344CB8AC3E}">
        <p14:creationId xmlns:p14="http://schemas.microsoft.com/office/powerpoint/2010/main" val="19082988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A3C6E-5084-239A-176B-FD3C6D996A5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62BA06-42AA-618B-4A72-1943CDC665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F7D738-7C22-6272-27AE-B8D2D82B81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D27675-9EF2-8368-18B1-171F16D889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6F53F0-9576-8B7F-3AF7-54BE4C7599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A33CAB8-50C3-A5B1-307A-CEDB9BC7A8BF}"/>
              </a:ext>
            </a:extLst>
          </p:cNvPr>
          <p:cNvSpPr>
            <a:spLocks noGrp="1"/>
          </p:cNvSpPr>
          <p:nvPr>
            <p:ph type="dt" sz="half" idx="10"/>
          </p:nvPr>
        </p:nvSpPr>
        <p:spPr/>
        <p:txBody>
          <a:bodyPr/>
          <a:lstStyle/>
          <a:p>
            <a:fld id="{E335590F-39D3-4614-9047-B8CDBEF91591}" type="datetimeFigureOut">
              <a:rPr lang="en-US" smtClean="0"/>
              <a:t>6/11/2023</a:t>
            </a:fld>
            <a:endParaRPr lang="en-US"/>
          </a:p>
        </p:txBody>
      </p:sp>
      <p:sp>
        <p:nvSpPr>
          <p:cNvPr id="8" name="Footer Placeholder 7">
            <a:extLst>
              <a:ext uri="{FF2B5EF4-FFF2-40B4-BE49-F238E27FC236}">
                <a16:creationId xmlns:a16="http://schemas.microsoft.com/office/drawing/2014/main" id="{09DD78AC-B3A6-EDC8-E8CA-64EFC080A1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E3699C-46D2-AA21-71F4-C0295F15AD66}"/>
              </a:ext>
            </a:extLst>
          </p:cNvPr>
          <p:cNvSpPr>
            <a:spLocks noGrp="1"/>
          </p:cNvSpPr>
          <p:nvPr>
            <p:ph type="sldNum" sz="quarter" idx="12"/>
          </p:nvPr>
        </p:nvSpPr>
        <p:spPr/>
        <p:txBody>
          <a:bodyPr/>
          <a:lstStyle/>
          <a:p>
            <a:fld id="{414A2A7E-7D9F-49E8-AE98-6266D8B7F8B8}" type="slidenum">
              <a:rPr lang="en-US" smtClean="0"/>
              <a:t>‹#›</a:t>
            </a:fld>
            <a:endParaRPr lang="en-US"/>
          </a:p>
        </p:txBody>
      </p:sp>
    </p:spTree>
    <p:extLst>
      <p:ext uri="{BB962C8B-B14F-4D97-AF65-F5344CB8AC3E}">
        <p14:creationId xmlns:p14="http://schemas.microsoft.com/office/powerpoint/2010/main" val="92729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2CE58-98CF-314E-7A5B-0F9A510E62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4368C4A-C45C-4FFB-C92E-75CF6F7D78FE}"/>
              </a:ext>
            </a:extLst>
          </p:cNvPr>
          <p:cNvSpPr>
            <a:spLocks noGrp="1"/>
          </p:cNvSpPr>
          <p:nvPr>
            <p:ph type="dt" sz="half" idx="10"/>
          </p:nvPr>
        </p:nvSpPr>
        <p:spPr/>
        <p:txBody>
          <a:bodyPr/>
          <a:lstStyle/>
          <a:p>
            <a:fld id="{E335590F-39D3-4614-9047-B8CDBEF91591}" type="datetimeFigureOut">
              <a:rPr lang="en-US" smtClean="0"/>
              <a:t>6/11/2023</a:t>
            </a:fld>
            <a:endParaRPr lang="en-US"/>
          </a:p>
        </p:txBody>
      </p:sp>
      <p:sp>
        <p:nvSpPr>
          <p:cNvPr id="4" name="Footer Placeholder 3">
            <a:extLst>
              <a:ext uri="{FF2B5EF4-FFF2-40B4-BE49-F238E27FC236}">
                <a16:creationId xmlns:a16="http://schemas.microsoft.com/office/drawing/2014/main" id="{CBACAEE4-9E22-7DAF-7B8D-1DB7A54C616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78DA19B-9077-C1D2-AE2D-627F79E7A4E9}"/>
              </a:ext>
            </a:extLst>
          </p:cNvPr>
          <p:cNvSpPr>
            <a:spLocks noGrp="1"/>
          </p:cNvSpPr>
          <p:nvPr>
            <p:ph type="sldNum" sz="quarter" idx="12"/>
          </p:nvPr>
        </p:nvSpPr>
        <p:spPr/>
        <p:txBody>
          <a:bodyPr/>
          <a:lstStyle/>
          <a:p>
            <a:fld id="{414A2A7E-7D9F-49E8-AE98-6266D8B7F8B8}" type="slidenum">
              <a:rPr lang="en-US" smtClean="0"/>
              <a:t>‹#›</a:t>
            </a:fld>
            <a:endParaRPr lang="en-US"/>
          </a:p>
        </p:txBody>
      </p:sp>
    </p:spTree>
    <p:extLst>
      <p:ext uri="{BB962C8B-B14F-4D97-AF65-F5344CB8AC3E}">
        <p14:creationId xmlns:p14="http://schemas.microsoft.com/office/powerpoint/2010/main" val="4272404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C11896-0C2B-D0F5-DDFA-3ECB82C0E12C}"/>
              </a:ext>
            </a:extLst>
          </p:cNvPr>
          <p:cNvSpPr>
            <a:spLocks noGrp="1"/>
          </p:cNvSpPr>
          <p:nvPr>
            <p:ph type="dt" sz="half" idx="10"/>
          </p:nvPr>
        </p:nvSpPr>
        <p:spPr/>
        <p:txBody>
          <a:bodyPr/>
          <a:lstStyle/>
          <a:p>
            <a:fld id="{E335590F-39D3-4614-9047-B8CDBEF91591}" type="datetimeFigureOut">
              <a:rPr lang="en-US" smtClean="0"/>
              <a:t>6/11/2023</a:t>
            </a:fld>
            <a:endParaRPr lang="en-US"/>
          </a:p>
        </p:txBody>
      </p:sp>
      <p:sp>
        <p:nvSpPr>
          <p:cNvPr id="3" name="Footer Placeholder 2">
            <a:extLst>
              <a:ext uri="{FF2B5EF4-FFF2-40B4-BE49-F238E27FC236}">
                <a16:creationId xmlns:a16="http://schemas.microsoft.com/office/drawing/2014/main" id="{7084EF74-7B27-DC90-3C1D-C24F216BC82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AA63A5B-70CF-DA53-C009-91D038B4B6E9}"/>
              </a:ext>
            </a:extLst>
          </p:cNvPr>
          <p:cNvSpPr>
            <a:spLocks noGrp="1"/>
          </p:cNvSpPr>
          <p:nvPr>
            <p:ph type="sldNum" sz="quarter" idx="12"/>
          </p:nvPr>
        </p:nvSpPr>
        <p:spPr/>
        <p:txBody>
          <a:bodyPr/>
          <a:lstStyle/>
          <a:p>
            <a:fld id="{414A2A7E-7D9F-49E8-AE98-6266D8B7F8B8}" type="slidenum">
              <a:rPr lang="en-US" smtClean="0"/>
              <a:t>‹#›</a:t>
            </a:fld>
            <a:endParaRPr lang="en-US"/>
          </a:p>
        </p:txBody>
      </p:sp>
    </p:spTree>
    <p:extLst>
      <p:ext uri="{BB962C8B-B14F-4D97-AF65-F5344CB8AC3E}">
        <p14:creationId xmlns:p14="http://schemas.microsoft.com/office/powerpoint/2010/main" val="3689238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71244-598E-A96D-B498-E720726F56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DE81909-667F-2C99-81C6-8A9878E70E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64810D8-11B2-E8B4-2D7A-C0E0B38713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6DAE99-24FD-5DBD-F1F6-27EA48B00CBF}"/>
              </a:ext>
            </a:extLst>
          </p:cNvPr>
          <p:cNvSpPr>
            <a:spLocks noGrp="1"/>
          </p:cNvSpPr>
          <p:nvPr>
            <p:ph type="dt" sz="half" idx="10"/>
          </p:nvPr>
        </p:nvSpPr>
        <p:spPr/>
        <p:txBody>
          <a:bodyPr/>
          <a:lstStyle/>
          <a:p>
            <a:fld id="{E335590F-39D3-4614-9047-B8CDBEF91591}" type="datetimeFigureOut">
              <a:rPr lang="en-US" smtClean="0"/>
              <a:t>6/11/2023</a:t>
            </a:fld>
            <a:endParaRPr lang="en-US"/>
          </a:p>
        </p:txBody>
      </p:sp>
      <p:sp>
        <p:nvSpPr>
          <p:cNvPr id="6" name="Footer Placeholder 5">
            <a:extLst>
              <a:ext uri="{FF2B5EF4-FFF2-40B4-BE49-F238E27FC236}">
                <a16:creationId xmlns:a16="http://schemas.microsoft.com/office/drawing/2014/main" id="{7FF67C93-1029-667C-F403-0CB1BEEFD8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F1C42D-C8A7-7598-B074-1E0B74384837}"/>
              </a:ext>
            </a:extLst>
          </p:cNvPr>
          <p:cNvSpPr>
            <a:spLocks noGrp="1"/>
          </p:cNvSpPr>
          <p:nvPr>
            <p:ph type="sldNum" sz="quarter" idx="12"/>
          </p:nvPr>
        </p:nvSpPr>
        <p:spPr/>
        <p:txBody>
          <a:bodyPr/>
          <a:lstStyle/>
          <a:p>
            <a:fld id="{414A2A7E-7D9F-49E8-AE98-6266D8B7F8B8}" type="slidenum">
              <a:rPr lang="en-US" smtClean="0"/>
              <a:t>‹#›</a:t>
            </a:fld>
            <a:endParaRPr lang="en-US"/>
          </a:p>
        </p:txBody>
      </p:sp>
    </p:spTree>
    <p:extLst>
      <p:ext uri="{BB962C8B-B14F-4D97-AF65-F5344CB8AC3E}">
        <p14:creationId xmlns:p14="http://schemas.microsoft.com/office/powerpoint/2010/main" val="82260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0CB9E-77A7-CB63-E6DC-9ADAE7F671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78979FF-FEB9-ADA9-CCC1-CF90A6BEFD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D98C405-1A8C-1F9B-08EF-E18466C1D4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DD22BE-8075-2F2F-84CF-2DEDC896295F}"/>
              </a:ext>
            </a:extLst>
          </p:cNvPr>
          <p:cNvSpPr>
            <a:spLocks noGrp="1"/>
          </p:cNvSpPr>
          <p:nvPr>
            <p:ph type="dt" sz="half" idx="10"/>
          </p:nvPr>
        </p:nvSpPr>
        <p:spPr/>
        <p:txBody>
          <a:bodyPr/>
          <a:lstStyle/>
          <a:p>
            <a:fld id="{E335590F-39D3-4614-9047-B8CDBEF91591}" type="datetimeFigureOut">
              <a:rPr lang="en-US" smtClean="0"/>
              <a:t>6/11/2023</a:t>
            </a:fld>
            <a:endParaRPr lang="en-US"/>
          </a:p>
        </p:txBody>
      </p:sp>
      <p:sp>
        <p:nvSpPr>
          <p:cNvPr id="6" name="Footer Placeholder 5">
            <a:extLst>
              <a:ext uri="{FF2B5EF4-FFF2-40B4-BE49-F238E27FC236}">
                <a16:creationId xmlns:a16="http://schemas.microsoft.com/office/drawing/2014/main" id="{43D340D6-7A38-8CF9-2087-9D5AF30143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BA4CA7-3289-E54F-37C6-67F0D1B3D948}"/>
              </a:ext>
            </a:extLst>
          </p:cNvPr>
          <p:cNvSpPr>
            <a:spLocks noGrp="1"/>
          </p:cNvSpPr>
          <p:nvPr>
            <p:ph type="sldNum" sz="quarter" idx="12"/>
          </p:nvPr>
        </p:nvSpPr>
        <p:spPr/>
        <p:txBody>
          <a:bodyPr/>
          <a:lstStyle/>
          <a:p>
            <a:fld id="{414A2A7E-7D9F-49E8-AE98-6266D8B7F8B8}" type="slidenum">
              <a:rPr lang="en-US" smtClean="0"/>
              <a:t>‹#›</a:t>
            </a:fld>
            <a:endParaRPr lang="en-US"/>
          </a:p>
        </p:txBody>
      </p:sp>
    </p:spTree>
    <p:extLst>
      <p:ext uri="{BB962C8B-B14F-4D97-AF65-F5344CB8AC3E}">
        <p14:creationId xmlns:p14="http://schemas.microsoft.com/office/powerpoint/2010/main" val="697343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C7FC8-1482-9CE6-8CB5-0AF459F489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C80BF52-D0B9-B1C8-5926-1111DAFFFEB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97D521-1D97-270A-1AF2-F764AF921AD0}"/>
              </a:ext>
            </a:extLst>
          </p:cNvPr>
          <p:cNvSpPr>
            <a:spLocks noGrp="1"/>
          </p:cNvSpPr>
          <p:nvPr>
            <p:ph type="dt" sz="half" idx="10"/>
          </p:nvPr>
        </p:nvSpPr>
        <p:spPr/>
        <p:txBody>
          <a:bodyPr/>
          <a:lstStyle/>
          <a:p>
            <a:fld id="{E335590F-39D3-4614-9047-B8CDBEF91591}" type="datetimeFigureOut">
              <a:rPr lang="en-US" smtClean="0"/>
              <a:t>6/11/2023</a:t>
            </a:fld>
            <a:endParaRPr lang="en-US"/>
          </a:p>
        </p:txBody>
      </p:sp>
      <p:sp>
        <p:nvSpPr>
          <p:cNvPr id="5" name="Footer Placeholder 4">
            <a:extLst>
              <a:ext uri="{FF2B5EF4-FFF2-40B4-BE49-F238E27FC236}">
                <a16:creationId xmlns:a16="http://schemas.microsoft.com/office/drawing/2014/main" id="{1FEDA55F-5DDC-968E-E724-8BEB24D64B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E3D91B-DA72-DBF6-0246-EBDBA1C953B1}"/>
              </a:ext>
            </a:extLst>
          </p:cNvPr>
          <p:cNvSpPr>
            <a:spLocks noGrp="1"/>
          </p:cNvSpPr>
          <p:nvPr>
            <p:ph type="sldNum" sz="quarter" idx="12"/>
          </p:nvPr>
        </p:nvSpPr>
        <p:spPr/>
        <p:txBody>
          <a:bodyPr/>
          <a:lstStyle/>
          <a:p>
            <a:fld id="{414A2A7E-7D9F-49E8-AE98-6266D8B7F8B8}" type="slidenum">
              <a:rPr lang="en-US" smtClean="0"/>
              <a:t>‹#›</a:t>
            </a:fld>
            <a:endParaRPr lang="en-US"/>
          </a:p>
        </p:txBody>
      </p:sp>
    </p:spTree>
    <p:extLst>
      <p:ext uri="{BB962C8B-B14F-4D97-AF65-F5344CB8AC3E}">
        <p14:creationId xmlns:p14="http://schemas.microsoft.com/office/powerpoint/2010/main" val="2148258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F54B61-E105-CC27-9800-CFE886440BE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016355-6908-A68E-0F26-D502B40927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36CD64-E4BF-07B8-FBB6-45EF12964C3D}"/>
              </a:ext>
            </a:extLst>
          </p:cNvPr>
          <p:cNvSpPr>
            <a:spLocks noGrp="1"/>
          </p:cNvSpPr>
          <p:nvPr>
            <p:ph type="dt" sz="half" idx="10"/>
          </p:nvPr>
        </p:nvSpPr>
        <p:spPr/>
        <p:txBody>
          <a:bodyPr/>
          <a:lstStyle/>
          <a:p>
            <a:fld id="{E335590F-39D3-4614-9047-B8CDBEF91591}" type="datetimeFigureOut">
              <a:rPr lang="en-US" smtClean="0"/>
              <a:t>6/11/2023</a:t>
            </a:fld>
            <a:endParaRPr lang="en-US"/>
          </a:p>
        </p:txBody>
      </p:sp>
      <p:sp>
        <p:nvSpPr>
          <p:cNvPr id="5" name="Footer Placeholder 4">
            <a:extLst>
              <a:ext uri="{FF2B5EF4-FFF2-40B4-BE49-F238E27FC236}">
                <a16:creationId xmlns:a16="http://schemas.microsoft.com/office/drawing/2014/main" id="{D2B08313-8134-1EDC-F3E4-A7F376ABB3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50975D-4017-D1EC-9E75-C6A8560B5F23}"/>
              </a:ext>
            </a:extLst>
          </p:cNvPr>
          <p:cNvSpPr>
            <a:spLocks noGrp="1"/>
          </p:cNvSpPr>
          <p:nvPr>
            <p:ph type="sldNum" sz="quarter" idx="12"/>
          </p:nvPr>
        </p:nvSpPr>
        <p:spPr/>
        <p:txBody>
          <a:bodyPr/>
          <a:lstStyle/>
          <a:p>
            <a:fld id="{414A2A7E-7D9F-49E8-AE98-6266D8B7F8B8}" type="slidenum">
              <a:rPr lang="en-US" smtClean="0"/>
              <a:t>‹#›</a:t>
            </a:fld>
            <a:endParaRPr lang="en-US"/>
          </a:p>
        </p:txBody>
      </p:sp>
    </p:spTree>
    <p:extLst>
      <p:ext uri="{BB962C8B-B14F-4D97-AF65-F5344CB8AC3E}">
        <p14:creationId xmlns:p14="http://schemas.microsoft.com/office/powerpoint/2010/main" val="37524883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072490D-569B-4A9C-B9BB-4F77B651EC5B}" type="datetimeFigureOut">
              <a:rPr lang="en-US" smtClean="0"/>
              <a:t>6/11/2023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29BCD-CBB7-492B-AC0D-782C189D9EB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40387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72490D-569B-4A9C-B9BB-4F77B651EC5B}" type="datetimeFigureOut">
              <a:rPr lang="en-US" smtClean="0"/>
              <a:t>6/11/2023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33290702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72490D-569B-4A9C-B9BB-4F77B651EC5B}" type="datetimeFigureOut">
              <a:rPr lang="en-US" smtClean="0"/>
              <a:t>6/11/2023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29BCD-CBB7-492B-AC0D-782C189D9EB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50290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072490D-569B-4A9C-B9BB-4F77B651EC5B}" type="datetimeFigureOut">
              <a:rPr lang="en-US" smtClean="0"/>
              <a:t>6/11/2023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34800451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072490D-569B-4A9C-B9BB-4F77B651EC5B}" type="datetimeFigureOut">
              <a:rPr lang="en-US" smtClean="0"/>
              <a:t>6/11/2023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31383000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072490D-569B-4A9C-B9BB-4F77B651EC5B}" type="datetimeFigureOut">
              <a:rPr lang="en-US" smtClean="0"/>
              <a:t>6/11/2023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42540380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072490D-569B-4A9C-B9BB-4F77B651EC5B}" type="datetimeFigureOut">
              <a:rPr lang="en-US" smtClean="0"/>
              <a:t>6/11/2023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36289697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072490D-569B-4A9C-B9BB-4F77B651EC5B}" type="datetimeFigureOut">
              <a:rPr lang="en-US" smtClean="0"/>
              <a:t>6/11/2023</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8629BCD-CBB7-492B-AC0D-782C189D9EBA}" type="slidenum">
              <a:rPr lang="en-US" smtClean="0"/>
              <a:t>‹#›</a:t>
            </a:fld>
            <a:endParaRPr lang="en-US"/>
          </a:p>
        </p:txBody>
      </p:sp>
    </p:spTree>
    <p:extLst>
      <p:ext uri="{BB962C8B-B14F-4D97-AF65-F5344CB8AC3E}">
        <p14:creationId xmlns:p14="http://schemas.microsoft.com/office/powerpoint/2010/main" val="35971473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072490D-569B-4A9C-B9BB-4F77B651EC5B}" type="datetimeFigureOut">
              <a:rPr lang="en-US" smtClean="0"/>
              <a:t>6/11/2023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18083869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72490D-569B-4A9C-B9BB-4F77B651EC5B}" type="datetimeFigureOut">
              <a:rPr lang="en-US" smtClean="0"/>
              <a:t>6/11/2023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7132644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72490D-569B-4A9C-B9BB-4F77B651EC5B}" type="datetimeFigureOut">
              <a:rPr lang="en-US" smtClean="0"/>
              <a:t>6/11/2023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29BCD-CBB7-492B-AC0D-782C189D9EBA}" type="slidenum">
              <a:rPr lang="en-US" smtClean="0"/>
              <a:t>‹#›</a:t>
            </a:fld>
            <a:endParaRPr lang="en-US"/>
          </a:p>
        </p:txBody>
      </p:sp>
    </p:spTree>
    <p:extLst>
      <p:ext uri="{BB962C8B-B14F-4D97-AF65-F5344CB8AC3E}">
        <p14:creationId xmlns:p14="http://schemas.microsoft.com/office/powerpoint/2010/main" val="2352194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77D6BB-8404-52DD-7300-144757FA4C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CEE7300-D2C0-539B-AD4F-92DF59FBD3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1045B0-1519-170E-42F9-37F27EFA9D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35590F-39D3-4614-9047-B8CDBEF91591}" type="datetimeFigureOut">
              <a:rPr lang="en-US" smtClean="0"/>
              <a:t>6/11/2023</a:t>
            </a:fld>
            <a:endParaRPr lang="en-US"/>
          </a:p>
        </p:txBody>
      </p:sp>
      <p:sp>
        <p:nvSpPr>
          <p:cNvPr id="5" name="Footer Placeholder 4">
            <a:extLst>
              <a:ext uri="{FF2B5EF4-FFF2-40B4-BE49-F238E27FC236}">
                <a16:creationId xmlns:a16="http://schemas.microsoft.com/office/drawing/2014/main" id="{A3A291BD-506D-9F8A-033D-93C0BC09D2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B225166-8BA8-2A1B-E70E-4803CD174A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4A2A7E-7D9F-49E8-AE98-6266D8B7F8B8}" type="slidenum">
              <a:rPr lang="en-US" smtClean="0"/>
              <a:t>‹#›</a:t>
            </a:fld>
            <a:endParaRPr lang="en-US"/>
          </a:p>
        </p:txBody>
      </p:sp>
    </p:spTree>
    <p:extLst>
      <p:ext uri="{BB962C8B-B14F-4D97-AF65-F5344CB8AC3E}">
        <p14:creationId xmlns:p14="http://schemas.microsoft.com/office/powerpoint/2010/main" val="39150729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072490D-569B-4A9C-B9BB-4F77B651EC5B}" type="datetimeFigureOut">
              <a:rPr lang="en-US" smtClean="0"/>
              <a:t>6/11/2023</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8629BCD-CBB7-492B-AC0D-782C189D9EBA}"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74222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8.webp"/><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1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18.xml"/></Relationships>
</file>

<file path=ppt/slides/_rels/slide73.xml.rels><?xml version="1.0" encoding="UTF-8" standalone="yes"?>
<Relationships xmlns="http://schemas.openxmlformats.org/package/2006/relationships"><Relationship Id="rId2" Type="http://schemas.openxmlformats.org/officeDocument/2006/relationships/image" Target="../media/image59.jpg"/><Relationship Id="rId1" Type="http://schemas.openxmlformats.org/officeDocument/2006/relationships/slideLayout" Target="../slideLayouts/slideLayout18.xml"/></Relationships>
</file>

<file path=ppt/slides/_rels/slide74.xml.rels><?xml version="1.0" encoding="UTF-8" standalone="yes"?>
<Relationships xmlns="http://schemas.openxmlformats.org/package/2006/relationships"><Relationship Id="rId2" Type="http://schemas.openxmlformats.org/officeDocument/2006/relationships/image" Target="../media/image60.jpg"/><Relationship Id="rId1" Type="http://schemas.openxmlformats.org/officeDocument/2006/relationships/slideLayout" Target="../slideLayouts/slideLayout18.xml"/></Relationships>
</file>

<file path=ppt/slides/_rels/slide75.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Layout" Target="../slideLayouts/slideLayout18.xml"/></Relationships>
</file>

<file path=ppt/slides/_rels/slide76.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18.xml"/></Relationships>
</file>

<file path=ppt/slides/_rels/slide77.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18.xml"/></Relationships>
</file>

<file path=ppt/slides/_rels/slide78.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18.xml"/></Relationships>
</file>

<file path=ppt/slides/_rels/slide79.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18.xml"/></Relationships>
</file>

<file path=ppt/slides/_rels/slide80.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18.xml"/></Relationships>
</file>

<file path=ppt/slides/_rels/slide81.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18.xml"/></Relationships>
</file>

<file path=ppt/slides/_rels/slide82.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18.xml"/></Relationships>
</file>

<file path=ppt/slides/_rels/slide83.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18.xml"/></Relationships>
</file>

<file path=ppt/slides/_rels/slide84.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18.xml"/></Relationships>
</file>

<file path=ppt/slides/_rels/slide85.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18.xml"/></Relationships>
</file>

<file path=ppt/slides/_rels/slide86.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18.xml"/></Relationships>
</file>

<file path=ppt/slides/_rels/slide87.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18.xml"/></Relationships>
</file>

<file path=ppt/slides/_rels/slide88.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18.xml"/></Relationships>
</file>

<file path=ppt/slides/_rels/slide89.xml.rels><?xml version="1.0" encoding="UTF-8" standalone="yes"?>
<Relationships xmlns="http://schemas.openxmlformats.org/package/2006/relationships"><Relationship Id="rId2" Type="http://schemas.openxmlformats.org/officeDocument/2006/relationships/image" Target="../media/image75.jpg"/><Relationship Id="rId1" Type="http://schemas.openxmlformats.org/officeDocument/2006/relationships/slideLayout" Target="../slideLayouts/slideLayout18.xml"/></Relationships>
</file>

<file path=ppt/slides/_rels/slide90.xml.rels><?xml version="1.0" encoding="UTF-8" standalone="yes"?>
<Relationships xmlns="http://schemas.openxmlformats.org/package/2006/relationships"><Relationship Id="rId2" Type="http://schemas.openxmlformats.org/officeDocument/2006/relationships/image" Target="../media/image76.jpg"/><Relationship Id="rId1" Type="http://schemas.openxmlformats.org/officeDocument/2006/relationships/slideLayout" Target="../slideLayouts/slideLayout18.xml"/></Relationships>
</file>

<file path=ppt/slides/_rels/slide91.xml.rels><?xml version="1.0" encoding="UTF-8" standalone="yes"?>
<Relationships xmlns="http://schemas.openxmlformats.org/package/2006/relationships"><Relationship Id="rId2" Type="http://schemas.openxmlformats.org/officeDocument/2006/relationships/image" Target="../media/image77.jpg"/><Relationship Id="rId1" Type="http://schemas.openxmlformats.org/officeDocument/2006/relationships/slideLayout" Target="../slideLayouts/slideLayout18.xml"/></Relationships>
</file>

<file path=ppt/slides/_rels/slide92.xml.rels><?xml version="1.0" encoding="UTF-8" standalone="yes"?>
<Relationships xmlns="http://schemas.openxmlformats.org/package/2006/relationships"><Relationship Id="rId2" Type="http://schemas.openxmlformats.org/officeDocument/2006/relationships/image" Target="../media/image78.jpg"/><Relationship Id="rId1" Type="http://schemas.openxmlformats.org/officeDocument/2006/relationships/slideLayout" Target="../slideLayouts/slideLayout18.xml"/></Relationships>
</file>

<file path=ppt/slides/_rels/slide93.xml.rels><?xml version="1.0" encoding="UTF-8" standalone="yes"?>
<Relationships xmlns="http://schemas.openxmlformats.org/package/2006/relationships"><Relationship Id="rId2" Type="http://schemas.openxmlformats.org/officeDocument/2006/relationships/image" Target="../media/image79.jpg"/><Relationship Id="rId1" Type="http://schemas.openxmlformats.org/officeDocument/2006/relationships/slideLayout" Target="../slideLayouts/slideLayout18.xml"/></Relationships>
</file>

<file path=ppt/slides/_rels/slide94.xml.rels><?xml version="1.0" encoding="UTF-8" standalone="yes"?>
<Relationships xmlns="http://schemas.openxmlformats.org/package/2006/relationships"><Relationship Id="rId2" Type="http://schemas.openxmlformats.org/officeDocument/2006/relationships/image" Target="../media/image80.jpg"/><Relationship Id="rId1" Type="http://schemas.openxmlformats.org/officeDocument/2006/relationships/slideLayout" Target="../slideLayouts/slideLayout18.xml"/></Relationships>
</file>

<file path=ppt/slides/_rels/slide95.xml.rels><?xml version="1.0" encoding="UTF-8" standalone="yes"?>
<Relationships xmlns="http://schemas.openxmlformats.org/package/2006/relationships"><Relationship Id="rId2" Type="http://schemas.openxmlformats.org/officeDocument/2006/relationships/image" Target="../media/image81.jpg"/><Relationship Id="rId1" Type="http://schemas.openxmlformats.org/officeDocument/2006/relationships/slideLayout" Target="../slideLayouts/slideLayout18.xml"/></Relationships>
</file>

<file path=ppt/slides/_rels/slide96.xml.rels><?xml version="1.0" encoding="UTF-8" standalone="yes"?>
<Relationships xmlns="http://schemas.openxmlformats.org/package/2006/relationships"><Relationship Id="rId2" Type="http://schemas.openxmlformats.org/officeDocument/2006/relationships/image" Target="../media/image82.jpg"/><Relationship Id="rId1" Type="http://schemas.openxmlformats.org/officeDocument/2006/relationships/slideLayout" Target="../slideLayouts/slideLayout18.xml"/></Relationships>
</file>

<file path=ppt/slides/_rels/slide97.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18.xml"/></Relationships>
</file>

<file path=ppt/slides/_rels/slide98.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18.xml"/></Relationships>
</file>

<file path=ppt/slides/_rels/slide99.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18.xml"/></Relationships>
</file>

<file path=ppt/slides/_rels/slide100.xml.rels><?xml version="1.0" encoding="UTF-8" standalone="yes"?>
<Relationships xmlns="http://schemas.openxmlformats.org/package/2006/relationships"><Relationship Id="rId2" Type="http://schemas.openxmlformats.org/officeDocument/2006/relationships/image" Target="../media/image86.jpg"/><Relationship Id="rId1" Type="http://schemas.openxmlformats.org/officeDocument/2006/relationships/slideLayout" Target="../slideLayouts/slideLayout18.xml"/></Relationships>
</file>

<file path=ppt/slides/_rels/slide101.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102.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18.xml"/></Relationships>
</file>

<file path=ppt/slides/_rels/slide103.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18.xml"/></Relationships>
</file>

<file path=ppt/slides/_rels/slide104.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18.xml"/></Relationships>
</file>

<file path=ppt/slides/_rels/slide105.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18.xml"/></Relationships>
</file>

<file path=ppt/slides/_rels/slide106.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18.xml"/></Relationships>
</file>

<file path=ppt/slides/_rels/slide107.xml.rels><?xml version="1.0" encoding="UTF-8" standalone="yes"?>
<Relationships xmlns="http://schemas.openxmlformats.org/package/2006/relationships"><Relationship Id="rId2" Type="http://schemas.openxmlformats.org/officeDocument/2006/relationships/image" Target="../media/image93.jpg"/><Relationship Id="rId1" Type="http://schemas.openxmlformats.org/officeDocument/2006/relationships/slideLayout" Target="../slideLayouts/slideLayout18.xml"/></Relationships>
</file>

<file path=ppt/slides/_rels/slide108.xml.rels><?xml version="1.0" encoding="UTF-8" standalone="yes"?>
<Relationships xmlns="http://schemas.openxmlformats.org/package/2006/relationships"><Relationship Id="rId2" Type="http://schemas.openxmlformats.org/officeDocument/2006/relationships/image" Target="../media/image94.jpg"/><Relationship Id="rId1" Type="http://schemas.openxmlformats.org/officeDocument/2006/relationships/slideLayout" Target="../slideLayouts/slideLayout18.xml"/></Relationships>
</file>

<file path=ppt/slides/_rels/slide109.xml.rels><?xml version="1.0" encoding="UTF-8" standalone="yes"?>
<Relationships xmlns="http://schemas.openxmlformats.org/package/2006/relationships"><Relationship Id="rId2" Type="http://schemas.openxmlformats.org/officeDocument/2006/relationships/image" Target="../media/image95.jpg"/><Relationship Id="rId1" Type="http://schemas.openxmlformats.org/officeDocument/2006/relationships/slideLayout" Target="../slideLayouts/slideLayout18.xml"/></Relationships>
</file>

<file path=ppt/slides/_rels/slide110.xml.rels><?xml version="1.0" encoding="UTF-8" standalone="yes"?>
<Relationships xmlns="http://schemas.openxmlformats.org/package/2006/relationships"><Relationship Id="rId2" Type="http://schemas.openxmlformats.org/officeDocument/2006/relationships/image" Target="../media/image96.jpg"/><Relationship Id="rId1" Type="http://schemas.openxmlformats.org/officeDocument/2006/relationships/slideLayout" Target="../slideLayouts/slideLayout18.xml"/></Relationships>
</file>

<file path=ppt/slides/_rels/slide111.xml.rels><?xml version="1.0" encoding="UTF-8" standalone="yes"?>
<Relationships xmlns="http://schemas.openxmlformats.org/package/2006/relationships"><Relationship Id="rId2" Type="http://schemas.openxmlformats.org/officeDocument/2006/relationships/image" Target="../media/image97.jpg"/><Relationship Id="rId1" Type="http://schemas.openxmlformats.org/officeDocument/2006/relationships/slideLayout" Target="../slideLayouts/slideLayout18.xml"/></Relationships>
</file>

<file path=ppt/slides/_rels/slide112.xml.rels><?xml version="1.0" encoding="UTF-8" standalone="yes"?>
<Relationships xmlns="http://schemas.openxmlformats.org/package/2006/relationships"><Relationship Id="rId2" Type="http://schemas.openxmlformats.org/officeDocument/2006/relationships/image" Target="../media/image98.jpg"/><Relationship Id="rId1" Type="http://schemas.openxmlformats.org/officeDocument/2006/relationships/slideLayout" Target="../slideLayouts/slideLayout18.xml"/></Relationships>
</file>

<file path=ppt/slides/_rels/slide113.xml.rels><?xml version="1.0" encoding="UTF-8" standalone="yes"?>
<Relationships xmlns="http://schemas.openxmlformats.org/package/2006/relationships"><Relationship Id="rId2" Type="http://schemas.openxmlformats.org/officeDocument/2006/relationships/image" Target="../media/image99.jp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A6FB5EA-3363-674B-037A-3B9D07482CF1}"/>
              </a:ext>
            </a:extLst>
          </p:cNvPr>
          <p:cNvPicPr>
            <a:picLocks noChangeAspect="1"/>
          </p:cNvPicPr>
          <p:nvPr/>
        </p:nvPicPr>
        <p:blipFill rotWithShape="1">
          <a:blip r:embed="rId2"/>
          <a:srcRect t="32749" r="22831" b="24913"/>
          <a:stretch/>
        </p:blipFill>
        <p:spPr>
          <a:xfrm>
            <a:off x="2393628" y="1748590"/>
            <a:ext cx="9281365" cy="3756346"/>
          </a:xfrm>
          <a:prstGeom prst="rect">
            <a:avLst/>
          </a:prstGeom>
        </p:spPr>
      </p:pic>
      <p:pic>
        <p:nvPicPr>
          <p:cNvPr id="3" name="Picture 2">
            <a:extLst>
              <a:ext uri="{FF2B5EF4-FFF2-40B4-BE49-F238E27FC236}">
                <a16:creationId xmlns:a16="http://schemas.microsoft.com/office/drawing/2014/main" id="{B9BF9B90-5114-97FA-F1BE-CDD899FC3CA3}"/>
              </a:ext>
            </a:extLst>
          </p:cNvPr>
          <p:cNvPicPr>
            <a:picLocks noChangeAspect="1"/>
          </p:cNvPicPr>
          <p:nvPr/>
        </p:nvPicPr>
        <p:blipFill rotWithShape="1">
          <a:blip r:embed="rId2"/>
          <a:srcRect b="88889"/>
          <a:stretch/>
        </p:blipFill>
        <p:spPr>
          <a:xfrm>
            <a:off x="877953" y="986590"/>
            <a:ext cx="9297104" cy="762000"/>
          </a:xfrm>
          <a:prstGeom prst="rect">
            <a:avLst/>
          </a:prstGeom>
        </p:spPr>
      </p:pic>
    </p:spTree>
    <p:extLst>
      <p:ext uri="{BB962C8B-B14F-4D97-AF65-F5344CB8AC3E}">
        <p14:creationId xmlns:p14="http://schemas.microsoft.com/office/powerpoint/2010/main" val="2883837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DC2386-500F-B4ED-4E43-F6385FC9C348}"/>
              </a:ext>
            </a:extLst>
          </p:cNvPr>
          <p:cNvSpPr txBox="1"/>
          <p:nvPr/>
        </p:nvSpPr>
        <p:spPr>
          <a:xfrm>
            <a:off x="930441" y="533107"/>
            <a:ext cx="8109285" cy="3985706"/>
          </a:xfrm>
          <a:prstGeom prst="rect">
            <a:avLst/>
          </a:prstGeom>
          <a:noFill/>
        </p:spPr>
        <p:txBody>
          <a:bodyPr wrap="square">
            <a:spAutoFit/>
          </a:bodyPr>
          <a:lstStyle/>
          <a:p>
            <a:r>
              <a:rPr lang="en-US" sz="3200" dirty="0">
                <a:solidFill>
                  <a:srgbClr val="C00000"/>
                </a:solidFill>
                <a:latin typeface="Berlin Sans FB Demi" panose="020E0802020502020306" pitchFamily="34" charset="0"/>
              </a:rPr>
              <a:t>Overview</a:t>
            </a:r>
          </a:p>
          <a:p>
            <a:endParaRPr lang="en-US" sz="1100" dirty="0">
              <a:latin typeface="Courier New" panose="02070309020205020404" pitchFamily="49" charset="0"/>
            </a:endParaRPr>
          </a:p>
          <a:p>
            <a:pPr marL="800100" lvl="1" indent="-342900">
              <a:spcBef>
                <a:spcPts val="1200"/>
              </a:spcBef>
              <a:buFont typeface="+mj-lt"/>
              <a:buAutoNum type="arabicPeriod"/>
            </a:pPr>
            <a:r>
              <a:rPr lang="en-US" dirty="0">
                <a:solidFill>
                  <a:srgbClr val="002060"/>
                </a:solidFill>
                <a:latin typeface="Berlin Sans FB" panose="020E0602020502020306" pitchFamily="34" charset="0"/>
              </a:rPr>
              <a:t>IT risk management is distinct from IT operations or information security; however, it cannot be fully separated from these disciplines. </a:t>
            </a:r>
          </a:p>
          <a:p>
            <a:pPr marL="800100" lvl="1" indent="-342900">
              <a:spcBef>
                <a:spcPts val="1200"/>
              </a:spcBef>
              <a:buFont typeface="+mj-lt"/>
              <a:buAutoNum type="arabicPeriod"/>
            </a:pPr>
            <a:r>
              <a:rPr lang="en-US" dirty="0">
                <a:solidFill>
                  <a:srgbClr val="0070C0"/>
                </a:solidFill>
                <a:latin typeface="Berlin Sans FB" panose="020E0602020502020306" pitchFamily="34" charset="0"/>
              </a:rPr>
              <a:t>To be effective in the management of IT risk, the risk practitioner must have a working understanding of key principles and concepts of information technology and security.</a:t>
            </a:r>
          </a:p>
          <a:p>
            <a:pPr marL="800100" lvl="1" indent="-342900">
              <a:spcBef>
                <a:spcPts val="1200"/>
              </a:spcBef>
              <a:buFont typeface="+mj-lt"/>
              <a:buAutoNum type="arabicPeriod"/>
            </a:pPr>
            <a:r>
              <a:rPr lang="en-US" dirty="0">
                <a:solidFill>
                  <a:srgbClr val="7030A0"/>
                </a:solidFill>
                <a:latin typeface="Berlin Sans FB" panose="020E0602020502020306" pitchFamily="34" charset="0"/>
              </a:rPr>
              <a:t>This chapter aims to provide that foundational knowledge, including familiarity with computer hardware, software and networking concepts; enterprise resiliency; secure system development; the importance of training and awareness in the modern workforce; and familiarity with data privacy.</a:t>
            </a:r>
          </a:p>
          <a:p>
            <a:pPr marL="800100" lvl="1" indent="-342900">
              <a:buFont typeface="+mj-lt"/>
              <a:buAutoNum type="arabicPeriod"/>
            </a:pPr>
            <a:endParaRPr lang="en-US" dirty="0">
              <a:solidFill>
                <a:srgbClr val="002060"/>
              </a:solidFill>
              <a:latin typeface="Berlin Sans FB" panose="020E0602020502020306" pitchFamily="34" charset="0"/>
            </a:endParaRPr>
          </a:p>
        </p:txBody>
      </p:sp>
      <p:sp>
        <p:nvSpPr>
          <p:cNvPr id="5" name="TextBox 4">
            <a:extLst>
              <a:ext uri="{FF2B5EF4-FFF2-40B4-BE49-F238E27FC236}">
                <a16:creationId xmlns:a16="http://schemas.microsoft.com/office/drawing/2014/main" id="{C768056B-005F-0F03-A200-EF0E7CB692C8}"/>
              </a:ext>
            </a:extLst>
          </p:cNvPr>
          <p:cNvSpPr txBox="1"/>
          <p:nvPr/>
        </p:nvSpPr>
        <p:spPr>
          <a:xfrm>
            <a:off x="449178" y="4633755"/>
            <a:ext cx="9280359" cy="461665"/>
          </a:xfrm>
          <a:prstGeom prst="rect">
            <a:avLst/>
          </a:prstGeom>
          <a:noFill/>
        </p:spPr>
        <p:txBody>
          <a:bodyPr wrap="square">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This chapter represents 22 percent (33 questions) on the CRISC exam.</a:t>
            </a:r>
          </a:p>
        </p:txBody>
      </p:sp>
    </p:spTree>
    <p:extLst>
      <p:ext uri="{BB962C8B-B14F-4D97-AF65-F5344CB8AC3E}">
        <p14:creationId xmlns:p14="http://schemas.microsoft.com/office/powerpoint/2010/main" val="31538810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395E7F-191C-EA07-C189-168C91687F38}"/>
              </a:ext>
            </a:extLst>
          </p:cNvPr>
          <p:cNvSpPr txBox="1"/>
          <p:nvPr/>
        </p:nvSpPr>
        <p:spPr>
          <a:xfrm>
            <a:off x="1243264" y="169908"/>
            <a:ext cx="9392652" cy="6047809"/>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Part A: Information Technology Principles</a:t>
            </a:r>
          </a:p>
          <a:p>
            <a:r>
              <a:rPr lang="en-US" sz="2400" dirty="0">
                <a:solidFill>
                  <a:srgbClr val="C00000"/>
                </a:solidFill>
                <a:latin typeface="Berlin Sans FB Demi" panose="020E0802020502020306" pitchFamily="34" charset="0"/>
              </a:rPr>
              <a:t>4.1 Enterprise Architecture</a:t>
            </a:r>
          </a:p>
          <a:p>
            <a:pPr marL="800100" lvl="1" indent="-342900">
              <a:buFont typeface="+mj-lt"/>
              <a:buAutoNum type="arabicPeriod"/>
            </a:pPr>
            <a:r>
              <a:rPr lang="en-US" sz="1600" dirty="0">
                <a:solidFill>
                  <a:srgbClr val="002060"/>
                </a:solidFill>
                <a:latin typeface="Berlin Sans FB" panose="020E0602020502020306" pitchFamily="34" charset="0"/>
              </a:rPr>
              <a:t>enterprise architecture is an essential aspect of business strategy that integrates all aspects of the organization's structure, </a:t>
            </a:r>
            <a:r>
              <a:rPr lang="en-US" sz="1600" dirty="0">
                <a:solidFill>
                  <a:srgbClr val="0070C0"/>
                </a:solidFill>
                <a:latin typeface="Berlin Sans FB" panose="020E0602020502020306" pitchFamily="34" charset="0"/>
              </a:rPr>
              <a:t>including its people, processes, and technology</a:t>
            </a:r>
            <a:r>
              <a:rPr lang="en-US" sz="1600" dirty="0">
                <a:solidFill>
                  <a:srgbClr val="002060"/>
                </a:solidFill>
                <a:latin typeface="Berlin Sans FB" panose="020E0602020502020306" pitchFamily="34" charset="0"/>
              </a:rPr>
              <a:t>. </a:t>
            </a:r>
          </a:p>
          <a:p>
            <a:pPr marL="800100" lvl="1" indent="-342900">
              <a:buFont typeface="+mj-lt"/>
              <a:buAutoNum type="arabicPeriod"/>
            </a:pPr>
            <a:r>
              <a:rPr lang="en-US" sz="1600" dirty="0">
                <a:solidFill>
                  <a:srgbClr val="0070C0"/>
                </a:solidFill>
                <a:latin typeface="Berlin Sans FB" panose="020E0602020502020306" pitchFamily="34" charset="0"/>
              </a:rPr>
              <a:t>By providing a holistic view of the organization</a:t>
            </a:r>
            <a:r>
              <a:rPr lang="en-US" sz="1600" dirty="0">
                <a:solidFill>
                  <a:srgbClr val="002060"/>
                </a:solidFill>
                <a:latin typeface="Berlin Sans FB" panose="020E0602020502020306" pitchFamily="34" charset="0"/>
              </a:rPr>
              <a:t>, enterprise architecture enables businesses to make informed decisions and optimize their technology investments.</a:t>
            </a:r>
          </a:p>
          <a:p>
            <a:pPr marL="800100" lvl="1" indent="-342900">
              <a:buFont typeface="+mj-lt"/>
              <a:buAutoNum type="arabicPeriod"/>
            </a:pPr>
            <a:endParaRPr lang="en-US" sz="1600" dirty="0">
              <a:solidFill>
                <a:srgbClr val="0070C0"/>
              </a:solidFill>
              <a:latin typeface="Berlin Sans FB" panose="020E0602020502020306" pitchFamily="34" charset="0"/>
            </a:endParaRPr>
          </a:p>
          <a:p>
            <a:pPr marL="800100" lvl="1" indent="-342900">
              <a:buFont typeface="+mj-lt"/>
              <a:buAutoNum type="arabicPeriod"/>
            </a:pPr>
            <a:r>
              <a:rPr lang="en-US" sz="1600" dirty="0">
                <a:solidFill>
                  <a:srgbClr val="0070C0"/>
                </a:solidFill>
                <a:latin typeface="Berlin Sans FB" panose="020E0602020502020306" pitchFamily="34" charset="0"/>
              </a:rPr>
              <a:t>Enterprise architecture (EA) delivers a view of the current state of IT, establishes a vision for a future state and generates a strategy to move from current to future conditions that minimizes business disruption.</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 The enterprise view of IT demonstrates links between IT and organizational objectives and produces a view of current risk and controls to answer or enable answering four basic questions:</a:t>
            </a:r>
          </a:p>
          <a:p>
            <a:pPr marL="1714500" lvl="3" indent="-342900">
              <a:buFont typeface="Wingdings" panose="05000000000000000000" pitchFamily="2" charset="2"/>
              <a:buChar char="§"/>
            </a:pPr>
            <a:r>
              <a:rPr lang="en-US" sz="1600" dirty="0">
                <a:solidFill>
                  <a:srgbClr val="002060"/>
                </a:solidFill>
                <a:latin typeface="Berlin Sans FB" panose="020E0602020502020306" pitchFamily="34" charset="0"/>
              </a:rPr>
              <a:t>Are we doing the right things?</a:t>
            </a:r>
          </a:p>
          <a:p>
            <a:pPr marL="1714500" lvl="3" indent="-342900">
              <a:buFont typeface="Wingdings" panose="05000000000000000000" pitchFamily="2" charset="2"/>
              <a:buChar char="§"/>
            </a:pPr>
            <a:r>
              <a:rPr lang="en-US" sz="1600" dirty="0">
                <a:solidFill>
                  <a:srgbClr val="002060"/>
                </a:solidFill>
                <a:latin typeface="Berlin Sans FB" panose="020E0602020502020306" pitchFamily="34" charset="0"/>
              </a:rPr>
              <a:t>Are we doing them the right way?</a:t>
            </a:r>
          </a:p>
          <a:p>
            <a:pPr marL="1714500" lvl="3" indent="-342900">
              <a:buFont typeface="Wingdings" panose="05000000000000000000" pitchFamily="2" charset="2"/>
              <a:buChar char="§"/>
            </a:pPr>
            <a:r>
              <a:rPr lang="en-US" sz="1600" dirty="0">
                <a:solidFill>
                  <a:srgbClr val="002060"/>
                </a:solidFill>
                <a:latin typeface="Berlin Sans FB" panose="020E0602020502020306" pitchFamily="34" charset="0"/>
              </a:rPr>
              <a:t>Are we getting them done well?</a:t>
            </a:r>
          </a:p>
          <a:p>
            <a:pPr marL="1714500" lvl="3" indent="-342900">
              <a:buFont typeface="Wingdings" panose="05000000000000000000" pitchFamily="2" charset="2"/>
              <a:buChar char="§"/>
            </a:pPr>
            <a:r>
              <a:rPr lang="en-US" sz="1600" dirty="0">
                <a:solidFill>
                  <a:srgbClr val="002060"/>
                </a:solidFill>
                <a:latin typeface="Berlin Sans FB" panose="020E0602020502020306" pitchFamily="34" charset="0"/>
              </a:rPr>
              <a:t>Are we seeing expected benefits?</a:t>
            </a:r>
          </a:p>
          <a:p>
            <a:pPr marL="800100" lvl="1" indent="-342900">
              <a:buFont typeface="+mj-lt"/>
              <a:buAutoNum type="arabicPeriod"/>
            </a:pPr>
            <a:endParaRPr lang="en-US" sz="1600" dirty="0">
              <a:solidFill>
                <a:srgbClr val="002060"/>
              </a:solidFill>
              <a:latin typeface="Berlin Sans FB" panose="020E0602020502020306" pitchFamily="34" charset="0"/>
            </a:endParaRP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These "Four AREs," shown in Figure 4.1, comprise a cycle of examination, evaluation and adjustment. </a:t>
            </a:r>
          </a:p>
          <a:p>
            <a:pPr marL="800100" lvl="1" indent="-342900">
              <a:spcAft>
                <a:spcPts val="600"/>
              </a:spcAft>
              <a:buFont typeface="+mj-lt"/>
              <a:buAutoNum type="arabicPeriod"/>
            </a:pPr>
            <a:r>
              <a:rPr lang="en-US" sz="1600" dirty="0">
                <a:solidFill>
                  <a:srgbClr val="7030A0"/>
                </a:solidFill>
                <a:latin typeface="Berlin Sans FB" panose="020E0602020502020306" pitchFamily="34" charset="0"/>
              </a:rPr>
              <a:t>The questions and their answers serve as important continuous feedback to implementation of </a:t>
            </a:r>
            <a:r>
              <a:rPr lang="en-US" sz="1600" dirty="0">
                <a:solidFill>
                  <a:srgbClr val="C00000"/>
                </a:solidFill>
                <a:latin typeface="Berlin Sans FB" panose="020E0602020502020306" pitchFamily="34" charset="0"/>
              </a:rPr>
              <a:t>enterprise IT strategy </a:t>
            </a:r>
            <a:r>
              <a:rPr lang="en-US" sz="1600" dirty="0">
                <a:solidFill>
                  <a:srgbClr val="7030A0"/>
                </a:solidFill>
                <a:latin typeface="Berlin Sans FB" panose="020E0602020502020306" pitchFamily="34" charset="0"/>
              </a:rPr>
              <a:t>under an approved architecture and ensure that </a:t>
            </a:r>
            <a:r>
              <a:rPr lang="en-US" sz="1600" dirty="0">
                <a:solidFill>
                  <a:srgbClr val="C00000"/>
                </a:solidFill>
                <a:latin typeface="Berlin Sans FB" panose="020E0602020502020306" pitchFamily="34" charset="0"/>
              </a:rPr>
              <a:t>IT projects deliver their intended value.</a:t>
            </a:r>
          </a:p>
          <a:p>
            <a:pPr lvl="1">
              <a:spcAft>
                <a:spcPts val="600"/>
              </a:spcAft>
            </a:pPr>
            <a:endParaRPr lang="en-US" sz="1600" dirty="0">
              <a:solidFill>
                <a:srgbClr val="7030A0"/>
              </a:solidFill>
              <a:effectLst>
                <a:outerShdw blurRad="38100" dist="38100" dir="2700000" algn="tl">
                  <a:srgbClr val="000000">
                    <a:alpha val="43137"/>
                  </a:srgbClr>
                </a:outerShdw>
              </a:effectLst>
              <a:latin typeface="Berlin Sans FB" panose="020E0602020502020306" pitchFamily="34" charset="0"/>
            </a:endParaRPr>
          </a:p>
        </p:txBody>
      </p:sp>
    </p:spTree>
    <p:extLst>
      <p:ext uri="{BB962C8B-B14F-4D97-AF65-F5344CB8AC3E}">
        <p14:creationId xmlns:p14="http://schemas.microsoft.com/office/powerpoint/2010/main" val="1321960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4F5C0-DCDB-E472-4695-B4B64F9CF36B}"/>
              </a:ext>
            </a:extLst>
          </p:cNvPr>
          <p:cNvPicPr>
            <a:picLocks noChangeAspect="1"/>
          </p:cNvPicPr>
          <p:nvPr/>
        </p:nvPicPr>
        <p:blipFill>
          <a:blip r:embed="rId2"/>
          <a:stretch>
            <a:fillRect/>
          </a:stretch>
        </p:blipFill>
        <p:spPr>
          <a:xfrm>
            <a:off x="344152" y="161423"/>
            <a:ext cx="11134725" cy="5829300"/>
          </a:xfrm>
          <a:prstGeom prst="rect">
            <a:avLst/>
          </a:prstGeom>
        </p:spPr>
      </p:pic>
    </p:spTree>
    <p:extLst>
      <p:ext uri="{BB962C8B-B14F-4D97-AF65-F5344CB8AC3E}">
        <p14:creationId xmlns:p14="http://schemas.microsoft.com/office/powerpoint/2010/main" val="328663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78469D4-168F-434C-B44E-AEE3C20876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427" y="1055077"/>
            <a:ext cx="9869595" cy="4992854"/>
          </a:xfrm>
          <a:prstGeom prst="rect">
            <a:avLst/>
          </a:prstGeom>
        </p:spPr>
      </p:pic>
      <p:sp>
        <p:nvSpPr>
          <p:cNvPr id="5" name="TextBox 4">
            <a:extLst>
              <a:ext uri="{FF2B5EF4-FFF2-40B4-BE49-F238E27FC236}">
                <a16:creationId xmlns:a16="http://schemas.microsoft.com/office/drawing/2014/main" id="{C0C278BB-42B6-4403-8C23-02CC57925D2A}"/>
              </a:ext>
            </a:extLst>
          </p:cNvPr>
          <p:cNvSpPr txBox="1"/>
          <p:nvPr/>
        </p:nvSpPr>
        <p:spPr>
          <a:xfrm>
            <a:off x="734646" y="461280"/>
            <a:ext cx="60960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2060"/>
                </a:solidFill>
                <a:effectLst/>
                <a:uLnTx/>
                <a:uFillTx/>
                <a:latin typeface="Bell MT" panose="02020503060305020303" pitchFamily="18" charset="0"/>
                <a:ea typeface="+mn-ea"/>
                <a:cs typeface="+mn-cs"/>
              </a:rPr>
              <a:t>2.5 ENTERPRISE ARCHITECTURE</a:t>
            </a:r>
          </a:p>
        </p:txBody>
      </p:sp>
    </p:spTree>
    <p:extLst>
      <p:ext uri="{BB962C8B-B14F-4D97-AF65-F5344CB8AC3E}">
        <p14:creationId xmlns:p14="http://schemas.microsoft.com/office/powerpoint/2010/main" val="2933399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B2E7AD-D760-461E-B7C9-FE563DB535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5323" y="229680"/>
            <a:ext cx="9355015" cy="4802143"/>
          </a:xfrm>
          <a:prstGeom prst="rect">
            <a:avLst/>
          </a:prstGeom>
        </p:spPr>
      </p:pic>
      <p:sp>
        <p:nvSpPr>
          <p:cNvPr id="4" name="TextBox 3">
            <a:extLst>
              <a:ext uri="{FF2B5EF4-FFF2-40B4-BE49-F238E27FC236}">
                <a16:creationId xmlns:a16="http://schemas.microsoft.com/office/drawing/2014/main" id="{FA7F0F75-04B1-4609-922F-5FE0E3D7B3CF}"/>
              </a:ext>
            </a:extLst>
          </p:cNvPr>
          <p:cNvSpPr txBox="1"/>
          <p:nvPr/>
        </p:nvSpPr>
        <p:spPr>
          <a:xfrm>
            <a:off x="1039446" y="5031823"/>
            <a:ext cx="8784492" cy="132343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rPr>
              <a:t>enterprise architecture (EA) is a well-defined practice for conducting enterprise analysis, design, planning, and implementation for the successful development and execution of strategy.</a:t>
            </a:r>
          </a:p>
          <a:p>
            <a:pPr marL="285750" marR="0" lvl="0"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600" b="0" i="0" u="none" strike="noStrike" kern="1200" cap="none" spc="0" normalizeH="0" baseline="0" noProof="0" dirty="0">
                <a:ln>
                  <a:noFill/>
                </a:ln>
                <a:solidFill>
                  <a:srgbClr val="002060"/>
                </a:solidFill>
                <a:effectLst/>
                <a:uLnTx/>
                <a:uFillTx/>
                <a:latin typeface="Bell MT" panose="02020503060305020303" pitchFamily="18" charset="0"/>
                <a:ea typeface="+mn-ea"/>
                <a:cs typeface="+mn-cs"/>
              </a:rPr>
              <a:t> Enterprise Architecture reduces redundancy, complexity and information silos and business risks associated with IT investments. </a:t>
            </a:r>
          </a:p>
        </p:txBody>
      </p:sp>
    </p:spTree>
    <p:extLst>
      <p:ext uri="{BB962C8B-B14F-4D97-AF65-F5344CB8AC3E}">
        <p14:creationId xmlns:p14="http://schemas.microsoft.com/office/powerpoint/2010/main" val="480190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363F13-7291-7484-12D0-E4D06B6BD790}"/>
              </a:ext>
            </a:extLst>
          </p:cNvPr>
          <p:cNvSpPr txBox="1"/>
          <p:nvPr/>
        </p:nvSpPr>
        <p:spPr>
          <a:xfrm>
            <a:off x="508000" y="168427"/>
            <a:ext cx="7643446" cy="3046988"/>
          </a:xfrm>
          <a:prstGeom prst="rect">
            <a:avLst/>
          </a:prstGeom>
          <a:noFill/>
        </p:spPr>
        <p:txBody>
          <a:bodyPr wrap="square">
            <a:spAutoFit/>
          </a:bodyPr>
          <a:lstStyle/>
          <a:p>
            <a:r>
              <a:rPr lang="en-US" sz="2400" b="1" dirty="0">
                <a:solidFill>
                  <a:srgbClr val="C00000"/>
                </a:solidFill>
                <a:latin typeface="Berlin Sans FB Demi" panose="020E0802020502020306" pitchFamily="34" charset="0"/>
              </a:rPr>
              <a:t>Key Components of Enterprise Architecture </a:t>
            </a:r>
          </a:p>
          <a:p>
            <a:pPr marL="342900" indent="-342900">
              <a:spcAft>
                <a:spcPts val="600"/>
              </a:spcAft>
              <a:buFont typeface="Wingdings" panose="05000000000000000000" pitchFamily="2" charset="2"/>
              <a:buChar char="q"/>
            </a:pPr>
            <a:r>
              <a:rPr lang="en-US" sz="1400" dirty="0">
                <a:solidFill>
                  <a:srgbClr val="002060"/>
                </a:solidFill>
                <a:latin typeface="Berlin Sans FB" panose="020E0602020502020306" pitchFamily="34" charset="0"/>
              </a:rPr>
              <a:t>EA provides methods to describe an entire organization's vision to analyze and design it, then plan and implement its evolution. 4 primary architecture layers ensure this completeness: </a:t>
            </a:r>
          </a:p>
          <a:p>
            <a:pPr lvl="1">
              <a:spcAft>
                <a:spcPts val="600"/>
              </a:spcAft>
              <a:buFont typeface="Arial" panose="020B0604020202020204" pitchFamily="34" charset="0"/>
              <a:buChar char="•"/>
            </a:pPr>
            <a:r>
              <a:rPr lang="en-US" sz="1600" dirty="0">
                <a:solidFill>
                  <a:srgbClr val="C00000"/>
                </a:solidFill>
                <a:latin typeface="Berlin Sans FB" panose="020E0602020502020306" pitchFamily="34" charset="0"/>
              </a:rPr>
              <a:t>Business architecture: </a:t>
            </a:r>
            <a:r>
              <a:rPr lang="en-US" sz="1400" dirty="0">
                <a:solidFill>
                  <a:srgbClr val="002060"/>
                </a:solidFill>
                <a:latin typeface="Berlin Sans FB" panose="020E0602020502020306" pitchFamily="34" charset="0"/>
              </a:rPr>
              <a:t>This layer describes the company's strategy, the services offered, the organization, and the business capabilities required to deliver the services. </a:t>
            </a:r>
          </a:p>
          <a:p>
            <a:pPr lvl="1">
              <a:spcAft>
                <a:spcPts val="600"/>
              </a:spcAft>
              <a:buFont typeface="Arial" panose="020B0604020202020204" pitchFamily="34" charset="0"/>
              <a:buChar char="•"/>
            </a:pPr>
            <a:r>
              <a:rPr lang="en-US" sz="1600" dirty="0">
                <a:solidFill>
                  <a:srgbClr val="C00000"/>
                </a:solidFill>
                <a:latin typeface="Berlin Sans FB" panose="020E0602020502020306" pitchFamily="34" charset="0"/>
              </a:rPr>
              <a:t>Application architecture: </a:t>
            </a:r>
            <a:r>
              <a:rPr lang="en-US" sz="1400" dirty="0">
                <a:solidFill>
                  <a:srgbClr val="002060"/>
                </a:solidFill>
                <a:latin typeface="Berlin Sans FB" panose="020E0602020502020306" pitchFamily="34" charset="0"/>
              </a:rPr>
              <a:t>This layer defines the enterprise's application portfolio, integration, and how these IT assets support the processes and services delivered. </a:t>
            </a:r>
          </a:p>
          <a:p>
            <a:pPr lvl="1">
              <a:spcAft>
                <a:spcPts val="600"/>
              </a:spcAft>
              <a:buFont typeface="Arial" panose="020B0604020202020204" pitchFamily="34" charset="0"/>
              <a:buChar char="•"/>
            </a:pPr>
            <a:r>
              <a:rPr lang="en-US" sz="1600" dirty="0">
                <a:solidFill>
                  <a:srgbClr val="C00000"/>
                </a:solidFill>
                <a:latin typeface="Berlin Sans FB" panose="020E0602020502020306" pitchFamily="34" charset="0"/>
              </a:rPr>
              <a:t>Information Architecture: This </a:t>
            </a:r>
            <a:r>
              <a:rPr lang="en-US" sz="1400" dirty="0">
                <a:solidFill>
                  <a:srgbClr val="002060"/>
                </a:solidFill>
                <a:latin typeface="Berlin Sans FB" panose="020E0602020502020306" pitchFamily="34" charset="0"/>
              </a:rPr>
              <a:t>layer defines the enterprise's information requirements and data model and helps ensure data is managed to support business needs. </a:t>
            </a:r>
          </a:p>
          <a:p>
            <a:pPr lvl="1">
              <a:spcAft>
                <a:spcPts val="600"/>
              </a:spcAft>
              <a:buFont typeface="Arial" panose="020B0604020202020204" pitchFamily="34" charset="0"/>
              <a:buChar char="•"/>
            </a:pPr>
            <a:r>
              <a:rPr lang="en-US" sz="1600" dirty="0">
                <a:solidFill>
                  <a:srgbClr val="C00000"/>
                </a:solidFill>
                <a:latin typeface="Berlin Sans FB" panose="020E0602020502020306" pitchFamily="34" charset="0"/>
              </a:rPr>
              <a:t>Technology architecture: </a:t>
            </a:r>
            <a:r>
              <a:rPr lang="en-US" sz="1400" dirty="0">
                <a:solidFill>
                  <a:srgbClr val="002060"/>
                </a:solidFill>
                <a:latin typeface="Berlin Sans FB" panose="020E0602020502020306" pitchFamily="34" charset="0"/>
              </a:rPr>
              <a:t>This layer identifies the technologies (software and hardware) that support the applications and data and understand how they are deployed. </a:t>
            </a:r>
          </a:p>
        </p:txBody>
      </p:sp>
      <p:pic>
        <p:nvPicPr>
          <p:cNvPr id="4" name="Picture 3">
            <a:extLst>
              <a:ext uri="{FF2B5EF4-FFF2-40B4-BE49-F238E27FC236}">
                <a16:creationId xmlns:a16="http://schemas.microsoft.com/office/drawing/2014/main" id="{15BDC219-FB67-D8F3-3DAB-4C5022BD632D}"/>
              </a:ext>
            </a:extLst>
          </p:cNvPr>
          <p:cNvPicPr>
            <a:picLocks noChangeAspect="1"/>
          </p:cNvPicPr>
          <p:nvPr/>
        </p:nvPicPr>
        <p:blipFill>
          <a:blip r:embed="rId2"/>
          <a:stretch>
            <a:fillRect/>
          </a:stretch>
        </p:blipFill>
        <p:spPr>
          <a:xfrm>
            <a:off x="2329218" y="3215415"/>
            <a:ext cx="7533563" cy="2941148"/>
          </a:xfrm>
          <a:prstGeom prst="rect">
            <a:avLst/>
          </a:prstGeom>
        </p:spPr>
      </p:pic>
      <p:pic>
        <p:nvPicPr>
          <p:cNvPr id="5" name="Picture 4">
            <a:extLst>
              <a:ext uri="{FF2B5EF4-FFF2-40B4-BE49-F238E27FC236}">
                <a16:creationId xmlns:a16="http://schemas.microsoft.com/office/drawing/2014/main" id="{26F32C4C-52D8-DE52-F4C4-EE38335F4215}"/>
              </a:ext>
            </a:extLst>
          </p:cNvPr>
          <p:cNvPicPr>
            <a:picLocks noChangeAspect="1"/>
          </p:cNvPicPr>
          <p:nvPr/>
        </p:nvPicPr>
        <p:blipFill>
          <a:blip r:embed="rId3"/>
          <a:stretch>
            <a:fillRect/>
          </a:stretch>
        </p:blipFill>
        <p:spPr>
          <a:xfrm>
            <a:off x="8800930" y="469566"/>
            <a:ext cx="3259453" cy="2656587"/>
          </a:xfrm>
          <a:prstGeom prst="rect">
            <a:avLst/>
          </a:prstGeom>
        </p:spPr>
      </p:pic>
    </p:spTree>
    <p:extLst>
      <p:ext uri="{BB962C8B-B14F-4D97-AF65-F5344CB8AC3E}">
        <p14:creationId xmlns:p14="http://schemas.microsoft.com/office/powerpoint/2010/main" val="4155948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7C7EBA-DF67-65FA-65A6-DC2B7A274265}"/>
              </a:ext>
            </a:extLst>
          </p:cNvPr>
          <p:cNvPicPr>
            <a:picLocks noChangeAspect="1"/>
          </p:cNvPicPr>
          <p:nvPr/>
        </p:nvPicPr>
        <p:blipFill rotWithShape="1">
          <a:blip r:embed="rId2">
            <a:extLst>
              <a:ext uri="{28A0092B-C50C-407E-A947-70E740481C1C}">
                <a14:useLocalDpi xmlns:a14="http://schemas.microsoft.com/office/drawing/2010/main" val="0"/>
              </a:ext>
            </a:extLst>
          </a:blip>
          <a:srcRect l="6090" t="2790" r="7628"/>
          <a:stretch/>
        </p:blipFill>
        <p:spPr>
          <a:xfrm>
            <a:off x="2959987" y="1985108"/>
            <a:ext cx="8981919" cy="4253744"/>
          </a:xfrm>
          <a:prstGeom prst="rect">
            <a:avLst/>
          </a:prstGeom>
        </p:spPr>
      </p:pic>
      <p:sp>
        <p:nvSpPr>
          <p:cNvPr id="7" name="TextBox 6">
            <a:extLst>
              <a:ext uri="{FF2B5EF4-FFF2-40B4-BE49-F238E27FC236}">
                <a16:creationId xmlns:a16="http://schemas.microsoft.com/office/drawing/2014/main" id="{7D4BA59C-045F-9018-5D84-D5974572FD7D}"/>
              </a:ext>
            </a:extLst>
          </p:cNvPr>
          <p:cNvSpPr txBox="1"/>
          <p:nvPr/>
        </p:nvSpPr>
        <p:spPr>
          <a:xfrm>
            <a:off x="218832" y="278404"/>
            <a:ext cx="8419212" cy="2123658"/>
          </a:xfrm>
          <a:prstGeom prst="rect">
            <a:avLst/>
          </a:prstGeom>
          <a:noFill/>
        </p:spPr>
        <p:txBody>
          <a:bodyPr wrap="square">
            <a:spAutoFit/>
          </a:bodyPr>
          <a:lstStyle/>
          <a:p>
            <a:r>
              <a:rPr lang="en-US" sz="2400" b="1" dirty="0">
                <a:solidFill>
                  <a:srgbClr val="C00000"/>
                </a:solidFill>
                <a:latin typeface="Berlin Sans FB Demi" panose="020E0802020502020306" pitchFamily="34" charset="0"/>
              </a:rPr>
              <a:t>Enterprise architecture benefits</a:t>
            </a:r>
          </a:p>
          <a:p>
            <a:pPr marL="742950" lvl="1" indent="-285750">
              <a:buFont typeface="Wingdings" panose="05000000000000000000" pitchFamily="2" charset="2"/>
              <a:buChar char="§"/>
            </a:pPr>
            <a:r>
              <a:rPr lang="en-US" sz="1200" dirty="0">
                <a:solidFill>
                  <a:srgbClr val="002060"/>
                </a:solidFill>
                <a:latin typeface="Berlin Sans FB" panose="020E0602020502020306" pitchFamily="34" charset="0"/>
              </a:rPr>
              <a:t>Provide a shared vision of the organization. </a:t>
            </a:r>
          </a:p>
          <a:p>
            <a:pPr marL="742950" lvl="1" indent="-285750">
              <a:buFont typeface="Wingdings" panose="05000000000000000000" pitchFamily="2" charset="2"/>
              <a:buChar char="§"/>
            </a:pPr>
            <a:r>
              <a:rPr lang="en-US" sz="1200" dirty="0">
                <a:solidFill>
                  <a:srgbClr val="002060"/>
                </a:solidFill>
                <a:latin typeface="Berlin Sans FB" panose="020E0602020502020306" pitchFamily="34" charset="0"/>
              </a:rPr>
              <a:t>Reduce IT complexity and facilitate the evolution of Information Systems. </a:t>
            </a:r>
          </a:p>
          <a:p>
            <a:pPr marL="742950" lvl="1" indent="-285750">
              <a:buFont typeface="Wingdings" panose="05000000000000000000" pitchFamily="2" charset="2"/>
              <a:buChar char="§"/>
            </a:pPr>
            <a:r>
              <a:rPr lang="en-US" sz="1200" dirty="0">
                <a:solidFill>
                  <a:srgbClr val="002060"/>
                </a:solidFill>
                <a:latin typeface="Berlin Sans FB" panose="020E0602020502020306" pitchFamily="34" charset="0"/>
              </a:rPr>
              <a:t>Reduce IT costs by removing redundancies and breaking organizational silos.</a:t>
            </a:r>
          </a:p>
          <a:p>
            <a:pPr marL="742950" lvl="1" indent="-285750">
              <a:buFont typeface="Wingdings" panose="05000000000000000000" pitchFamily="2" charset="2"/>
              <a:buChar char="§"/>
            </a:pPr>
            <a:r>
              <a:rPr lang="en-US" sz="1200" dirty="0">
                <a:solidFill>
                  <a:srgbClr val="002060"/>
                </a:solidFill>
                <a:latin typeface="Berlin Sans FB" panose="020E0602020502020306" pitchFamily="34" charset="0"/>
              </a:rPr>
              <a:t>Improve collaboration between business and IT teams. </a:t>
            </a:r>
          </a:p>
          <a:p>
            <a:pPr marL="742950" lvl="1" indent="-285750">
              <a:buFont typeface="Wingdings" panose="05000000000000000000" pitchFamily="2" charset="2"/>
              <a:buChar char="§"/>
            </a:pPr>
            <a:r>
              <a:rPr lang="en-US" sz="1200" dirty="0">
                <a:solidFill>
                  <a:srgbClr val="002060"/>
                </a:solidFill>
                <a:latin typeface="Berlin Sans FB" panose="020E0602020502020306" pitchFamily="34" charset="0"/>
              </a:rPr>
              <a:t>Align IT investments, business resources, and organization to the company's strategy. </a:t>
            </a:r>
          </a:p>
          <a:p>
            <a:pPr marL="742950" lvl="1" indent="-285750">
              <a:buFont typeface="Wingdings" panose="05000000000000000000" pitchFamily="2" charset="2"/>
              <a:buChar char="§"/>
            </a:pPr>
            <a:r>
              <a:rPr lang="en-US" sz="1200" dirty="0">
                <a:solidFill>
                  <a:srgbClr val="002060"/>
                </a:solidFill>
                <a:latin typeface="Berlin Sans FB" panose="020E0602020502020306" pitchFamily="34" charset="0"/>
              </a:rPr>
              <a:t>Facilitate compliance with regulations. </a:t>
            </a:r>
          </a:p>
          <a:p>
            <a:pPr marL="742950" lvl="1" indent="-285750">
              <a:buFont typeface="Wingdings" panose="05000000000000000000" pitchFamily="2" charset="2"/>
              <a:buChar char="§"/>
            </a:pPr>
            <a:r>
              <a:rPr lang="en-US" sz="1200" dirty="0">
                <a:solidFill>
                  <a:srgbClr val="002060"/>
                </a:solidFill>
                <a:latin typeface="Berlin Sans FB" panose="020E0602020502020306" pitchFamily="34" charset="0"/>
              </a:rPr>
              <a:t>Build organizational resilience. </a:t>
            </a:r>
          </a:p>
          <a:p>
            <a:pPr marL="742950" lvl="1" indent="-285750">
              <a:buFont typeface="Wingdings" panose="05000000000000000000" pitchFamily="2" charset="2"/>
              <a:buChar char="§"/>
            </a:pPr>
            <a:r>
              <a:rPr lang="en-US" sz="1200" dirty="0">
                <a:solidFill>
                  <a:srgbClr val="002060"/>
                </a:solidFill>
                <a:latin typeface="Berlin Sans FB" panose="020E0602020502020306" pitchFamily="34" charset="0"/>
              </a:rPr>
              <a:t>Ensure system interoperability. </a:t>
            </a:r>
          </a:p>
          <a:p>
            <a:pPr marL="742950" lvl="1" indent="-285750">
              <a:buFont typeface="Wingdings" panose="05000000000000000000" pitchFamily="2" charset="2"/>
              <a:buChar char="§"/>
            </a:pPr>
            <a:r>
              <a:rPr lang="en-US" sz="1200" dirty="0">
                <a:solidFill>
                  <a:srgbClr val="002060"/>
                </a:solidFill>
                <a:latin typeface="Berlin Sans FB" panose="020E0602020502020306" pitchFamily="34" charset="0"/>
              </a:rPr>
              <a:t>Standardize practices and processes.</a:t>
            </a:r>
          </a:p>
        </p:txBody>
      </p:sp>
    </p:spTree>
    <p:extLst>
      <p:ext uri="{BB962C8B-B14F-4D97-AF65-F5344CB8AC3E}">
        <p14:creationId xmlns:p14="http://schemas.microsoft.com/office/powerpoint/2010/main" val="526247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04A519-742E-4088-B3F1-B7CA7FC72B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64" y="429628"/>
            <a:ext cx="10957472" cy="5586162"/>
          </a:xfrm>
          <a:prstGeom prst="rect">
            <a:avLst/>
          </a:prstGeom>
        </p:spPr>
      </p:pic>
    </p:spTree>
    <p:extLst>
      <p:ext uri="{BB962C8B-B14F-4D97-AF65-F5344CB8AC3E}">
        <p14:creationId xmlns:p14="http://schemas.microsoft.com/office/powerpoint/2010/main" val="732451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2A9990-C607-4878-8015-D92BC4C6DD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2259" y="696202"/>
            <a:ext cx="10647482" cy="5465596"/>
          </a:xfrm>
          <a:prstGeom prst="rect">
            <a:avLst/>
          </a:prstGeom>
        </p:spPr>
      </p:pic>
    </p:spTree>
    <p:extLst>
      <p:ext uri="{BB962C8B-B14F-4D97-AF65-F5344CB8AC3E}">
        <p14:creationId xmlns:p14="http://schemas.microsoft.com/office/powerpoint/2010/main" val="1245058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32C72B7-FD42-4D30-A071-E69D6E2C3204}"/>
              </a:ext>
            </a:extLst>
          </p:cNvPr>
          <p:cNvPicPr>
            <a:picLocks noChangeAspect="1"/>
          </p:cNvPicPr>
          <p:nvPr/>
        </p:nvPicPr>
        <p:blipFill>
          <a:blip r:embed="rId2"/>
          <a:stretch>
            <a:fillRect/>
          </a:stretch>
        </p:blipFill>
        <p:spPr>
          <a:xfrm>
            <a:off x="367323" y="0"/>
            <a:ext cx="11244885" cy="6200078"/>
          </a:xfrm>
          <a:prstGeom prst="rect">
            <a:avLst/>
          </a:prstGeom>
        </p:spPr>
      </p:pic>
    </p:spTree>
    <p:extLst>
      <p:ext uri="{BB962C8B-B14F-4D97-AF65-F5344CB8AC3E}">
        <p14:creationId xmlns:p14="http://schemas.microsoft.com/office/powerpoint/2010/main" val="29784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FF979D-C08F-FC5E-4C12-5E1DD542AAB8}"/>
              </a:ext>
            </a:extLst>
          </p:cNvPr>
          <p:cNvSpPr txBox="1"/>
          <p:nvPr/>
        </p:nvSpPr>
        <p:spPr>
          <a:xfrm>
            <a:off x="1652337" y="676323"/>
            <a:ext cx="7676147" cy="4124206"/>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4.2 IT Operations Management</a:t>
            </a:r>
          </a:p>
          <a:p>
            <a:endParaRPr lang="en-US" sz="1100" dirty="0">
              <a:latin typeface="Courier New" panose="02070309020205020404" pitchFamily="49" charset="0"/>
            </a:endParaRPr>
          </a:p>
          <a:p>
            <a:endParaRPr lang="en-US" sz="1100" dirty="0">
              <a:latin typeface="Courier New" panose="02070309020205020404" pitchFamily="49" charset="0"/>
            </a:endParaRPr>
          </a:p>
          <a:p>
            <a:pPr marL="171450" indent="-171450">
              <a:spcAft>
                <a:spcPts val="1200"/>
              </a:spcAft>
              <a:buFont typeface="Wingdings" panose="05000000000000000000" pitchFamily="2" charset="2"/>
              <a:buChar char="q"/>
            </a:pPr>
            <a:r>
              <a:rPr lang="en-US" sz="1600" dirty="0">
                <a:solidFill>
                  <a:srgbClr val="0070C0"/>
                </a:solidFill>
                <a:latin typeface="Berlin Sans FB" panose="020E0602020502020306" pitchFamily="34" charset="0"/>
              </a:rPr>
              <a:t>The risk practitioner is not expected or required to be a technical expert in the design, implementation or support of individual IT systems or applications. </a:t>
            </a:r>
            <a:r>
              <a:rPr lang="en-US" sz="1600" dirty="0">
                <a:solidFill>
                  <a:srgbClr val="002060"/>
                </a:solidFill>
                <a:latin typeface="Berlin Sans FB" panose="020E0602020502020306" pitchFamily="34" charset="0"/>
              </a:rPr>
              <a:t>However, strong knowledge of general IT concepts is invaluable for anyone whose roles and responsibilities require close and ongoing interaction with IT staff. </a:t>
            </a:r>
          </a:p>
          <a:p>
            <a:pPr marL="171450" indent="-171450">
              <a:spcAft>
                <a:spcPts val="1200"/>
              </a:spcAft>
              <a:buFont typeface="Wingdings" panose="05000000000000000000" pitchFamily="2" charset="2"/>
              <a:buChar char="q"/>
            </a:pPr>
            <a:r>
              <a:rPr lang="en-US" sz="1600" dirty="0">
                <a:solidFill>
                  <a:srgbClr val="0070C0"/>
                </a:solidFill>
                <a:latin typeface="Berlin Sans FB" panose="020E0602020502020306" pitchFamily="34" charset="0"/>
              </a:rPr>
              <a:t>The identification, assessment and monitoring of IT risk, along with recommendation of appropriate responses to the risk that is identified, require that type of close and ongoing interaction.</a:t>
            </a:r>
          </a:p>
          <a:p>
            <a:pPr marL="171450" indent="-171450">
              <a:spcAft>
                <a:spcPts val="1200"/>
              </a:spcAft>
              <a:buFont typeface="Wingdings" panose="05000000000000000000" pitchFamily="2" charset="2"/>
              <a:buChar char="q"/>
            </a:pPr>
            <a:r>
              <a:rPr lang="en-US" sz="1600" dirty="0">
                <a:solidFill>
                  <a:srgbClr val="002060"/>
                </a:solidFill>
                <a:latin typeface="Berlin Sans FB" panose="020E0602020502020306" pitchFamily="34" charset="0"/>
              </a:rPr>
              <a:t> Accordingly, the risk practitioner should have a working knowledge of networking, applications and other aspects of IT that appear within the organizational IT infrastructure.</a:t>
            </a:r>
          </a:p>
          <a:p>
            <a:endParaRPr lang="en-US" sz="1100" dirty="0">
              <a:latin typeface="Courier New" panose="02070309020205020404" pitchFamily="49" charset="0"/>
            </a:endParaRPr>
          </a:p>
          <a:p>
            <a:endParaRPr lang="en-US" sz="1100" dirty="0">
              <a:latin typeface="Courier New" panose="02070309020205020404" pitchFamily="49" charset="0"/>
            </a:endParaRPr>
          </a:p>
        </p:txBody>
      </p:sp>
    </p:spTree>
    <p:extLst>
      <p:ext uri="{BB962C8B-B14F-4D97-AF65-F5344CB8AC3E}">
        <p14:creationId xmlns:p14="http://schemas.microsoft.com/office/powerpoint/2010/main" val="3593594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301EF1-B0DF-270D-5A5B-FB3D2C4ED398}"/>
              </a:ext>
            </a:extLst>
          </p:cNvPr>
          <p:cNvSpPr txBox="1"/>
          <p:nvPr/>
        </p:nvSpPr>
        <p:spPr>
          <a:xfrm>
            <a:off x="1155032" y="1359203"/>
            <a:ext cx="8734926" cy="364715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4.2.1 Hardware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IT systems and business processes rely on hardware the equipment and devices that process, store and transmit data.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Hardware includes many devices, such as:</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Desktop, laptop, or mobile computers, which include:</a:t>
            </a:r>
          </a:p>
          <a:p>
            <a:pPr marL="1143000" marR="0" lvl="2" indent="-2286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Central processing units (CPUs)</a:t>
            </a:r>
          </a:p>
          <a:p>
            <a:pPr marL="1143000" marR="0" lvl="2" indent="-2286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Motherboards</a:t>
            </a:r>
          </a:p>
          <a:p>
            <a:pPr marL="1143000" marR="0" lvl="2" indent="-2286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Random access memory (RAM)</a:t>
            </a:r>
          </a:p>
          <a:p>
            <a:pPr marL="1143000" marR="0" lvl="2" indent="-2286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Read-only memory (ROM)</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Networking components (switches, routers, etc.)</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Security components (firewalls, intrusion detection systems, etc.)</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Peripherals (keyboards, monitors, etc.)</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Industrial equipment enabled for networking (smart appliances/Internet of Things devices)</a:t>
            </a:r>
          </a:p>
        </p:txBody>
      </p:sp>
    </p:spTree>
    <p:extLst>
      <p:ext uri="{BB962C8B-B14F-4D97-AF65-F5344CB8AC3E}">
        <p14:creationId xmlns:p14="http://schemas.microsoft.com/office/powerpoint/2010/main" val="3571714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E0613F-6707-89D6-F2ED-862A0352511A}"/>
              </a:ext>
            </a:extLst>
          </p:cNvPr>
          <p:cNvSpPr txBox="1"/>
          <p:nvPr/>
        </p:nvSpPr>
        <p:spPr>
          <a:xfrm>
            <a:off x="1796716" y="1166771"/>
            <a:ext cx="7130715" cy="3908762"/>
          </a:xfrm>
          <a:prstGeom prst="rect">
            <a:avLst/>
          </a:prstGeom>
          <a:noFill/>
        </p:spPr>
        <p:txBody>
          <a:bodyPr wrap="square">
            <a:spAutoFit/>
          </a:bodyPr>
          <a:lstStyle/>
          <a:p>
            <a:pPr marL="285750" indent="-285750">
              <a:buFont typeface="Wingdings" panose="05000000000000000000" pitchFamily="2" charset="2"/>
              <a:buChar char="q"/>
            </a:pPr>
            <a:r>
              <a:rPr lang="en-US" dirty="0">
                <a:solidFill>
                  <a:srgbClr val="7030A0"/>
                </a:solidFill>
                <a:effectLst>
                  <a:outerShdw blurRad="38100" dist="38100" dir="2700000" algn="tl">
                    <a:srgbClr val="000000">
                      <a:alpha val="43137"/>
                    </a:srgbClr>
                  </a:outerShdw>
                </a:effectLst>
                <a:latin typeface="Berlin Sans FB" panose="020E0602020502020306" pitchFamily="34" charset="0"/>
              </a:rPr>
              <a:t>Areas of concern associated with hardware include:</a:t>
            </a:r>
          </a:p>
          <a:p>
            <a:endParaRPr lang="en-US" sz="1100" dirty="0">
              <a:latin typeface="Courier New" panose="02070309020205020404" pitchFamily="49" charset="0"/>
            </a:endParaRPr>
          </a:p>
          <a:p>
            <a:pPr marL="742950" lvl="1" indent="-285750">
              <a:buFont typeface="Wingdings" panose="05000000000000000000" pitchFamily="2" charset="2"/>
              <a:buChar char="§"/>
            </a:pPr>
            <a:r>
              <a:rPr lang="en-US" sz="1600" dirty="0">
                <a:solidFill>
                  <a:srgbClr val="002060"/>
                </a:solidFill>
                <a:latin typeface="Berlin Sans FB" panose="020E0602020502020306" pitchFamily="34" charset="0"/>
              </a:rPr>
              <a:t>Poor maintenance</a:t>
            </a:r>
          </a:p>
          <a:p>
            <a:pPr marL="742950" lvl="1" indent="-285750">
              <a:buFont typeface="Wingdings" panose="05000000000000000000" pitchFamily="2" charset="2"/>
              <a:buChar char="§"/>
            </a:pPr>
            <a:r>
              <a:rPr lang="en-US" sz="1600" dirty="0">
                <a:solidFill>
                  <a:srgbClr val="002060"/>
                </a:solidFill>
                <a:latin typeface="Berlin Sans FB" panose="020E0602020502020306" pitchFamily="34" charset="0"/>
              </a:rPr>
              <a:t>Misconfiguration</a:t>
            </a:r>
          </a:p>
          <a:p>
            <a:pPr marL="742950" lvl="1" indent="-285750">
              <a:buFont typeface="Wingdings" panose="05000000000000000000" pitchFamily="2" charset="2"/>
              <a:buChar char="§"/>
            </a:pPr>
            <a:r>
              <a:rPr lang="en-US" sz="1600" dirty="0">
                <a:solidFill>
                  <a:srgbClr val="002060"/>
                </a:solidFill>
                <a:latin typeface="Berlin Sans FB" panose="020E0602020502020306" pitchFamily="34" charset="0"/>
              </a:rPr>
              <a:t>Use of default credentials</a:t>
            </a:r>
          </a:p>
          <a:p>
            <a:pPr marL="742950" lvl="1" indent="-285750">
              <a:buFont typeface="Wingdings" panose="05000000000000000000" pitchFamily="2" charset="2"/>
              <a:buChar char="§"/>
            </a:pPr>
            <a:r>
              <a:rPr lang="en-US" sz="1600" dirty="0">
                <a:solidFill>
                  <a:srgbClr val="002060"/>
                </a:solidFill>
                <a:latin typeface="Berlin Sans FB" panose="020E0602020502020306" pitchFamily="34" charset="0"/>
              </a:rPr>
              <a:t>Lack of secure configurations</a:t>
            </a:r>
          </a:p>
          <a:p>
            <a:pPr marL="742950" lvl="1" indent="-285750">
              <a:buFont typeface="Wingdings" panose="05000000000000000000" pitchFamily="2" charset="2"/>
              <a:buChar char="§"/>
            </a:pPr>
            <a:r>
              <a:rPr lang="en-US" sz="1600" dirty="0">
                <a:solidFill>
                  <a:srgbClr val="002060"/>
                </a:solidFill>
                <a:latin typeface="Berlin Sans FB" panose="020E0602020502020306" pitchFamily="34" charset="0"/>
              </a:rPr>
              <a:t>Unnecessary services, ports and protocols running on the system</a:t>
            </a:r>
          </a:p>
          <a:p>
            <a:pPr marL="742950" lvl="1" indent="-285750">
              <a:buFont typeface="Wingdings" panose="05000000000000000000" pitchFamily="2" charset="2"/>
              <a:buChar char="§"/>
            </a:pPr>
            <a:r>
              <a:rPr lang="en-US" sz="1600" dirty="0">
                <a:solidFill>
                  <a:srgbClr val="002060"/>
                </a:solidFill>
                <a:latin typeface="Berlin Sans FB" panose="020E0602020502020306" pitchFamily="34" charset="0"/>
              </a:rPr>
              <a:t>Missing or inaccurate documentation</a:t>
            </a:r>
          </a:p>
          <a:p>
            <a:pPr marL="742950" lvl="1" indent="-285750">
              <a:buFont typeface="Wingdings" panose="05000000000000000000" pitchFamily="2" charset="2"/>
              <a:buChar char="§"/>
            </a:pPr>
            <a:r>
              <a:rPr lang="en-US" sz="1600" dirty="0">
                <a:solidFill>
                  <a:srgbClr val="002060"/>
                </a:solidFill>
                <a:latin typeface="Berlin Sans FB" panose="020E0602020502020306" pitchFamily="34" charset="0"/>
              </a:rPr>
              <a:t> Missing or inaccurate documentation</a:t>
            </a:r>
          </a:p>
          <a:p>
            <a:pPr marL="742950" lvl="1" indent="-285750">
              <a:buFont typeface="Wingdings" panose="05000000000000000000" pitchFamily="2" charset="2"/>
              <a:buChar char="§"/>
            </a:pPr>
            <a:r>
              <a:rPr lang="en-US" sz="1600" dirty="0">
                <a:solidFill>
                  <a:srgbClr val="002060"/>
                </a:solidFill>
                <a:latin typeface="Berlin Sans FB" panose="020E0602020502020306" pitchFamily="34" charset="0"/>
              </a:rPr>
              <a:t>Physical loss or theft</a:t>
            </a:r>
          </a:p>
          <a:p>
            <a:pPr marL="742950" lvl="1" indent="-285750">
              <a:buFont typeface="Wingdings" panose="05000000000000000000" pitchFamily="2" charset="2"/>
              <a:buChar char="§"/>
            </a:pPr>
            <a:r>
              <a:rPr lang="en-US" sz="1600" dirty="0">
                <a:solidFill>
                  <a:srgbClr val="002060"/>
                </a:solidFill>
                <a:latin typeface="Berlin Sans FB" panose="020E0602020502020306" pitchFamily="34" charset="0"/>
              </a:rPr>
              <a:t>Data loss due to insecure disposal</a:t>
            </a:r>
          </a:p>
          <a:p>
            <a:pPr marL="742950" lvl="1" indent="-285750">
              <a:buFont typeface="Wingdings" panose="05000000000000000000" pitchFamily="2" charset="2"/>
              <a:buChar char="§"/>
            </a:pPr>
            <a:r>
              <a:rPr lang="en-US" sz="1600" dirty="0">
                <a:solidFill>
                  <a:srgbClr val="002060"/>
                </a:solidFill>
                <a:latin typeface="Berlin Sans FB" panose="020E0602020502020306" pitchFamily="34" charset="0"/>
              </a:rPr>
              <a:t>Unauthorized capture of traffic (sniffing)Physical access</a:t>
            </a:r>
          </a:p>
          <a:p>
            <a:pPr marL="742950" lvl="1" indent="-285750">
              <a:buFont typeface="Wingdings" panose="05000000000000000000" pitchFamily="2" charset="2"/>
              <a:buChar char="§"/>
            </a:pPr>
            <a:r>
              <a:rPr lang="en-US" sz="1600" dirty="0">
                <a:solidFill>
                  <a:srgbClr val="002060"/>
                </a:solidFill>
                <a:latin typeface="Berlin Sans FB" panose="020E0602020502020306" pitchFamily="34" charset="0"/>
              </a:rPr>
              <a:t>Component or system failure</a:t>
            </a:r>
          </a:p>
          <a:p>
            <a:pPr marL="742950" lvl="1" indent="-285750">
              <a:buFont typeface="Wingdings" panose="05000000000000000000" pitchFamily="2" charset="2"/>
              <a:buChar char="§"/>
            </a:pPr>
            <a:r>
              <a:rPr lang="en-US" sz="1600" dirty="0">
                <a:solidFill>
                  <a:srgbClr val="002060"/>
                </a:solidFill>
                <a:latin typeface="Berlin Sans FB" panose="020E0602020502020306" pitchFamily="34" charset="0"/>
              </a:rPr>
              <a:t>Use without authorization</a:t>
            </a:r>
          </a:p>
          <a:p>
            <a:pPr marL="742950" lvl="1" indent="-285750">
              <a:buFont typeface="Wingdings" panose="05000000000000000000" pitchFamily="2" charset="2"/>
              <a:buChar char="§"/>
            </a:pPr>
            <a:r>
              <a:rPr lang="en-US" sz="1600" dirty="0">
                <a:solidFill>
                  <a:srgbClr val="002060"/>
                </a:solidFill>
                <a:latin typeface="Berlin Sans FB" panose="020E0602020502020306" pitchFamily="34" charset="0"/>
              </a:rPr>
              <a:t>Inaccurate asset inventory</a:t>
            </a:r>
          </a:p>
          <a:p>
            <a:endParaRPr lang="en-US" sz="1100" dirty="0">
              <a:latin typeface="Courier New" panose="02070309020205020404" pitchFamily="49" charset="0"/>
            </a:endParaRPr>
          </a:p>
        </p:txBody>
      </p:sp>
    </p:spTree>
    <p:extLst>
      <p:ext uri="{BB962C8B-B14F-4D97-AF65-F5344CB8AC3E}">
        <p14:creationId xmlns:p14="http://schemas.microsoft.com/office/powerpoint/2010/main" val="3512691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7FF771-8BD3-779A-EDEC-50CB1CE2C682}"/>
              </a:ext>
            </a:extLst>
          </p:cNvPr>
          <p:cNvSpPr txBox="1"/>
          <p:nvPr/>
        </p:nvSpPr>
        <p:spPr>
          <a:xfrm>
            <a:off x="1187115" y="852280"/>
            <a:ext cx="7692189" cy="3508653"/>
          </a:xfrm>
          <a:prstGeom prst="rect">
            <a:avLst/>
          </a:prstGeom>
          <a:noFill/>
        </p:spPr>
        <p:txBody>
          <a:bodyPr wrap="square">
            <a:spAutoFit/>
          </a:bodyPr>
          <a:lstStyle/>
          <a:p>
            <a:pPr marL="800100" lvl="1" indent="-342900">
              <a:spcAft>
                <a:spcPts val="1200"/>
              </a:spcAft>
              <a:buFont typeface="+mj-lt"/>
              <a:buAutoNum type="arabicPeriod"/>
            </a:pPr>
            <a:r>
              <a:rPr lang="en-US" sz="1600" dirty="0">
                <a:solidFill>
                  <a:srgbClr val="0070C0"/>
                </a:solidFill>
                <a:latin typeface="Berlin Sans FB" panose="020E0602020502020306" pitchFamily="34" charset="0"/>
              </a:rPr>
              <a:t>Risk practitioners should keep in mind that mobile computers refers not only to tablets but also smartphones, which have evolved to the point of being full-featured systems for information gathering, storage, processing and transmission. In environments where</a:t>
            </a:r>
          </a:p>
          <a:p>
            <a:pPr marL="800100" lvl="1" indent="-342900">
              <a:spcAft>
                <a:spcPts val="1200"/>
              </a:spcAft>
              <a:buFont typeface="+mj-lt"/>
              <a:buAutoNum type="arabicPeriod"/>
            </a:pPr>
            <a:r>
              <a:rPr lang="en-US" sz="1600" dirty="0">
                <a:solidFill>
                  <a:srgbClr val="002060"/>
                </a:solidFill>
                <a:latin typeface="Berlin Sans FB" panose="020E0602020502020306" pitchFamily="34" charset="0"/>
              </a:rPr>
              <a:t>users are permitted to have their personal mobile phones with them for use throughout the day, these devices may serve as unsuspecting channels by which data can be exfiltrated if they are compromised.</a:t>
            </a:r>
          </a:p>
          <a:p>
            <a:pPr marL="800100" lvl="1" indent="-342900">
              <a:spcAft>
                <a:spcPts val="1200"/>
              </a:spcAft>
              <a:buFont typeface="+mj-lt"/>
              <a:buAutoNum type="arabicPeriod"/>
            </a:pPr>
            <a:r>
              <a:rPr lang="en-US" sz="1600" dirty="0">
                <a:solidFill>
                  <a:srgbClr val="0070C0"/>
                </a:solidFill>
                <a:latin typeface="Berlin Sans FB" panose="020E0602020502020306" pitchFamily="34" charset="0"/>
              </a:rPr>
              <a:t>mobile phones are among the most easily damaged, stolen and lost items in individual possession. </a:t>
            </a:r>
          </a:p>
          <a:p>
            <a:pPr marL="800100" lvl="1" indent="-342900">
              <a:spcAft>
                <a:spcPts val="1200"/>
              </a:spcAft>
              <a:buFont typeface="+mj-lt"/>
              <a:buAutoNum type="arabicPeriod"/>
            </a:pPr>
            <a:r>
              <a:rPr lang="en-US" sz="1600" dirty="0">
                <a:solidFill>
                  <a:srgbClr val="002060"/>
                </a:solidFill>
                <a:latin typeface="Berlin Sans FB" panose="020E0602020502020306" pitchFamily="34" charset="0"/>
              </a:rPr>
              <a:t>Business processes that expect or require staff to use their personal mobile phones for communication may be affected by impacts to these devices, even though they are outside the scope of organizational ownership.</a:t>
            </a:r>
          </a:p>
        </p:txBody>
      </p:sp>
    </p:spTree>
    <p:extLst>
      <p:ext uri="{BB962C8B-B14F-4D97-AF65-F5344CB8AC3E}">
        <p14:creationId xmlns:p14="http://schemas.microsoft.com/office/powerpoint/2010/main" val="1380539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357F04-D50D-D729-6333-C33FEF8191CF}"/>
              </a:ext>
            </a:extLst>
          </p:cNvPr>
          <p:cNvSpPr txBox="1"/>
          <p:nvPr/>
        </p:nvSpPr>
        <p:spPr>
          <a:xfrm>
            <a:off x="1419725" y="447053"/>
            <a:ext cx="7243011" cy="4939814"/>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4.2.2 Software</a:t>
            </a:r>
          </a:p>
          <a:p>
            <a:endParaRPr lang="en-US" sz="1100" dirty="0">
              <a:latin typeface="Courier New" panose="02070309020205020404" pitchFamily="49" charset="0"/>
            </a:endParaRPr>
          </a:p>
          <a:p>
            <a:pPr marL="285750" indent="-285750">
              <a:buFont typeface="Wingdings" panose="05000000000000000000" pitchFamily="2" charset="2"/>
              <a:buChar char="q"/>
            </a:pPr>
            <a:r>
              <a:rPr lang="en-US" sz="1600" dirty="0">
                <a:solidFill>
                  <a:srgbClr val="002060"/>
                </a:solidFill>
                <a:latin typeface="Berlin Sans FB" panose="020E0602020502020306" pitchFamily="34" charset="0"/>
              </a:rPr>
              <a:t>The general concept of software is very broad and includes operating systems (OSs), utilities, drivers, firmware, middleware, application program interfaces (APIs), applications, database management systems (DBMS) and networking tools that manage data, interface between systems, provide user interfaces to hardware and process transactions on behalf of the user.</a:t>
            </a:r>
          </a:p>
          <a:p>
            <a:endParaRPr lang="en-US" sz="1600" dirty="0">
              <a:solidFill>
                <a:srgbClr val="002060"/>
              </a:solidFill>
              <a:latin typeface="Berlin Sans FB" panose="020E0602020502020306" pitchFamily="34" charset="0"/>
            </a:endParaRPr>
          </a:p>
          <a:p>
            <a:r>
              <a:rPr lang="en-US" sz="2000" dirty="0">
                <a:solidFill>
                  <a:srgbClr val="7030A0"/>
                </a:solidFill>
                <a:effectLst>
                  <a:outerShdw blurRad="38100" dist="38100" dir="2700000" algn="tl">
                    <a:srgbClr val="000000">
                      <a:alpha val="43137"/>
                    </a:srgbClr>
                  </a:outerShdw>
                </a:effectLst>
                <a:latin typeface="Berlin Sans FB" panose="020E0602020502020306" pitchFamily="34" charset="0"/>
              </a:rPr>
              <a:t>Areas of concern associated with software include:</a:t>
            </a:r>
            <a:endParaRPr lang="en-US" sz="1600" dirty="0">
              <a:solidFill>
                <a:srgbClr val="002060"/>
              </a:solidFill>
              <a:latin typeface="Berlin Sans FB" panose="020E0602020502020306" pitchFamily="34" charset="0"/>
            </a:endParaRPr>
          </a:p>
          <a:p>
            <a:pPr marL="800100" lvl="1" indent="-342900">
              <a:buFont typeface="+mj-lt"/>
              <a:buAutoNum type="arabicPeriod"/>
            </a:pPr>
            <a:r>
              <a:rPr lang="en-US" sz="1600" dirty="0">
                <a:solidFill>
                  <a:srgbClr val="002060"/>
                </a:solidFill>
                <a:latin typeface="Berlin Sans FB" panose="020E0602020502020306" pitchFamily="34" charset="0"/>
              </a:rPr>
              <a:t>Lack of patching</a:t>
            </a:r>
          </a:p>
          <a:p>
            <a:pPr marL="800100" lvl="1" indent="-342900">
              <a:buFont typeface="+mj-lt"/>
              <a:buAutoNum type="arabicPeriod"/>
            </a:pPr>
            <a:r>
              <a:rPr lang="en-US" sz="1600" dirty="0">
                <a:solidFill>
                  <a:srgbClr val="002060"/>
                </a:solidFill>
                <a:latin typeface="Berlin Sans FB" panose="020E0602020502020306" pitchFamily="34" charset="0"/>
              </a:rPr>
              <a:t>Inadequate or ungoverned access control</a:t>
            </a:r>
          </a:p>
          <a:p>
            <a:pPr marL="800100" lvl="1" indent="-342900">
              <a:buFont typeface="+mj-lt"/>
              <a:buAutoNum type="arabicPeriod"/>
            </a:pPr>
            <a:r>
              <a:rPr lang="en-US" sz="1600" dirty="0">
                <a:solidFill>
                  <a:srgbClr val="002060"/>
                </a:solidFill>
                <a:latin typeface="Berlin Sans FB" panose="020E0602020502020306" pitchFamily="34" charset="0"/>
              </a:rPr>
              <a:t>Disclosure of sensitive information</a:t>
            </a:r>
          </a:p>
          <a:p>
            <a:pPr marL="800100" lvl="1" indent="-342900">
              <a:buFont typeface="+mj-lt"/>
              <a:buAutoNum type="arabicPeriod"/>
            </a:pPr>
            <a:r>
              <a:rPr lang="en-US" sz="1600" dirty="0">
                <a:solidFill>
                  <a:srgbClr val="002060"/>
                </a:solidFill>
                <a:latin typeface="Berlin Sans FB" panose="020E0602020502020306" pitchFamily="34" charset="0"/>
              </a:rPr>
              <a:t>Improper modification of information</a:t>
            </a:r>
          </a:p>
          <a:p>
            <a:pPr marL="800100" lvl="1" indent="-342900">
              <a:buFont typeface="+mj-lt"/>
              <a:buAutoNum type="arabicPeriod"/>
            </a:pPr>
            <a:r>
              <a:rPr lang="en-US" sz="1600" dirty="0">
                <a:solidFill>
                  <a:srgbClr val="002060"/>
                </a:solidFill>
                <a:latin typeface="Berlin Sans FB" panose="020E0602020502020306" pitchFamily="34" charset="0"/>
              </a:rPr>
              <a:t>Loss of source code</a:t>
            </a:r>
          </a:p>
          <a:p>
            <a:pPr marL="800100" lvl="1" indent="-342900">
              <a:buFont typeface="+mj-lt"/>
              <a:buAutoNum type="arabicPeriod"/>
            </a:pPr>
            <a:r>
              <a:rPr lang="en-US" sz="1600" dirty="0">
                <a:solidFill>
                  <a:srgbClr val="002060"/>
                </a:solidFill>
                <a:latin typeface="Berlin Sans FB" panose="020E0602020502020306" pitchFamily="34" charset="0"/>
              </a:rPr>
              <a:t>Lack of version control</a:t>
            </a:r>
          </a:p>
          <a:p>
            <a:pPr marL="800100" lvl="1" indent="-342900">
              <a:buFont typeface="+mj-lt"/>
              <a:buAutoNum type="arabicPeriod"/>
            </a:pPr>
            <a:r>
              <a:rPr lang="en-US" sz="1600" dirty="0">
                <a:solidFill>
                  <a:srgbClr val="002060"/>
                </a:solidFill>
                <a:latin typeface="Berlin Sans FB" panose="020E0602020502020306" pitchFamily="34" charset="0"/>
              </a:rPr>
              <a:t>Processing of input and output without validation</a:t>
            </a:r>
          </a:p>
          <a:p>
            <a:pPr marL="800100" lvl="1" indent="-342900">
              <a:buFont typeface="+mj-lt"/>
              <a:buAutoNum type="arabicPeriod"/>
            </a:pPr>
            <a:r>
              <a:rPr lang="en-US" sz="1600" dirty="0">
                <a:solidFill>
                  <a:srgbClr val="002060"/>
                </a:solidFill>
                <a:latin typeface="Berlin Sans FB" panose="020E0602020502020306" pitchFamily="34" charset="0"/>
              </a:rPr>
              <a:t>Unnecessary services and protocols running on the system</a:t>
            </a:r>
          </a:p>
          <a:p>
            <a:pPr marL="800100" lvl="1" indent="-342900">
              <a:buFont typeface="+mj-lt"/>
              <a:buAutoNum type="arabicPeriod"/>
            </a:pPr>
            <a:r>
              <a:rPr lang="en-US" sz="1600" dirty="0">
                <a:solidFill>
                  <a:srgbClr val="002060"/>
                </a:solidFill>
                <a:latin typeface="Berlin Sans FB" panose="020E0602020502020306" pitchFamily="34" charset="0"/>
              </a:rPr>
              <a:t>Unnecessary ports open on the system</a:t>
            </a:r>
          </a:p>
          <a:p>
            <a:pPr marL="800100" lvl="1" indent="-342900">
              <a:buFont typeface="+mj-lt"/>
              <a:buAutoNum type="arabicPeriod"/>
            </a:pPr>
            <a:r>
              <a:rPr lang="en-US" sz="1600" dirty="0">
                <a:solidFill>
                  <a:srgbClr val="002060"/>
                </a:solidFill>
                <a:latin typeface="Berlin Sans FB" panose="020E0602020502020306" pitchFamily="34" charset="0"/>
              </a:rPr>
              <a:t>Lack of a security software development life cycle</a:t>
            </a:r>
          </a:p>
        </p:txBody>
      </p:sp>
    </p:spTree>
    <p:extLst>
      <p:ext uri="{BB962C8B-B14F-4D97-AF65-F5344CB8AC3E}">
        <p14:creationId xmlns:p14="http://schemas.microsoft.com/office/powerpoint/2010/main" val="4006873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9E7750-93FE-3148-964B-11A680D5AB1C}"/>
              </a:ext>
            </a:extLst>
          </p:cNvPr>
          <p:cNvSpPr txBox="1"/>
          <p:nvPr/>
        </p:nvSpPr>
        <p:spPr>
          <a:xfrm>
            <a:off x="962938" y="457407"/>
            <a:ext cx="7186863" cy="5463034"/>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Operating Systems</a:t>
            </a:r>
          </a:p>
          <a:p>
            <a:endParaRPr lang="en-US" sz="1100" dirty="0">
              <a:latin typeface="Courier New" panose="02070309020205020404" pitchFamily="49" charset="0"/>
            </a:endParaRPr>
          </a:p>
          <a:p>
            <a:pPr marL="742950" lvl="1" indent="-285750">
              <a:spcAft>
                <a:spcPts val="1200"/>
              </a:spcAft>
              <a:buFont typeface="Wingdings" panose="05000000000000000000" pitchFamily="2" charset="2"/>
              <a:buChar char="q"/>
            </a:pPr>
            <a:r>
              <a:rPr lang="en-US" sz="1600" dirty="0">
                <a:solidFill>
                  <a:srgbClr val="002060"/>
                </a:solidFill>
                <a:latin typeface="Berlin Sans FB" panose="020E0602020502020306" pitchFamily="34" charset="0"/>
              </a:rPr>
              <a:t>The OS is the core software that allows the user to interface with hardware and manages all system operations. </a:t>
            </a:r>
          </a:p>
          <a:p>
            <a:pPr marL="742950" lvl="1" indent="-285750">
              <a:spcAft>
                <a:spcPts val="1200"/>
              </a:spcAft>
              <a:buFont typeface="Wingdings" panose="05000000000000000000" pitchFamily="2" charset="2"/>
              <a:buChar char="q"/>
            </a:pPr>
            <a:r>
              <a:rPr lang="en-US" sz="1600" dirty="0">
                <a:solidFill>
                  <a:srgbClr val="002060"/>
                </a:solidFill>
                <a:latin typeface="Berlin Sans FB" panose="020E0602020502020306" pitchFamily="34" charset="0"/>
              </a:rPr>
              <a:t>The OS manages access to system resources and controls the behavior of system components.</a:t>
            </a:r>
          </a:p>
          <a:p>
            <a:pPr lvl="1"/>
            <a:endParaRPr lang="en-US" sz="1600" dirty="0">
              <a:solidFill>
                <a:srgbClr val="002060"/>
              </a:solidFill>
              <a:latin typeface="Berlin Sans FB" panose="020E0602020502020306" pitchFamily="34" charset="0"/>
            </a:endParaRPr>
          </a:p>
          <a:p>
            <a:pPr marL="742950" lvl="1" indent="-285750">
              <a:buFont typeface="Wingdings" panose="05000000000000000000" pitchFamily="2" charset="2"/>
              <a:buChar char="q"/>
            </a:pPr>
            <a:r>
              <a:rPr lang="en-US" dirty="0">
                <a:solidFill>
                  <a:srgbClr val="7030A0"/>
                </a:solidFill>
                <a:effectLst>
                  <a:outerShdw blurRad="38100" dist="38100" dir="2700000" algn="tl">
                    <a:srgbClr val="000000">
                      <a:alpha val="43137"/>
                    </a:srgbClr>
                  </a:outerShdw>
                </a:effectLst>
                <a:latin typeface="Berlin Sans FB" panose="020E0602020502020306" pitchFamily="34" charset="0"/>
              </a:rPr>
              <a:t>Areas of concern associated with the OS include:</a:t>
            </a:r>
            <a:endParaRPr lang="en-US" sz="1600" dirty="0">
              <a:solidFill>
                <a:srgbClr val="002060"/>
              </a:solidFill>
              <a:latin typeface="Berlin Sans FB" panose="020E0602020502020306" pitchFamily="34" charset="0"/>
            </a:endParaRPr>
          </a:p>
          <a:p>
            <a:pPr marL="1200150" lvl="2" indent="-285750">
              <a:buFont typeface="Wingdings" panose="05000000000000000000" pitchFamily="2" charset="2"/>
              <a:buChar char="§"/>
            </a:pPr>
            <a:r>
              <a:rPr lang="en-US" sz="1600" dirty="0">
                <a:solidFill>
                  <a:srgbClr val="002060"/>
                </a:solidFill>
                <a:latin typeface="Berlin Sans FB" panose="020E0602020502020306" pitchFamily="34" charset="0"/>
              </a:rPr>
              <a:t>Unpatched vulnerabilities</a:t>
            </a:r>
          </a:p>
          <a:p>
            <a:pPr marL="1200150" lvl="2" indent="-285750">
              <a:buFont typeface="Wingdings" panose="05000000000000000000" pitchFamily="2" charset="2"/>
              <a:buChar char="§"/>
            </a:pPr>
            <a:r>
              <a:rPr lang="en-US" sz="1600" dirty="0">
                <a:solidFill>
                  <a:srgbClr val="002060"/>
                </a:solidFill>
                <a:latin typeface="Berlin Sans FB" panose="020E0602020502020306" pitchFamily="34" charset="0"/>
              </a:rPr>
              <a:t>Poorly written code (buffer overflows, etc.)</a:t>
            </a:r>
          </a:p>
          <a:p>
            <a:pPr marL="1200150" lvl="2" indent="-285750">
              <a:buFont typeface="Wingdings" panose="05000000000000000000" pitchFamily="2" charset="2"/>
              <a:buChar char="§"/>
            </a:pPr>
            <a:r>
              <a:rPr lang="en-US" sz="1600" dirty="0">
                <a:solidFill>
                  <a:srgbClr val="002060"/>
                </a:solidFill>
                <a:latin typeface="Berlin Sans FB" panose="020E0602020502020306" pitchFamily="34" charset="0"/>
              </a:rPr>
              <a:t>Complexity</a:t>
            </a:r>
          </a:p>
          <a:p>
            <a:pPr marL="1200150" lvl="2" indent="-285750">
              <a:buFont typeface="Wingdings" panose="05000000000000000000" pitchFamily="2" charset="2"/>
              <a:buChar char="§"/>
            </a:pPr>
            <a:r>
              <a:rPr lang="en-US" sz="1600" dirty="0">
                <a:solidFill>
                  <a:srgbClr val="002060"/>
                </a:solidFill>
                <a:latin typeface="Berlin Sans FB" panose="020E0602020502020306" pitchFamily="34" charset="0"/>
              </a:rPr>
              <a:t>Misconfiguration</a:t>
            </a:r>
          </a:p>
          <a:p>
            <a:pPr marL="1200150" lvl="2" indent="-285750">
              <a:buFont typeface="Wingdings" panose="05000000000000000000" pitchFamily="2" charset="2"/>
              <a:buChar char="§"/>
            </a:pPr>
            <a:r>
              <a:rPr lang="en-US" sz="1600" dirty="0">
                <a:solidFill>
                  <a:srgbClr val="002060"/>
                </a:solidFill>
                <a:latin typeface="Berlin Sans FB" panose="020E0602020502020306" pitchFamily="34" charset="0"/>
              </a:rPr>
              <a:t>Weak access controls</a:t>
            </a:r>
          </a:p>
          <a:p>
            <a:pPr marL="1200150" lvl="2" indent="-285750">
              <a:buFont typeface="Wingdings" panose="05000000000000000000" pitchFamily="2" charset="2"/>
              <a:buChar char="§"/>
            </a:pPr>
            <a:r>
              <a:rPr lang="en-US" sz="1600" dirty="0">
                <a:solidFill>
                  <a:srgbClr val="002060"/>
                </a:solidFill>
                <a:latin typeface="Berlin Sans FB" panose="020E0602020502020306" pitchFamily="34" charset="0"/>
              </a:rPr>
              <a:t>Lack of interoperability</a:t>
            </a:r>
          </a:p>
          <a:p>
            <a:pPr marL="1200150" lvl="2" indent="-285750">
              <a:buFont typeface="Wingdings" panose="05000000000000000000" pitchFamily="2" charset="2"/>
              <a:buChar char="§"/>
            </a:pPr>
            <a:r>
              <a:rPr lang="en-US" sz="1600" dirty="0">
                <a:solidFill>
                  <a:srgbClr val="002060"/>
                </a:solidFill>
                <a:latin typeface="Berlin Sans FB" panose="020E0602020502020306" pitchFamily="34" charset="0"/>
              </a:rPr>
              <a:t>Uncontrolled changes</a:t>
            </a:r>
          </a:p>
          <a:p>
            <a:pPr marL="1200150" lvl="2" indent="-285750">
              <a:buFont typeface="Wingdings" panose="05000000000000000000" pitchFamily="2" charset="2"/>
              <a:buChar char="§"/>
            </a:pPr>
            <a:r>
              <a:rPr lang="en-US" sz="1600" dirty="0">
                <a:solidFill>
                  <a:srgbClr val="002060"/>
                </a:solidFill>
                <a:latin typeface="Berlin Sans FB" panose="020E0602020502020306" pitchFamily="34" charset="0"/>
              </a:rPr>
              <a:t>Unnecessary services and protocols running on the system</a:t>
            </a:r>
          </a:p>
          <a:p>
            <a:pPr marL="1200150" lvl="2" indent="-285750">
              <a:buFont typeface="Wingdings" panose="05000000000000000000" pitchFamily="2" charset="2"/>
              <a:buChar char="§"/>
            </a:pPr>
            <a:r>
              <a:rPr lang="en-US" sz="1600" dirty="0">
                <a:solidFill>
                  <a:srgbClr val="002060"/>
                </a:solidFill>
                <a:latin typeface="Berlin Sans FB" panose="020E0602020502020306" pitchFamily="34" charset="0"/>
              </a:rPr>
              <a:t>Unnecessary ports open on the system</a:t>
            </a:r>
          </a:p>
          <a:p>
            <a:pPr lvl="1"/>
            <a:endParaRPr lang="en-US" sz="1600" dirty="0">
              <a:solidFill>
                <a:srgbClr val="002060"/>
              </a:solidFill>
              <a:latin typeface="Berlin Sans FB" panose="020E0602020502020306" pitchFamily="34" charset="0"/>
            </a:endParaRPr>
          </a:p>
          <a:p>
            <a:pPr lvl="1"/>
            <a:r>
              <a:rPr lang="en-US" sz="1600" dirty="0">
                <a:solidFill>
                  <a:srgbClr val="0070C0"/>
                </a:solidFill>
                <a:latin typeface="Berlin Sans FB" panose="020E0602020502020306" pitchFamily="34" charset="0"/>
              </a:rPr>
              <a:t>Currently, most desktop computers use versions of Windows, Mac OS or Linux, while mobile devices commonly run Apple iOS or Google Android. </a:t>
            </a:r>
          </a:p>
        </p:txBody>
      </p:sp>
    </p:spTree>
    <p:extLst>
      <p:ext uri="{BB962C8B-B14F-4D97-AF65-F5344CB8AC3E}">
        <p14:creationId xmlns:p14="http://schemas.microsoft.com/office/powerpoint/2010/main" val="29038117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5ACF1D-B9EB-CFAA-0479-5F064D1F623A}"/>
              </a:ext>
            </a:extLst>
          </p:cNvPr>
          <p:cNvSpPr txBox="1"/>
          <p:nvPr/>
        </p:nvSpPr>
        <p:spPr>
          <a:xfrm>
            <a:off x="1875279" y="1346282"/>
            <a:ext cx="7362505" cy="3662541"/>
          </a:xfrm>
          <a:prstGeom prst="rect">
            <a:avLst/>
          </a:prstGeom>
          <a:noFill/>
        </p:spPr>
        <p:txBody>
          <a:bodyPr wrap="square">
            <a:spAutoFit/>
          </a:bodyPr>
          <a:lstStyle/>
          <a:p>
            <a:pPr marL="342900" indent="-342900">
              <a:spcAft>
                <a:spcPts val="1200"/>
              </a:spcAft>
              <a:buFont typeface="+mj-lt"/>
              <a:buAutoNum type="arabicPeriod"/>
            </a:pP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The risk practitioner should keep in mind that no commercially available OS is absolutely secure; therefore, regardless of the underlying platform, it is necessary to implement strict controls over changes, patches and configurations. </a:t>
            </a:r>
          </a:p>
          <a:p>
            <a:pPr marL="342900" indent="-342900">
              <a:spcAft>
                <a:spcPts val="1200"/>
              </a:spcAft>
              <a:buFont typeface="+mj-lt"/>
              <a:buAutoNum type="arabicPeriod"/>
            </a:pP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When ever possible , systems should be hardened to disable unnecessary services and default accounts and passwords should always be changed.</a:t>
            </a:r>
          </a:p>
          <a:p>
            <a:pPr marL="342900" indent="-342900">
              <a:spcAft>
                <a:spcPts val="1200"/>
              </a:spcAft>
              <a:buFont typeface="+mj-lt"/>
              <a:buAutoNum type="arabicPeriod"/>
            </a:pPr>
            <a:r>
              <a:rPr lang="en-US" sz="1600" dirty="0">
                <a:solidFill>
                  <a:srgbClr val="002060"/>
                </a:solidFill>
                <a:latin typeface="Berlin Sans FB" panose="020E0602020502020306" pitchFamily="34" charset="0"/>
              </a:rPr>
              <a:t>Deployment of security patches is important and should be subject to a patch management process that identifies, tests and schedules implementation. </a:t>
            </a:r>
          </a:p>
          <a:p>
            <a:pPr marL="342900" indent="-342900">
              <a:spcAft>
                <a:spcPts val="1200"/>
              </a:spcAft>
              <a:buFont typeface="+mj-lt"/>
              <a:buAutoNum type="arabicPeriod"/>
            </a:pPr>
            <a:r>
              <a:rPr lang="en-US" sz="1600" dirty="0">
                <a:solidFill>
                  <a:srgbClr val="0070C0"/>
                </a:solidFill>
                <a:latin typeface="Berlin Sans FB" panose="020E0602020502020306" pitchFamily="34" charset="0"/>
              </a:rPr>
              <a:t>Testing should not be skipped because it is possible for a patch to create negative effects on systems.</a:t>
            </a:r>
          </a:p>
          <a:p>
            <a:pPr marL="342900" indent="-342900">
              <a:spcAft>
                <a:spcPts val="1200"/>
              </a:spcAft>
              <a:buFont typeface="+mj-lt"/>
              <a:buAutoNum type="arabicPeriod"/>
            </a:pPr>
            <a:r>
              <a:rPr lang="en-US" sz="1600" dirty="0">
                <a:solidFill>
                  <a:srgbClr val="002060"/>
                </a:solidFill>
                <a:latin typeface="Berlin Sans FB" panose="020E0602020502020306" pitchFamily="34" charset="0"/>
              </a:rPr>
              <a:t> Even with rigorous testing, after a patch has been implemented, it </a:t>
            </a:r>
            <a:r>
              <a:rPr lang="en-US" sz="1600" dirty="0">
                <a:solidFill>
                  <a:srgbClr val="0070C0"/>
                </a:solidFill>
                <a:latin typeface="Berlin Sans FB" panose="020E0602020502020306" pitchFamily="34" charset="0"/>
              </a:rPr>
              <a:t>should be monitored to ensure that all related systems, utilities and applications are still working correctly. </a:t>
            </a:r>
          </a:p>
        </p:txBody>
      </p:sp>
    </p:spTree>
    <p:extLst>
      <p:ext uri="{BB962C8B-B14F-4D97-AF65-F5344CB8AC3E}">
        <p14:creationId xmlns:p14="http://schemas.microsoft.com/office/powerpoint/2010/main" val="1366662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58B9F2-6D33-1C53-9788-73F179C8E76D}"/>
              </a:ext>
            </a:extLst>
          </p:cNvPr>
          <p:cNvSpPr txBox="1"/>
          <p:nvPr/>
        </p:nvSpPr>
        <p:spPr>
          <a:xfrm>
            <a:off x="890336" y="199488"/>
            <a:ext cx="9665369" cy="5955476"/>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Applications</a:t>
            </a:r>
          </a:p>
          <a:p>
            <a:endParaRPr lang="en-US" sz="1100" dirty="0">
              <a:latin typeface="Courier New" panose="02070309020205020404" pitchFamily="49" charset="0"/>
            </a:endParaRP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Application risk is often due to flaws or bugs in the coding of the application. </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This is especially true for web and mobile applications, including those developed by an organization for internal use as well as those written by third-party developers. </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Countermeasures to web application vulnerabilities are related to proper design, coding and testing. </a:t>
            </a:r>
          </a:p>
          <a:p>
            <a:pPr marL="800100" lvl="1" indent="-342900">
              <a:spcAft>
                <a:spcPts val="600"/>
              </a:spcAft>
              <a:buFont typeface="+mj-lt"/>
              <a:buAutoNum type="arabicPeriod"/>
            </a:pP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The Open Web Application Security Project (www.owasp.org) and similar resources list common web application vulnerabilities and provide direction on how to mitigate and test for such vulnerabilities. </a:t>
            </a:r>
          </a:p>
          <a:p>
            <a:pPr marL="742950" lvl="1" indent="-285750">
              <a:buFont typeface="Wingdings" panose="05000000000000000000" pitchFamily="2" charset="2"/>
              <a:buChar char="q"/>
            </a:pPr>
            <a:r>
              <a:rPr lang="en-US" dirty="0">
                <a:solidFill>
                  <a:srgbClr val="7030A0"/>
                </a:solidFill>
                <a:effectLst>
                  <a:outerShdw blurRad="38100" dist="38100" dir="2700000" algn="tl">
                    <a:srgbClr val="000000">
                      <a:alpha val="43137"/>
                    </a:srgbClr>
                  </a:outerShdw>
                </a:effectLst>
                <a:latin typeface="Berlin Sans FB" panose="020E0602020502020306" pitchFamily="34" charset="0"/>
              </a:rPr>
              <a:t>Areas of concern associated with applications include:</a:t>
            </a:r>
            <a:endParaRPr lang="en-US" sz="1600" dirty="0">
              <a:solidFill>
                <a:srgbClr val="002060"/>
              </a:solidFill>
              <a:latin typeface="Berlin Sans FB" panose="020E0602020502020306" pitchFamily="34" charset="0"/>
            </a:endParaRPr>
          </a:p>
          <a:p>
            <a:pPr marL="1200150" lvl="2" indent="-285750">
              <a:buFont typeface="Wingdings" panose="05000000000000000000" pitchFamily="2" charset="2"/>
              <a:buChar char="§"/>
            </a:pPr>
            <a:r>
              <a:rPr lang="en-US" sz="1600" dirty="0">
                <a:solidFill>
                  <a:srgbClr val="002060"/>
                </a:solidFill>
                <a:latin typeface="Berlin Sans FB" panose="020E0602020502020306" pitchFamily="34" charset="0"/>
              </a:rPr>
              <a:t>Poor or no data validation</a:t>
            </a:r>
          </a:p>
          <a:p>
            <a:pPr marL="1200150" lvl="2" indent="-285750">
              <a:buFont typeface="Wingdings" panose="05000000000000000000" pitchFamily="2" charset="2"/>
              <a:buChar char="§"/>
            </a:pPr>
            <a:r>
              <a:rPr lang="en-US" sz="1600" dirty="0">
                <a:solidFill>
                  <a:srgbClr val="002060"/>
                </a:solidFill>
                <a:latin typeface="Berlin Sans FB" panose="020E0602020502020306" pitchFamily="34" charset="0"/>
              </a:rPr>
              <a:t>Exposure of sensitive data (i.e., lack of encryption/obfuscation)</a:t>
            </a:r>
          </a:p>
          <a:p>
            <a:pPr marL="1200150" lvl="2" indent="-285750">
              <a:buFont typeface="Wingdings" panose="05000000000000000000" pitchFamily="2" charset="2"/>
              <a:buChar char="§"/>
            </a:pPr>
            <a:r>
              <a:rPr lang="en-US" sz="1600" dirty="0">
                <a:solidFill>
                  <a:srgbClr val="002060"/>
                </a:solidFill>
                <a:latin typeface="Berlin Sans FB" panose="020E0602020502020306" pitchFamily="34" charset="0"/>
              </a:rPr>
              <a:t>Improper modification of data</a:t>
            </a:r>
          </a:p>
          <a:p>
            <a:pPr marL="1200150" lvl="2" indent="-285750">
              <a:buFont typeface="Wingdings" panose="05000000000000000000" pitchFamily="2" charset="2"/>
              <a:buChar char="§"/>
            </a:pPr>
            <a:r>
              <a:rPr lang="en-US" sz="1600" dirty="0">
                <a:solidFill>
                  <a:srgbClr val="002060"/>
                </a:solidFill>
                <a:latin typeface="Berlin Sans FB" panose="020E0602020502020306" pitchFamily="34" charset="0"/>
              </a:rPr>
              <a:t>Logic flaws (i.e., logic errors)</a:t>
            </a:r>
          </a:p>
          <a:p>
            <a:pPr marL="1200150" lvl="2" indent="-285750">
              <a:buFont typeface="Wingdings" panose="05000000000000000000" pitchFamily="2" charset="2"/>
              <a:buChar char="§"/>
            </a:pPr>
            <a:r>
              <a:rPr lang="en-US" sz="1600" dirty="0">
                <a:solidFill>
                  <a:srgbClr val="002060"/>
                </a:solidFill>
                <a:latin typeface="Berlin Sans FB" panose="020E0602020502020306" pitchFamily="34" charset="0"/>
              </a:rPr>
              <a:t>Software bugs (i.e., coding errors)</a:t>
            </a:r>
          </a:p>
          <a:p>
            <a:pPr marL="1200150" lvl="2" indent="-285750">
              <a:buFont typeface="Wingdings" panose="05000000000000000000" pitchFamily="2" charset="2"/>
              <a:buChar char="§"/>
            </a:pPr>
            <a:r>
              <a:rPr lang="en-US" sz="1600" dirty="0">
                <a:solidFill>
                  <a:srgbClr val="002060"/>
                </a:solidFill>
                <a:latin typeface="Berlin Sans FB" panose="020E0602020502020306" pitchFamily="34" charset="0"/>
              </a:rPr>
              <a:t>Lack of logs</a:t>
            </a:r>
          </a:p>
          <a:p>
            <a:pPr marL="1200150" lvl="2" indent="-285750">
              <a:buFont typeface="Wingdings" panose="05000000000000000000" pitchFamily="2" charset="2"/>
              <a:buChar char="§"/>
            </a:pPr>
            <a:r>
              <a:rPr lang="en-US" sz="1600" dirty="0">
                <a:solidFill>
                  <a:srgbClr val="002060"/>
                </a:solidFill>
                <a:latin typeface="Berlin Sans FB" panose="020E0602020502020306" pitchFamily="34" charset="0"/>
              </a:rPr>
              <a:t>Lack of version control</a:t>
            </a:r>
          </a:p>
          <a:p>
            <a:pPr marL="1200150" lvl="2" indent="-285750">
              <a:buFont typeface="Wingdings" panose="05000000000000000000" pitchFamily="2" charset="2"/>
              <a:buChar char="§"/>
            </a:pPr>
            <a:r>
              <a:rPr lang="en-US" sz="1600" dirty="0">
                <a:solidFill>
                  <a:srgbClr val="002060"/>
                </a:solidFill>
                <a:latin typeface="Berlin Sans FB" panose="020E0602020502020306" pitchFamily="34" charset="0"/>
              </a:rPr>
              <a:t>Loss of source code</a:t>
            </a:r>
          </a:p>
          <a:p>
            <a:pPr marL="1200150" lvl="2" indent="-285750">
              <a:buFont typeface="Wingdings" panose="05000000000000000000" pitchFamily="2" charset="2"/>
              <a:buChar char="§"/>
            </a:pPr>
            <a:r>
              <a:rPr lang="en-US" sz="1600" dirty="0">
                <a:solidFill>
                  <a:srgbClr val="002060"/>
                </a:solidFill>
                <a:latin typeface="Berlin Sans FB" panose="020E0602020502020306" pitchFamily="34" charset="0"/>
              </a:rPr>
              <a:t>Weak or lack of access control</a:t>
            </a:r>
          </a:p>
          <a:p>
            <a:pPr marL="1200150" lvl="2" indent="-285750">
              <a:buFont typeface="Wingdings" panose="05000000000000000000" pitchFamily="2" charset="2"/>
              <a:buChar char="§"/>
            </a:pPr>
            <a:r>
              <a:rPr lang="en-US" sz="1600" dirty="0">
                <a:solidFill>
                  <a:srgbClr val="002060"/>
                </a:solidFill>
                <a:latin typeface="Berlin Sans FB" panose="020E0602020502020306" pitchFamily="34" charset="0"/>
              </a:rPr>
              <a:t>Lack of operability with other software</a:t>
            </a:r>
          </a:p>
          <a:p>
            <a:pPr marL="1200150" lvl="2" indent="-285750">
              <a:buFont typeface="Wingdings" panose="05000000000000000000" pitchFamily="2" charset="2"/>
              <a:buChar char="§"/>
            </a:pPr>
            <a:r>
              <a:rPr lang="en-US" sz="1600" dirty="0">
                <a:solidFill>
                  <a:srgbClr val="002060"/>
                </a:solidFill>
                <a:latin typeface="Berlin Sans FB" panose="020E0602020502020306" pitchFamily="34" charset="0"/>
              </a:rPr>
              <a:t>Back doors</a:t>
            </a:r>
          </a:p>
          <a:p>
            <a:pPr marL="1200150" lvl="2" indent="-285750">
              <a:buFont typeface="Wingdings" panose="05000000000000000000" pitchFamily="2" charset="2"/>
              <a:buChar char="§"/>
            </a:pPr>
            <a:r>
              <a:rPr lang="en-US" sz="1600" dirty="0">
                <a:solidFill>
                  <a:srgbClr val="002060"/>
                </a:solidFill>
                <a:latin typeface="Berlin Sans FB" panose="020E0602020502020306" pitchFamily="34" charset="0"/>
              </a:rPr>
              <a:t>Poor coding practices</a:t>
            </a:r>
          </a:p>
          <a:p>
            <a:pPr marL="1200150" lvl="2" indent="-285750">
              <a:buFont typeface="Wingdings" panose="05000000000000000000" pitchFamily="2" charset="2"/>
              <a:buChar char="§"/>
            </a:pPr>
            <a:r>
              <a:rPr lang="en-US" sz="1600" dirty="0">
                <a:solidFill>
                  <a:srgbClr val="002060"/>
                </a:solidFill>
                <a:latin typeface="Berlin Sans FB" panose="020E0602020502020306" pitchFamily="34" charset="0"/>
              </a:rPr>
              <a:t>Lack of governance over how data are stored</a:t>
            </a:r>
          </a:p>
        </p:txBody>
      </p:sp>
    </p:spTree>
    <p:extLst>
      <p:ext uri="{BB962C8B-B14F-4D97-AF65-F5344CB8AC3E}">
        <p14:creationId xmlns:p14="http://schemas.microsoft.com/office/powerpoint/2010/main" val="4112222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70B1D38-7201-4995-B520-804C5F7A8AD7}"/>
              </a:ext>
            </a:extLst>
          </p:cNvPr>
          <p:cNvPicPr>
            <a:picLocks noChangeAspect="1"/>
          </p:cNvPicPr>
          <p:nvPr/>
        </p:nvPicPr>
        <p:blipFill rotWithShape="1">
          <a:blip r:embed="rId3">
            <a:extLst>
              <a:ext uri="{28A0092B-C50C-407E-A947-70E740481C1C}">
                <a14:useLocalDpi xmlns:a14="http://schemas.microsoft.com/office/drawing/2010/main" val="0"/>
              </a:ext>
            </a:extLst>
          </a:blip>
          <a:srcRect b="4726"/>
          <a:stretch/>
        </p:blipFill>
        <p:spPr>
          <a:xfrm>
            <a:off x="0" y="0"/>
            <a:ext cx="12192000" cy="6336632"/>
          </a:xfrm>
          <a:prstGeom prst="rect">
            <a:avLst/>
          </a:prstGeom>
        </p:spPr>
      </p:pic>
    </p:spTree>
    <p:extLst>
      <p:ext uri="{BB962C8B-B14F-4D97-AF65-F5344CB8AC3E}">
        <p14:creationId xmlns:p14="http://schemas.microsoft.com/office/powerpoint/2010/main" val="3813995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B3DF24-33CD-AE15-1E6A-FC03E6A76258}"/>
              </a:ext>
            </a:extLst>
          </p:cNvPr>
          <p:cNvSpPr txBox="1"/>
          <p:nvPr/>
        </p:nvSpPr>
        <p:spPr>
          <a:xfrm>
            <a:off x="890337" y="122870"/>
            <a:ext cx="7467600" cy="6140142"/>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Databases</a:t>
            </a:r>
          </a:p>
          <a:p>
            <a:endParaRPr lang="en-US" sz="1100" dirty="0">
              <a:solidFill>
                <a:srgbClr val="0070C0"/>
              </a:solidFill>
              <a:latin typeface="Courier New" panose="02070309020205020404" pitchFamily="49" charset="0"/>
            </a:endParaRPr>
          </a:p>
          <a:p>
            <a:pPr marL="742950" lvl="1" indent="-285750">
              <a:buFont typeface="Wingdings" panose="05000000000000000000" pitchFamily="2" charset="2"/>
              <a:buChar char="q"/>
            </a:pPr>
            <a:r>
              <a:rPr lang="en-US" sz="1600" dirty="0">
                <a:solidFill>
                  <a:srgbClr val="0070C0"/>
                </a:solidFill>
                <a:latin typeface="Berlin Sans FB" panose="020E0602020502020306" pitchFamily="34" charset="0"/>
              </a:rPr>
              <a:t>Where large amounts of information need to be stored and retrieved on a regular basis, organizations commonly use databases. </a:t>
            </a:r>
          </a:p>
          <a:p>
            <a:pPr marL="742950" lvl="1" indent="-285750">
              <a:buFont typeface="Wingdings" panose="05000000000000000000" pitchFamily="2" charset="2"/>
              <a:buChar char="q"/>
            </a:pPr>
            <a:endParaRPr lang="en-US" sz="1600" dirty="0">
              <a:solidFill>
                <a:srgbClr val="0070C0"/>
              </a:solidFill>
              <a:latin typeface="Berlin Sans FB" panose="020E0602020502020306" pitchFamily="34" charset="0"/>
            </a:endParaRPr>
          </a:p>
          <a:p>
            <a:pPr marL="742950" lvl="1" indent="-285750">
              <a:buFont typeface="Wingdings" panose="05000000000000000000" pitchFamily="2" charset="2"/>
              <a:buChar char="q"/>
            </a:pPr>
            <a:r>
              <a:rPr lang="en-US" sz="1600" dirty="0">
                <a:solidFill>
                  <a:srgbClr val="0070C0"/>
                </a:solidFill>
                <a:latin typeface="Berlin Sans FB" panose="020E0602020502020306" pitchFamily="34" charset="0"/>
              </a:rPr>
              <a:t>Database security is important because databases tend to contain critical and sensitive information that supports business operations.</a:t>
            </a:r>
            <a:endParaRPr lang="en-US" dirty="0">
              <a:solidFill>
                <a:srgbClr val="0070C0"/>
              </a:solidFill>
              <a:effectLst>
                <a:outerShdw blurRad="38100" dist="38100" dir="2700000" algn="tl">
                  <a:srgbClr val="000000">
                    <a:alpha val="43137"/>
                  </a:srgbClr>
                </a:outerShdw>
              </a:effectLst>
              <a:latin typeface="Berlin Sans FB" panose="020E0602020502020306" pitchFamily="34" charset="0"/>
            </a:endParaRPr>
          </a:p>
          <a:p>
            <a:pPr lvl="1"/>
            <a:r>
              <a:rPr lang="en-US" dirty="0">
                <a:solidFill>
                  <a:srgbClr val="7030A0"/>
                </a:solidFill>
                <a:effectLst>
                  <a:outerShdw blurRad="38100" dist="38100" dir="2700000" algn="tl">
                    <a:srgbClr val="000000">
                      <a:alpha val="43137"/>
                    </a:srgbClr>
                  </a:outerShdw>
                </a:effectLst>
                <a:latin typeface="Berlin Sans FB" panose="020E0602020502020306" pitchFamily="34" charset="0"/>
              </a:rPr>
              <a:t>Database security is provided through the following:</a:t>
            </a:r>
            <a:endParaRPr lang="en-US" sz="1600" dirty="0">
              <a:solidFill>
                <a:srgbClr val="002060"/>
              </a:solidFill>
              <a:latin typeface="Berlin Sans FB" panose="020E0602020502020306" pitchFamily="34" charset="0"/>
            </a:endParaRPr>
          </a:p>
          <a:p>
            <a:pPr marL="1257300" lvl="2" indent="-342900">
              <a:buFont typeface="Wingdings" panose="05000000000000000000" pitchFamily="2" charset="2"/>
              <a:buChar char="§"/>
            </a:pPr>
            <a:r>
              <a:rPr lang="en-US" sz="1600" dirty="0">
                <a:solidFill>
                  <a:srgbClr val="002060"/>
                </a:solidFill>
                <a:latin typeface="Berlin Sans FB" panose="020E0602020502020306" pitchFamily="34" charset="0"/>
              </a:rPr>
              <a:t>Encryption of sensitive data in the database</a:t>
            </a:r>
          </a:p>
          <a:p>
            <a:pPr marL="1257300" lvl="2" indent="-342900">
              <a:buFont typeface="Wingdings" panose="05000000000000000000" pitchFamily="2" charset="2"/>
              <a:buChar char="§"/>
            </a:pPr>
            <a:r>
              <a:rPr lang="en-US" sz="1600" dirty="0">
                <a:solidFill>
                  <a:srgbClr val="002060"/>
                </a:solidFill>
                <a:latin typeface="Berlin Sans FB" panose="020E0602020502020306" pitchFamily="34" charset="0"/>
              </a:rPr>
              <a:t>Use of database views to restrict information available to a user</a:t>
            </a:r>
          </a:p>
          <a:p>
            <a:pPr marL="1257300" lvl="2" indent="-342900">
              <a:buFont typeface="Wingdings" panose="05000000000000000000" pitchFamily="2" charset="2"/>
              <a:buChar char="§"/>
            </a:pPr>
            <a:r>
              <a:rPr lang="en-US" sz="1600" dirty="0">
                <a:solidFill>
                  <a:srgbClr val="002060"/>
                </a:solidFill>
                <a:latin typeface="Berlin Sans FB" panose="020E0602020502020306" pitchFamily="34" charset="0"/>
              </a:rPr>
              <a:t>Secure protocols to communicate with the database</a:t>
            </a:r>
          </a:p>
          <a:p>
            <a:pPr marL="1257300" lvl="2" indent="-342900">
              <a:buFont typeface="Wingdings" panose="05000000000000000000" pitchFamily="2" charset="2"/>
              <a:buChar char="§"/>
            </a:pPr>
            <a:r>
              <a:rPr lang="en-US" sz="1600" dirty="0">
                <a:solidFill>
                  <a:srgbClr val="002060"/>
                </a:solidFill>
                <a:latin typeface="Berlin Sans FB" panose="020E0602020502020306" pitchFamily="34" charset="0"/>
              </a:rPr>
              <a:t>Content-based access controls that restrict access to sensitive records</a:t>
            </a:r>
          </a:p>
          <a:p>
            <a:pPr marL="1257300" lvl="2" indent="-342900">
              <a:buFont typeface="Wingdings" panose="05000000000000000000" pitchFamily="2" charset="2"/>
              <a:buChar char="§"/>
            </a:pPr>
            <a:r>
              <a:rPr lang="en-US" sz="1600" dirty="0">
                <a:solidFill>
                  <a:srgbClr val="002060"/>
                </a:solidFill>
                <a:latin typeface="Berlin Sans FB" panose="020E0602020502020306" pitchFamily="34" charset="0"/>
              </a:rPr>
              <a:t>Restricting administrator-level access</a:t>
            </a:r>
          </a:p>
          <a:p>
            <a:pPr marL="1257300" lvl="2" indent="-342900">
              <a:buFont typeface="Wingdings" panose="05000000000000000000" pitchFamily="2" charset="2"/>
              <a:buChar char="§"/>
            </a:pPr>
            <a:r>
              <a:rPr lang="en-US" sz="1600" dirty="0">
                <a:solidFill>
                  <a:srgbClr val="002060"/>
                </a:solidFill>
                <a:latin typeface="Berlin Sans FB" panose="020E0602020502020306" pitchFamily="34" charset="0"/>
              </a:rPr>
              <a:t>Efficient indexing to enhance data retrieval</a:t>
            </a:r>
          </a:p>
          <a:p>
            <a:pPr marL="1257300" lvl="2" indent="-342900">
              <a:buFont typeface="Wingdings" panose="05000000000000000000" pitchFamily="2" charset="2"/>
              <a:buChar char="§"/>
            </a:pPr>
            <a:r>
              <a:rPr lang="en-US" sz="1600" dirty="0">
                <a:solidFill>
                  <a:srgbClr val="002060"/>
                </a:solidFill>
                <a:latin typeface="Berlin Sans FB" panose="020E0602020502020306" pitchFamily="34" charset="0"/>
              </a:rPr>
              <a:t>Backups of databases (shadowing, mirroring)</a:t>
            </a:r>
          </a:p>
          <a:p>
            <a:pPr marL="1257300" lvl="2" indent="-342900">
              <a:buFont typeface="Wingdings" panose="05000000000000000000" pitchFamily="2" charset="2"/>
              <a:buChar char="§"/>
            </a:pPr>
            <a:r>
              <a:rPr lang="en-US" sz="1600" dirty="0">
                <a:solidFill>
                  <a:srgbClr val="002060"/>
                </a:solidFill>
                <a:latin typeface="Berlin Sans FB" panose="020E0602020502020306" pitchFamily="34" charset="0"/>
              </a:rPr>
              <a:t>Backups of transaction journals (remote journaling)</a:t>
            </a:r>
          </a:p>
          <a:p>
            <a:pPr marL="1257300" lvl="2" indent="-342900">
              <a:buFont typeface="Wingdings" panose="05000000000000000000" pitchFamily="2" charset="2"/>
              <a:buChar char="§"/>
            </a:pPr>
            <a:r>
              <a:rPr lang="en-US" sz="1600" dirty="0">
                <a:solidFill>
                  <a:srgbClr val="002060"/>
                </a:solidFill>
                <a:latin typeface="Berlin Sans FB" panose="020E0602020502020306" pitchFamily="34" charset="0"/>
              </a:rPr>
              <a:t>Encryption of backups</a:t>
            </a:r>
          </a:p>
          <a:p>
            <a:pPr marL="1257300" lvl="2" indent="-342900">
              <a:buFont typeface="Wingdings" panose="05000000000000000000" pitchFamily="2" charset="2"/>
              <a:buChar char="§"/>
            </a:pPr>
            <a:r>
              <a:rPr lang="en-US" sz="1600" dirty="0">
                <a:solidFill>
                  <a:srgbClr val="002060"/>
                </a:solidFill>
                <a:latin typeface="Berlin Sans FB" panose="020E0602020502020306" pitchFamily="34" charset="0"/>
              </a:rPr>
              <a:t>Referential integrity</a:t>
            </a:r>
          </a:p>
          <a:p>
            <a:pPr marL="1257300" lvl="2" indent="-342900">
              <a:buFont typeface="Wingdings" panose="05000000000000000000" pitchFamily="2" charset="2"/>
              <a:buChar char="§"/>
            </a:pPr>
            <a:r>
              <a:rPr lang="en-US" sz="1600" dirty="0">
                <a:solidFill>
                  <a:srgbClr val="002060"/>
                </a:solidFill>
                <a:latin typeface="Berlin Sans FB" panose="020E0602020502020306" pitchFamily="34" charset="0"/>
              </a:rPr>
              <a:t>Entity integrity</a:t>
            </a:r>
          </a:p>
          <a:p>
            <a:pPr marL="1257300" lvl="2" indent="-342900">
              <a:buFont typeface="Wingdings" panose="05000000000000000000" pitchFamily="2" charset="2"/>
              <a:buChar char="§"/>
            </a:pPr>
            <a:r>
              <a:rPr lang="en-US" sz="1600" dirty="0">
                <a:solidFill>
                  <a:srgbClr val="002060"/>
                </a:solidFill>
                <a:latin typeface="Berlin Sans FB" panose="020E0602020502020306" pitchFamily="34" charset="0"/>
              </a:rPr>
              <a:t>Validation of input</a:t>
            </a:r>
          </a:p>
          <a:p>
            <a:pPr marL="1257300" lvl="2" indent="-342900">
              <a:buFont typeface="Wingdings" panose="05000000000000000000" pitchFamily="2" charset="2"/>
              <a:buChar char="§"/>
            </a:pPr>
            <a:r>
              <a:rPr lang="en-US" sz="1600" dirty="0">
                <a:solidFill>
                  <a:srgbClr val="002060"/>
                </a:solidFill>
                <a:latin typeface="Berlin Sans FB" panose="020E0602020502020306" pitchFamily="34" charset="0"/>
              </a:rPr>
              <a:t>Defined data fields (schema)</a:t>
            </a:r>
          </a:p>
          <a:p>
            <a:pPr lvl="1"/>
            <a:endParaRPr lang="en-US" sz="1600" dirty="0">
              <a:solidFill>
                <a:srgbClr val="002060"/>
              </a:solidFill>
              <a:latin typeface="Berlin Sans FB" panose="020E0602020502020306" pitchFamily="34" charset="0"/>
            </a:endParaRPr>
          </a:p>
          <a:p>
            <a:pPr marL="742950" lvl="1" indent="-285750">
              <a:buFont typeface="Wingdings" panose="05000000000000000000" pitchFamily="2" charset="2"/>
              <a:buChar char="q"/>
            </a:pP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Database servers should be placed behind significant protective measures and not directly accessible from outside organizational boundaries.</a:t>
            </a:r>
          </a:p>
        </p:txBody>
      </p:sp>
    </p:spTree>
    <p:extLst>
      <p:ext uri="{BB962C8B-B14F-4D97-AF65-F5344CB8AC3E}">
        <p14:creationId xmlns:p14="http://schemas.microsoft.com/office/powerpoint/2010/main" val="9735375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689CC6-8982-B3E4-DB57-B46B09CFD14E}"/>
              </a:ext>
            </a:extLst>
          </p:cNvPr>
          <p:cNvSpPr txBox="1"/>
          <p:nvPr/>
        </p:nvSpPr>
        <p:spPr>
          <a:xfrm>
            <a:off x="143728" y="72455"/>
            <a:ext cx="9132077" cy="6124754"/>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4.2.3 Environmental Controls</a:t>
            </a:r>
          </a:p>
          <a:p>
            <a:pPr>
              <a:buFont typeface="Symbol" panose="05050102010706020507" pitchFamily="18" charset="2"/>
              <a:buChar char="·"/>
            </a:pPr>
            <a:endParaRPr lang="en-US" sz="1100" dirty="0">
              <a:latin typeface="Courier New" panose="02070309020205020404" pitchFamily="49" charset="0"/>
            </a:endParaRPr>
          </a:p>
          <a:p>
            <a:pPr marL="800100" lvl="1" indent="-342900">
              <a:buFont typeface="Wingdings" panose="05000000000000000000" pitchFamily="2" charset="2"/>
              <a:buChar char="§"/>
            </a:pPr>
            <a:r>
              <a:rPr lang="en-US" sz="1600" dirty="0">
                <a:solidFill>
                  <a:srgbClr val="002060"/>
                </a:solidFill>
                <a:latin typeface="Berlin Sans FB" panose="020E0602020502020306" pitchFamily="34" charset="0"/>
              </a:rPr>
              <a:t>Environmental controls include power and heating, ventilation and air conditioning (HVAC) systems that support IT operations. </a:t>
            </a:r>
          </a:p>
          <a:p>
            <a:pPr marL="800100" lvl="1" indent="-342900">
              <a:buFont typeface="Wingdings" panose="05000000000000000000" pitchFamily="2" charset="2"/>
              <a:buChar char="§"/>
            </a:pPr>
            <a:endParaRPr lang="en-US" sz="1600" dirty="0">
              <a:solidFill>
                <a:srgbClr val="002060"/>
              </a:solidFill>
              <a:latin typeface="Berlin Sans FB" panose="020E0602020502020306" pitchFamily="34" charset="0"/>
            </a:endParaRPr>
          </a:p>
          <a:p>
            <a:pPr marL="800100" lvl="1" indent="-342900">
              <a:buFont typeface="Wingdings" panose="05000000000000000000" pitchFamily="2" charset="2"/>
              <a:buChar char="§"/>
            </a:pPr>
            <a:r>
              <a:rPr lang="en-US" sz="1600" dirty="0">
                <a:solidFill>
                  <a:srgbClr val="002060"/>
                </a:solidFill>
                <a:latin typeface="Berlin Sans FB" panose="020E0602020502020306" pitchFamily="34" charset="0"/>
              </a:rPr>
              <a:t>Unlike humans, computer systems may immediately shut off (as with loss of power) or endure under conditions that can lead to electrical or mechanical errors (as with loss of ventilation or unregulated temperature), </a:t>
            </a:r>
            <a:r>
              <a:rPr lang="en-US" sz="1600" dirty="0">
                <a:solidFill>
                  <a:srgbClr val="0070C0"/>
                </a:solidFill>
                <a:latin typeface="Berlin Sans FB" panose="020E0602020502020306" pitchFamily="34" charset="0"/>
              </a:rPr>
              <a:t>These impacts may in turn affect business processes by interrupting processes or causing them to be completed incorrectly.</a:t>
            </a:r>
          </a:p>
          <a:p>
            <a:pPr marL="800100" lvl="1" indent="-342900">
              <a:buFont typeface="Wingdings" panose="05000000000000000000" pitchFamily="2" charset="2"/>
              <a:buChar char="§"/>
            </a:pPr>
            <a:endParaRPr lang="en-US" sz="1600" dirty="0">
              <a:solidFill>
                <a:srgbClr val="002060"/>
              </a:solidFill>
              <a:latin typeface="Berlin Sans FB" panose="020E0602020502020306" pitchFamily="34" charset="0"/>
            </a:endParaRPr>
          </a:p>
          <a:p>
            <a:pPr marL="800100" lvl="1" indent="-342900">
              <a:buFont typeface="Wingdings" panose="05000000000000000000" pitchFamily="2" charset="2"/>
              <a:buChar char="§"/>
            </a:pPr>
            <a:r>
              <a:rPr lang="en-US" dirty="0">
                <a:solidFill>
                  <a:srgbClr val="7030A0"/>
                </a:solidFill>
                <a:effectLst>
                  <a:outerShdw blurRad="38100" dist="38100" dir="2700000" algn="tl">
                    <a:srgbClr val="000000">
                      <a:alpha val="43137"/>
                    </a:srgbClr>
                  </a:outerShdw>
                </a:effectLst>
                <a:latin typeface="Berlin Sans FB" panose="020E0602020502020306" pitchFamily="34" charset="0"/>
              </a:rPr>
              <a:t>Areas of concern associated with environmental controls include:</a:t>
            </a:r>
          </a:p>
          <a:p>
            <a:pPr marL="1257300" lvl="2" indent="-342900">
              <a:buFont typeface="Wingdings" panose="05000000000000000000" pitchFamily="2" charset="2"/>
              <a:buChar char="§"/>
            </a:pPr>
            <a:r>
              <a:rPr lang="en-US" sz="1400" dirty="0">
                <a:solidFill>
                  <a:srgbClr val="002060"/>
                </a:solidFill>
                <a:latin typeface="Berlin Sans FB" panose="020E0602020502020306" pitchFamily="34" charset="0"/>
              </a:rPr>
              <a:t>Power interruptions</a:t>
            </a:r>
          </a:p>
          <a:p>
            <a:pPr marL="1257300" lvl="2" indent="-342900">
              <a:buFont typeface="Wingdings" panose="05000000000000000000" pitchFamily="2" charset="2"/>
              <a:buChar char="§"/>
            </a:pPr>
            <a:r>
              <a:rPr lang="en-US" sz="1400" dirty="0">
                <a:solidFill>
                  <a:srgbClr val="002060"/>
                </a:solidFill>
                <a:latin typeface="Berlin Sans FB" panose="020E0602020502020306" pitchFamily="34" charset="0"/>
              </a:rPr>
              <a:t> Loss of power</a:t>
            </a:r>
          </a:p>
          <a:p>
            <a:pPr marL="1257300" lvl="2" indent="-342900">
              <a:buFont typeface="Wingdings" panose="05000000000000000000" pitchFamily="2" charset="2"/>
              <a:buChar char="§"/>
            </a:pPr>
            <a:r>
              <a:rPr lang="en-US" sz="1400" dirty="0">
                <a:solidFill>
                  <a:srgbClr val="002060"/>
                </a:solidFill>
                <a:latin typeface="Berlin Sans FB" panose="020E0602020502020306" pitchFamily="34" charset="0"/>
              </a:rPr>
              <a:t>Surge</a:t>
            </a:r>
          </a:p>
          <a:p>
            <a:pPr marL="1257300" lvl="2" indent="-342900">
              <a:buFont typeface="Wingdings" panose="05000000000000000000" pitchFamily="2" charset="2"/>
              <a:buChar char="§"/>
            </a:pPr>
            <a:r>
              <a:rPr lang="en-US" sz="1400" dirty="0">
                <a:solidFill>
                  <a:srgbClr val="002060"/>
                </a:solidFill>
                <a:latin typeface="Berlin Sans FB" panose="020E0602020502020306" pitchFamily="34" charset="0"/>
              </a:rPr>
              <a:t>Spikes</a:t>
            </a:r>
          </a:p>
          <a:p>
            <a:pPr marL="1257300" lvl="2" indent="-342900">
              <a:buFont typeface="Wingdings" panose="05000000000000000000" pitchFamily="2" charset="2"/>
              <a:buChar char="§"/>
            </a:pPr>
            <a:r>
              <a:rPr lang="en-US" sz="1400" dirty="0">
                <a:solidFill>
                  <a:srgbClr val="002060"/>
                </a:solidFill>
                <a:latin typeface="Berlin Sans FB" panose="020E0602020502020306" pitchFamily="34" charset="0"/>
              </a:rPr>
              <a:t>Sags</a:t>
            </a:r>
          </a:p>
          <a:p>
            <a:pPr marL="1257300" lvl="2" indent="-342900">
              <a:buFont typeface="Wingdings" panose="05000000000000000000" pitchFamily="2" charset="2"/>
              <a:buChar char="§"/>
            </a:pPr>
            <a:r>
              <a:rPr lang="en-US" sz="1400" dirty="0">
                <a:solidFill>
                  <a:srgbClr val="002060"/>
                </a:solidFill>
                <a:latin typeface="Berlin Sans FB" panose="020E0602020502020306" pitchFamily="34" charset="0"/>
              </a:rPr>
              <a:t>Brownouts</a:t>
            </a:r>
          </a:p>
          <a:p>
            <a:pPr marL="1257300" lvl="2" indent="-342900">
              <a:buFont typeface="Wingdings" panose="05000000000000000000" pitchFamily="2" charset="2"/>
              <a:buChar char="§"/>
            </a:pPr>
            <a:r>
              <a:rPr lang="en-US" sz="1400" dirty="0">
                <a:solidFill>
                  <a:srgbClr val="002060"/>
                </a:solidFill>
                <a:latin typeface="Berlin Sans FB" panose="020E0602020502020306" pitchFamily="34" charset="0"/>
              </a:rPr>
              <a:t>Faults</a:t>
            </a:r>
          </a:p>
          <a:p>
            <a:pPr marL="1257300" lvl="2" indent="-342900">
              <a:buFont typeface="Wingdings" panose="05000000000000000000" pitchFamily="2" charset="2"/>
              <a:buChar char="§"/>
            </a:pPr>
            <a:r>
              <a:rPr lang="en-US" sz="1400" dirty="0">
                <a:solidFill>
                  <a:srgbClr val="002060"/>
                </a:solidFill>
                <a:latin typeface="Berlin Sans FB" panose="020E0602020502020306" pitchFamily="34" charset="0"/>
              </a:rPr>
              <a:t>Generators</a:t>
            </a:r>
          </a:p>
          <a:p>
            <a:pPr marL="1714500" lvl="3" indent="-342900">
              <a:buFont typeface="Courier New" panose="02070309020205020404" pitchFamily="49" charset="0"/>
              <a:buChar char="o"/>
            </a:pPr>
            <a:r>
              <a:rPr lang="en-US" sz="1400" dirty="0">
                <a:solidFill>
                  <a:srgbClr val="002060"/>
                </a:solidFill>
                <a:latin typeface="Berlin Sans FB" panose="020E0602020502020306" pitchFamily="34" charset="0"/>
              </a:rPr>
              <a:t>Insufficient capacity</a:t>
            </a:r>
          </a:p>
          <a:p>
            <a:pPr marL="1714500" lvl="3" indent="-342900">
              <a:buFont typeface="Courier New" panose="02070309020205020404" pitchFamily="49" charset="0"/>
              <a:buChar char="o"/>
            </a:pPr>
            <a:r>
              <a:rPr lang="en-US" sz="1400" dirty="0">
                <a:solidFill>
                  <a:srgbClr val="002060"/>
                </a:solidFill>
                <a:latin typeface="Berlin Sans FB" panose="020E0602020502020306" pitchFamily="34" charset="0"/>
              </a:rPr>
              <a:t>Poor maintenance</a:t>
            </a:r>
          </a:p>
          <a:p>
            <a:pPr marL="1714500" lvl="3" indent="-342900">
              <a:buFont typeface="Courier New" panose="02070309020205020404" pitchFamily="49" charset="0"/>
              <a:buChar char="o"/>
            </a:pPr>
            <a:r>
              <a:rPr lang="en-US" sz="1400" dirty="0">
                <a:solidFill>
                  <a:srgbClr val="002060"/>
                </a:solidFill>
                <a:latin typeface="Berlin Sans FB" panose="020E0602020502020306" pitchFamily="34" charset="0"/>
              </a:rPr>
              <a:t>Latency of generator to power on</a:t>
            </a:r>
          </a:p>
          <a:p>
            <a:pPr marL="1257300" lvl="2" indent="-342900">
              <a:buFont typeface="Wingdings" panose="05000000000000000000" pitchFamily="2" charset="2"/>
              <a:buChar char="§"/>
            </a:pPr>
            <a:r>
              <a:rPr lang="en-US" sz="1400" dirty="0">
                <a:solidFill>
                  <a:srgbClr val="002060"/>
                </a:solidFill>
                <a:latin typeface="Berlin Sans FB" panose="020E0602020502020306" pitchFamily="34" charset="0"/>
              </a:rPr>
              <a:t>Batteries</a:t>
            </a:r>
          </a:p>
          <a:p>
            <a:pPr marL="1714500" lvl="3" indent="-342900">
              <a:buFont typeface="Courier New" panose="02070309020205020404" pitchFamily="49" charset="0"/>
              <a:buChar char="o"/>
            </a:pPr>
            <a:r>
              <a:rPr lang="en-US" sz="1400" dirty="0">
                <a:solidFill>
                  <a:srgbClr val="002060"/>
                </a:solidFill>
                <a:latin typeface="Berlin Sans FB" panose="020E0602020502020306" pitchFamily="34" charset="0"/>
              </a:rPr>
              <a:t>Poorly maintained</a:t>
            </a:r>
          </a:p>
          <a:p>
            <a:pPr marL="1714500" lvl="3" indent="-342900">
              <a:buFont typeface="Courier New" panose="02070309020205020404" pitchFamily="49" charset="0"/>
              <a:buChar char="o"/>
            </a:pPr>
            <a:r>
              <a:rPr lang="en-US" sz="1400" dirty="0">
                <a:solidFill>
                  <a:srgbClr val="002060"/>
                </a:solidFill>
                <a:latin typeface="Berlin Sans FB" panose="020E0602020502020306" pitchFamily="34" charset="0"/>
              </a:rPr>
              <a:t>Outdated</a:t>
            </a:r>
          </a:p>
          <a:p>
            <a:endParaRPr lang="en-US" sz="1100" dirty="0">
              <a:latin typeface="Courier New" panose="02070309020205020404" pitchFamily="49" charset="0"/>
            </a:endParaRPr>
          </a:p>
        </p:txBody>
      </p:sp>
      <p:sp>
        <p:nvSpPr>
          <p:cNvPr id="5" name="TextBox 4">
            <a:extLst>
              <a:ext uri="{FF2B5EF4-FFF2-40B4-BE49-F238E27FC236}">
                <a16:creationId xmlns:a16="http://schemas.microsoft.com/office/drawing/2014/main" id="{3CA81C1E-7D7A-A343-5533-E551FB5D0621}"/>
              </a:ext>
            </a:extLst>
          </p:cNvPr>
          <p:cNvSpPr txBox="1"/>
          <p:nvPr/>
        </p:nvSpPr>
        <p:spPr>
          <a:xfrm>
            <a:off x="6536941" y="3057888"/>
            <a:ext cx="5589156" cy="3323987"/>
          </a:xfrm>
          <a:prstGeom prst="rect">
            <a:avLst/>
          </a:prstGeom>
          <a:noFill/>
        </p:spPr>
        <p:txBody>
          <a:bodyPr wrap="square">
            <a:spAutoFit/>
          </a:bodyPr>
          <a:lstStyle/>
          <a:p>
            <a:pPr marL="1257300" marR="0" lvl="2" indent="-342900" fontAlgn="auto">
              <a:lnSpc>
                <a:spcPct val="100000"/>
              </a:lnSpc>
              <a:spcBef>
                <a:spcPts val="0"/>
              </a:spcBef>
              <a:spcAft>
                <a:spcPts val="0"/>
              </a:spcAft>
              <a:buClrTx/>
              <a:buSzTx/>
              <a:buFont typeface="Wingdings" panose="05000000000000000000" pitchFamily="2" charset="2"/>
              <a:buChar char="§"/>
              <a:tabLst/>
              <a:defRPr/>
            </a:pPr>
            <a:r>
              <a:rPr lang="en-US" sz="1400" dirty="0">
                <a:solidFill>
                  <a:srgbClr val="002060"/>
                </a:solidFill>
                <a:latin typeface="Berlin Sans FB" panose="020E0602020502020306" pitchFamily="34" charset="0"/>
              </a:rPr>
              <a:t>HVAC</a:t>
            </a:r>
          </a:p>
          <a:p>
            <a:pPr marL="1257300" marR="0" lvl="2" indent="-342900" fontAlgn="auto">
              <a:lnSpc>
                <a:spcPct val="100000"/>
              </a:lnSpc>
              <a:spcBef>
                <a:spcPts val="0"/>
              </a:spcBef>
              <a:spcAft>
                <a:spcPts val="0"/>
              </a:spcAft>
              <a:buClrTx/>
              <a:buSzTx/>
              <a:buFont typeface="Wingdings" panose="05000000000000000000" pitchFamily="2" charset="2"/>
              <a:buChar char="§"/>
              <a:tabLst/>
              <a:defRPr/>
            </a:pPr>
            <a:r>
              <a:rPr lang="en-US" sz="1400" dirty="0">
                <a:solidFill>
                  <a:srgbClr val="002060"/>
                </a:solidFill>
                <a:latin typeface="Berlin Sans FB" panose="020E0602020502020306" pitchFamily="34" charset="0"/>
              </a:rPr>
              <a:t> Overheating</a:t>
            </a:r>
          </a:p>
          <a:p>
            <a:pPr marL="1257300" marR="0" lvl="2" indent="-342900" fontAlgn="auto">
              <a:lnSpc>
                <a:spcPct val="100000"/>
              </a:lnSpc>
              <a:spcBef>
                <a:spcPts val="0"/>
              </a:spcBef>
              <a:spcAft>
                <a:spcPts val="0"/>
              </a:spcAft>
              <a:buClrTx/>
              <a:buSzTx/>
              <a:buFont typeface="Wingdings" panose="05000000000000000000" pitchFamily="2" charset="2"/>
              <a:buChar char="§"/>
              <a:tabLst/>
              <a:defRPr/>
            </a:pPr>
            <a:r>
              <a:rPr lang="en-US" sz="1400" dirty="0">
                <a:solidFill>
                  <a:srgbClr val="002060"/>
                </a:solidFill>
                <a:latin typeface="Berlin Sans FB" panose="020E0602020502020306" pitchFamily="34" charset="0"/>
              </a:rPr>
              <a:t> Humidity problems</a:t>
            </a:r>
          </a:p>
          <a:p>
            <a:pPr marL="1714500" lvl="3" indent="-342900">
              <a:buFont typeface="Courier New" panose="02070309020205020404" pitchFamily="49" charset="0"/>
              <a:buChar char="o"/>
              <a:defRPr/>
            </a:pPr>
            <a:r>
              <a:rPr lang="en-US" sz="1400" dirty="0">
                <a:solidFill>
                  <a:srgbClr val="002060"/>
                </a:solidFill>
                <a:latin typeface="Berlin Sans FB" panose="020E0602020502020306" pitchFamily="34" charset="0"/>
              </a:rPr>
              <a:t>Corrosion and condensation (high humidity)</a:t>
            </a:r>
          </a:p>
          <a:p>
            <a:pPr marL="1714500" lvl="3" indent="-342900">
              <a:buFont typeface="Courier New" panose="02070309020205020404" pitchFamily="49" charset="0"/>
              <a:buChar char="o"/>
              <a:defRPr/>
            </a:pPr>
            <a:r>
              <a:rPr lang="en-US" sz="1400" dirty="0">
                <a:solidFill>
                  <a:srgbClr val="002060"/>
                </a:solidFill>
                <a:latin typeface="Berlin Sans FB" panose="020E0602020502020306" pitchFamily="34" charset="0"/>
              </a:rPr>
              <a:t>Static (low humidity)</a:t>
            </a:r>
          </a:p>
          <a:p>
            <a:pPr marL="1257300" marR="0" lvl="2" indent="-342900" fontAlgn="auto">
              <a:lnSpc>
                <a:spcPct val="100000"/>
              </a:lnSpc>
              <a:spcBef>
                <a:spcPts val="0"/>
              </a:spcBef>
              <a:spcAft>
                <a:spcPts val="0"/>
              </a:spcAft>
              <a:buClrTx/>
              <a:buSzTx/>
              <a:buFont typeface="Wingdings" panose="05000000000000000000" pitchFamily="2" charset="2"/>
              <a:buChar char="§"/>
              <a:tabLst/>
              <a:defRPr/>
            </a:pPr>
            <a:r>
              <a:rPr lang="en-US" sz="1400" dirty="0">
                <a:solidFill>
                  <a:srgbClr val="002060"/>
                </a:solidFill>
                <a:latin typeface="Berlin Sans FB" panose="020E0602020502020306" pitchFamily="34" charset="0"/>
              </a:rPr>
              <a:t> Clogged filters</a:t>
            </a:r>
          </a:p>
          <a:p>
            <a:pPr marL="1257300" marR="0" lvl="2" indent="-342900" fontAlgn="auto">
              <a:lnSpc>
                <a:spcPct val="100000"/>
              </a:lnSpc>
              <a:spcBef>
                <a:spcPts val="0"/>
              </a:spcBef>
              <a:spcAft>
                <a:spcPts val="0"/>
              </a:spcAft>
              <a:buClrTx/>
              <a:buSzTx/>
              <a:buFont typeface="Wingdings" panose="05000000000000000000" pitchFamily="2" charset="2"/>
              <a:buChar char="§"/>
              <a:tabLst/>
              <a:defRPr/>
            </a:pPr>
            <a:r>
              <a:rPr lang="en-US" sz="1400" dirty="0">
                <a:solidFill>
                  <a:srgbClr val="002060"/>
                </a:solidFill>
                <a:latin typeface="Berlin Sans FB" panose="020E0602020502020306" pitchFamily="34" charset="0"/>
              </a:rPr>
              <a:t> Lack of maintenance</a:t>
            </a:r>
          </a:p>
          <a:p>
            <a:pPr marL="1257300" marR="0" lvl="2" indent="-342900" fontAlgn="auto">
              <a:lnSpc>
                <a:spcPct val="100000"/>
              </a:lnSpc>
              <a:spcBef>
                <a:spcPts val="0"/>
              </a:spcBef>
              <a:spcAft>
                <a:spcPts val="0"/>
              </a:spcAft>
              <a:buClrTx/>
              <a:buSzTx/>
              <a:buFont typeface="Wingdings" panose="05000000000000000000" pitchFamily="2" charset="2"/>
              <a:buChar char="§"/>
              <a:tabLst/>
              <a:defRPr/>
            </a:pPr>
            <a:endParaRPr lang="en-US" sz="1400" dirty="0">
              <a:solidFill>
                <a:srgbClr val="002060"/>
              </a:solidFill>
              <a:latin typeface="Berlin Sans FB" panose="020E0602020502020306" pitchFamily="34" charset="0"/>
            </a:endParaRPr>
          </a:p>
          <a:p>
            <a:pPr marL="1257300" marR="0" lvl="2" indent="-342900" fontAlgn="auto">
              <a:lnSpc>
                <a:spcPct val="100000"/>
              </a:lnSpc>
              <a:spcBef>
                <a:spcPts val="0"/>
              </a:spcBef>
              <a:spcAft>
                <a:spcPts val="0"/>
              </a:spcAft>
              <a:buClrTx/>
              <a:buSzTx/>
              <a:buFont typeface="Wingdings" panose="05000000000000000000" pitchFamily="2" charset="2"/>
              <a:buChar char="§"/>
              <a:tabLst/>
              <a:defRPr/>
            </a:pPr>
            <a:r>
              <a:rPr lang="en-US" sz="1400" dirty="0">
                <a:solidFill>
                  <a:srgbClr val="002060"/>
                </a:solidFill>
                <a:latin typeface="Berlin Sans FB" panose="020E0602020502020306" pitchFamily="34" charset="0"/>
              </a:rPr>
              <a:t>Water</a:t>
            </a:r>
          </a:p>
          <a:p>
            <a:pPr marL="1714500" lvl="3" indent="-342900">
              <a:buFont typeface="Courier New" panose="02070309020205020404" pitchFamily="49" charset="0"/>
              <a:buChar char="o"/>
              <a:defRPr/>
            </a:pPr>
            <a:r>
              <a:rPr lang="en-US" sz="1400" dirty="0">
                <a:solidFill>
                  <a:srgbClr val="002060"/>
                </a:solidFill>
                <a:latin typeface="Berlin Sans FB" panose="020E0602020502020306" pitchFamily="34" charset="0"/>
              </a:rPr>
              <a:t> Loss of water needed for cooling systems</a:t>
            </a:r>
          </a:p>
          <a:p>
            <a:pPr marL="1257300" marR="0" lvl="2" indent="-342900" fontAlgn="auto">
              <a:lnSpc>
                <a:spcPct val="100000"/>
              </a:lnSpc>
              <a:spcBef>
                <a:spcPts val="0"/>
              </a:spcBef>
              <a:spcAft>
                <a:spcPts val="0"/>
              </a:spcAft>
              <a:buClrTx/>
              <a:buSzTx/>
              <a:buFont typeface="Wingdings" panose="05000000000000000000" pitchFamily="2" charset="2"/>
              <a:buChar char="§"/>
              <a:tabLst/>
              <a:defRPr/>
            </a:pPr>
            <a:r>
              <a:rPr lang="en-US" sz="1400" dirty="0">
                <a:solidFill>
                  <a:srgbClr val="002060"/>
                </a:solidFill>
                <a:latin typeface="Berlin Sans FB" panose="020E0602020502020306" pitchFamily="34" charset="0"/>
              </a:rPr>
              <a:t>Health and safety issues</a:t>
            </a:r>
          </a:p>
          <a:p>
            <a:pPr marL="1257300" marR="0" lvl="2" indent="-342900" fontAlgn="auto">
              <a:lnSpc>
                <a:spcPct val="100000"/>
              </a:lnSpc>
              <a:spcBef>
                <a:spcPts val="0"/>
              </a:spcBef>
              <a:spcAft>
                <a:spcPts val="0"/>
              </a:spcAft>
              <a:buClrTx/>
              <a:buSzTx/>
              <a:buFont typeface="Wingdings" panose="05000000000000000000" pitchFamily="2" charset="2"/>
              <a:buChar char="§"/>
              <a:tabLst/>
              <a:defRPr/>
            </a:pPr>
            <a:r>
              <a:rPr lang="en-US" sz="1400" dirty="0">
                <a:solidFill>
                  <a:srgbClr val="002060"/>
                </a:solidFill>
                <a:latin typeface="Berlin Sans FB" panose="020E0602020502020306" pitchFamily="34" charset="0"/>
              </a:rPr>
              <a:t>Secure operational areas</a:t>
            </a:r>
          </a:p>
          <a:p>
            <a:pPr marL="1714500" lvl="3" indent="-342900">
              <a:buFont typeface="Courier New" panose="02070309020205020404" pitchFamily="49" charset="0"/>
              <a:buChar char="o"/>
              <a:defRPr/>
            </a:pPr>
            <a:r>
              <a:rPr lang="en-US" sz="1400" dirty="0">
                <a:solidFill>
                  <a:srgbClr val="002060"/>
                </a:solidFill>
                <a:latin typeface="Berlin Sans FB" panose="020E0602020502020306" pitchFamily="34" charset="0"/>
              </a:rPr>
              <a:t>Restricted access to server rooms and wiring closets</a:t>
            </a:r>
          </a:p>
          <a:p>
            <a:pPr marL="1714500" lvl="3" indent="-342900">
              <a:buFont typeface="Courier New" panose="02070309020205020404" pitchFamily="49" charset="0"/>
              <a:buChar char="o"/>
              <a:defRPr/>
            </a:pPr>
            <a:r>
              <a:rPr lang="en-US" sz="1400" dirty="0">
                <a:solidFill>
                  <a:srgbClr val="002060"/>
                </a:solidFill>
                <a:latin typeface="Berlin Sans FB" panose="020E0602020502020306" pitchFamily="34" charset="0"/>
              </a:rPr>
              <a:t>Secure access to power supplies, generators, elevator shafts</a:t>
            </a:r>
          </a:p>
        </p:txBody>
      </p:sp>
    </p:spTree>
    <p:extLst>
      <p:ext uri="{BB962C8B-B14F-4D97-AF65-F5344CB8AC3E}">
        <p14:creationId xmlns:p14="http://schemas.microsoft.com/office/powerpoint/2010/main" val="9008943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E7B92A-D86B-3F27-D7B1-E98200FA979F}"/>
              </a:ext>
            </a:extLst>
          </p:cNvPr>
          <p:cNvSpPr txBox="1"/>
          <p:nvPr/>
        </p:nvSpPr>
        <p:spPr>
          <a:xfrm>
            <a:off x="881447" y="394410"/>
            <a:ext cx="8188412" cy="4785926"/>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4.2.4 Networks</a:t>
            </a:r>
          </a:p>
          <a:p>
            <a:pPr marL="800100" lvl="1" indent="-342900">
              <a:spcAft>
                <a:spcPts val="1200"/>
              </a:spcAft>
              <a:buFont typeface="+mj-lt"/>
              <a:buAutoNum type="arabicPeriod"/>
            </a:pPr>
            <a:r>
              <a:rPr lang="en-US" sz="1600" dirty="0">
                <a:solidFill>
                  <a:srgbClr val="002060"/>
                </a:solidFill>
                <a:latin typeface="Berlin Sans FB" panose="020E0602020502020306" pitchFamily="34" charset="0"/>
              </a:rPr>
              <a:t>take many forms and can be made up of a variety of specialized devices </a:t>
            </a:r>
            <a:r>
              <a:rPr lang="en-US" sz="1600" dirty="0">
                <a:solidFill>
                  <a:srgbClr val="0070C0"/>
                </a:solidFill>
                <a:latin typeface="Berlin Sans FB" panose="020E0602020502020306" pitchFamily="34" charset="0"/>
              </a:rPr>
              <a:t>including cabling,  switches, routers, firewalls, gateways and wireless access points. </a:t>
            </a:r>
          </a:p>
          <a:p>
            <a:pPr marL="800100" lvl="1" indent="-342900">
              <a:spcAft>
                <a:spcPts val="1200"/>
              </a:spcAft>
              <a:buFont typeface="+mj-lt"/>
              <a:buAutoNum type="arabicPeriod"/>
            </a:pPr>
            <a:r>
              <a:rPr lang="en-US" sz="1600" dirty="0">
                <a:solidFill>
                  <a:srgbClr val="002060"/>
                </a:solidFill>
                <a:latin typeface="Berlin Sans FB" panose="020E0602020502020306" pitchFamily="34" charset="0"/>
              </a:rPr>
              <a:t>They can range in size from </a:t>
            </a:r>
            <a:r>
              <a:rPr lang="en-US" sz="1600" dirty="0">
                <a:solidFill>
                  <a:srgbClr val="0070C0"/>
                </a:solidFill>
                <a:latin typeface="Berlin Sans FB" panose="020E0602020502020306" pitchFamily="34" charset="0"/>
              </a:rPr>
              <a:t>two devices to the Internet itself</a:t>
            </a:r>
            <a:r>
              <a:rPr lang="en-US" sz="1600" dirty="0">
                <a:solidFill>
                  <a:srgbClr val="002060"/>
                </a:solidFill>
                <a:latin typeface="Berlin Sans FB" panose="020E0602020502020306" pitchFamily="34" charset="0"/>
              </a:rPr>
              <a:t>, which is simply a global network of interconnected devices operating on essentially the same principles.</a:t>
            </a:r>
          </a:p>
          <a:p>
            <a:pPr marL="800100" lvl="1" indent="-342900">
              <a:spcAft>
                <a:spcPts val="1200"/>
              </a:spcAft>
              <a:buFont typeface="+mj-lt"/>
              <a:buAutoNum type="arabicPeriod"/>
            </a:pPr>
            <a:r>
              <a:rPr lang="en-US" sz="1600" dirty="0">
                <a:solidFill>
                  <a:srgbClr val="002060"/>
                </a:solidFill>
                <a:latin typeface="Berlin Sans FB" panose="020E0602020502020306" pitchFamily="34" charset="0"/>
              </a:rPr>
              <a:t>most modern networks are digital, where the communications are sent via electrical signals or pulses of light. </a:t>
            </a:r>
            <a:br>
              <a:rPr lang="en-US" sz="1600" dirty="0">
                <a:solidFill>
                  <a:srgbClr val="002060"/>
                </a:solidFill>
                <a:latin typeface="Berlin Sans FB" panose="020E0602020502020306" pitchFamily="34" charset="0"/>
              </a:rPr>
            </a:br>
            <a:endParaRPr lang="en-US" sz="1600" dirty="0">
              <a:solidFill>
                <a:srgbClr val="002060"/>
              </a:solidFill>
              <a:latin typeface="Berlin Sans FB" panose="020E0602020502020306" pitchFamily="34" charset="0"/>
            </a:endParaRPr>
          </a:p>
          <a:p>
            <a:pPr marL="800100" lvl="1" indent="-342900">
              <a:spcAft>
                <a:spcPts val="1200"/>
              </a:spcAft>
              <a:buFont typeface="Wingdings" panose="05000000000000000000" pitchFamily="2" charset="2"/>
              <a:buChar char="q"/>
            </a:pPr>
            <a:r>
              <a:rPr lang="en-US" dirty="0">
                <a:solidFill>
                  <a:srgbClr val="7030A0"/>
                </a:solidFill>
                <a:effectLst>
                  <a:outerShdw blurRad="38100" dist="38100" dir="2700000" algn="tl">
                    <a:srgbClr val="000000">
                      <a:alpha val="43137"/>
                    </a:srgbClr>
                  </a:outerShdw>
                </a:effectLst>
                <a:latin typeface="Berlin Sans FB" panose="020E0602020502020306" pitchFamily="34" charset="0"/>
              </a:rPr>
              <a:t>Networks are used for many purposes, including:</a:t>
            </a:r>
          </a:p>
          <a:p>
            <a:pPr marL="1714500" lvl="3" indent="-342900">
              <a:buFont typeface="Wingdings" panose="05000000000000000000" pitchFamily="2" charset="2"/>
              <a:buChar char="§"/>
            </a:pPr>
            <a:r>
              <a:rPr lang="en-US" sz="1600" dirty="0">
                <a:solidFill>
                  <a:srgbClr val="002060"/>
                </a:solidFill>
                <a:latin typeface="Berlin Sans FB" panose="020E0602020502020306" pitchFamily="34" charset="0"/>
              </a:rPr>
              <a:t>Transferring data between individuals</a:t>
            </a:r>
          </a:p>
          <a:p>
            <a:pPr marL="1714500" lvl="3" indent="-342900">
              <a:buFont typeface="Wingdings" panose="05000000000000000000" pitchFamily="2" charset="2"/>
              <a:buChar char="§"/>
            </a:pPr>
            <a:r>
              <a:rPr lang="en-US" sz="1600" dirty="0">
                <a:solidFill>
                  <a:srgbClr val="002060"/>
                </a:solidFill>
                <a:latin typeface="Berlin Sans FB" panose="020E0602020502020306" pitchFamily="34" charset="0"/>
              </a:rPr>
              <a:t>Transferring data between applications</a:t>
            </a:r>
          </a:p>
          <a:p>
            <a:pPr marL="1714500" lvl="3" indent="-342900">
              <a:buFont typeface="Wingdings" panose="05000000000000000000" pitchFamily="2" charset="2"/>
              <a:buChar char="§"/>
            </a:pPr>
            <a:r>
              <a:rPr lang="en-US" sz="1600" dirty="0">
                <a:solidFill>
                  <a:srgbClr val="002060"/>
                </a:solidFill>
                <a:latin typeface="Berlin Sans FB" panose="020E0602020502020306" pitchFamily="34" charset="0"/>
              </a:rPr>
              <a:t>Controlling and monitoring of remote equipment (such as industrial or supervisory control and data acquisition [SCADA] networks)</a:t>
            </a:r>
          </a:p>
          <a:p>
            <a:pPr marL="1714500" lvl="3" indent="-342900">
              <a:buFont typeface="Wingdings" panose="05000000000000000000" pitchFamily="2" charset="2"/>
              <a:buChar char="§"/>
            </a:pPr>
            <a:r>
              <a:rPr lang="en-US" sz="1600" dirty="0">
                <a:solidFill>
                  <a:srgbClr val="002060"/>
                </a:solidFill>
                <a:latin typeface="Berlin Sans FB" panose="020E0602020502020306" pitchFamily="34" charset="0"/>
              </a:rPr>
              <a:t>Backing up data</a:t>
            </a:r>
          </a:p>
          <a:p>
            <a:pPr marL="1714500" lvl="3" indent="-342900">
              <a:buFont typeface="Wingdings" panose="05000000000000000000" pitchFamily="2" charset="2"/>
              <a:buChar char="§"/>
            </a:pPr>
            <a:r>
              <a:rPr lang="en-US" sz="1600" dirty="0">
                <a:solidFill>
                  <a:srgbClr val="002060"/>
                </a:solidFill>
                <a:latin typeface="Berlin Sans FB" panose="020E0602020502020306" pitchFamily="34" charset="0"/>
              </a:rPr>
              <a:t>Enabling communication between end-user devices (e.g., Bluetooth)</a:t>
            </a:r>
          </a:p>
          <a:p>
            <a:pPr>
              <a:buFont typeface="Symbol" panose="05050102010706020507" pitchFamily="18" charset="2"/>
              <a:buChar char="·"/>
            </a:pPr>
            <a:endParaRPr lang="en-US" sz="1100" dirty="0">
              <a:latin typeface="Courier New" panose="02070309020205020404" pitchFamily="49" charset="0"/>
            </a:endParaRPr>
          </a:p>
        </p:txBody>
      </p:sp>
    </p:spTree>
    <p:extLst>
      <p:ext uri="{BB962C8B-B14F-4D97-AF65-F5344CB8AC3E}">
        <p14:creationId xmlns:p14="http://schemas.microsoft.com/office/powerpoint/2010/main" val="25826082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7B8629-6855-B851-D689-D4D9781EFD2D}"/>
              </a:ext>
            </a:extLst>
          </p:cNvPr>
          <p:cNvSpPr txBox="1"/>
          <p:nvPr/>
        </p:nvSpPr>
        <p:spPr>
          <a:xfrm>
            <a:off x="914399" y="504870"/>
            <a:ext cx="9392654" cy="3970318"/>
          </a:xfrm>
          <a:prstGeom prst="rect">
            <a:avLst/>
          </a:prstGeom>
          <a:noFill/>
        </p:spPr>
        <p:txBody>
          <a:bodyPr wrap="square">
            <a:spAutoFit/>
          </a:bodyPr>
          <a:lstStyle/>
          <a:p>
            <a:r>
              <a:rPr lang="en-US" sz="2000" dirty="0">
                <a:solidFill>
                  <a:srgbClr val="7030A0"/>
                </a:solidFill>
                <a:effectLst>
                  <a:outerShdw blurRad="38100" dist="38100" dir="2700000" algn="tl">
                    <a:srgbClr val="000000">
                      <a:alpha val="43137"/>
                    </a:srgbClr>
                  </a:outerShdw>
                </a:effectLst>
                <a:latin typeface="Berlin Sans FB" panose="020E0602020502020306" pitchFamily="34" charset="0"/>
              </a:rPr>
              <a:t>When assessing networks, the risk practitioner should consider:</a:t>
            </a:r>
          </a:p>
          <a:p>
            <a:endParaRPr lang="en-US" sz="1100" dirty="0">
              <a:latin typeface="Courier New" panose="02070309020205020404" pitchFamily="49" charset="0"/>
            </a:endParaRP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Network configuration and management, including the criticality of network operations</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Network equipment protection</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The use of layered defense (defense in depth)</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Suitable levels of redundancy</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Availability of bandwidth sufficient for intended use cases</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Use of encryption for transmission of sensitive data</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Management of encryption keys</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Damage to cabling and network equipment</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Eavesdropping on communications through physical tapping or logical interception (e.g., man in the middle) Choices and documentation of network architecture</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Management of flow of information via network devices like firewalls, routers, switches, etc.</a:t>
            </a:r>
          </a:p>
        </p:txBody>
      </p:sp>
    </p:spTree>
    <p:extLst>
      <p:ext uri="{BB962C8B-B14F-4D97-AF65-F5344CB8AC3E}">
        <p14:creationId xmlns:p14="http://schemas.microsoft.com/office/powerpoint/2010/main" val="6529006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B93CC7-6E61-4CFA-AB40-9ECF42370B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63425" cy="6336632"/>
          </a:xfrm>
          <a:prstGeom prst="rect">
            <a:avLst/>
          </a:prstGeom>
        </p:spPr>
      </p:pic>
    </p:spTree>
    <p:extLst>
      <p:ext uri="{BB962C8B-B14F-4D97-AF65-F5344CB8AC3E}">
        <p14:creationId xmlns:p14="http://schemas.microsoft.com/office/powerpoint/2010/main" val="16750361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930F909-29FA-4CED-B195-157CFE1731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75" y="0"/>
            <a:ext cx="12134850" cy="6334125"/>
          </a:xfrm>
          <a:prstGeom prst="rect">
            <a:avLst/>
          </a:prstGeom>
        </p:spPr>
      </p:pic>
    </p:spTree>
    <p:extLst>
      <p:ext uri="{BB962C8B-B14F-4D97-AF65-F5344CB8AC3E}">
        <p14:creationId xmlns:p14="http://schemas.microsoft.com/office/powerpoint/2010/main" val="13575421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01408D-F1CB-40ED-B460-F004631765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50" y="0"/>
            <a:ext cx="12134850" cy="6276975"/>
          </a:xfrm>
          <a:prstGeom prst="rect">
            <a:avLst/>
          </a:prstGeom>
        </p:spPr>
      </p:pic>
    </p:spTree>
    <p:extLst>
      <p:ext uri="{BB962C8B-B14F-4D97-AF65-F5344CB8AC3E}">
        <p14:creationId xmlns:p14="http://schemas.microsoft.com/office/powerpoint/2010/main" val="37875359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A20DCC4-730A-4555-943E-E1936821E0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37" y="0"/>
            <a:ext cx="12125325" cy="6315075"/>
          </a:xfrm>
          <a:prstGeom prst="rect">
            <a:avLst/>
          </a:prstGeom>
        </p:spPr>
      </p:pic>
    </p:spTree>
    <p:extLst>
      <p:ext uri="{BB962C8B-B14F-4D97-AF65-F5344CB8AC3E}">
        <p14:creationId xmlns:p14="http://schemas.microsoft.com/office/powerpoint/2010/main" val="40241488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E32028-46F6-4609-B3EF-F2303C72A4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37" y="0"/>
            <a:ext cx="12125325" cy="6324600"/>
          </a:xfrm>
          <a:prstGeom prst="rect">
            <a:avLst/>
          </a:prstGeom>
        </p:spPr>
      </p:pic>
    </p:spTree>
    <p:extLst>
      <p:ext uri="{BB962C8B-B14F-4D97-AF65-F5344CB8AC3E}">
        <p14:creationId xmlns:p14="http://schemas.microsoft.com/office/powerpoint/2010/main" val="41988328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31198F8-7E06-4FA4-9D91-01978FB14A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34850" cy="6224337"/>
          </a:xfrm>
          <a:prstGeom prst="rect">
            <a:avLst/>
          </a:prstGeom>
        </p:spPr>
      </p:pic>
    </p:spTree>
    <p:extLst>
      <p:ext uri="{BB962C8B-B14F-4D97-AF65-F5344CB8AC3E}">
        <p14:creationId xmlns:p14="http://schemas.microsoft.com/office/powerpoint/2010/main" val="36757005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54090E8-B570-40A4-AC2C-138CF2CC76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34850" cy="6168189"/>
          </a:xfrm>
          <a:prstGeom prst="rect">
            <a:avLst/>
          </a:prstGeom>
        </p:spPr>
      </p:pic>
    </p:spTree>
    <p:extLst>
      <p:ext uri="{BB962C8B-B14F-4D97-AF65-F5344CB8AC3E}">
        <p14:creationId xmlns:p14="http://schemas.microsoft.com/office/powerpoint/2010/main" val="19354843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1D2C637-CE81-4AEE-ABE4-A889949D2A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12" y="0"/>
            <a:ext cx="12144375" cy="6304547"/>
          </a:xfrm>
          <a:prstGeom prst="rect">
            <a:avLst/>
          </a:prstGeom>
        </p:spPr>
      </p:pic>
    </p:spTree>
    <p:extLst>
      <p:ext uri="{BB962C8B-B14F-4D97-AF65-F5344CB8AC3E}">
        <p14:creationId xmlns:p14="http://schemas.microsoft.com/office/powerpoint/2010/main" val="17935741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91298F-52CF-4A44-871D-4379ACC36B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 y="0"/>
            <a:ext cx="12182475" cy="6320589"/>
          </a:xfrm>
          <a:prstGeom prst="rect">
            <a:avLst/>
          </a:prstGeom>
        </p:spPr>
      </p:pic>
    </p:spTree>
    <p:extLst>
      <p:ext uri="{BB962C8B-B14F-4D97-AF65-F5344CB8AC3E}">
        <p14:creationId xmlns:p14="http://schemas.microsoft.com/office/powerpoint/2010/main" val="17287926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D1199AC-2011-4983-ABBC-7343456249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75" y="0"/>
            <a:ext cx="12134850" cy="6400800"/>
          </a:xfrm>
          <a:prstGeom prst="rect">
            <a:avLst/>
          </a:prstGeom>
        </p:spPr>
      </p:pic>
    </p:spTree>
    <p:extLst>
      <p:ext uri="{BB962C8B-B14F-4D97-AF65-F5344CB8AC3E}">
        <p14:creationId xmlns:p14="http://schemas.microsoft.com/office/powerpoint/2010/main" val="22497523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1433630-BC2E-4B6A-B2CF-7B2263BC7F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12" y="0"/>
            <a:ext cx="12144375" cy="6208295"/>
          </a:xfrm>
          <a:prstGeom prst="rect">
            <a:avLst/>
          </a:prstGeom>
        </p:spPr>
      </p:pic>
    </p:spTree>
    <p:extLst>
      <p:ext uri="{BB962C8B-B14F-4D97-AF65-F5344CB8AC3E}">
        <p14:creationId xmlns:p14="http://schemas.microsoft.com/office/powerpoint/2010/main" val="1632137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B114224-E250-4093-BCFA-F104EFF158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75" y="0"/>
            <a:ext cx="12134850" cy="6267450"/>
          </a:xfrm>
          <a:prstGeom prst="rect">
            <a:avLst/>
          </a:prstGeom>
        </p:spPr>
      </p:pic>
    </p:spTree>
    <p:extLst>
      <p:ext uri="{BB962C8B-B14F-4D97-AF65-F5344CB8AC3E}">
        <p14:creationId xmlns:p14="http://schemas.microsoft.com/office/powerpoint/2010/main" val="21918733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B676C7-E802-4899-BD8E-ED99D2619D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26" y="0"/>
            <a:ext cx="12134850" cy="6208295"/>
          </a:xfrm>
          <a:prstGeom prst="rect">
            <a:avLst/>
          </a:prstGeom>
        </p:spPr>
      </p:pic>
    </p:spTree>
    <p:extLst>
      <p:ext uri="{BB962C8B-B14F-4D97-AF65-F5344CB8AC3E}">
        <p14:creationId xmlns:p14="http://schemas.microsoft.com/office/powerpoint/2010/main" val="2295990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87AD829-7C33-4D13-AF1B-16242DF3DC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75" y="0"/>
            <a:ext cx="12134850" cy="6272463"/>
          </a:xfrm>
          <a:prstGeom prst="rect">
            <a:avLst/>
          </a:prstGeom>
        </p:spPr>
      </p:pic>
    </p:spTree>
    <p:extLst>
      <p:ext uri="{BB962C8B-B14F-4D97-AF65-F5344CB8AC3E}">
        <p14:creationId xmlns:p14="http://schemas.microsoft.com/office/powerpoint/2010/main" val="21075934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B58CF31-8A7C-45D6-A402-8BD80B5BD8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34850" cy="6160168"/>
          </a:xfrm>
          <a:prstGeom prst="rect">
            <a:avLst/>
          </a:prstGeom>
        </p:spPr>
      </p:pic>
    </p:spTree>
    <p:extLst>
      <p:ext uri="{BB962C8B-B14F-4D97-AF65-F5344CB8AC3E}">
        <p14:creationId xmlns:p14="http://schemas.microsoft.com/office/powerpoint/2010/main" val="40255985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55041F3-0BED-432A-AF81-7BA8199452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34850" cy="6208295"/>
          </a:xfrm>
          <a:prstGeom prst="rect">
            <a:avLst/>
          </a:prstGeom>
        </p:spPr>
      </p:pic>
    </p:spTree>
    <p:extLst>
      <p:ext uri="{BB962C8B-B14F-4D97-AF65-F5344CB8AC3E}">
        <p14:creationId xmlns:p14="http://schemas.microsoft.com/office/powerpoint/2010/main" val="6750601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FAB202F-4F64-4F0A-A456-261B17312D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34850" cy="6400800"/>
          </a:xfrm>
          <a:prstGeom prst="rect">
            <a:avLst/>
          </a:prstGeom>
        </p:spPr>
      </p:pic>
    </p:spTree>
    <p:extLst>
      <p:ext uri="{BB962C8B-B14F-4D97-AF65-F5344CB8AC3E}">
        <p14:creationId xmlns:p14="http://schemas.microsoft.com/office/powerpoint/2010/main" val="15160042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F228657-556C-481A-BC71-88F96BDCFC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34850" cy="6336632"/>
          </a:xfrm>
          <a:prstGeom prst="rect">
            <a:avLst/>
          </a:prstGeom>
        </p:spPr>
      </p:pic>
    </p:spTree>
    <p:extLst>
      <p:ext uri="{BB962C8B-B14F-4D97-AF65-F5344CB8AC3E}">
        <p14:creationId xmlns:p14="http://schemas.microsoft.com/office/powerpoint/2010/main" val="16385451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D34779-E8FA-4221-BDF2-925E8654C9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44375" cy="6288505"/>
          </a:xfrm>
          <a:prstGeom prst="rect">
            <a:avLst/>
          </a:prstGeom>
        </p:spPr>
      </p:pic>
    </p:spTree>
    <p:extLst>
      <p:ext uri="{BB962C8B-B14F-4D97-AF65-F5344CB8AC3E}">
        <p14:creationId xmlns:p14="http://schemas.microsoft.com/office/powerpoint/2010/main" val="435133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0E6DD7-D018-4C4B-8782-D58168416C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34850" cy="6286500"/>
          </a:xfrm>
          <a:prstGeom prst="rect">
            <a:avLst/>
          </a:prstGeom>
        </p:spPr>
      </p:pic>
    </p:spTree>
    <p:extLst>
      <p:ext uri="{BB962C8B-B14F-4D97-AF65-F5344CB8AC3E}">
        <p14:creationId xmlns:p14="http://schemas.microsoft.com/office/powerpoint/2010/main" val="22613251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390C771-4B63-49AB-AA3A-4EE6F62D9E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75" y="0"/>
            <a:ext cx="12134850" cy="6362700"/>
          </a:xfrm>
          <a:prstGeom prst="rect">
            <a:avLst/>
          </a:prstGeom>
        </p:spPr>
      </p:pic>
    </p:spTree>
    <p:extLst>
      <p:ext uri="{BB962C8B-B14F-4D97-AF65-F5344CB8AC3E}">
        <p14:creationId xmlns:p14="http://schemas.microsoft.com/office/powerpoint/2010/main" val="39658008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B3511C-3777-4A60-940E-CB96C59E21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75" y="0"/>
            <a:ext cx="12134850" cy="6400800"/>
          </a:xfrm>
          <a:prstGeom prst="rect">
            <a:avLst/>
          </a:prstGeom>
        </p:spPr>
      </p:pic>
    </p:spTree>
    <p:extLst>
      <p:ext uri="{BB962C8B-B14F-4D97-AF65-F5344CB8AC3E}">
        <p14:creationId xmlns:p14="http://schemas.microsoft.com/office/powerpoint/2010/main" val="40494659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341430-2FB4-41EE-B27C-763A3A7A95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75" y="0"/>
            <a:ext cx="12134850" cy="6305550"/>
          </a:xfrm>
          <a:prstGeom prst="rect">
            <a:avLst/>
          </a:prstGeom>
        </p:spPr>
      </p:pic>
    </p:spTree>
    <p:extLst>
      <p:ext uri="{BB962C8B-B14F-4D97-AF65-F5344CB8AC3E}">
        <p14:creationId xmlns:p14="http://schemas.microsoft.com/office/powerpoint/2010/main" val="1595635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32DA73-1E44-4F33-A0D1-3B8EA692EA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50" y="0"/>
            <a:ext cx="12134850" cy="6192253"/>
          </a:xfrm>
          <a:prstGeom prst="rect">
            <a:avLst/>
          </a:prstGeom>
        </p:spPr>
      </p:pic>
    </p:spTree>
    <p:extLst>
      <p:ext uri="{BB962C8B-B14F-4D97-AF65-F5344CB8AC3E}">
        <p14:creationId xmlns:p14="http://schemas.microsoft.com/office/powerpoint/2010/main" val="20737801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04CA948-2D46-4466-BB64-CEAC74190E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34850" cy="6343650"/>
          </a:xfrm>
          <a:prstGeom prst="rect">
            <a:avLst/>
          </a:prstGeom>
        </p:spPr>
      </p:pic>
    </p:spTree>
    <p:extLst>
      <p:ext uri="{BB962C8B-B14F-4D97-AF65-F5344CB8AC3E}">
        <p14:creationId xmlns:p14="http://schemas.microsoft.com/office/powerpoint/2010/main" val="25136296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27BFCF7-6968-4EBB-A92D-757D49CC93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44375" cy="6272463"/>
          </a:xfrm>
          <a:prstGeom prst="rect">
            <a:avLst/>
          </a:prstGeom>
        </p:spPr>
      </p:pic>
    </p:spTree>
    <p:extLst>
      <p:ext uri="{BB962C8B-B14F-4D97-AF65-F5344CB8AC3E}">
        <p14:creationId xmlns:p14="http://schemas.microsoft.com/office/powerpoint/2010/main" val="14256835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5731DB-BEB8-4C46-B6B0-9CBD2CC6F5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37" y="0"/>
            <a:ext cx="12125325" cy="6248400"/>
          </a:xfrm>
          <a:prstGeom prst="rect">
            <a:avLst/>
          </a:prstGeom>
        </p:spPr>
      </p:pic>
    </p:spTree>
    <p:extLst>
      <p:ext uri="{BB962C8B-B14F-4D97-AF65-F5344CB8AC3E}">
        <p14:creationId xmlns:p14="http://schemas.microsoft.com/office/powerpoint/2010/main" val="10134401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A21993-52C5-4289-AAE3-1B4E920A40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75" y="0"/>
            <a:ext cx="12134850" cy="6305550"/>
          </a:xfrm>
          <a:prstGeom prst="rect">
            <a:avLst/>
          </a:prstGeom>
        </p:spPr>
      </p:pic>
    </p:spTree>
    <p:extLst>
      <p:ext uri="{BB962C8B-B14F-4D97-AF65-F5344CB8AC3E}">
        <p14:creationId xmlns:p14="http://schemas.microsoft.com/office/powerpoint/2010/main" val="23848466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3B0E87-3E1A-457C-9B2F-8251338A0C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12" y="0"/>
            <a:ext cx="12144375" cy="6232358"/>
          </a:xfrm>
          <a:prstGeom prst="rect">
            <a:avLst/>
          </a:prstGeom>
        </p:spPr>
      </p:pic>
    </p:spTree>
    <p:extLst>
      <p:ext uri="{BB962C8B-B14F-4D97-AF65-F5344CB8AC3E}">
        <p14:creationId xmlns:p14="http://schemas.microsoft.com/office/powerpoint/2010/main" val="11289858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7E27B2-D1B8-47F7-8D5D-AAA024E387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34850" cy="6381750"/>
          </a:xfrm>
          <a:prstGeom prst="rect">
            <a:avLst/>
          </a:prstGeom>
        </p:spPr>
      </p:pic>
    </p:spTree>
    <p:extLst>
      <p:ext uri="{BB962C8B-B14F-4D97-AF65-F5344CB8AC3E}">
        <p14:creationId xmlns:p14="http://schemas.microsoft.com/office/powerpoint/2010/main" val="11699726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98307C-CC0D-4E96-A992-42878CEB81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34850" cy="6391275"/>
          </a:xfrm>
          <a:prstGeom prst="rect">
            <a:avLst/>
          </a:prstGeom>
        </p:spPr>
      </p:pic>
    </p:spTree>
    <p:extLst>
      <p:ext uri="{BB962C8B-B14F-4D97-AF65-F5344CB8AC3E}">
        <p14:creationId xmlns:p14="http://schemas.microsoft.com/office/powerpoint/2010/main" val="8283535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674424F-DBB7-4EED-BCF0-9639248E6E68}"/>
              </a:ext>
            </a:extLst>
          </p:cNvPr>
          <p:cNvPicPr>
            <a:picLocks noChangeAspect="1"/>
          </p:cNvPicPr>
          <p:nvPr/>
        </p:nvPicPr>
        <p:blipFill>
          <a:blip r:embed="rId2"/>
          <a:stretch>
            <a:fillRect/>
          </a:stretch>
        </p:blipFill>
        <p:spPr>
          <a:xfrm>
            <a:off x="1949870" y="541306"/>
            <a:ext cx="7775474" cy="5538651"/>
          </a:xfrm>
          <a:prstGeom prst="rect">
            <a:avLst/>
          </a:prstGeom>
        </p:spPr>
      </p:pic>
    </p:spTree>
    <p:extLst>
      <p:ext uri="{BB962C8B-B14F-4D97-AF65-F5344CB8AC3E}">
        <p14:creationId xmlns:p14="http://schemas.microsoft.com/office/powerpoint/2010/main" val="24210653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B2BD1E-71FE-41C4-B448-444067BDB80D}"/>
              </a:ext>
            </a:extLst>
          </p:cNvPr>
          <p:cNvPicPr>
            <a:picLocks noChangeAspect="1"/>
          </p:cNvPicPr>
          <p:nvPr/>
        </p:nvPicPr>
        <p:blipFill rotWithShape="1">
          <a:blip r:embed="rId2">
            <a:extLst>
              <a:ext uri="{28A0092B-C50C-407E-A947-70E740481C1C}">
                <a14:useLocalDpi xmlns:a14="http://schemas.microsoft.com/office/drawing/2010/main" val="0"/>
              </a:ext>
            </a:extLst>
          </a:blip>
          <a:srcRect b="5667"/>
          <a:stretch/>
        </p:blipFill>
        <p:spPr>
          <a:xfrm>
            <a:off x="0" y="0"/>
            <a:ext cx="12192000" cy="6303818"/>
          </a:xfrm>
          <a:prstGeom prst="rect">
            <a:avLst/>
          </a:prstGeom>
        </p:spPr>
      </p:pic>
    </p:spTree>
    <p:extLst>
      <p:ext uri="{BB962C8B-B14F-4D97-AF65-F5344CB8AC3E}">
        <p14:creationId xmlns:p14="http://schemas.microsoft.com/office/powerpoint/2010/main" val="17278098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abad1\Pictures\Picture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3045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19371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F13D1A5-C6B7-4444-BD55-15CCBE887145}"/>
              </a:ext>
            </a:extLst>
          </p:cNvPr>
          <p:cNvPicPr>
            <a:picLocks noChangeAspect="1"/>
          </p:cNvPicPr>
          <p:nvPr/>
        </p:nvPicPr>
        <p:blipFill>
          <a:blip r:embed="rId2"/>
          <a:stretch>
            <a:fillRect/>
          </a:stretch>
        </p:blipFill>
        <p:spPr>
          <a:xfrm>
            <a:off x="304800" y="331570"/>
            <a:ext cx="11582400" cy="5844641"/>
          </a:xfrm>
          <a:prstGeom prst="rect">
            <a:avLst/>
          </a:prstGeom>
        </p:spPr>
      </p:pic>
    </p:spTree>
    <p:extLst>
      <p:ext uri="{BB962C8B-B14F-4D97-AF65-F5344CB8AC3E}">
        <p14:creationId xmlns:p14="http://schemas.microsoft.com/office/powerpoint/2010/main" val="27601966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5A420A3-3236-4ABF-B02B-BE7B7A4C202F}"/>
              </a:ext>
            </a:extLst>
          </p:cNvPr>
          <p:cNvSpPr/>
          <p:nvPr/>
        </p:nvSpPr>
        <p:spPr>
          <a:xfrm>
            <a:off x="1040982" y="201066"/>
            <a:ext cx="8728661" cy="600164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SPAN ports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Since switches provide traffic isolation, a Network Intrusion Detection System (NIDS) connected to a 24-port switch will not see unicast traffic sent to and from other devices on the same switch. </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Configuring a Switched Port Analyzer (SPAN) port is one way to solve this problem, by mirroring traffic from multiple switch ports to one “SPAN port.” SPAN is a Cisco term; HP switches use the term “Mirror port.”</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One drawback to using a switch SPAN port is port bandwidth overload. A 100-megabit, 24-port switch can mirror twenty-three 100-megabit streams of traffic to a 100-megabit SPAN port. The aggregate traffic could easily exceed 100 megabits, meaning the SPAN port (and connected NIDS) will miss traffic.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NETWORK TAPS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 network tap provides a way to “tap” into network traffic, and see all traffic (including all unicast connections) on a network. </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Taps are the preferred way to provide promiscuous network access to a sniffer or Network Intrusion Detection System.</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Taps can “fail open,” so that network traffic will pass in the event of a failure.</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Taps can also provide access to all traffic, including malformed Ethernet frames. A switch will often “clean” that traffic and not pass it. Finally, Taps can be purchased with memory buffers, which cache traffic bursts.</a:t>
            </a:r>
          </a:p>
        </p:txBody>
      </p:sp>
    </p:spTree>
    <p:extLst>
      <p:ext uri="{BB962C8B-B14F-4D97-AF65-F5344CB8AC3E}">
        <p14:creationId xmlns:p14="http://schemas.microsoft.com/office/powerpoint/2010/main" val="7666533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bad1\Pictures\Picture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353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22806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abad1\Pictures\Picture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381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80618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F14F341-C2B8-446B-B538-B4D2D39DEDC1}"/>
              </a:ext>
            </a:extLst>
          </p:cNvPr>
          <p:cNvPicPr>
            <a:picLocks noChangeAspect="1"/>
          </p:cNvPicPr>
          <p:nvPr/>
        </p:nvPicPr>
        <p:blipFill>
          <a:blip r:embed="rId2"/>
          <a:stretch>
            <a:fillRect/>
          </a:stretch>
        </p:blipFill>
        <p:spPr>
          <a:xfrm>
            <a:off x="2057400" y="467360"/>
            <a:ext cx="7732643" cy="3299570"/>
          </a:xfrm>
          <a:prstGeom prst="rect">
            <a:avLst/>
          </a:prstGeom>
        </p:spPr>
      </p:pic>
      <p:sp>
        <p:nvSpPr>
          <p:cNvPr id="3" name="Rectangle 2">
            <a:extLst>
              <a:ext uri="{FF2B5EF4-FFF2-40B4-BE49-F238E27FC236}">
                <a16:creationId xmlns:a16="http://schemas.microsoft.com/office/drawing/2014/main" id="{E61C6975-B7B0-46A4-B43E-5A3787E639B4}"/>
              </a:ext>
            </a:extLst>
          </p:cNvPr>
          <p:cNvSpPr/>
          <p:nvPr/>
        </p:nvSpPr>
        <p:spPr>
          <a:xfrm>
            <a:off x="1177170" y="3840532"/>
            <a:ext cx="8263609" cy="2308324"/>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This network has redundant paths between all four sites. Should any single circuit or site go down, at least one alternate path is available.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fastest circuits are the 45-megabit T3s that connect the data center to each office. Additional 1.5 megabit T1s connect Office A to B, and B to C.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Should the left-most T3 circuit go down, between the Data Center and Office A, there are multiple paths available from the data center to Office A: the fastest is the T3 to Office B, and then the T1 to Office A.</a:t>
            </a:r>
          </a:p>
        </p:txBody>
      </p:sp>
    </p:spTree>
    <p:extLst>
      <p:ext uri="{BB962C8B-B14F-4D97-AF65-F5344CB8AC3E}">
        <p14:creationId xmlns:p14="http://schemas.microsoft.com/office/powerpoint/2010/main" val="20800459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abad1\Pictures\Picture7.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362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5328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DD65DDB-A557-4EC0-B9D6-41D7B3915BB2}"/>
              </a:ext>
            </a:extLst>
          </p:cNvPr>
          <p:cNvSpPr/>
          <p:nvPr/>
        </p:nvSpPr>
        <p:spPr>
          <a:xfrm>
            <a:off x="1282148" y="4798730"/>
            <a:ext cx="8378687" cy="1077218"/>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Firewalls filter traffic between networks.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TCP/IP packet filter and stateful firewalls make decisions based on layers 3 and 4 (IP addresses and ports). Proxy firewalls can also make decisions based on layers 5–7.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Firewalls are multi-homed: they have multiple NICs connected to multiple different networks.</a:t>
            </a:r>
          </a:p>
        </p:txBody>
      </p:sp>
      <p:pic>
        <p:nvPicPr>
          <p:cNvPr id="5" name="Picture 4">
            <a:extLst>
              <a:ext uri="{FF2B5EF4-FFF2-40B4-BE49-F238E27FC236}">
                <a16:creationId xmlns:a16="http://schemas.microsoft.com/office/drawing/2014/main" id="{F906A9DE-3A18-404A-BEFD-A44AB7AA18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3790950"/>
          </a:xfrm>
          <a:prstGeom prst="rect">
            <a:avLst/>
          </a:prstGeom>
        </p:spPr>
      </p:pic>
    </p:spTree>
    <p:extLst>
      <p:ext uri="{BB962C8B-B14F-4D97-AF65-F5344CB8AC3E}">
        <p14:creationId xmlns:p14="http://schemas.microsoft.com/office/powerpoint/2010/main" val="49368924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52046DE-512D-435B-B2BA-32042E082A40}"/>
              </a:ext>
            </a:extLst>
          </p:cNvPr>
          <p:cNvSpPr/>
          <p:nvPr/>
        </p:nvSpPr>
        <p:spPr>
          <a:xfrm>
            <a:off x="214379" y="720391"/>
            <a:ext cx="7041186" cy="440120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Packet Filter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 packet filter is a simple and fast firewall. It has no concept of “state”: each filtering decision must be made on the basis of a single packet. There is no way to refer to past packets to make current decisions.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lack of state makes packet filter firewalls less secure, especially for session less protocols like UDP and ICMP.</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In order to allow ping via a firewall, both ICMP Echo Requests and Echo Replies must be allowed, independently: the firewall cannot match a previous request with a current reply. All Echo Replies are usually allowed, based on the assumption that there must have been a previous matching Echo Request.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UDP-based protocols suffer similar problems. DNS uses UDP port 53 for small queries, so packet filters typically allow all UDP DNS replies on the assumption that there must have been a previous matching request</a:t>
            </a:r>
            <a:r>
              <a:rPr kumimoji="0" lang="en-US" sz="1600" b="0" i="0" u="none" strike="noStrike" kern="1200" cap="none" spc="0" normalizeH="0" baseline="0" noProof="0" dirty="0">
                <a:ln>
                  <a:noFill/>
                </a:ln>
                <a:solidFill>
                  <a:srgbClr val="000000"/>
                </a:solidFill>
                <a:effectLst/>
                <a:uLnTx/>
                <a:uFillTx/>
                <a:latin typeface="Bell MT" pitchFamily="18" charset="0"/>
                <a:ea typeface="+mn-ea"/>
                <a:cs typeface="+mn-cs"/>
              </a:rPr>
              <a:t>.</a:t>
            </a:r>
          </a:p>
        </p:txBody>
      </p:sp>
      <p:pic>
        <p:nvPicPr>
          <p:cNvPr id="3" name="Picture 2">
            <a:extLst>
              <a:ext uri="{FF2B5EF4-FFF2-40B4-BE49-F238E27FC236}">
                <a16:creationId xmlns:a16="http://schemas.microsoft.com/office/drawing/2014/main" id="{FBC0A696-9876-4512-A395-1AF178DC6ADC}"/>
              </a:ext>
            </a:extLst>
          </p:cNvPr>
          <p:cNvPicPr>
            <a:picLocks noChangeAspect="1"/>
          </p:cNvPicPr>
          <p:nvPr/>
        </p:nvPicPr>
        <p:blipFill>
          <a:blip r:embed="rId2"/>
          <a:stretch>
            <a:fillRect/>
          </a:stretch>
        </p:blipFill>
        <p:spPr>
          <a:xfrm>
            <a:off x="8069802" y="790113"/>
            <a:ext cx="3426781" cy="4331483"/>
          </a:xfrm>
          <a:prstGeom prst="rect">
            <a:avLst/>
          </a:prstGeom>
        </p:spPr>
      </p:pic>
    </p:spTree>
    <p:extLst>
      <p:ext uri="{BB962C8B-B14F-4D97-AF65-F5344CB8AC3E}">
        <p14:creationId xmlns:p14="http://schemas.microsoft.com/office/powerpoint/2010/main" val="422679372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36F6A8-408B-4243-807C-7AEF08A801A0}"/>
              </a:ext>
            </a:extLst>
          </p:cNvPr>
          <p:cNvSpPr/>
          <p:nvPr/>
        </p:nvSpPr>
        <p:spPr>
          <a:xfrm>
            <a:off x="738807" y="863769"/>
            <a:ext cx="5648741" cy="255454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1"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Stateful Firewalls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1"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1"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Stateful firewalls </a:t>
            </a: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have a state table that allows the firewall to compare current packets to previous ones. Stateful firewalls are slower than packet filters, but are far more secure.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pic>
        <p:nvPicPr>
          <p:cNvPr id="3" name="Picture 2">
            <a:extLst>
              <a:ext uri="{FF2B5EF4-FFF2-40B4-BE49-F238E27FC236}">
                <a16:creationId xmlns:a16="http://schemas.microsoft.com/office/drawing/2014/main" id="{86557FE1-4698-40EB-B050-BB3A17987F90}"/>
              </a:ext>
            </a:extLst>
          </p:cNvPr>
          <p:cNvPicPr>
            <a:picLocks noChangeAspect="1"/>
          </p:cNvPicPr>
          <p:nvPr/>
        </p:nvPicPr>
        <p:blipFill>
          <a:blip r:embed="rId2"/>
          <a:stretch>
            <a:fillRect/>
          </a:stretch>
        </p:blipFill>
        <p:spPr>
          <a:xfrm>
            <a:off x="7279689" y="1296140"/>
            <a:ext cx="4128117" cy="3320768"/>
          </a:xfrm>
          <a:prstGeom prst="rect">
            <a:avLst/>
          </a:prstGeom>
        </p:spPr>
      </p:pic>
      <p:sp>
        <p:nvSpPr>
          <p:cNvPr id="4" name="Rectangle 3">
            <a:extLst>
              <a:ext uri="{FF2B5EF4-FFF2-40B4-BE49-F238E27FC236}">
                <a16:creationId xmlns:a16="http://schemas.microsoft.com/office/drawing/2014/main" id="{874F68BD-8950-4D16-8B86-68A7F538F3EB}"/>
              </a:ext>
            </a:extLst>
          </p:cNvPr>
          <p:cNvSpPr/>
          <p:nvPr/>
        </p:nvSpPr>
        <p:spPr>
          <a:xfrm>
            <a:off x="738807" y="3053010"/>
            <a:ext cx="5502967" cy="923330"/>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evil.example.com sends an unsolicited ICMP Echo Reply. The stateful firewall, sees no matching state table entry, and denies the traffic.</a:t>
            </a:r>
          </a:p>
        </p:txBody>
      </p:sp>
    </p:spTree>
    <p:extLst>
      <p:ext uri="{BB962C8B-B14F-4D97-AF65-F5344CB8AC3E}">
        <p14:creationId xmlns:p14="http://schemas.microsoft.com/office/powerpoint/2010/main" val="20700012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2BEAF7A-277B-4701-9839-B5A5A5E4D888}"/>
              </a:ext>
            </a:extLst>
          </p:cNvPr>
          <p:cNvSpPr/>
          <p:nvPr/>
        </p:nvSpPr>
        <p:spPr>
          <a:xfrm>
            <a:off x="446166" y="960907"/>
            <a:ext cx="6264965" cy="440120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2060"/>
                </a:solidFill>
                <a:effectLst/>
                <a:uLnTx/>
                <a:uFillTx/>
                <a:latin typeface="Berlin Sans FB Demi" panose="020E0802020502020306" pitchFamily="34" charset="0"/>
                <a:ea typeface="+mn-ea"/>
                <a:cs typeface="+mn-cs"/>
              </a:rPr>
              <a:t>Proxy Firewalls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Proxies are firewalls that act as intermediary servers.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Proxies terminate connections.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Web traffic from Computer 1 to bank.example.com passing via a stateful firewall and a proxy firewall. </a:t>
            </a:r>
          </a:p>
          <a:p>
            <a:pPr marL="742950" marR="0" lvl="1" indent="-285750" algn="l" defTabSz="914400" rtl="0" eaLnBrk="1" fontAlgn="auto" latinLnBrk="0" hangingPunct="1">
              <a:lnSpc>
                <a:spcPct val="100000"/>
              </a:lnSpc>
              <a:spcBef>
                <a:spcPts val="0"/>
              </a:spcBef>
              <a:spcAft>
                <a:spcPts val="0"/>
              </a:spcAft>
              <a:buClrTx/>
              <a:buSzTx/>
              <a:buFont typeface="Wingdings"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stateful firewall passes one TCP three-way handshake between Computer 1 and bank.example.com. A packet filter will do the same.</a:t>
            </a:r>
          </a:p>
          <a:p>
            <a:pPr marL="742950" marR="0" lvl="1" indent="-285750" algn="l" defTabSz="914400" rtl="0" eaLnBrk="1" fontAlgn="auto" latinLnBrk="0" hangingPunct="1">
              <a:lnSpc>
                <a:spcPct val="100000"/>
              </a:lnSpc>
              <a:spcBef>
                <a:spcPts val="0"/>
              </a:spcBef>
              <a:spcAft>
                <a:spcPts val="0"/>
              </a:spcAft>
              <a:buClrTx/>
              <a:buSzTx/>
              <a:buFont typeface="Wingdings"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proxy firewall terminates the TCP connection from Computer 1, and initiates a TCP connection with bank.example.com. In this case, there are two handshakes: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Computer 1 → Proxy, and Proxy → bank.example.com.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Like NAT, a proxy hides the origin of a connection.</a:t>
            </a:r>
          </a:p>
        </p:txBody>
      </p:sp>
      <p:pic>
        <p:nvPicPr>
          <p:cNvPr id="3" name="Picture 2">
            <a:extLst>
              <a:ext uri="{FF2B5EF4-FFF2-40B4-BE49-F238E27FC236}">
                <a16:creationId xmlns:a16="http://schemas.microsoft.com/office/drawing/2014/main" id="{4DC4E246-BFDB-45E0-A968-53E8E5FC4B39}"/>
              </a:ext>
            </a:extLst>
          </p:cNvPr>
          <p:cNvPicPr>
            <a:picLocks noChangeAspect="1"/>
          </p:cNvPicPr>
          <p:nvPr/>
        </p:nvPicPr>
        <p:blipFill>
          <a:blip r:embed="rId2"/>
          <a:stretch>
            <a:fillRect/>
          </a:stretch>
        </p:blipFill>
        <p:spPr>
          <a:xfrm>
            <a:off x="6894446" y="816746"/>
            <a:ext cx="4424584" cy="4545366"/>
          </a:xfrm>
          <a:prstGeom prst="rect">
            <a:avLst/>
          </a:prstGeom>
        </p:spPr>
      </p:pic>
    </p:spTree>
    <p:extLst>
      <p:ext uri="{BB962C8B-B14F-4D97-AF65-F5344CB8AC3E}">
        <p14:creationId xmlns:p14="http://schemas.microsoft.com/office/powerpoint/2010/main" val="45644943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C:\Users\abad1\Pictures\Picture17.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34851" cy="6372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909281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C:\Users\abad1\Pictures\Picture1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391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078948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D871F4-F7E5-404C-A09E-4C3B45C9E93B}"/>
              </a:ext>
            </a:extLst>
          </p:cNvPr>
          <p:cNvSpPr/>
          <p:nvPr/>
        </p:nvSpPr>
        <p:spPr>
          <a:xfrm>
            <a:off x="626165" y="1142500"/>
            <a:ext cx="8001000" cy="421653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2060"/>
                </a:solidFill>
                <a:effectLst/>
                <a:uLnTx/>
                <a:uFillTx/>
                <a:latin typeface="Berlin Sans FB Demi" panose="020E0802020502020306" pitchFamily="34" charset="0"/>
                <a:ea typeface="+mn-ea"/>
                <a:cs typeface="+mn-cs"/>
              </a:rPr>
              <a:t>Application-Layer Proxy Firewalls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Application-layer proxy firewalls operate up to Layer 7. Unlike packet filter and stateful firewalls that make decisions based on layers 3 and 4 only, application-layer proxies can make filtering decisions based on application-layer data, such as HTTP traffic, in addition to layers 3 and 4.</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Application-layer proxies must understand the protocol that is proxied, so dedicated proxies are often required for each protocol: an FTP proxy for FTP traffic, an HTTP proxy for Web traffic, etc. This allows tighter control of filtering decisions.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Instead of relying on IP addresses and ports alone, an HTTP proxy can also make decisions based on HTTP data, including the content of Web data, for example. This allows sites to block access to explicit Web content.</a:t>
            </a:r>
          </a:p>
        </p:txBody>
      </p:sp>
    </p:spTree>
    <p:extLst>
      <p:ext uri="{BB962C8B-B14F-4D97-AF65-F5344CB8AC3E}">
        <p14:creationId xmlns:p14="http://schemas.microsoft.com/office/powerpoint/2010/main" val="24644467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2792984-56EA-421E-BFB9-CEA48F8393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324600"/>
          </a:xfrm>
          <a:prstGeom prst="rect">
            <a:avLst/>
          </a:prstGeom>
        </p:spPr>
      </p:pic>
    </p:spTree>
    <p:extLst>
      <p:ext uri="{BB962C8B-B14F-4D97-AF65-F5344CB8AC3E}">
        <p14:creationId xmlns:p14="http://schemas.microsoft.com/office/powerpoint/2010/main" val="9092926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5907F9-8E52-4A9B-A374-77F340798B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362700"/>
          </a:xfrm>
          <a:prstGeom prst="rect">
            <a:avLst/>
          </a:prstGeom>
        </p:spPr>
      </p:pic>
    </p:spTree>
    <p:extLst>
      <p:ext uri="{BB962C8B-B14F-4D97-AF65-F5344CB8AC3E}">
        <p14:creationId xmlns:p14="http://schemas.microsoft.com/office/powerpoint/2010/main" val="27683302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D13EF4-88BC-4D80-85F4-8958F1D5DE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 y="0"/>
            <a:ext cx="12153900" cy="6210300"/>
          </a:xfrm>
          <a:prstGeom prst="rect">
            <a:avLst/>
          </a:prstGeom>
        </p:spPr>
      </p:pic>
    </p:spTree>
    <p:extLst>
      <p:ext uri="{BB962C8B-B14F-4D97-AF65-F5344CB8AC3E}">
        <p14:creationId xmlns:p14="http://schemas.microsoft.com/office/powerpoint/2010/main" val="148719908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D140AE-00A3-4FA3-B0EB-8652ACF812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238875"/>
          </a:xfrm>
          <a:prstGeom prst="rect">
            <a:avLst/>
          </a:prstGeom>
        </p:spPr>
      </p:pic>
    </p:spTree>
    <p:extLst>
      <p:ext uri="{BB962C8B-B14F-4D97-AF65-F5344CB8AC3E}">
        <p14:creationId xmlns:p14="http://schemas.microsoft.com/office/powerpoint/2010/main" val="48739794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C:\Users\abad1\Pictures\Picture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 y="0"/>
            <a:ext cx="12134850" cy="636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094805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C:\Users\abad1\Pictures\Picture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6579"/>
            <a:ext cx="12192001" cy="6448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552218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C:\Users\abad1\Pictures\Picture1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 y="0"/>
            <a:ext cx="12134850" cy="6324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207401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C:\Users\abad1\Pictures\Picture1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34850" cy="6305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532690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Users\abad1\Pictures\Picture1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372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262361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C:\Users\abad1\Pictures\Picture1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7559"/>
            <a:ext cx="12192000" cy="6448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510376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C:\Users\abad1\Pictures\Picture1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847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629293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C:\Users\abad1\Pictures\Picture1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438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549691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Users\abad1\Pictures\Picture2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5" y="0"/>
            <a:ext cx="12125325" cy="6362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188572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C:\Users\abad1\Pictures\Picture2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 y="0"/>
            <a:ext cx="12134850" cy="63286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912049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C:\Users\abad1\Pictures\Picture2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64380"/>
            <a:ext cx="12192000" cy="6343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743414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C:\Users\abad1\Pictures\Picture2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1" cy="6256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66855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C:\Users\abad1\Pictures\Picture2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42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667119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64BB53A-6030-4DD5-ABEC-DE62A89780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343650"/>
          </a:xfrm>
          <a:prstGeom prst="rect">
            <a:avLst/>
          </a:prstGeom>
        </p:spPr>
      </p:pic>
    </p:spTree>
    <p:extLst>
      <p:ext uri="{BB962C8B-B14F-4D97-AF65-F5344CB8AC3E}">
        <p14:creationId xmlns:p14="http://schemas.microsoft.com/office/powerpoint/2010/main" val="285328699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708E1A2-5AF7-4872-B505-12B837CBAD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53900" cy="6321287"/>
          </a:xfrm>
          <a:prstGeom prst="rect">
            <a:avLst/>
          </a:prstGeom>
        </p:spPr>
      </p:pic>
    </p:spTree>
    <p:extLst>
      <p:ext uri="{BB962C8B-B14F-4D97-AF65-F5344CB8AC3E}">
        <p14:creationId xmlns:p14="http://schemas.microsoft.com/office/powerpoint/2010/main" val="279952834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5CC45CE-B96F-4DEA-892A-B51E50C7C7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53900" cy="6334125"/>
          </a:xfrm>
          <a:prstGeom prst="rect">
            <a:avLst/>
          </a:prstGeom>
        </p:spPr>
      </p:pic>
    </p:spTree>
    <p:extLst>
      <p:ext uri="{BB962C8B-B14F-4D97-AF65-F5344CB8AC3E}">
        <p14:creationId xmlns:p14="http://schemas.microsoft.com/office/powerpoint/2010/main" val="107088537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2149DD-1006-4816-8BEF-2FC7130F3F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53900" cy="6210300"/>
          </a:xfrm>
          <a:prstGeom prst="rect">
            <a:avLst/>
          </a:prstGeom>
        </p:spPr>
      </p:pic>
    </p:spTree>
    <p:extLst>
      <p:ext uri="{BB962C8B-B14F-4D97-AF65-F5344CB8AC3E}">
        <p14:creationId xmlns:p14="http://schemas.microsoft.com/office/powerpoint/2010/main" val="184141967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91E94F-6710-4F7D-87BD-D646A1474D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04" y="0"/>
            <a:ext cx="12192000" cy="6440557"/>
          </a:xfrm>
          <a:prstGeom prst="rect">
            <a:avLst/>
          </a:prstGeom>
        </p:spPr>
      </p:pic>
    </p:spTree>
    <p:extLst>
      <p:ext uri="{BB962C8B-B14F-4D97-AF65-F5344CB8AC3E}">
        <p14:creationId xmlns:p14="http://schemas.microsoft.com/office/powerpoint/2010/main" val="187363713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1440A1-791D-4469-A649-C2C2954D0D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321287"/>
          </a:xfrm>
          <a:prstGeom prst="rect">
            <a:avLst/>
          </a:prstGeom>
        </p:spPr>
      </p:pic>
    </p:spTree>
    <p:extLst>
      <p:ext uri="{BB962C8B-B14F-4D97-AF65-F5344CB8AC3E}">
        <p14:creationId xmlns:p14="http://schemas.microsoft.com/office/powerpoint/2010/main" val="9271716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A2A3678-F22C-4EDC-9AD8-D0D5E45881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53900" cy="6353175"/>
          </a:xfrm>
          <a:prstGeom prst="rect">
            <a:avLst/>
          </a:prstGeom>
        </p:spPr>
      </p:pic>
    </p:spTree>
    <p:extLst>
      <p:ext uri="{BB962C8B-B14F-4D97-AF65-F5344CB8AC3E}">
        <p14:creationId xmlns:p14="http://schemas.microsoft.com/office/powerpoint/2010/main" val="109820609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642C81-F71B-4668-9248-77C00FBE13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9026"/>
            <a:ext cx="12192000" cy="6467475"/>
          </a:xfrm>
          <a:prstGeom prst="rect">
            <a:avLst/>
          </a:prstGeom>
        </p:spPr>
      </p:pic>
    </p:spTree>
    <p:extLst>
      <p:ext uri="{BB962C8B-B14F-4D97-AF65-F5344CB8AC3E}">
        <p14:creationId xmlns:p14="http://schemas.microsoft.com/office/powerpoint/2010/main" val="172533665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C:\Users\abad1\Pictures\Picture2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372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799473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C:\Users\abad1\Pictures\Picture26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25" y="0"/>
            <a:ext cx="12144375" cy="6353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045039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C:\Users\abad1\Pictures\Picture2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40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844032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95C7E8-2FCB-4931-8E3B-F1AB47CF73F4}"/>
              </a:ext>
            </a:extLst>
          </p:cNvPr>
          <p:cNvPicPr>
            <a:picLocks noChangeAspect="1"/>
          </p:cNvPicPr>
          <p:nvPr/>
        </p:nvPicPr>
        <p:blipFill rotWithShape="1">
          <a:blip r:embed="rId2">
            <a:extLst>
              <a:ext uri="{28A0092B-C50C-407E-A947-70E740481C1C}">
                <a14:useLocalDpi xmlns:a14="http://schemas.microsoft.com/office/drawing/2010/main" val="0"/>
              </a:ext>
            </a:extLst>
          </a:blip>
          <a:srcRect b="6061"/>
          <a:stretch/>
        </p:blipFill>
        <p:spPr>
          <a:xfrm>
            <a:off x="0" y="0"/>
            <a:ext cx="12192000" cy="6208295"/>
          </a:xfrm>
          <a:prstGeom prst="rect">
            <a:avLst/>
          </a:prstGeom>
        </p:spPr>
      </p:pic>
    </p:spTree>
    <p:extLst>
      <p:ext uri="{BB962C8B-B14F-4D97-AF65-F5344CB8AC3E}">
        <p14:creationId xmlns:p14="http://schemas.microsoft.com/office/powerpoint/2010/main" val="12879296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C:\Users\abad1\Pictures\Picture3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
            <a:ext cx="12192001" cy="6410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657802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descr="C:\Users\abad1\Pictures\Picture3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36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691225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C:\Users\abad1\Pictures\Picture3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1" cy="60879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796786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descr="C:\Users\abad1\Pictures\Picture4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353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939638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C:\Users\abad1\Pictures\Picture4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12192000" cy="61601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546614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descr="C:\Users\abad1\Pictures\Picture4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229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837839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030D91-D0E4-4389-B154-D959C7296D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25" y="152400"/>
            <a:ext cx="12096750" cy="6124575"/>
          </a:xfrm>
          <a:prstGeom prst="rect">
            <a:avLst/>
          </a:prstGeom>
        </p:spPr>
      </p:pic>
    </p:spTree>
    <p:extLst>
      <p:ext uri="{BB962C8B-B14F-4D97-AF65-F5344CB8AC3E}">
        <p14:creationId xmlns:p14="http://schemas.microsoft.com/office/powerpoint/2010/main" val="2548644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0D0050D-8DD7-4098-9DA9-2CA381C201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37" y="0"/>
            <a:ext cx="12125325" cy="6172200"/>
          </a:xfrm>
          <a:prstGeom prst="rect">
            <a:avLst/>
          </a:prstGeom>
        </p:spPr>
      </p:pic>
    </p:spTree>
    <p:extLst>
      <p:ext uri="{BB962C8B-B14F-4D97-AF65-F5344CB8AC3E}">
        <p14:creationId xmlns:p14="http://schemas.microsoft.com/office/powerpoint/2010/main" val="384759486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FED14B2-B6CD-47C7-A566-71F615426AC1}"/>
              </a:ext>
            </a:extLst>
          </p:cNvPr>
          <p:cNvSpPr/>
          <p:nvPr/>
        </p:nvSpPr>
        <p:spPr>
          <a:xfrm>
            <a:off x="1194261" y="4541580"/>
            <a:ext cx="9123680" cy="1754326"/>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 the 1980s and 1990s, the enterprise IT landscape shifted dramatically We moved away from the world of monolithic mainframes to a new environment of client server computing.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This shift brought tremendous benefits. First, it put computing power right on the desktop, allowing users to perform many actions directly on their own machines without requiring mainframe access.</a:t>
            </a:r>
          </a:p>
        </p:txBody>
      </p:sp>
      <p:pic>
        <p:nvPicPr>
          <p:cNvPr id="4" name="Picture 3">
            <a:extLst>
              <a:ext uri="{FF2B5EF4-FFF2-40B4-BE49-F238E27FC236}">
                <a16:creationId xmlns:a16="http://schemas.microsoft.com/office/drawing/2014/main" id="{33A10F0C-9607-46CF-A168-2A6A1809D0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75" y="0"/>
            <a:ext cx="12125325" cy="4305300"/>
          </a:xfrm>
          <a:prstGeom prst="rect">
            <a:avLst/>
          </a:prstGeom>
        </p:spPr>
      </p:pic>
    </p:spTree>
    <p:extLst>
      <p:ext uri="{BB962C8B-B14F-4D97-AF65-F5344CB8AC3E}">
        <p14:creationId xmlns:p14="http://schemas.microsoft.com/office/powerpoint/2010/main" val="70524618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2BA4390-B231-431F-B9F1-6603BAB6DB89}"/>
              </a:ext>
            </a:extLst>
          </p:cNvPr>
          <p:cNvSpPr/>
          <p:nvPr/>
        </p:nvSpPr>
        <p:spPr>
          <a:xfrm>
            <a:off x="1240859" y="4785569"/>
            <a:ext cx="9509760" cy="1200329"/>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client server model has served us well but it's also resulted in wasted resources.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Data center managers realized that most of the time many of their servers were sitting idle, waiting for a future burst in activity. That's not very efficient.</a:t>
            </a:r>
          </a:p>
        </p:txBody>
      </p:sp>
      <p:pic>
        <p:nvPicPr>
          <p:cNvPr id="5" name="Picture 4">
            <a:extLst>
              <a:ext uri="{FF2B5EF4-FFF2-40B4-BE49-F238E27FC236}">
                <a16:creationId xmlns:a16="http://schemas.microsoft.com/office/drawing/2014/main" id="{71F4A4BD-DD80-47B8-A12B-2917282707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4476750"/>
          </a:xfrm>
          <a:prstGeom prst="rect">
            <a:avLst/>
          </a:prstGeom>
        </p:spPr>
      </p:pic>
    </p:spTree>
    <p:extLst>
      <p:ext uri="{BB962C8B-B14F-4D97-AF65-F5344CB8AC3E}">
        <p14:creationId xmlns:p14="http://schemas.microsoft.com/office/powerpoint/2010/main" val="122788774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79F126-4465-4784-8FDC-BAA344B99B11}"/>
              </a:ext>
            </a:extLst>
          </p:cNvPr>
          <p:cNvSpPr/>
          <p:nvPr/>
        </p:nvSpPr>
        <p:spPr>
          <a:xfrm>
            <a:off x="1855917" y="4133850"/>
            <a:ext cx="7272041" cy="2031325"/>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Virtualization technology is designed to enforce isolation strictly, and the providers of virtualization technology take seriously any vulnerabilities that might allow VM escape.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Security professionals working in virtualized environments should pay particular attention to any security updates that affect their virtualization platforms, and they should apply patches promptly.</a:t>
            </a:r>
          </a:p>
        </p:txBody>
      </p:sp>
      <p:pic>
        <p:nvPicPr>
          <p:cNvPr id="5" name="Picture 4">
            <a:extLst>
              <a:ext uri="{FF2B5EF4-FFF2-40B4-BE49-F238E27FC236}">
                <a16:creationId xmlns:a16="http://schemas.microsoft.com/office/drawing/2014/main" id="{C2B36B7C-5654-4DE6-9D1D-DF3F17C66C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75" y="0"/>
            <a:ext cx="12125325" cy="4133850"/>
          </a:xfrm>
          <a:prstGeom prst="rect">
            <a:avLst/>
          </a:prstGeom>
        </p:spPr>
      </p:pic>
    </p:spTree>
    <p:extLst>
      <p:ext uri="{BB962C8B-B14F-4D97-AF65-F5344CB8AC3E}">
        <p14:creationId xmlns:p14="http://schemas.microsoft.com/office/powerpoint/2010/main" val="1911121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9DDBEE-2BC3-476E-B9A7-0EEDE6586C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229350"/>
          </a:xfrm>
          <a:prstGeom prst="rect">
            <a:avLst/>
          </a:prstGeom>
        </p:spPr>
      </p:pic>
    </p:spTree>
    <p:extLst>
      <p:ext uri="{BB962C8B-B14F-4D97-AF65-F5344CB8AC3E}">
        <p14:creationId xmlns:p14="http://schemas.microsoft.com/office/powerpoint/2010/main" val="174347051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59DF8A-3A9A-4F42-B983-E6D35337F8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363477"/>
          </a:xfrm>
          <a:prstGeom prst="rect">
            <a:avLst/>
          </a:prstGeom>
        </p:spPr>
      </p:pic>
    </p:spTree>
    <p:extLst>
      <p:ext uri="{BB962C8B-B14F-4D97-AF65-F5344CB8AC3E}">
        <p14:creationId xmlns:p14="http://schemas.microsoft.com/office/powerpoint/2010/main" val="26934922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237</TotalTime>
  <Words>3146</Words>
  <Application>Microsoft Office PowerPoint</Application>
  <PresentationFormat>Widescreen</PresentationFormat>
  <Paragraphs>277</Paragraphs>
  <Slides>113</Slides>
  <Notes>2</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113</vt:i4>
      </vt:variant>
    </vt:vector>
  </HeadingPairs>
  <TitlesOfParts>
    <vt:vector size="124" baseType="lpstr">
      <vt:lpstr>Arial</vt:lpstr>
      <vt:lpstr>Bell MT</vt:lpstr>
      <vt:lpstr>Berlin Sans FB</vt:lpstr>
      <vt:lpstr>Berlin Sans FB Demi</vt:lpstr>
      <vt:lpstr>Calibri</vt:lpstr>
      <vt:lpstr>Calibri Light</vt:lpstr>
      <vt:lpstr>Courier New</vt:lpstr>
      <vt:lpstr>Symbol</vt:lpstr>
      <vt:lpstr>Wingdings</vt:lpstr>
      <vt:lpstr>Office Theme</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YOUSSRY KHATTAB</dc:creator>
  <cp:lastModifiedBy>YOUSSRY KHATTAB</cp:lastModifiedBy>
  <cp:revision>11</cp:revision>
  <dcterms:created xsi:type="dcterms:W3CDTF">2022-11-08T17:42:54Z</dcterms:created>
  <dcterms:modified xsi:type="dcterms:W3CDTF">2023-06-11T11:05:03Z</dcterms:modified>
</cp:coreProperties>
</file>
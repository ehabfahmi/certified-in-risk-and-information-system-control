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06"/>
  </p:notesMasterIdLst>
  <p:sldIdLst>
    <p:sldId id="1362" r:id="rId3"/>
    <p:sldId id="1370" r:id="rId4"/>
    <p:sldId id="1647" r:id="rId5"/>
    <p:sldId id="2399" r:id="rId6"/>
    <p:sldId id="1648" r:id="rId7"/>
    <p:sldId id="1649" r:id="rId8"/>
    <p:sldId id="1377" r:id="rId9"/>
    <p:sldId id="1662" r:id="rId10"/>
    <p:sldId id="1611" r:id="rId11"/>
    <p:sldId id="1613" r:id="rId12"/>
    <p:sldId id="1615" r:id="rId13"/>
    <p:sldId id="1630" r:id="rId14"/>
    <p:sldId id="1955" r:id="rId15"/>
    <p:sldId id="1796" r:id="rId16"/>
    <p:sldId id="1794" r:id="rId17"/>
    <p:sldId id="1795" r:id="rId18"/>
    <p:sldId id="1799" r:id="rId19"/>
    <p:sldId id="1802" r:id="rId20"/>
    <p:sldId id="1803" r:id="rId21"/>
    <p:sldId id="378" r:id="rId22"/>
    <p:sldId id="1804" r:id="rId23"/>
    <p:sldId id="379" r:id="rId24"/>
    <p:sldId id="382" r:id="rId25"/>
    <p:sldId id="381" r:id="rId26"/>
    <p:sldId id="1818" r:id="rId27"/>
    <p:sldId id="384" r:id="rId28"/>
    <p:sldId id="386" r:id="rId29"/>
    <p:sldId id="1632" r:id="rId30"/>
    <p:sldId id="387" r:id="rId31"/>
    <p:sldId id="388" r:id="rId32"/>
    <p:sldId id="1633" r:id="rId33"/>
    <p:sldId id="389" r:id="rId34"/>
    <p:sldId id="390" r:id="rId35"/>
    <p:sldId id="391" r:id="rId36"/>
    <p:sldId id="2395" r:id="rId37"/>
    <p:sldId id="2396" r:id="rId38"/>
    <p:sldId id="1992" r:id="rId39"/>
    <p:sldId id="1993" r:id="rId40"/>
    <p:sldId id="1994" r:id="rId41"/>
    <p:sldId id="2397" r:id="rId42"/>
    <p:sldId id="2398" r:id="rId43"/>
    <p:sldId id="1913" r:id="rId44"/>
    <p:sldId id="1914" r:id="rId45"/>
    <p:sldId id="1915" r:id="rId46"/>
    <p:sldId id="1916" r:id="rId47"/>
    <p:sldId id="2095" r:id="rId48"/>
    <p:sldId id="2096" r:id="rId49"/>
    <p:sldId id="2097" r:id="rId50"/>
    <p:sldId id="2098" r:id="rId51"/>
    <p:sldId id="2105" r:id="rId52"/>
    <p:sldId id="1751" r:id="rId53"/>
    <p:sldId id="443" r:id="rId54"/>
    <p:sldId id="2091" r:id="rId55"/>
    <p:sldId id="2009" r:id="rId56"/>
    <p:sldId id="294" r:id="rId57"/>
    <p:sldId id="2387" r:id="rId58"/>
    <p:sldId id="296" r:id="rId59"/>
    <p:sldId id="500" r:id="rId60"/>
    <p:sldId id="298" r:id="rId61"/>
    <p:sldId id="2388" r:id="rId62"/>
    <p:sldId id="570" r:id="rId63"/>
    <p:sldId id="300" r:id="rId64"/>
    <p:sldId id="301" r:id="rId65"/>
    <p:sldId id="303" r:id="rId66"/>
    <p:sldId id="306" r:id="rId67"/>
    <p:sldId id="307" r:id="rId68"/>
    <p:sldId id="308" r:id="rId69"/>
    <p:sldId id="309" r:id="rId70"/>
    <p:sldId id="1740" r:id="rId71"/>
    <p:sldId id="1877" r:id="rId72"/>
    <p:sldId id="1878" r:id="rId73"/>
    <p:sldId id="1879" r:id="rId74"/>
    <p:sldId id="1880" r:id="rId75"/>
    <p:sldId id="1881" r:id="rId76"/>
    <p:sldId id="1887" r:id="rId77"/>
    <p:sldId id="1888" r:id="rId78"/>
    <p:sldId id="1889" r:id="rId79"/>
    <p:sldId id="1904" r:id="rId80"/>
    <p:sldId id="1906" r:id="rId81"/>
    <p:sldId id="1908" r:id="rId82"/>
    <p:sldId id="1907" r:id="rId83"/>
    <p:sldId id="1909" r:id="rId84"/>
    <p:sldId id="1910" r:id="rId85"/>
    <p:sldId id="1911" r:id="rId86"/>
    <p:sldId id="1912" r:id="rId87"/>
    <p:sldId id="2010" r:id="rId88"/>
    <p:sldId id="1200" r:id="rId89"/>
    <p:sldId id="1199" r:id="rId90"/>
    <p:sldId id="1194" r:id="rId91"/>
    <p:sldId id="1195" r:id="rId92"/>
    <p:sldId id="1226" r:id="rId93"/>
    <p:sldId id="1227" r:id="rId94"/>
    <p:sldId id="1222" r:id="rId95"/>
    <p:sldId id="1234" r:id="rId96"/>
    <p:sldId id="1233" r:id="rId97"/>
    <p:sldId id="1242" r:id="rId98"/>
    <p:sldId id="289" r:id="rId99"/>
    <p:sldId id="290" r:id="rId100"/>
    <p:sldId id="291" r:id="rId101"/>
    <p:sldId id="293" r:id="rId102"/>
    <p:sldId id="295" r:id="rId103"/>
    <p:sldId id="297" r:id="rId104"/>
    <p:sldId id="299" r:id="rId10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076" autoAdjust="0"/>
    <p:restoredTop sz="94660"/>
  </p:normalViewPr>
  <p:slideViewPr>
    <p:cSldViewPr snapToGrid="0">
      <p:cViewPr varScale="1">
        <p:scale>
          <a:sx n="125" d="100"/>
          <a:sy n="125" d="100"/>
        </p:scale>
        <p:origin x="258" y="96"/>
      </p:cViewPr>
      <p:guideLst/>
    </p:cSldViewPr>
  </p:slideViewPr>
  <p:notesTextViewPr>
    <p:cViewPr>
      <p:scale>
        <a:sx n="1" d="1"/>
        <a:sy n="1" d="1"/>
      </p:scale>
      <p:origin x="0" y="0"/>
    </p:cViewPr>
  </p:notesTextViewPr>
  <p:sorterViewPr>
    <p:cViewPr>
      <p:scale>
        <a:sx n="100" d="100"/>
        <a:sy n="100" d="100"/>
      </p:scale>
      <p:origin x="0" y="-120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07" Type="http://schemas.openxmlformats.org/officeDocument/2006/relationships/presProps" Target="presProps.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102" Type="http://schemas.openxmlformats.org/officeDocument/2006/relationships/slide" Target="slides/slide100.xml"/><Relationship Id="rId110"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theme" Target="theme/theme1.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5DEFD9-8D15-4B03-82ED-BDD7BB9D11B1}" type="datetimeFigureOut">
              <a:rPr lang="en-US" smtClean="0"/>
              <a:t>6/12/2023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E277DE-AB2C-4F1A-B1A6-634C0DCAE26D}" type="slidenum">
              <a:rPr lang="en-US" smtClean="0"/>
              <a:t>‹#›</a:t>
            </a:fld>
            <a:endParaRPr lang="en-US"/>
          </a:p>
        </p:txBody>
      </p:sp>
    </p:spTree>
    <p:extLst>
      <p:ext uri="{BB962C8B-B14F-4D97-AF65-F5344CB8AC3E}">
        <p14:creationId xmlns:p14="http://schemas.microsoft.com/office/powerpoint/2010/main" val="3076603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5750AB-F92F-42CE-A0E0-064854E961C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42654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5750AB-F92F-42CE-A0E0-064854E961C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4465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5750AB-F92F-42CE-A0E0-064854E961C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7359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5750AB-F92F-42CE-A0E0-064854E961C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38469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5750AB-F92F-42CE-A0E0-064854E961C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2723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5750AB-F92F-42CE-A0E0-064854E961C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16048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5750AB-F92F-42CE-A0E0-064854E961C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21778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5750AB-F92F-42CE-A0E0-064854E961C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40557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77B690-5E8F-4295-B063-DA78EC85A8A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3341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3F945A-A123-42DA-9F0F-E6165504DB1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89364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C0100B-7573-433C-9DF5-E8ED11D72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938430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C0100B-7573-433C-9DF5-E8ED11D72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117643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C0100B-7573-433C-9DF5-E8ED11D72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95537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3BA53-B1B8-09B6-6403-F72469710C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156B150-8ED7-4243-24BC-E17D6BEA0A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C62B37-63DD-CB5B-5626-CA60230CBB45}"/>
              </a:ext>
            </a:extLst>
          </p:cNvPr>
          <p:cNvSpPr>
            <a:spLocks noGrp="1"/>
          </p:cNvSpPr>
          <p:nvPr>
            <p:ph type="dt" sz="half" idx="10"/>
          </p:nvPr>
        </p:nvSpPr>
        <p:spPr/>
        <p:txBody>
          <a:bodyPr/>
          <a:lstStyle/>
          <a:p>
            <a:fld id="{A5B7CF19-0EC6-45B7-A60B-02FB7BB04C68}" type="datetimeFigureOut">
              <a:rPr lang="en-US" smtClean="0"/>
              <a:t>6/12/2023</a:t>
            </a:fld>
            <a:endParaRPr lang="en-US"/>
          </a:p>
        </p:txBody>
      </p:sp>
      <p:sp>
        <p:nvSpPr>
          <p:cNvPr id="5" name="Footer Placeholder 4">
            <a:extLst>
              <a:ext uri="{FF2B5EF4-FFF2-40B4-BE49-F238E27FC236}">
                <a16:creationId xmlns:a16="http://schemas.microsoft.com/office/drawing/2014/main" id="{06A634FC-8943-1B28-8485-7AEDF614EE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347FBF-12DE-D680-BFB0-24F0283D798D}"/>
              </a:ext>
            </a:extLst>
          </p:cNvPr>
          <p:cNvSpPr>
            <a:spLocks noGrp="1"/>
          </p:cNvSpPr>
          <p:nvPr>
            <p:ph type="sldNum" sz="quarter" idx="12"/>
          </p:nvPr>
        </p:nvSpPr>
        <p:spPr/>
        <p:txBody>
          <a:bodyPr/>
          <a:lstStyle/>
          <a:p>
            <a:fld id="{5576DE7C-D96E-4380-A887-1475E2BD2DD6}" type="slidenum">
              <a:rPr lang="en-US" smtClean="0"/>
              <a:t>‹#›</a:t>
            </a:fld>
            <a:endParaRPr lang="en-US"/>
          </a:p>
        </p:txBody>
      </p:sp>
    </p:spTree>
    <p:extLst>
      <p:ext uri="{BB962C8B-B14F-4D97-AF65-F5344CB8AC3E}">
        <p14:creationId xmlns:p14="http://schemas.microsoft.com/office/powerpoint/2010/main" val="2290728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BB2A7-6B2D-8158-AED4-756BDE9858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B7699C-03E1-8AE8-434E-98AC68FD46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9F435E-7456-BEBF-9ED3-290F7E6EC5FF}"/>
              </a:ext>
            </a:extLst>
          </p:cNvPr>
          <p:cNvSpPr>
            <a:spLocks noGrp="1"/>
          </p:cNvSpPr>
          <p:nvPr>
            <p:ph type="dt" sz="half" idx="10"/>
          </p:nvPr>
        </p:nvSpPr>
        <p:spPr/>
        <p:txBody>
          <a:bodyPr/>
          <a:lstStyle/>
          <a:p>
            <a:fld id="{A5B7CF19-0EC6-45B7-A60B-02FB7BB04C68}" type="datetimeFigureOut">
              <a:rPr lang="en-US" smtClean="0"/>
              <a:t>6/12/2023</a:t>
            </a:fld>
            <a:endParaRPr lang="en-US"/>
          </a:p>
        </p:txBody>
      </p:sp>
      <p:sp>
        <p:nvSpPr>
          <p:cNvPr id="5" name="Footer Placeholder 4">
            <a:extLst>
              <a:ext uri="{FF2B5EF4-FFF2-40B4-BE49-F238E27FC236}">
                <a16:creationId xmlns:a16="http://schemas.microsoft.com/office/drawing/2014/main" id="{16D3A8AD-655B-B275-56B9-85850FC658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DEC300-2837-522A-1E0B-AD02ACB7224E}"/>
              </a:ext>
            </a:extLst>
          </p:cNvPr>
          <p:cNvSpPr>
            <a:spLocks noGrp="1"/>
          </p:cNvSpPr>
          <p:nvPr>
            <p:ph type="sldNum" sz="quarter" idx="12"/>
          </p:nvPr>
        </p:nvSpPr>
        <p:spPr/>
        <p:txBody>
          <a:bodyPr/>
          <a:lstStyle/>
          <a:p>
            <a:fld id="{5576DE7C-D96E-4380-A887-1475E2BD2DD6}" type="slidenum">
              <a:rPr lang="en-US" smtClean="0"/>
              <a:t>‹#›</a:t>
            </a:fld>
            <a:endParaRPr lang="en-US"/>
          </a:p>
        </p:txBody>
      </p:sp>
    </p:spTree>
    <p:extLst>
      <p:ext uri="{BB962C8B-B14F-4D97-AF65-F5344CB8AC3E}">
        <p14:creationId xmlns:p14="http://schemas.microsoft.com/office/powerpoint/2010/main" val="107070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210EF-6571-9CCB-AD13-DF253D9AA6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98486DC-7431-F2B3-B91F-61D9793AB3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4A3AB9-8E23-1C99-3B6E-59C6C8253CD5}"/>
              </a:ext>
            </a:extLst>
          </p:cNvPr>
          <p:cNvSpPr>
            <a:spLocks noGrp="1"/>
          </p:cNvSpPr>
          <p:nvPr>
            <p:ph type="dt" sz="half" idx="10"/>
          </p:nvPr>
        </p:nvSpPr>
        <p:spPr/>
        <p:txBody>
          <a:bodyPr/>
          <a:lstStyle/>
          <a:p>
            <a:fld id="{A5B7CF19-0EC6-45B7-A60B-02FB7BB04C68}" type="datetimeFigureOut">
              <a:rPr lang="en-US" smtClean="0"/>
              <a:t>6/12/2023</a:t>
            </a:fld>
            <a:endParaRPr lang="en-US"/>
          </a:p>
        </p:txBody>
      </p:sp>
      <p:sp>
        <p:nvSpPr>
          <p:cNvPr id="5" name="Footer Placeholder 4">
            <a:extLst>
              <a:ext uri="{FF2B5EF4-FFF2-40B4-BE49-F238E27FC236}">
                <a16:creationId xmlns:a16="http://schemas.microsoft.com/office/drawing/2014/main" id="{B0C4C5E6-ED9D-63D0-F145-7D4E2CA6E5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4BBF6D-163C-02F2-F7A9-11B333C1E3A1}"/>
              </a:ext>
            </a:extLst>
          </p:cNvPr>
          <p:cNvSpPr>
            <a:spLocks noGrp="1"/>
          </p:cNvSpPr>
          <p:nvPr>
            <p:ph type="sldNum" sz="quarter" idx="12"/>
          </p:nvPr>
        </p:nvSpPr>
        <p:spPr/>
        <p:txBody>
          <a:bodyPr/>
          <a:lstStyle/>
          <a:p>
            <a:fld id="{5576DE7C-D96E-4380-A887-1475E2BD2DD6}" type="slidenum">
              <a:rPr lang="en-US" smtClean="0"/>
              <a:t>‹#›</a:t>
            </a:fld>
            <a:endParaRPr lang="en-US"/>
          </a:p>
        </p:txBody>
      </p:sp>
    </p:spTree>
    <p:extLst>
      <p:ext uri="{BB962C8B-B14F-4D97-AF65-F5344CB8AC3E}">
        <p14:creationId xmlns:p14="http://schemas.microsoft.com/office/powerpoint/2010/main" val="2798541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14DE8-F079-716C-1E6A-8ACA64F0CC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5C228E-860F-133F-4605-BAE4197CBF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DACE3B-38AD-7244-54F4-A4A5CB44EB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475860-21C7-8E6C-B34C-9F90A4B52790}"/>
              </a:ext>
            </a:extLst>
          </p:cNvPr>
          <p:cNvSpPr>
            <a:spLocks noGrp="1"/>
          </p:cNvSpPr>
          <p:nvPr>
            <p:ph type="dt" sz="half" idx="10"/>
          </p:nvPr>
        </p:nvSpPr>
        <p:spPr/>
        <p:txBody>
          <a:bodyPr/>
          <a:lstStyle/>
          <a:p>
            <a:fld id="{A5B7CF19-0EC6-45B7-A60B-02FB7BB04C68}" type="datetimeFigureOut">
              <a:rPr lang="en-US" smtClean="0"/>
              <a:t>6/12/2023</a:t>
            </a:fld>
            <a:endParaRPr lang="en-US"/>
          </a:p>
        </p:txBody>
      </p:sp>
      <p:sp>
        <p:nvSpPr>
          <p:cNvPr id="6" name="Footer Placeholder 5">
            <a:extLst>
              <a:ext uri="{FF2B5EF4-FFF2-40B4-BE49-F238E27FC236}">
                <a16:creationId xmlns:a16="http://schemas.microsoft.com/office/drawing/2014/main" id="{BA491EEC-2A96-15EC-0EBA-F0FEDB8451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FC1D2C-7834-83E2-A9A0-A37A6E26001E}"/>
              </a:ext>
            </a:extLst>
          </p:cNvPr>
          <p:cNvSpPr>
            <a:spLocks noGrp="1"/>
          </p:cNvSpPr>
          <p:nvPr>
            <p:ph type="sldNum" sz="quarter" idx="12"/>
          </p:nvPr>
        </p:nvSpPr>
        <p:spPr/>
        <p:txBody>
          <a:bodyPr/>
          <a:lstStyle/>
          <a:p>
            <a:fld id="{5576DE7C-D96E-4380-A887-1475E2BD2DD6}" type="slidenum">
              <a:rPr lang="en-US" smtClean="0"/>
              <a:t>‹#›</a:t>
            </a:fld>
            <a:endParaRPr lang="en-US"/>
          </a:p>
        </p:txBody>
      </p:sp>
    </p:spTree>
    <p:extLst>
      <p:ext uri="{BB962C8B-B14F-4D97-AF65-F5344CB8AC3E}">
        <p14:creationId xmlns:p14="http://schemas.microsoft.com/office/powerpoint/2010/main" val="3006531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DD068-18A4-CDED-B223-CE78E537AC0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773F77F-7A74-6709-677D-C24326C04C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A6966E-3F54-4681-008F-05EAB99922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4898D2-2D4A-3BBB-F181-E207B0B595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D7254B-1F41-D094-B4B0-4388CC2A68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3C258F9-2DC1-F4A2-D074-8E14C9D029B1}"/>
              </a:ext>
            </a:extLst>
          </p:cNvPr>
          <p:cNvSpPr>
            <a:spLocks noGrp="1"/>
          </p:cNvSpPr>
          <p:nvPr>
            <p:ph type="dt" sz="half" idx="10"/>
          </p:nvPr>
        </p:nvSpPr>
        <p:spPr/>
        <p:txBody>
          <a:bodyPr/>
          <a:lstStyle/>
          <a:p>
            <a:fld id="{A5B7CF19-0EC6-45B7-A60B-02FB7BB04C68}" type="datetimeFigureOut">
              <a:rPr lang="en-US" smtClean="0"/>
              <a:t>6/12/2023</a:t>
            </a:fld>
            <a:endParaRPr lang="en-US"/>
          </a:p>
        </p:txBody>
      </p:sp>
      <p:sp>
        <p:nvSpPr>
          <p:cNvPr id="8" name="Footer Placeholder 7">
            <a:extLst>
              <a:ext uri="{FF2B5EF4-FFF2-40B4-BE49-F238E27FC236}">
                <a16:creationId xmlns:a16="http://schemas.microsoft.com/office/drawing/2014/main" id="{516883F0-7385-2174-B72B-7EF8C803A1F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938E3B-D5AD-648B-9086-86B580A832FD}"/>
              </a:ext>
            </a:extLst>
          </p:cNvPr>
          <p:cNvSpPr>
            <a:spLocks noGrp="1"/>
          </p:cNvSpPr>
          <p:nvPr>
            <p:ph type="sldNum" sz="quarter" idx="12"/>
          </p:nvPr>
        </p:nvSpPr>
        <p:spPr/>
        <p:txBody>
          <a:bodyPr/>
          <a:lstStyle/>
          <a:p>
            <a:fld id="{5576DE7C-D96E-4380-A887-1475E2BD2DD6}" type="slidenum">
              <a:rPr lang="en-US" smtClean="0"/>
              <a:t>‹#›</a:t>
            </a:fld>
            <a:endParaRPr lang="en-US"/>
          </a:p>
        </p:txBody>
      </p:sp>
    </p:spTree>
    <p:extLst>
      <p:ext uri="{BB962C8B-B14F-4D97-AF65-F5344CB8AC3E}">
        <p14:creationId xmlns:p14="http://schemas.microsoft.com/office/powerpoint/2010/main" val="19760374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7775D-0CF0-400D-2D38-E66FB81537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0EEE9D9-3B59-967B-86A6-CD2880316FC6}"/>
              </a:ext>
            </a:extLst>
          </p:cNvPr>
          <p:cNvSpPr>
            <a:spLocks noGrp="1"/>
          </p:cNvSpPr>
          <p:nvPr>
            <p:ph type="dt" sz="half" idx="10"/>
          </p:nvPr>
        </p:nvSpPr>
        <p:spPr/>
        <p:txBody>
          <a:bodyPr/>
          <a:lstStyle/>
          <a:p>
            <a:fld id="{A5B7CF19-0EC6-45B7-A60B-02FB7BB04C68}" type="datetimeFigureOut">
              <a:rPr lang="en-US" smtClean="0"/>
              <a:t>6/12/2023</a:t>
            </a:fld>
            <a:endParaRPr lang="en-US"/>
          </a:p>
        </p:txBody>
      </p:sp>
      <p:sp>
        <p:nvSpPr>
          <p:cNvPr id="4" name="Footer Placeholder 3">
            <a:extLst>
              <a:ext uri="{FF2B5EF4-FFF2-40B4-BE49-F238E27FC236}">
                <a16:creationId xmlns:a16="http://schemas.microsoft.com/office/drawing/2014/main" id="{9121827D-3759-40A0-BB91-75F7DB060E3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B6A65A-F1BD-644E-A6AC-7B18F6642C4F}"/>
              </a:ext>
            </a:extLst>
          </p:cNvPr>
          <p:cNvSpPr>
            <a:spLocks noGrp="1"/>
          </p:cNvSpPr>
          <p:nvPr>
            <p:ph type="sldNum" sz="quarter" idx="12"/>
          </p:nvPr>
        </p:nvSpPr>
        <p:spPr/>
        <p:txBody>
          <a:bodyPr/>
          <a:lstStyle/>
          <a:p>
            <a:fld id="{5576DE7C-D96E-4380-A887-1475E2BD2DD6}" type="slidenum">
              <a:rPr lang="en-US" smtClean="0"/>
              <a:t>‹#›</a:t>
            </a:fld>
            <a:endParaRPr lang="en-US"/>
          </a:p>
        </p:txBody>
      </p:sp>
    </p:spTree>
    <p:extLst>
      <p:ext uri="{BB962C8B-B14F-4D97-AF65-F5344CB8AC3E}">
        <p14:creationId xmlns:p14="http://schemas.microsoft.com/office/powerpoint/2010/main" val="2604767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DD0571-F25D-6970-EC1F-F41AC6BAC478}"/>
              </a:ext>
            </a:extLst>
          </p:cNvPr>
          <p:cNvSpPr>
            <a:spLocks noGrp="1"/>
          </p:cNvSpPr>
          <p:nvPr>
            <p:ph type="dt" sz="half" idx="10"/>
          </p:nvPr>
        </p:nvSpPr>
        <p:spPr/>
        <p:txBody>
          <a:bodyPr/>
          <a:lstStyle/>
          <a:p>
            <a:fld id="{A5B7CF19-0EC6-45B7-A60B-02FB7BB04C68}" type="datetimeFigureOut">
              <a:rPr lang="en-US" smtClean="0"/>
              <a:t>6/12/2023</a:t>
            </a:fld>
            <a:endParaRPr lang="en-US"/>
          </a:p>
        </p:txBody>
      </p:sp>
      <p:sp>
        <p:nvSpPr>
          <p:cNvPr id="3" name="Footer Placeholder 2">
            <a:extLst>
              <a:ext uri="{FF2B5EF4-FFF2-40B4-BE49-F238E27FC236}">
                <a16:creationId xmlns:a16="http://schemas.microsoft.com/office/drawing/2014/main" id="{103F6058-7911-9E0B-8EC7-76B1832DD1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1114F5-6614-AEC6-415A-86BD132A4B31}"/>
              </a:ext>
            </a:extLst>
          </p:cNvPr>
          <p:cNvSpPr>
            <a:spLocks noGrp="1"/>
          </p:cNvSpPr>
          <p:nvPr>
            <p:ph type="sldNum" sz="quarter" idx="12"/>
          </p:nvPr>
        </p:nvSpPr>
        <p:spPr/>
        <p:txBody>
          <a:bodyPr/>
          <a:lstStyle/>
          <a:p>
            <a:fld id="{5576DE7C-D96E-4380-A887-1475E2BD2DD6}" type="slidenum">
              <a:rPr lang="en-US" smtClean="0"/>
              <a:t>‹#›</a:t>
            </a:fld>
            <a:endParaRPr lang="en-US"/>
          </a:p>
        </p:txBody>
      </p:sp>
    </p:spTree>
    <p:extLst>
      <p:ext uri="{BB962C8B-B14F-4D97-AF65-F5344CB8AC3E}">
        <p14:creationId xmlns:p14="http://schemas.microsoft.com/office/powerpoint/2010/main" val="456423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039FE-B9EF-BF27-485F-68F02FF4F6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F23CC82-ECBA-C35D-BB98-001EB47EA3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CDF81A5-D6A7-031A-3392-1DE7E0AB76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555A7B-8DB2-0B9A-A7ED-5F4BCB1E1195}"/>
              </a:ext>
            </a:extLst>
          </p:cNvPr>
          <p:cNvSpPr>
            <a:spLocks noGrp="1"/>
          </p:cNvSpPr>
          <p:nvPr>
            <p:ph type="dt" sz="half" idx="10"/>
          </p:nvPr>
        </p:nvSpPr>
        <p:spPr/>
        <p:txBody>
          <a:bodyPr/>
          <a:lstStyle/>
          <a:p>
            <a:fld id="{A5B7CF19-0EC6-45B7-A60B-02FB7BB04C68}" type="datetimeFigureOut">
              <a:rPr lang="en-US" smtClean="0"/>
              <a:t>6/12/2023</a:t>
            </a:fld>
            <a:endParaRPr lang="en-US"/>
          </a:p>
        </p:txBody>
      </p:sp>
      <p:sp>
        <p:nvSpPr>
          <p:cNvPr id="6" name="Footer Placeholder 5">
            <a:extLst>
              <a:ext uri="{FF2B5EF4-FFF2-40B4-BE49-F238E27FC236}">
                <a16:creationId xmlns:a16="http://schemas.microsoft.com/office/drawing/2014/main" id="{180ABB35-0884-F067-D184-7DBE22D836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802851-BC61-4E2E-1E20-3F5E147BD29F}"/>
              </a:ext>
            </a:extLst>
          </p:cNvPr>
          <p:cNvSpPr>
            <a:spLocks noGrp="1"/>
          </p:cNvSpPr>
          <p:nvPr>
            <p:ph type="sldNum" sz="quarter" idx="12"/>
          </p:nvPr>
        </p:nvSpPr>
        <p:spPr/>
        <p:txBody>
          <a:bodyPr/>
          <a:lstStyle/>
          <a:p>
            <a:fld id="{5576DE7C-D96E-4380-A887-1475E2BD2DD6}" type="slidenum">
              <a:rPr lang="en-US" smtClean="0"/>
              <a:t>‹#›</a:t>
            </a:fld>
            <a:endParaRPr lang="en-US"/>
          </a:p>
        </p:txBody>
      </p:sp>
    </p:spTree>
    <p:extLst>
      <p:ext uri="{BB962C8B-B14F-4D97-AF65-F5344CB8AC3E}">
        <p14:creationId xmlns:p14="http://schemas.microsoft.com/office/powerpoint/2010/main" val="407913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2ABB3-8000-C394-E51D-8323EF3457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73AB86-A338-D658-BFEB-6EB1A63397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A18EADC-8EBF-F6AC-00F6-659AC0AF65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0722DE-D05A-EFE8-252F-088FCD971D64}"/>
              </a:ext>
            </a:extLst>
          </p:cNvPr>
          <p:cNvSpPr>
            <a:spLocks noGrp="1"/>
          </p:cNvSpPr>
          <p:nvPr>
            <p:ph type="dt" sz="half" idx="10"/>
          </p:nvPr>
        </p:nvSpPr>
        <p:spPr/>
        <p:txBody>
          <a:bodyPr/>
          <a:lstStyle/>
          <a:p>
            <a:fld id="{A5B7CF19-0EC6-45B7-A60B-02FB7BB04C68}" type="datetimeFigureOut">
              <a:rPr lang="en-US" smtClean="0"/>
              <a:t>6/12/2023</a:t>
            </a:fld>
            <a:endParaRPr lang="en-US"/>
          </a:p>
        </p:txBody>
      </p:sp>
      <p:sp>
        <p:nvSpPr>
          <p:cNvPr id="6" name="Footer Placeholder 5">
            <a:extLst>
              <a:ext uri="{FF2B5EF4-FFF2-40B4-BE49-F238E27FC236}">
                <a16:creationId xmlns:a16="http://schemas.microsoft.com/office/drawing/2014/main" id="{C625B07B-4E40-35FE-1A76-B7D8AFE184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A4E6CC-079F-3587-D609-0E5B6203044C}"/>
              </a:ext>
            </a:extLst>
          </p:cNvPr>
          <p:cNvSpPr>
            <a:spLocks noGrp="1"/>
          </p:cNvSpPr>
          <p:nvPr>
            <p:ph type="sldNum" sz="quarter" idx="12"/>
          </p:nvPr>
        </p:nvSpPr>
        <p:spPr/>
        <p:txBody>
          <a:bodyPr/>
          <a:lstStyle/>
          <a:p>
            <a:fld id="{5576DE7C-D96E-4380-A887-1475E2BD2DD6}" type="slidenum">
              <a:rPr lang="en-US" smtClean="0"/>
              <a:t>‹#›</a:t>
            </a:fld>
            <a:endParaRPr lang="en-US"/>
          </a:p>
        </p:txBody>
      </p:sp>
    </p:spTree>
    <p:extLst>
      <p:ext uri="{BB962C8B-B14F-4D97-AF65-F5344CB8AC3E}">
        <p14:creationId xmlns:p14="http://schemas.microsoft.com/office/powerpoint/2010/main" val="47652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FB5D7-2B5F-9403-9061-D416333ABEC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4A0D00B-5F5B-0161-78BF-612533C08C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513BD4-7E49-8FC6-3C5A-7B16DAA47CED}"/>
              </a:ext>
            </a:extLst>
          </p:cNvPr>
          <p:cNvSpPr>
            <a:spLocks noGrp="1"/>
          </p:cNvSpPr>
          <p:nvPr>
            <p:ph type="dt" sz="half" idx="10"/>
          </p:nvPr>
        </p:nvSpPr>
        <p:spPr/>
        <p:txBody>
          <a:bodyPr/>
          <a:lstStyle/>
          <a:p>
            <a:fld id="{A5B7CF19-0EC6-45B7-A60B-02FB7BB04C68}" type="datetimeFigureOut">
              <a:rPr lang="en-US" smtClean="0"/>
              <a:t>6/12/2023</a:t>
            </a:fld>
            <a:endParaRPr lang="en-US"/>
          </a:p>
        </p:txBody>
      </p:sp>
      <p:sp>
        <p:nvSpPr>
          <p:cNvPr id="5" name="Footer Placeholder 4">
            <a:extLst>
              <a:ext uri="{FF2B5EF4-FFF2-40B4-BE49-F238E27FC236}">
                <a16:creationId xmlns:a16="http://schemas.microsoft.com/office/drawing/2014/main" id="{3FC5BF3C-DE32-72B4-2509-CCAF69A362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603C65-45D4-5DF0-3DEF-F03EE2BD5523}"/>
              </a:ext>
            </a:extLst>
          </p:cNvPr>
          <p:cNvSpPr>
            <a:spLocks noGrp="1"/>
          </p:cNvSpPr>
          <p:nvPr>
            <p:ph type="sldNum" sz="quarter" idx="12"/>
          </p:nvPr>
        </p:nvSpPr>
        <p:spPr/>
        <p:txBody>
          <a:bodyPr/>
          <a:lstStyle/>
          <a:p>
            <a:fld id="{5576DE7C-D96E-4380-A887-1475E2BD2DD6}" type="slidenum">
              <a:rPr lang="en-US" smtClean="0"/>
              <a:t>‹#›</a:t>
            </a:fld>
            <a:endParaRPr lang="en-US"/>
          </a:p>
        </p:txBody>
      </p:sp>
    </p:spTree>
    <p:extLst>
      <p:ext uri="{BB962C8B-B14F-4D97-AF65-F5344CB8AC3E}">
        <p14:creationId xmlns:p14="http://schemas.microsoft.com/office/powerpoint/2010/main" val="3248224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D615D9-939B-220E-EBC5-94504AA948E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64D07C3-C39E-5E97-D66D-7C9F610B54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E585A9-7DF2-29C9-3592-79D748647DF7}"/>
              </a:ext>
            </a:extLst>
          </p:cNvPr>
          <p:cNvSpPr>
            <a:spLocks noGrp="1"/>
          </p:cNvSpPr>
          <p:nvPr>
            <p:ph type="dt" sz="half" idx="10"/>
          </p:nvPr>
        </p:nvSpPr>
        <p:spPr/>
        <p:txBody>
          <a:bodyPr/>
          <a:lstStyle/>
          <a:p>
            <a:fld id="{A5B7CF19-0EC6-45B7-A60B-02FB7BB04C68}" type="datetimeFigureOut">
              <a:rPr lang="en-US" smtClean="0"/>
              <a:t>6/12/2023</a:t>
            </a:fld>
            <a:endParaRPr lang="en-US"/>
          </a:p>
        </p:txBody>
      </p:sp>
      <p:sp>
        <p:nvSpPr>
          <p:cNvPr id="5" name="Footer Placeholder 4">
            <a:extLst>
              <a:ext uri="{FF2B5EF4-FFF2-40B4-BE49-F238E27FC236}">
                <a16:creationId xmlns:a16="http://schemas.microsoft.com/office/drawing/2014/main" id="{17C4BEE5-983C-C1B3-B462-3CEB374973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A08720-69B4-90AA-4C6C-9E03FB375C9B}"/>
              </a:ext>
            </a:extLst>
          </p:cNvPr>
          <p:cNvSpPr>
            <a:spLocks noGrp="1"/>
          </p:cNvSpPr>
          <p:nvPr>
            <p:ph type="sldNum" sz="quarter" idx="12"/>
          </p:nvPr>
        </p:nvSpPr>
        <p:spPr/>
        <p:txBody>
          <a:bodyPr/>
          <a:lstStyle/>
          <a:p>
            <a:fld id="{5576DE7C-D96E-4380-A887-1475E2BD2DD6}" type="slidenum">
              <a:rPr lang="en-US" smtClean="0"/>
              <a:t>‹#›</a:t>
            </a:fld>
            <a:endParaRPr lang="en-US"/>
          </a:p>
        </p:txBody>
      </p:sp>
    </p:spTree>
    <p:extLst>
      <p:ext uri="{BB962C8B-B14F-4D97-AF65-F5344CB8AC3E}">
        <p14:creationId xmlns:p14="http://schemas.microsoft.com/office/powerpoint/2010/main" val="42440278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072490D-569B-4A9C-B9BB-4F77B651EC5B}" type="datetimeFigureOut">
              <a:rPr lang="en-US" smtClean="0"/>
              <a:t>6/12/2023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29BCD-CBB7-492B-AC0D-782C189D9EB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67858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72490D-569B-4A9C-B9BB-4F77B651EC5B}" type="datetimeFigureOut">
              <a:rPr lang="en-US" smtClean="0"/>
              <a:t>6/12/2023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6368220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72490D-569B-4A9C-B9BB-4F77B651EC5B}" type="datetimeFigureOut">
              <a:rPr lang="en-US" smtClean="0"/>
              <a:t>6/12/2023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29BCD-CBB7-492B-AC0D-782C189D9EB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24505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072490D-569B-4A9C-B9BB-4F77B651EC5B}" type="datetimeFigureOut">
              <a:rPr lang="en-US" smtClean="0"/>
              <a:t>6/12/2023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18546593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072490D-569B-4A9C-B9BB-4F77B651EC5B}" type="datetimeFigureOut">
              <a:rPr lang="en-US" smtClean="0"/>
              <a:t>6/12/2023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18548388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072490D-569B-4A9C-B9BB-4F77B651EC5B}" type="datetimeFigureOut">
              <a:rPr lang="en-US" smtClean="0"/>
              <a:t>6/12/2023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5056547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072490D-569B-4A9C-B9BB-4F77B651EC5B}" type="datetimeFigureOut">
              <a:rPr lang="en-US" smtClean="0"/>
              <a:t>6/12/2023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14107935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072490D-569B-4A9C-B9BB-4F77B651EC5B}" type="datetimeFigureOut">
              <a:rPr lang="en-US" smtClean="0"/>
              <a:t>6/12/2023</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8629BCD-CBB7-492B-AC0D-782C189D9EBA}" type="slidenum">
              <a:rPr lang="en-US" smtClean="0"/>
              <a:t>‹#›</a:t>
            </a:fld>
            <a:endParaRPr lang="en-US"/>
          </a:p>
        </p:txBody>
      </p:sp>
    </p:spTree>
    <p:extLst>
      <p:ext uri="{BB962C8B-B14F-4D97-AF65-F5344CB8AC3E}">
        <p14:creationId xmlns:p14="http://schemas.microsoft.com/office/powerpoint/2010/main" val="33592958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072490D-569B-4A9C-B9BB-4F77B651EC5B}" type="datetimeFigureOut">
              <a:rPr lang="en-US" smtClean="0"/>
              <a:t>6/12/2023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2499825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72490D-569B-4A9C-B9BB-4F77B651EC5B}" type="datetimeFigureOut">
              <a:rPr lang="en-US" smtClean="0"/>
              <a:t>6/12/2023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11121440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72490D-569B-4A9C-B9BB-4F77B651EC5B}" type="datetimeFigureOut">
              <a:rPr lang="en-US" smtClean="0"/>
              <a:t>6/12/2023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2418737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94F3C2-91A6-A79F-E051-132C130E33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1FEAF91-CB35-7ADE-C57E-9FF2E9D3A8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08C160-5413-30CA-06A2-1DB82B9DE1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B7CF19-0EC6-45B7-A60B-02FB7BB04C68}" type="datetimeFigureOut">
              <a:rPr lang="en-US" smtClean="0"/>
              <a:t>6/12/2023</a:t>
            </a:fld>
            <a:endParaRPr lang="en-US"/>
          </a:p>
        </p:txBody>
      </p:sp>
      <p:sp>
        <p:nvSpPr>
          <p:cNvPr id="5" name="Footer Placeholder 4">
            <a:extLst>
              <a:ext uri="{FF2B5EF4-FFF2-40B4-BE49-F238E27FC236}">
                <a16:creationId xmlns:a16="http://schemas.microsoft.com/office/drawing/2014/main" id="{0ECDA0B5-1E86-998A-1F0A-7CDEC7001E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B728D53-0AED-FF34-79BB-221CEE2C71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76DE7C-D96E-4380-A887-1475E2BD2DD6}" type="slidenum">
              <a:rPr lang="en-US" smtClean="0"/>
              <a:t>‹#›</a:t>
            </a:fld>
            <a:endParaRPr lang="en-US"/>
          </a:p>
        </p:txBody>
      </p:sp>
    </p:spTree>
    <p:extLst>
      <p:ext uri="{BB962C8B-B14F-4D97-AF65-F5344CB8AC3E}">
        <p14:creationId xmlns:p14="http://schemas.microsoft.com/office/powerpoint/2010/main" val="27561475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072490D-569B-4A9C-B9BB-4F77B651EC5B}" type="datetimeFigureOut">
              <a:rPr lang="en-US" smtClean="0"/>
              <a:t>6/12/2023</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8629BCD-CBB7-492B-AC0D-782C189D9EBA}"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59119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jpg"/><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9.xml"/><Relationship Id="rId1" Type="http://schemas.openxmlformats.org/officeDocument/2006/relationships/slideLayout" Target="../slideLayouts/slideLayout18.xml"/><Relationship Id="rId5" Type="http://schemas.openxmlformats.org/officeDocument/2006/relationships/image" Target="../media/image47.png"/><Relationship Id="rId4" Type="http://schemas.openxmlformats.org/officeDocument/2006/relationships/image" Target="../media/image46.png"/></Relationships>
</file>

<file path=ppt/slides/_rels/slide47.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emf"/><Relationship Id="rId1" Type="http://schemas.openxmlformats.org/officeDocument/2006/relationships/slideLayout" Target="../slideLayouts/slideLayout18.xml"/><Relationship Id="rId4" Type="http://schemas.openxmlformats.org/officeDocument/2006/relationships/image" Target="../media/image54.png"/></Relationships>
</file>

<file path=ppt/slides/_rels/slide5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jpg"/><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2" Type="http://schemas.openxmlformats.org/officeDocument/2006/relationships/image" Target="../media/image59.jpg"/><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2" Type="http://schemas.openxmlformats.org/officeDocument/2006/relationships/image" Target="../media/image63.jpg"/><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2" Type="http://schemas.openxmlformats.org/officeDocument/2006/relationships/image" Target="../media/image64.jpg"/><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2" Type="http://schemas.openxmlformats.org/officeDocument/2006/relationships/image" Target="../media/image67.jpg"/><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2" Type="http://schemas.openxmlformats.org/officeDocument/2006/relationships/image" Target="../media/image68.jpg"/><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2" Type="http://schemas.openxmlformats.org/officeDocument/2006/relationships/image" Target="../media/image69.jpg"/><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2" Type="http://schemas.openxmlformats.org/officeDocument/2006/relationships/image" Target="../media/image70.jpg"/><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2" Type="http://schemas.openxmlformats.org/officeDocument/2006/relationships/image" Target="../media/image71.jpg"/><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2" Type="http://schemas.openxmlformats.org/officeDocument/2006/relationships/image" Target="../media/image72.jpg"/><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2" Type="http://schemas.openxmlformats.org/officeDocument/2006/relationships/image" Target="../media/image73.jpg"/><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2" Type="http://schemas.openxmlformats.org/officeDocument/2006/relationships/image" Target="../media/image74.jpg"/><Relationship Id="rId1" Type="http://schemas.openxmlformats.org/officeDocument/2006/relationships/slideLayout" Target="../slideLayouts/slideLayout18.xml"/></Relationships>
</file>

<file path=ppt/slides/_rels/slide71.xml.rels><?xml version="1.0" encoding="UTF-8" standalone="yes"?>
<Relationships xmlns="http://schemas.openxmlformats.org/package/2006/relationships"><Relationship Id="rId2" Type="http://schemas.openxmlformats.org/officeDocument/2006/relationships/image" Target="../media/image75.jpg"/><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2" Type="http://schemas.openxmlformats.org/officeDocument/2006/relationships/image" Target="../media/image76.jpg"/><Relationship Id="rId1" Type="http://schemas.openxmlformats.org/officeDocument/2006/relationships/slideLayout" Target="../slideLayouts/slideLayout18.xml"/></Relationships>
</file>

<file path=ppt/slides/_rels/slide73.xml.rels><?xml version="1.0" encoding="UTF-8" standalone="yes"?>
<Relationships xmlns="http://schemas.openxmlformats.org/package/2006/relationships"><Relationship Id="rId2" Type="http://schemas.openxmlformats.org/officeDocument/2006/relationships/image" Target="../media/image77.jpg"/><Relationship Id="rId1" Type="http://schemas.openxmlformats.org/officeDocument/2006/relationships/slideLayout" Target="../slideLayouts/slideLayout18.xml"/></Relationships>
</file>

<file path=ppt/slides/_rels/slide74.xml.rels><?xml version="1.0" encoding="UTF-8" standalone="yes"?>
<Relationships xmlns="http://schemas.openxmlformats.org/package/2006/relationships"><Relationship Id="rId2" Type="http://schemas.openxmlformats.org/officeDocument/2006/relationships/image" Target="../media/image78.jpg"/><Relationship Id="rId1" Type="http://schemas.openxmlformats.org/officeDocument/2006/relationships/slideLayout" Target="../slideLayouts/slideLayout18.xml"/></Relationships>
</file>

<file path=ppt/slides/_rels/slide75.xml.rels><?xml version="1.0" encoding="UTF-8" standalone="yes"?>
<Relationships xmlns="http://schemas.openxmlformats.org/package/2006/relationships"><Relationship Id="rId2" Type="http://schemas.openxmlformats.org/officeDocument/2006/relationships/image" Target="../media/image79.jpg"/><Relationship Id="rId1" Type="http://schemas.openxmlformats.org/officeDocument/2006/relationships/slideLayout" Target="../slideLayouts/slideLayout18.xml"/></Relationships>
</file>

<file path=ppt/slides/_rels/slide76.xml.rels><?xml version="1.0" encoding="UTF-8" standalone="yes"?>
<Relationships xmlns="http://schemas.openxmlformats.org/package/2006/relationships"><Relationship Id="rId2" Type="http://schemas.openxmlformats.org/officeDocument/2006/relationships/image" Target="../media/image80.jpg"/><Relationship Id="rId1" Type="http://schemas.openxmlformats.org/officeDocument/2006/relationships/slideLayout" Target="../slideLayouts/slideLayout18.xml"/></Relationships>
</file>

<file path=ppt/slides/_rels/slide77.xml.rels><?xml version="1.0" encoding="UTF-8" standalone="yes"?>
<Relationships xmlns="http://schemas.openxmlformats.org/package/2006/relationships"><Relationship Id="rId2" Type="http://schemas.openxmlformats.org/officeDocument/2006/relationships/image" Target="../media/image81.jpg"/><Relationship Id="rId1" Type="http://schemas.openxmlformats.org/officeDocument/2006/relationships/slideLayout" Target="../slideLayouts/slideLayout18.xml"/></Relationships>
</file>

<file path=ppt/slides/_rels/slide78.xml.rels><?xml version="1.0" encoding="UTF-8" standalone="yes"?>
<Relationships xmlns="http://schemas.openxmlformats.org/package/2006/relationships"><Relationship Id="rId2" Type="http://schemas.openxmlformats.org/officeDocument/2006/relationships/image" Target="../media/image82.jpg"/><Relationship Id="rId1" Type="http://schemas.openxmlformats.org/officeDocument/2006/relationships/slideLayout" Target="../slideLayouts/slideLayout18.xml"/></Relationships>
</file>

<file path=ppt/slides/_rels/slide79.xml.rels><?xml version="1.0" encoding="UTF-8" standalone="yes"?>
<Relationships xmlns="http://schemas.openxmlformats.org/package/2006/relationships"><Relationship Id="rId2" Type="http://schemas.openxmlformats.org/officeDocument/2006/relationships/image" Target="../media/image83.jpg"/><Relationship Id="rId1" Type="http://schemas.openxmlformats.org/officeDocument/2006/relationships/slideLayout" Target="../slideLayouts/slideLayout18.xml"/></Relationships>
</file>

<file path=ppt/slides/_rels/slide80.xml.rels><?xml version="1.0" encoding="UTF-8" standalone="yes"?>
<Relationships xmlns="http://schemas.openxmlformats.org/package/2006/relationships"><Relationship Id="rId2" Type="http://schemas.openxmlformats.org/officeDocument/2006/relationships/image" Target="../media/image84.jpg"/><Relationship Id="rId1" Type="http://schemas.openxmlformats.org/officeDocument/2006/relationships/slideLayout" Target="../slideLayouts/slideLayout18.xml"/></Relationships>
</file>

<file path=ppt/slides/_rels/slide81.xml.rels><?xml version="1.0" encoding="UTF-8" standalone="yes"?>
<Relationships xmlns="http://schemas.openxmlformats.org/package/2006/relationships"><Relationship Id="rId2" Type="http://schemas.openxmlformats.org/officeDocument/2006/relationships/image" Target="../media/image85.jpg"/><Relationship Id="rId1" Type="http://schemas.openxmlformats.org/officeDocument/2006/relationships/slideLayout" Target="../slideLayouts/slideLayout18.xml"/></Relationships>
</file>

<file path=ppt/slides/_rels/slide82.xml.rels><?xml version="1.0" encoding="UTF-8" standalone="yes"?>
<Relationships xmlns="http://schemas.openxmlformats.org/package/2006/relationships"><Relationship Id="rId2" Type="http://schemas.openxmlformats.org/officeDocument/2006/relationships/image" Target="../media/image86.jpg"/><Relationship Id="rId1" Type="http://schemas.openxmlformats.org/officeDocument/2006/relationships/slideLayout" Target="../slideLayouts/slideLayout18.xml"/></Relationships>
</file>

<file path=ppt/slides/_rels/slide83.xml.rels><?xml version="1.0" encoding="UTF-8" standalone="yes"?>
<Relationships xmlns="http://schemas.openxmlformats.org/package/2006/relationships"><Relationship Id="rId3" Type="http://schemas.openxmlformats.org/officeDocument/2006/relationships/image" Target="../media/image87.jp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84.xml.rels><?xml version="1.0" encoding="UTF-8" standalone="yes"?>
<Relationships xmlns="http://schemas.openxmlformats.org/package/2006/relationships"><Relationship Id="rId2" Type="http://schemas.openxmlformats.org/officeDocument/2006/relationships/image" Target="../media/image88.jpg"/><Relationship Id="rId1" Type="http://schemas.openxmlformats.org/officeDocument/2006/relationships/slideLayout" Target="../slideLayouts/slideLayout18.xml"/></Relationships>
</file>

<file path=ppt/slides/_rels/slide85.xml.rels><?xml version="1.0" encoding="UTF-8" standalone="yes"?>
<Relationships xmlns="http://schemas.openxmlformats.org/package/2006/relationships"><Relationship Id="rId2" Type="http://schemas.openxmlformats.org/officeDocument/2006/relationships/image" Target="../media/image89.jpg"/><Relationship Id="rId1" Type="http://schemas.openxmlformats.org/officeDocument/2006/relationships/slideLayout" Target="../slideLayouts/slideLayout18.xml"/></Relationships>
</file>

<file path=ppt/slides/_rels/slide8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18.xml"/></Relationships>
</file>

<file path=ppt/slides/_rels/slide87.xml.rels><?xml version="1.0" encoding="UTF-8" standalone="yes"?>
<Relationships xmlns="http://schemas.openxmlformats.org/package/2006/relationships"><Relationship Id="rId2" Type="http://schemas.openxmlformats.org/officeDocument/2006/relationships/image" Target="../media/image92.jpg"/><Relationship Id="rId1" Type="http://schemas.openxmlformats.org/officeDocument/2006/relationships/slideLayout" Target="../slideLayouts/slideLayout18.xml"/></Relationships>
</file>

<file path=ppt/slides/_rels/slide88.xml.rels><?xml version="1.0" encoding="UTF-8" standalone="yes"?>
<Relationships xmlns="http://schemas.openxmlformats.org/package/2006/relationships"><Relationship Id="rId2" Type="http://schemas.openxmlformats.org/officeDocument/2006/relationships/image" Target="../media/image93.jpg"/><Relationship Id="rId1" Type="http://schemas.openxmlformats.org/officeDocument/2006/relationships/slideLayout" Target="../slideLayouts/slideLayout18.xml"/></Relationships>
</file>

<file path=ppt/slides/_rels/slide89.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18.xml"/></Relationships>
</file>

<file path=ppt/slides/_rels/slide90.xml.rels><?xml version="1.0" encoding="UTF-8" standalone="yes"?>
<Relationships xmlns="http://schemas.openxmlformats.org/package/2006/relationships"><Relationship Id="rId2" Type="http://schemas.openxmlformats.org/officeDocument/2006/relationships/image" Target="../media/image95.jpeg"/><Relationship Id="rId1" Type="http://schemas.openxmlformats.org/officeDocument/2006/relationships/slideLayout" Target="../slideLayouts/slideLayout18.xml"/></Relationships>
</file>

<file path=ppt/slides/_rels/slide91.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92.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93.xml.rels><?xml version="1.0" encoding="UTF-8" standalone="yes"?>
<Relationships xmlns="http://schemas.openxmlformats.org/package/2006/relationships"><Relationship Id="rId2" Type="http://schemas.openxmlformats.org/officeDocument/2006/relationships/image" Target="../media/image98.jpg"/><Relationship Id="rId1" Type="http://schemas.openxmlformats.org/officeDocument/2006/relationships/slideLayout" Target="../slideLayouts/slideLayout18.xml"/></Relationships>
</file>

<file path=ppt/slides/_rels/slide94.xml.rels><?xml version="1.0" encoding="UTF-8" standalone="yes"?>
<Relationships xmlns="http://schemas.openxmlformats.org/package/2006/relationships"><Relationship Id="rId2" Type="http://schemas.openxmlformats.org/officeDocument/2006/relationships/image" Target="../media/image99.jpg"/><Relationship Id="rId1" Type="http://schemas.openxmlformats.org/officeDocument/2006/relationships/slideLayout" Target="../slideLayouts/slideLayout18.xml"/></Relationships>
</file>

<file path=ppt/slides/_rels/slide95.xml.rels><?xml version="1.0" encoding="UTF-8" standalone="yes"?>
<Relationships xmlns="http://schemas.openxmlformats.org/package/2006/relationships"><Relationship Id="rId2" Type="http://schemas.openxmlformats.org/officeDocument/2006/relationships/image" Target="../media/image100.jpg"/><Relationship Id="rId1" Type="http://schemas.openxmlformats.org/officeDocument/2006/relationships/slideLayout" Target="../slideLayouts/slideLayout18.xml"/></Relationships>
</file>

<file path=ppt/slides/_rels/slide96.xml.rels><?xml version="1.0" encoding="UTF-8" standalone="yes"?>
<Relationships xmlns="http://schemas.openxmlformats.org/package/2006/relationships"><Relationship Id="rId3" Type="http://schemas.openxmlformats.org/officeDocument/2006/relationships/image" Target="../media/image101.jp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jpg"/><Relationship Id="rId1" Type="http://schemas.openxmlformats.org/officeDocument/2006/relationships/slideLayout" Target="../slideLayouts/slideLayout18.xml"/></Relationships>
</file>

<file path=ppt/slides/_rels/slide98.xml.rels><?xml version="1.0" encoding="UTF-8" standalone="yes"?>
<Relationships xmlns="http://schemas.openxmlformats.org/package/2006/relationships"><Relationship Id="rId2" Type="http://schemas.openxmlformats.org/officeDocument/2006/relationships/image" Target="../media/image104.jpg"/><Relationship Id="rId1" Type="http://schemas.openxmlformats.org/officeDocument/2006/relationships/slideLayout" Target="../slideLayouts/slideLayout18.xml"/></Relationships>
</file>

<file path=ppt/slides/_rels/slide99.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jpg"/><Relationship Id="rId1" Type="http://schemas.openxmlformats.org/officeDocument/2006/relationships/slideLayout" Target="../slideLayouts/slideLayout18.xml"/></Relationships>
</file>

<file path=ppt/slides/_rels/slide10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jpg"/><Relationship Id="rId1" Type="http://schemas.openxmlformats.org/officeDocument/2006/relationships/slideLayout" Target="../slideLayouts/slideLayout18.xml"/></Relationships>
</file>

<file path=ppt/slides/_rels/slide10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jpg"/><Relationship Id="rId1" Type="http://schemas.openxmlformats.org/officeDocument/2006/relationships/slideLayout" Target="../slideLayouts/slideLayout18.xml"/></Relationships>
</file>

<file path=ppt/slides/_rels/slide102.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jpg"/><Relationship Id="rId1" Type="http://schemas.openxmlformats.org/officeDocument/2006/relationships/slideLayout" Target="../slideLayouts/slideLayout18.xml"/></Relationships>
</file>

<file path=ppt/slides/_rels/slide103.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jp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92D6322-97E4-4884-BF49-9B823A5948FE}"/>
              </a:ext>
            </a:extLst>
          </p:cNvPr>
          <p:cNvSpPr txBox="1"/>
          <p:nvPr/>
        </p:nvSpPr>
        <p:spPr>
          <a:xfrm>
            <a:off x="344595" y="352346"/>
            <a:ext cx="5088465" cy="532453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2060"/>
                </a:solidFill>
                <a:effectLst/>
                <a:uLnTx/>
                <a:uFillTx/>
                <a:latin typeface="Bell MT" panose="02020503060305020303" pitchFamily="18" charset="0"/>
                <a:ea typeface="+mn-ea"/>
                <a:cs typeface="+mn-cs"/>
              </a:rPr>
              <a:t>PROJECT MANAGEMENT PRACTICES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70C0"/>
                </a:solidFill>
                <a:effectLst/>
                <a:uLnTx/>
                <a:uFillTx/>
                <a:latin typeface="Bell MT" panose="02020503060305020303" pitchFamily="18" charset="0"/>
                <a:ea typeface="+mn-ea"/>
                <a:cs typeface="+mn-cs"/>
              </a:rPr>
              <a:t>Project management is the application of knowledge, skills, tools and techniques to a broad range of activities to achieve a stated objective.</a:t>
            </a:r>
            <a:endPar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rPr>
              <a:t>Project management life cycle are: </a:t>
            </a:r>
            <a:r>
              <a:rPr kumimoji="0" lang="en-US" sz="1600" b="0" i="0" u="none" strike="noStrike" kern="1200" cap="none" spc="0" normalizeH="0" baseline="0" noProof="0" dirty="0">
                <a:ln>
                  <a:noFill/>
                </a:ln>
                <a:solidFill>
                  <a:srgbClr val="C00000"/>
                </a:solidFill>
                <a:effectLst/>
                <a:uLnTx/>
                <a:uFillTx/>
                <a:latin typeface="Bell MT" panose="02020503060305020303" pitchFamily="18" charset="0"/>
                <a:ea typeface="+mn-ea"/>
                <a:cs typeface="+mn-cs"/>
              </a:rPr>
              <a:t>initiating</a:t>
            </a:r>
            <a:r>
              <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rPr>
              <a:t>, </a:t>
            </a:r>
            <a:r>
              <a:rPr kumimoji="0" lang="en-US" sz="1600" b="0" i="0" u="none" strike="noStrike" kern="1200" cap="none" spc="0" normalizeH="0" baseline="0" noProof="0" dirty="0">
                <a:ln>
                  <a:noFill/>
                </a:ln>
                <a:solidFill>
                  <a:srgbClr val="C00000"/>
                </a:solidFill>
                <a:effectLst/>
                <a:uLnTx/>
                <a:uFillTx/>
                <a:latin typeface="Bell MT" panose="02020503060305020303" pitchFamily="18" charset="0"/>
                <a:ea typeface="+mn-ea"/>
                <a:cs typeface="+mn-cs"/>
              </a:rPr>
              <a:t>planning, executing, controlling, monitoring and closing </a:t>
            </a:r>
            <a:r>
              <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rPr>
              <a:t>a project.</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rPr>
              <a:t>Requests for major projects should be submitted to and prioritized by an </a:t>
            </a:r>
            <a:r>
              <a:rPr kumimoji="0" lang="en-US" sz="1600" b="0" i="0" u="none" strike="noStrike" kern="1200" cap="none" spc="0" normalizeH="0" baseline="0" noProof="0" dirty="0">
                <a:ln>
                  <a:noFill/>
                </a:ln>
                <a:solidFill>
                  <a:srgbClr val="C00000"/>
                </a:solidFill>
                <a:effectLst/>
                <a:uLnTx/>
                <a:uFillTx/>
                <a:latin typeface="Bell MT" panose="02020503060305020303" pitchFamily="18" charset="0"/>
                <a:ea typeface="+mn-ea"/>
                <a:cs typeface="+mn-cs"/>
              </a:rPr>
              <a:t>IT steering committee</a:t>
            </a:r>
            <a:r>
              <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rPr>
              <a:t>. The committee then identifies a project manager.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70C0"/>
                </a:solidFill>
                <a:effectLst/>
                <a:uLnTx/>
                <a:uFillTx/>
                <a:latin typeface="Bell MT" panose="02020503060305020303" pitchFamily="18" charset="0"/>
                <a:ea typeface="+mn-ea"/>
                <a:cs typeface="+mn-cs"/>
              </a:rPr>
              <a:t>The project manager, who need not be an IT staff member, should be given complete operational control over the project and be allocated the appropriate resources, including IS professionals and other staff from user departments, for the successful completion of the project</a:t>
            </a:r>
          </a:p>
        </p:txBody>
      </p:sp>
      <p:pic>
        <p:nvPicPr>
          <p:cNvPr id="7" name="Picture 6">
            <a:extLst>
              <a:ext uri="{FF2B5EF4-FFF2-40B4-BE49-F238E27FC236}">
                <a16:creationId xmlns:a16="http://schemas.microsoft.com/office/drawing/2014/main" id="{F92E49F7-CD00-FDF4-113E-7CE49F564B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24500" y="1596390"/>
            <a:ext cx="6667500" cy="2644140"/>
          </a:xfrm>
          <a:prstGeom prst="rect">
            <a:avLst/>
          </a:prstGeom>
        </p:spPr>
      </p:pic>
    </p:spTree>
    <p:extLst>
      <p:ext uri="{BB962C8B-B14F-4D97-AF65-F5344CB8AC3E}">
        <p14:creationId xmlns:p14="http://schemas.microsoft.com/office/powerpoint/2010/main" val="2989093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7D61E8-7FB4-4F43-8F51-F5EEC75B0E6B}"/>
              </a:ext>
            </a:extLst>
          </p:cNvPr>
          <p:cNvSpPr txBox="1"/>
          <p:nvPr/>
        </p:nvSpPr>
        <p:spPr>
          <a:xfrm>
            <a:off x="2016370" y="586740"/>
            <a:ext cx="6220850" cy="510909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02060"/>
                </a:solidFill>
                <a:effectLst/>
                <a:uLnTx/>
                <a:uFillTx/>
                <a:latin typeface="Bell MT" panose="02020503060305020303" pitchFamily="18" charset="0"/>
                <a:ea typeface="+mn-ea"/>
                <a:cs typeface="+mn-cs"/>
              </a:rPr>
              <a:t>PORTFOLIO/PROGRAM MANAGEMENT</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0070C0"/>
                </a:solidFill>
                <a:effectLst/>
                <a:uLnTx/>
                <a:uFillTx/>
                <a:latin typeface="Berlin Sans FB" panose="020E0602020502020306" pitchFamily="34" charset="0"/>
              </a:rPr>
              <a:t>A project portfolio is defined as all of the projects being carried out in an organization at a given point in time.</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0070C0"/>
                </a:solidFill>
                <a:effectLst/>
                <a:uLnTx/>
                <a:uFillTx/>
                <a:latin typeface="Berlin Sans FB" panose="020E0602020502020306" pitchFamily="34" charset="0"/>
              </a:rPr>
              <a:t> A program is a group of projects and tasks that are closely linked together through common strategies, objectives, budgets and schedules.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0070C0"/>
                </a:solidFill>
                <a:effectLst/>
                <a:uLnTx/>
                <a:uFillTx/>
                <a:latin typeface="Berlin Sans FB" panose="020E0602020502020306" pitchFamily="34" charset="0"/>
              </a:rPr>
              <a:t> Portfolios, programs and projects are often controlled by a project management office (PMO), which governs the processes of project management but are not typically involved in the management of the content.</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0070C0"/>
                </a:solidFill>
                <a:effectLst/>
                <a:uLnTx/>
                <a:uFillTx/>
                <a:latin typeface="Berlin Sans FB" panose="020E0602020502020306" pitchFamily="34" charset="0"/>
              </a:rPr>
              <a:t> Like projects, programs have a limited time frame (i.e., a defined start and end date) and organizational boundaries.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400" b="0" i="0" u="none" strike="noStrike" kern="1200" cap="none" spc="0" normalizeH="0" baseline="0" noProof="0" dirty="0">
              <a:ln>
                <a:noFill/>
              </a:ln>
              <a:solidFill>
                <a:srgbClr val="0070C0"/>
              </a:solidFill>
              <a:effectLst/>
              <a:uLnTx/>
              <a:uFillTx/>
              <a:latin typeface="Berlin Sans FB" panose="020E0602020502020306" pitchFamily="34" charset="0"/>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0070C0"/>
                </a:solidFill>
                <a:effectLst/>
                <a:uLnTx/>
                <a:uFillTx/>
                <a:latin typeface="Berlin Sans FB" panose="020E0602020502020306" pitchFamily="34" charset="0"/>
              </a:rPr>
              <a:t>A differentiator is that programs are more complex, usually have a longer duration, a higher budget and higher risk associated with them, and are of higher strategic importance.</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C00000"/>
                </a:solidFill>
                <a:effectLst/>
                <a:uLnTx/>
                <a:uFillTx/>
                <a:latin typeface="Berlin Sans FB" panose="020E0602020502020306" pitchFamily="34" charset="0"/>
              </a:rPr>
              <a:t>A typical IS-related program may be the implementation of a large-scale enterprise resource planning (ERP) system that includes projects that address technology infrastructure, operations, organizational realignment, business process reengineering (BPR) and optimization, training, and development. </a:t>
            </a:r>
            <a:endParaRPr kumimoji="0" lang="en-US" b="0" i="0" u="none" strike="noStrike" kern="1200" cap="none" spc="0" normalizeH="0" baseline="0" noProof="0" dirty="0">
              <a:ln>
                <a:noFill/>
              </a:ln>
              <a:solidFill>
                <a:srgbClr val="C00000"/>
              </a:solidFill>
              <a:effectLst/>
              <a:uLnTx/>
              <a:uFillTx/>
              <a:latin typeface="Berlin Sans FB" panose="020E0602020502020306" pitchFamily="34" charset="0"/>
            </a:endParaRPr>
          </a:p>
        </p:txBody>
      </p:sp>
    </p:spTree>
    <p:extLst>
      <p:ext uri="{BB962C8B-B14F-4D97-AF65-F5344CB8AC3E}">
        <p14:creationId xmlns:p14="http://schemas.microsoft.com/office/powerpoint/2010/main" val="1074899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0A0DBE-1D5C-4691-953F-C3678F8DA1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3815" y="322673"/>
            <a:ext cx="11024533" cy="4149391"/>
          </a:xfrm>
          <a:prstGeom prst="rect">
            <a:avLst/>
          </a:prstGeom>
        </p:spPr>
      </p:pic>
      <p:sp>
        <p:nvSpPr>
          <p:cNvPr id="5" name="TextBox 4">
            <a:extLst>
              <a:ext uri="{FF2B5EF4-FFF2-40B4-BE49-F238E27FC236}">
                <a16:creationId xmlns:a16="http://schemas.microsoft.com/office/drawing/2014/main" id="{723705E9-CEEE-46F3-8EF4-53AF15AEAAD4}"/>
              </a:ext>
            </a:extLst>
          </p:cNvPr>
          <p:cNvSpPr txBox="1"/>
          <p:nvPr/>
        </p:nvSpPr>
        <p:spPr>
          <a:xfrm>
            <a:off x="1639926" y="3888044"/>
            <a:ext cx="7410289" cy="233910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060"/>
                </a:solidFill>
                <a:effectLst/>
                <a:uLnTx/>
                <a:uFillTx/>
                <a:latin typeface="Bell MT" panose="02020503060305020303" pitchFamily="18" charset="0"/>
                <a:ea typeface="+mn-ea"/>
                <a:cs typeface="+mn-cs"/>
              </a:rPr>
              <a:t>Project Portfolio Database</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rPr>
              <a:t>A project portfolio database is mandatory for project portfolio management.</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rPr>
              <a:t>It must include project data such as owner, schedules, objectives, project type, status and cost.</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rPr>
              <a:t>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rPr>
              <a:t>Project portfolio management requires specific project portfolio reports. Typical project portfolio reports are a project portfolio bar chart, a profit versus risk matrix and a project portfolio progress graph.</a:t>
            </a:r>
            <a:endParaRPr kumimoji="0" lang="en-US" sz="20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endParaRPr>
          </a:p>
        </p:txBody>
      </p:sp>
    </p:spTree>
    <p:extLst>
      <p:ext uri="{BB962C8B-B14F-4D97-AF65-F5344CB8AC3E}">
        <p14:creationId xmlns:p14="http://schemas.microsoft.com/office/powerpoint/2010/main" val="2157286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030E07-7208-30C9-2770-C72D1410F6DC}"/>
              </a:ext>
            </a:extLst>
          </p:cNvPr>
          <p:cNvPicPr>
            <a:picLocks noChangeAspect="1"/>
          </p:cNvPicPr>
          <p:nvPr/>
        </p:nvPicPr>
        <p:blipFill rotWithShape="1">
          <a:blip r:embed="rId2">
            <a:extLst>
              <a:ext uri="{28A0092B-C50C-407E-A947-70E740481C1C}">
                <a14:useLocalDpi xmlns:a14="http://schemas.microsoft.com/office/drawing/2010/main" val="0"/>
              </a:ext>
            </a:extLst>
          </a:blip>
          <a:srcRect b="8112"/>
          <a:stretch/>
        </p:blipFill>
        <p:spPr>
          <a:xfrm>
            <a:off x="3006725" y="0"/>
            <a:ext cx="6178550" cy="6301740"/>
          </a:xfrm>
          <a:prstGeom prst="rect">
            <a:avLst/>
          </a:prstGeom>
        </p:spPr>
      </p:pic>
    </p:spTree>
    <p:extLst>
      <p:ext uri="{BB962C8B-B14F-4D97-AF65-F5344CB8AC3E}">
        <p14:creationId xmlns:p14="http://schemas.microsoft.com/office/powerpoint/2010/main" val="519365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73AB12-29A0-4C6A-AC45-4ABB7FE9D674}"/>
              </a:ext>
            </a:extLst>
          </p:cNvPr>
          <p:cNvPicPr>
            <a:picLocks noChangeAspect="1"/>
          </p:cNvPicPr>
          <p:nvPr/>
        </p:nvPicPr>
        <p:blipFill rotWithShape="1">
          <a:blip r:embed="rId2">
            <a:extLst>
              <a:ext uri="{28A0092B-C50C-407E-A947-70E740481C1C}">
                <a14:useLocalDpi xmlns:a14="http://schemas.microsoft.com/office/drawing/2010/main" val="0"/>
              </a:ext>
            </a:extLst>
          </a:blip>
          <a:srcRect l="11983"/>
          <a:stretch/>
        </p:blipFill>
        <p:spPr>
          <a:xfrm>
            <a:off x="1266092" y="385762"/>
            <a:ext cx="9951800" cy="5795115"/>
          </a:xfrm>
          <a:prstGeom prst="rect">
            <a:avLst/>
          </a:prstGeom>
        </p:spPr>
      </p:pic>
    </p:spTree>
    <p:extLst>
      <p:ext uri="{BB962C8B-B14F-4D97-AF65-F5344CB8AC3E}">
        <p14:creationId xmlns:p14="http://schemas.microsoft.com/office/powerpoint/2010/main" val="1226678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5F83D67-A8EE-47BA-BF88-345B080414FA}"/>
              </a:ext>
            </a:extLst>
          </p:cNvPr>
          <p:cNvPicPr>
            <a:picLocks noChangeAspect="1"/>
          </p:cNvPicPr>
          <p:nvPr/>
        </p:nvPicPr>
        <p:blipFill rotWithShape="1">
          <a:blip r:embed="rId2">
            <a:extLst>
              <a:ext uri="{28A0092B-C50C-407E-A947-70E740481C1C}">
                <a14:useLocalDpi xmlns:a14="http://schemas.microsoft.com/office/drawing/2010/main" val="0"/>
              </a:ext>
            </a:extLst>
          </a:blip>
          <a:srcRect l="3988"/>
          <a:stretch/>
        </p:blipFill>
        <p:spPr>
          <a:xfrm>
            <a:off x="529388" y="261278"/>
            <a:ext cx="11405937" cy="4868184"/>
          </a:xfrm>
          <a:prstGeom prst="rect">
            <a:avLst/>
          </a:prstGeom>
        </p:spPr>
      </p:pic>
      <p:sp>
        <p:nvSpPr>
          <p:cNvPr id="4" name="TextBox 3">
            <a:extLst>
              <a:ext uri="{FF2B5EF4-FFF2-40B4-BE49-F238E27FC236}">
                <a16:creationId xmlns:a16="http://schemas.microsoft.com/office/drawing/2014/main" id="{5FDDBD8D-9557-4256-AE74-EEECA35A6A1F}"/>
              </a:ext>
            </a:extLst>
          </p:cNvPr>
          <p:cNvSpPr txBox="1"/>
          <p:nvPr/>
        </p:nvSpPr>
        <p:spPr>
          <a:xfrm>
            <a:off x="1267326" y="5249597"/>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anose="020F0502020204030204"/>
                <a:ea typeface="+mn-ea"/>
                <a:cs typeface="+mn-cs"/>
              </a:rPr>
              <a:t>8 Best Project Portfolio Management (PPM) </a:t>
            </a:r>
          </a:p>
        </p:txBody>
      </p:sp>
      <p:sp>
        <p:nvSpPr>
          <p:cNvPr id="6" name="TextBox 5">
            <a:extLst>
              <a:ext uri="{FF2B5EF4-FFF2-40B4-BE49-F238E27FC236}">
                <a16:creationId xmlns:a16="http://schemas.microsoft.com/office/drawing/2014/main" id="{65540F9E-BD5B-43B4-B2A0-ECDDC67A7298}"/>
              </a:ext>
            </a:extLst>
          </p:cNvPr>
          <p:cNvSpPr txBox="1"/>
          <p:nvPr/>
        </p:nvSpPr>
        <p:spPr>
          <a:xfrm>
            <a:off x="3184355" y="5618929"/>
            <a:ext cx="799699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https://kissflow.com/project/project-portfolio-management-software-tools/</a:t>
            </a:r>
          </a:p>
        </p:txBody>
      </p:sp>
    </p:spTree>
    <p:extLst>
      <p:ext uri="{BB962C8B-B14F-4D97-AF65-F5344CB8AC3E}">
        <p14:creationId xmlns:p14="http://schemas.microsoft.com/office/powerpoint/2010/main" val="4038689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45A8A2-01FD-4D1B-B885-090555839773}"/>
              </a:ext>
            </a:extLst>
          </p:cNvPr>
          <p:cNvSpPr txBox="1"/>
          <p:nvPr/>
        </p:nvSpPr>
        <p:spPr>
          <a:xfrm>
            <a:off x="1548813" y="676662"/>
            <a:ext cx="6825568" cy="49859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2060"/>
                </a:solidFill>
                <a:effectLst/>
                <a:uLnTx/>
                <a:uFillTx/>
                <a:latin typeface="Bell MT" panose="02020503060305020303" pitchFamily="18" charset="0"/>
                <a:ea typeface="+mn-ea"/>
                <a:cs typeface="+mn-cs"/>
              </a:rPr>
              <a:t>PROJECT CLOSING</a:t>
            </a:r>
            <a:endPar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C00000"/>
                </a:solidFill>
                <a:effectLst/>
                <a:uLnTx/>
                <a:uFillTx/>
                <a:latin typeface="Berlin Sans FB" panose="020E0602020502020306" pitchFamily="34" charset="0"/>
              </a:rPr>
              <a:t>At this point, The project sponsor should be satisfied that the system produced is acceptable and ready for delivery.</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0070C0"/>
                </a:solidFill>
                <a:effectLst/>
                <a:uLnTx/>
                <a:uFillTx/>
                <a:latin typeface="Berlin Sans FB" panose="020E0602020502020306" pitchFamily="34" charset="0"/>
              </a:rPr>
              <a:t>Key questions to consider include:</a:t>
            </a:r>
          </a:p>
          <a:p>
            <a:pPr marL="1257300" marR="0" lvl="2"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en-US" sz="1400" b="0" i="0" u="none" strike="noStrike" kern="1200" cap="none" spc="0" normalizeH="0" baseline="0" noProof="0" dirty="0">
                <a:ln>
                  <a:noFill/>
                </a:ln>
                <a:solidFill>
                  <a:srgbClr val="0070C0"/>
                </a:solidFill>
                <a:effectLst/>
                <a:uLnTx/>
                <a:uFillTx/>
                <a:latin typeface="Berlin Sans FB" panose="020E0602020502020306" pitchFamily="34" charset="0"/>
              </a:rPr>
              <a:t>When will the project manager issue the final project closure notification?</a:t>
            </a:r>
          </a:p>
          <a:p>
            <a:pPr marL="1257300" marR="0" lvl="2"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en-US" sz="1400" b="0" i="0" u="none" strike="noStrike" kern="1200" cap="none" spc="0" normalizeH="0" baseline="0" noProof="0" dirty="0">
                <a:ln>
                  <a:noFill/>
                </a:ln>
                <a:solidFill>
                  <a:srgbClr val="0070C0"/>
                </a:solidFill>
                <a:effectLst/>
                <a:uLnTx/>
                <a:uFillTx/>
                <a:latin typeface="Berlin Sans FB" panose="020E0602020502020306" pitchFamily="34" charset="0"/>
              </a:rPr>
              <a:t>What will the project manager do for risk and issues that remain open?</a:t>
            </a:r>
          </a:p>
          <a:p>
            <a:pPr marL="1257300" marR="0" lvl="2"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en-US" sz="1400" b="0" i="0" u="none" strike="noStrike" kern="1200" cap="none" spc="0" normalizeH="0" baseline="0" noProof="0" dirty="0">
                <a:ln>
                  <a:noFill/>
                </a:ln>
                <a:solidFill>
                  <a:srgbClr val="0070C0"/>
                </a:solidFill>
                <a:effectLst/>
                <a:uLnTx/>
                <a:uFillTx/>
                <a:latin typeface="Berlin Sans FB" panose="020E0602020502020306" pitchFamily="34" charset="0"/>
              </a:rPr>
              <a:t>Who will pick up these actions and how will these be funded?</a:t>
            </a:r>
          </a:p>
          <a:p>
            <a:pPr marL="1257300" marR="0" lvl="2" indent="-342900" algn="l" defTabSz="914400" rtl="0" eaLnBrk="1" fontAlgn="auto" latinLnBrk="0" hangingPunct="1">
              <a:lnSpc>
                <a:spcPct val="100000"/>
              </a:lnSpc>
              <a:spcBef>
                <a:spcPts val="0"/>
              </a:spcBef>
              <a:spcAft>
                <a:spcPts val="0"/>
              </a:spcAft>
              <a:buClrTx/>
              <a:buSzTx/>
              <a:buFont typeface="+mj-lt"/>
              <a:buAutoNum type="alphaLcPeriod"/>
              <a:tabLst/>
              <a:defRPr/>
            </a:pP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0070C0"/>
                </a:solidFill>
                <a:effectLst/>
                <a:uLnTx/>
                <a:uFillTx/>
                <a:latin typeface="Berlin Sans FB" panose="020E0602020502020306" pitchFamily="34" charset="0"/>
              </a:rPr>
              <a:t>Hand-off of relevant documentation and duties will occur at this stage, and the project team and other relevant stakeholders will identify lessons learned from the project.</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0070C0"/>
                </a:solidFill>
                <a:effectLst/>
                <a:uLnTx/>
                <a:uFillTx/>
                <a:latin typeface="Berlin Sans FB" panose="020E0602020502020306" pitchFamily="34" charset="0"/>
              </a:rPr>
              <a:t>Review may be a formal process such as a post-project review.</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7030A0"/>
                </a:solidFill>
                <a:effectLst/>
                <a:uLnTx/>
                <a:uFillTx/>
                <a:latin typeface="Berlin Sans FB" panose="020E0602020502020306" pitchFamily="34" charset="0"/>
              </a:rPr>
              <a:t> A post implementation review, in contrast, is typically completed after the project has been in use (or in “production”) for some time—long enough to realize its business benefits and costs and measure the project’s overall success and impact on the business units.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C00000"/>
                </a:solidFill>
                <a:effectLst/>
                <a:uLnTx/>
                <a:uFillTx/>
                <a:latin typeface="Berlin Sans FB" panose="020E0602020502020306" pitchFamily="34" charset="0"/>
              </a:rPr>
              <a:t>Metrics used to quantify the value of the project include total cost of ownership (TCO) and ROI.</a:t>
            </a:r>
            <a:endParaRPr kumimoji="0" lang="en-US" b="0" i="0" u="none" strike="noStrike" kern="1200" cap="none" spc="0" normalizeH="0" baseline="0" noProof="0" dirty="0">
              <a:ln>
                <a:noFill/>
              </a:ln>
              <a:solidFill>
                <a:srgbClr val="C00000"/>
              </a:solidFill>
              <a:effectLst/>
              <a:uLnTx/>
              <a:uFillTx/>
              <a:latin typeface="Berlin Sans FB" panose="020E0602020502020306" pitchFamily="34" charset="0"/>
            </a:endParaRPr>
          </a:p>
        </p:txBody>
      </p:sp>
    </p:spTree>
    <p:extLst>
      <p:ext uri="{BB962C8B-B14F-4D97-AF65-F5344CB8AC3E}">
        <p14:creationId xmlns:p14="http://schemas.microsoft.com/office/powerpoint/2010/main" val="887308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87C71F-4A4D-4B99-9576-002517225BF5}"/>
              </a:ext>
            </a:extLst>
          </p:cNvPr>
          <p:cNvPicPr>
            <a:picLocks noChangeAspect="1"/>
          </p:cNvPicPr>
          <p:nvPr/>
        </p:nvPicPr>
        <p:blipFill rotWithShape="1">
          <a:blip r:embed="rId2">
            <a:extLst>
              <a:ext uri="{28A0092B-C50C-407E-A947-70E740481C1C}">
                <a14:useLocalDpi xmlns:a14="http://schemas.microsoft.com/office/drawing/2010/main" val="0"/>
              </a:ext>
            </a:extLst>
          </a:blip>
          <a:srcRect l="12146"/>
          <a:stretch/>
        </p:blipFill>
        <p:spPr>
          <a:xfrm>
            <a:off x="1289301" y="396657"/>
            <a:ext cx="9613397" cy="5595687"/>
          </a:xfrm>
          <a:prstGeom prst="rect">
            <a:avLst/>
          </a:prstGeom>
        </p:spPr>
      </p:pic>
    </p:spTree>
    <p:extLst>
      <p:ext uri="{BB962C8B-B14F-4D97-AF65-F5344CB8AC3E}">
        <p14:creationId xmlns:p14="http://schemas.microsoft.com/office/powerpoint/2010/main" val="3164584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6B1F39-E074-4FA1-8A36-2ABAC1B0DD16}"/>
              </a:ext>
            </a:extLst>
          </p:cNvPr>
          <p:cNvPicPr>
            <a:picLocks noChangeAspect="1"/>
          </p:cNvPicPr>
          <p:nvPr/>
        </p:nvPicPr>
        <p:blipFill rotWithShape="1">
          <a:blip r:embed="rId2">
            <a:extLst>
              <a:ext uri="{28A0092B-C50C-407E-A947-70E740481C1C}">
                <a14:useLocalDpi xmlns:a14="http://schemas.microsoft.com/office/drawing/2010/main" val="0"/>
              </a:ext>
            </a:extLst>
          </a:blip>
          <a:srcRect l="12285"/>
          <a:stretch/>
        </p:blipFill>
        <p:spPr>
          <a:xfrm>
            <a:off x="1398955" y="857096"/>
            <a:ext cx="9851649" cy="4125829"/>
          </a:xfrm>
          <a:prstGeom prst="rect">
            <a:avLst/>
          </a:prstGeom>
        </p:spPr>
      </p:pic>
      <p:pic>
        <p:nvPicPr>
          <p:cNvPr id="2" name="Picture 1">
            <a:extLst>
              <a:ext uri="{FF2B5EF4-FFF2-40B4-BE49-F238E27FC236}">
                <a16:creationId xmlns:a16="http://schemas.microsoft.com/office/drawing/2014/main" id="{9D9B0E19-1B00-6BA0-F526-BC91DE8E4865}"/>
              </a:ext>
            </a:extLst>
          </p:cNvPr>
          <p:cNvPicPr>
            <a:picLocks noChangeAspect="1"/>
          </p:cNvPicPr>
          <p:nvPr/>
        </p:nvPicPr>
        <p:blipFill rotWithShape="1">
          <a:blip r:embed="rId3"/>
          <a:srcRect l="19851" t="-34" b="-1"/>
          <a:stretch/>
        </p:blipFill>
        <p:spPr>
          <a:xfrm>
            <a:off x="1021080" y="243840"/>
            <a:ext cx="2531100" cy="402513"/>
          </a:xfrm>
          <a:prstGeom prst="rect">
            <a:avLst/>
          </a:prstGeom>
        </p:spPr>
      </p:pic>
    </p:spTree>
    <p:extLst>
      <p:ext uri="{BB962C8B-B14F-4D97-AF65-F5344CB8AC3E}">
        <p14:creationId xmlns:p14="http://schemas.microsoft.com/office/powerpoint/2010/main" val="685066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737B791-FD6C-4B23-8602-0895009073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985" y="484271"/>
            <a:ext cx="10508029" cy="5403182"/>
          </a:xfrm>
          <a:prstGeom prst="rect">
            <a:avLst/>
          </a:prstGeom>
        </p:spPr>
      </p:pic>
    </p:spTree>
    <p:extLst>
      <p:ext uri="{BB962C8B-B14F-4D97-AF65-F5344CB8AC3E}">
        <p14:creationId xmlns:p14="http://schemas.microsoft.com/office/powerpoint/2010/main" val="3034599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7BAA59-7D8A-4FAB-A21E-B56D9D3721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9597" y="472991"/>
            <a:ext cx="11012806" cy="5623009"/>
          </a:xfrm>
          <a:prstGeom prst="rect">
            <a:avLst/>
          </a:prstGeom>
        </p:spPr>
      </p:pic>
    </p:spTree>
    <p:extLst>
      <p:ext uri="{BB962C8B-B14F-4D97-AF65-F5344CB8AC3E}">
        <p14:creationId xmlns:p14="http://schemas.microsoft.com/office/powerpoint/2010/main" val="4153529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9A493FB-6F25-4127-9E6F-9CF1FCC13679}"/>
              </a:ext>
            </a:extLst>
          </p:cNvPr>
          <p:cNvPicPr>
            <a:picLocks noChangeAspect="1"/>
          </p:cNvPicPr>
          <p:nvPr/>
        </p:nvPicPr>
        <p:blipFill rotWithShape="1">
          <a:blip r:embed="rId2">
            <a:extLst>
              <a:ext uri="{28A0092B-C50C-407E-A947-70E740481C1C}">
                <a14:useLocalDpi xmlns:a14="http://schemas.microsoft.com/office/drawing/2010/main" val="0"/>
              </a:ext>
            </a:extLst>
          </a:blip>
          <a:srcRect l="12411"/>
          <a:stretch/>
        </p:blipFill>
        <p:spPr>
          <a:xfrm>
            <a:off x="1328616" y="480028"/>
            <a:ext cx="9379328" cy="5278844"/>
          </a:xfrm>
          <a:prstGeom prst="rect">
            <a:avLst/>
          </a:prstGeom>
        </p:spPr>
      </p:pic>
    </p:spTree>
    <p:extLst>
      <p:ext uri="{BB962C8B-B14F-4D97-AF65-F5344CB8AC3E}">
        <p14:creationId xmlns:p14="http://schemas.microsoft.com/office/powerpoint/2010/main" val="1916112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569B62-F153-4AE5-A3B4-A2EADA41C8AD}"/>
              </a:ext>
            </a:extLst>
          </p:cNvPr>
          <p:cNvSpPr txBox="1"/>
          <p:nvPr/>
        </p:nvSpPr>
        <p:spPr>
          <a:xfrm>
            <a:off x="226648" y="204213"/>
            <a:ext cx="6768121" cy="13849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4.16 DISASTER RECOVERY PLANS</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rPr>
              <a:t>Disaster recovery planning, is an element of an internal control system established to manage availability and restore critical processes/IT services in the event of interruption</a:t>
            </a:r>
            <a:r>
              <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rPr>
              <a:t>.</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endParaRPr>
          </a:p>
        </p:txBody>
      </p:sp>
      <p:pic>
        <p:nvPicPr>
          <p:cNvPr id="2" name="Picture 1">
            <a:extLst>
              <a:ext uri="{FF2B5EF4-FFF2-40B4-BE49-F238E27FC236}">
                <a16:creationId xmlns:a16="http://schemas.microsoft.com/office/drawing/2014/main" id="{F6980DDD-ACAC-44C7-864C-0986C1FF620C}"/>
              </a:ext>
            </a:extLst>
          </p:cNvPr>
          <p:cNvPicPr>
            <a:picLocks noChangeAspect="1"/>
          </p:cNvPicPr>
          <p:nvPr/>
        </p:nvPicPr>
        <p:blipFill>
          <a:blip r:embed="rId2"/>
          <a:stretch>
            <a:fillRect/>
          </a:stretch>
        </p:blipFill>
        <p:spPr>
          <a:xfrm>
            <a:off x="468924" y="1589208"/>
            <a:ext cx="5964237" cy="4594839"/>
          </a:xfrm>
          <a:prstGeom prst="rect">
            <a:avLst/>
          </a:prstGeom>
        </p:spPr>
      </p:pic>
      <p:pic>
        <p:nvPicPr>
          <p:cNvPr id="4" name="Picture 3">
            <a:extLst>
              <a:ext uri="{FF2B5EF4-FFF2-40B4-BE49-F238E27FC236}">
                <a16:creationId xmlns:a16="http://schemas.microsoft.com/office/drawing/2014/main" id="{5ADF8408-F413-475D-9497-52CB3EC645DF}"/>
              </a:ext>
            </a:extLst>
          </p:cNvPr>
          <p:cNvPicPr>
            <a:picLocks noChangeAspect="1"/>
          </p:cNvPicPr>
          <p:nvPr/>
        </p:nvPicPr>
        <p:blipFill rotWithShape="1">
          <a:blip r:embed="rId3"/>
          <a:srcRect t="2635" b="8704"/>
          <a:stretch/>
        </p:blipFill>
        <p:spPr>
          <a:xfrm>
            <a:off x="6892031" y="204213"/>
            <a:ext cx="5299969" cy="6080370"/>
          </a:xfrm>
          <a:prstGeom prst="rect">
            <a:avLst/>
          </a:prstGeom>
        </p:spPr>
      </p:pic>
    </p:spTree>
    <p:extLst>
      <p:ext uri="{BB962C8B-B14F-4D97-AF65-F5344CB8AC3E}">
        <p14:creationId xmlns:p14="http://schemas.microsoft.com/office/powerpoint/2010/main" val="2896078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3A55C5-AE36-443B-9E73-92498C702120}"/>
              </a:ext>
            </a:extLst>
          </p:cNvPr>
          <p:cNvPicPr>
            <a:picLocks noChangeAspect="1"/>
          </p:cNvPicPr>
          <p:nvPr/>
        </p:nvPicPr>
        <p:blipFill rotWithShape="1">
          <a:blip r:embed="rId2">
            <a:extLst>
              <a:ext uri="{28A0092B-C50C-407E-A947-70E740481C1C}">
                <a14:useLocalDpi xmlns:a14="http://schemas.microsoft.com/office/drawing/2010/main" val="0"/>
              </a:ext>
            </a:extLst>
          </a:blip>
          <a:srcRect l="12089"/>
          <a:stretch/>
        </p:blipFill>
        <p:spPr>
          <a:xfrm>
            <a:off x="1914768" y="463467"/>
            <a:ext cx="9695729" cy="5648576"/>
          </a:xfrm>
          <a:prstGeom prst="rect">
            <a:avLst/>
          </a:prstGeom>
        </p:spPr>
      </p:pic>
    </p:spTree>
    <p:extLst>
      <p:ext uri="{BB962C8B-B14F-4D97-AF65-F5344CB8AC3E}">
        <p14:creationId xmlns:p14="http://schemas.microsoft.com/office/powerpoint/2010/main" val="10071115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339771D-0790-4E7C-AA2F-721202AD6E76}"/>
              </a:ext>
            </a:extLst>
          </p:cNvPr>
          <p:cNvPicPr>
            <a:picLocks noChangeAspect="1"/>
          </p:cNvPicPr>
          <p:nvPr/>
        </p:nvPicPr>
        <p:blipFill rotWithShape="1">
          <a:blip r:embed="rId2">
            <a:extLst>
              <a:ext uri="{28A0092B-C50C-407E-A947-70E740481C1C}">
                <a14:useLocalDpi xmlns:a14="http://schemas.microsoft.com/office/drawing/2010/main" val="0"/>
              </a:ext>
            </a:extLst>
          </a:blip>
          <a:srcRect l="12391"/>
          <a:stretch/>
        </p:blipFill>
        <p:spPr>
          <a:xfrm>
            <a:off x="1867876" y="978174"/>
            <a:ext cx="9849377" cy="4608019"/>
          </a:xfrm>
          <a:prstGeom prst="rect">
            <a:avLst/>
          </a:prstGeom>
        </p:spPr>
      </p:pic>
    </p:spTree>
    <p:extLst>
      <p:ext uri="{BB962C8B-B14F-4D97-AF65-F5344CB8AC3E}">
        <p14:creationId xmlns:p14="http://schemas.microsoft.com/office/powerpoint/2010/main" val="22525692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94A853-58E3-4570-A060-F3B4805749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503" y="312571"/>
            <a:ext cx="11326994" cy="5783430"/>
          </a:xfrm>
          <a:prstGeom prst="rect">
            <a:avLst/>
          </a:prstGeom>
        </p:spPr>
      </p:pic>
    </p:spTree>
    <p:extLst>
      <p:ext uri="{BB962C8B-B14F-4D97-AF65-F5344CB8AC3E}">
        <p14:creationId xmlns:p14="http://schemas.microsoft.com/office/powerpoint/2010/main" val="374703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68150F-D989-4FE9-BCB4-8C5401E43C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143" y="327360"/>
            <a:ext cx="11217714" cy="5784683"/>
          </a:xfrm>
          <a:prstGeom prst="rect">
            <a:avLst/>
          </a:prstGeom>
        </p:spPr>
      </p:pic>
    </p:spTree>
    <p:extLst>
      <p:ext uri="{BB962C8B-B14F-4D97-AF65-F5344CB8AC3E}">
        <p14:creationId xmlns:p14="http://schemas.microsoft.com/office/powerpoint/2010/main" val="24920331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C4F028A-A22C-4216-BAF2-811BD76A685B}"/>
              </a:ext>
            </a:extLst>
          </p:cNvPr>
          <p:cNvPicPr>
            <a:picLocks noChangeAspect="1"/>
          </p:cNvPicPr>
          <p:nvPr/>
        </p:nvPicPr>
        <p:blipFill rotWithShape="1">
          <a:blip r:embed="rId2">
            <a:extLst>
              <a:ext uri="{28A0092B-C50C-407E-A947-70E740481C1C}">
                <a14:useLocalDpi xmlns:a14="http://schemas.microsoft.com/office/drawing/2010/main" val="0"/>
              </a:ext>
            </a:extLst>
          </a:blip>
          <a:srcRect l="12344"/>
          <a:stretch/>
        </p:blipFill>
        <p:spPr>
          <a:xfrm>
            <a:off x="1961662" y="1613234"/>
            <a:ext cx="9623972" cy="3889208"/>
          </a:xfrm>
          <a:prstGeom prst="rect">
            <a:avLst/>
          </a:prstGeom>
        </p:spPr>
      </p:pic>
    </p:spTree>
    <p:extLst>
      <p:ext uri="{BB962C8B-B14F-4D97-AF65-F5344CB8AC3E}">
        <p14:creationId xmlns:p14="http://schemas.microsoft.com/office/powerpoint/2010/main" val="19538914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CE8BBA-BDD5-478F-B057-1EA91C920261}"/>
              </a:ext>
            </a:extLst>
          </p:cNvPr>
          <p:cNvPicPr>
            <a:picLocks noChangeAspect="1"/>
          </p:cNvPicPr>
          <p:nvPr/>
        </p:nvPicPr>
        <p:blipFill rotWithShape="1">
          <a:blip r:embed="rId2">
            <a:extLst>
              <a:ext uri="{28A0092B-C50C-407E-A947-70E740481C1C}">
                <a14:useLocalDpi xmlns:a14="http://schemas.microsoft.com/office/drawing/2010/main" val="0"/>
              </a:ext>
            </a:extLst>
          </a:blip>
          <a:srcRect l="11007"/>
          <a:stretch/>
        </p:blipFill>
        <p:spPr>
          <a:xfrm>
            <a:off x="1922585" y="513347"/>
            <a:ext cx="9524875" cy="5502442"/>
          </a:xfrm>
          <a:prstGeom prst="rect">
            <a:avLst/>
          </a:prstGeom>
        </p:spPr>
      </p:pic>
    </p:spTree>
    <p:extLst>
      <p:ext uri="{BB962C8B-B14F-4D97-AF65-F5344CB8AC3E}">
        <p14:creationId xmlns:p14="http://schemas.microsoft.com/office/powerpoint/2010/main" val="14960462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b="6895"/>
          <a:stretch/>
        </p:blipFill>
        <p:spPr>
          <a:xfrm>
            <a:off x="0" y="0"/>
            <a:ext cx="12192000" cy="6385169"/>
          </a:xfrm>
          <a:prstGeom prst="rect">
            <a:avLst/>
          </a:prstGeom>
        </p:spPr>
      </p:pic>
    </p:spTree>
    <p:extLst>
      <p:ext uri="{BB962C8B-B14F-4D97-AF65-F5344CB8AC3E}">
        <p14:creationId xmlns:p14="http://schemas.microsoft.com/office/powerpoint/2010/main" val="14914844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14D5AA-66DC-4C49-9A72-13A878BFA7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277" y="285750"/>
            <a:ext cx="11409446" cy="5910702"/>
          </a:xfrm>
          <a:prstGeom prst="rect">
            <a:avLst/>
          </a:prstGeom>
        </p:spPr>
      </p:pic>
    </p:spTree>
    <p:extLst>
      <p:ext uri="{BB962C8B-B14F-4D97-AF65-F5344CB8AC3E}">
        <p14:creationId xmlns:p14="http://schemas.microsoft.com/office/powerpoint/2010/main" val="6689631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b="7807"/>
          <a:stretch/>
        </p:blipFill>
        <p:spPr>
          <a:xfrm>
            <a:off x="0" y="0"/>
            <a:ext cx="12192000" cy="6322646"/>
          </a:xfrm>
          <a:prstGeom prst="rect">
            <a:avLst/>
          </a:prstGeom>
        </p:spPr>
      </p:pic>
    </p:spTree>
    <p:extLst>
      <p:ext uri="{BB962C8B-B14F-4D97-AF65-F5344CB8AC3E}">
        <p14:creationId xmlns:p14="http://schemas.microsoft.com/office/powerpoint/2010/main" val="26877113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b="7807"/>
          <a:stretch/>
        </p:blipFill>
        <p:spPr>
          <a:xfrm>
            <a:off x="0" y="0"/>
            <a:ext cx="12192000" cy="6322646"/>
          </a:xfrm>
          <a:prstGeom prst="rect">
            <a:avLst/>
          </a:prstGeom>
        </p:spPr>
      </p:pic>
    </p:spTree>
    <p:extLst>
      <p:ext uri="{BB962C8B-B14F-4D97-AF65-F5344CB8AC3E}">
        <p14:creationId xmlns:p14="http://schemas.microsoft.com/office/powerpoint/2010/main" val="770609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b="6553"/>
          <a:stretch/>
        </p:blipFill>
        <p:spPr>
          <a:xfrm>
            <a:off x="0" y="0"/>
            <a:ext cx="12192000" cy="6408615"/>
          </a:xfrm>
          <a:prstGeom prst="rect">
            <a:avLst/>
          </a:prstGeom>
        </p:spPr>
      </p:pic>
    </p:spTree>
    <p:extLst>
      <p:ext uri="{BB962C8B-B14F-4D97-AF65-F5344CB8AC3E}">
        <p14:creationId xmlns:p14="http://schemas.microsoft.com/office/powerpoint/2010/main" val="4364923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1FCBF3-8774-407A-8190-BDD016F2C4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903" y="273970"/>
            <a:ext cx="11514193" cy="5870158"/>
          </a:xfrm>
          <a:prstGeom prst="rect">
            <a:avLst/>
          </a:prstGeom>
        </p:spPr>
      </p:pic>
    </p:spTree>
    <p:extLst>
      <p:ext uri="{BB962C8B-B14F-4D97-AF65-F5344CB8AC3E}">
        <p14:creationId xmlns:p14="http://schemas.microsoft.com/office/powerpoint/2010/main" val="30226537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b="7122"/>
          <a:stretch/>
        </p:blipFill>
        <p:spPr>
          <a:xfrm>
            <a:off x="0" y="0"/>
            <a:ext cx="12192000" cy="6369538"/>
          </a:xfrm>
          <a:prstGeom prst="rect">
            <a:avLst/>
          </a:prstGeom>
        </p:spPr>
      </p:pic>
    </p:spTree>
    <p:extLst>
      <p:ext uri="{BB962C8B-B14F-4D97-AF65-F5344CB8AC3E}">
        <p14:creationId xmlns:p14="http://schemas.microsoft.com/office/powerpoint/2010/main" val="17453032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b="5983"/>
          <a:stretch/>
        </p:blipFill>
        <p:spPr>
          <a:xfrm>
            <a:off x="0" y="-109416"/>
            <a:ext cx="12192000" cy="6447692"/>
          </a:xfrm>
          <a:prstGeom prst="rect">
            <a:avLst/>
          </a:prstGeom>
        </p:spPr>
      </p:pic>
    </p:spTree>
    <p:extLst>
      <p:ext uri="{BB962C8B-B14F-4D97-AF65-F5344CB8AC3E}">
        <p14:creationId xmlns:p14="http://schemas.microsoft.com/office/powerpoint/2010/main" val="1768386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C502F3-9FDB-40CB-86CE-BB94D11F79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504" y="545432"/>
            <a:ext cx="10337581" cy="5322720"/>
          </a:xfrm>
          <a:prstGeom prst="rect">
            <a:avLst/>
          </a:prstGeom>
        </p:spPr>
      </p:pic>
    </p:spTree>
    <p:extLst>
      <p:ext uri="{BB962C8B-B14F-4D97-AF65-F5344CB8AC3E}">
        <p14:creationId xmlns:p14="http://schemas.microsoft.com/office/powerpoint/2010/main" val="18340963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b="6306"/>
          <a:stretch/>
        </p:blipFill>
        <p:spPr>
          <a:xfrm>
            <a:off x="0" y="119184"/>
            <a:ext cx="12192000" cy="6265985"/>
          </a:xfrm>
          <a:prstGeom prst="rect">
            <a:avLst/>
          </a:prstGeom>
        </p:spPr>
      </p:pic>
    </p:spTree>
    <p:extLst>
      <p:ext uri="{BB962C8B-B14F-4D97-AF65-F5344CB8AC3E}">
        <p14:creationId xmlns:p14="http://schemas.microsoft.com/office/powerpoint/2010/main" val="29564112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b="6553"/>
          <a:stretch/>
        </p:blipFill>
        <p:spPr>
          <a:xfrm>
            <a:off x="0" y="0"/>
            <a:ext cx="12192000" cy="6408615"/>
          </a:xfrm>
          <a:prstGeom prst="rect">
            <a:avLst/>
          </a:prstGeom>
        </p:spPr>
      </p:pic>
    </p:spTree>
    <p:extLst>
      <p:ext uri="{BB962C8B-B14F-4D97-AF65-F5344CB8AC3E}">
        <p14:creationId xmlns:p14="http://schemas.microsoft.com/office/powerpoint/2010/main" val="38842439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D4872A-29B1-4145-A532-130DF87D206A}"/>
              </a:ext>
            </a:extLst>
          </p:cNvPr>
          <p:cNvPicPr>
            <a:picLocks noChangeAspect="1"/>
          </p:cNvPicPr>
          <p:nvPr/>
        </p:nvPicPr>
        <p:blipFill rotWithShape="1">
          <a:blip r:embed="rId2">
            <a:extLst>
              <a:ext uri="{28A0092B-C50C-407E-A947-70E740481C1C}">
                <a14:useLocalDpi xmlns:a14="http://schemas.microsoft.com/office/drawing/2010/main" val="0"/>
              </a:ext>
            </a:extLst>
          </a:blip>
          <a:srcRect l="1683"/>
          <a:stretch/>
        </p:blipFill>
        <p:spPr>
          <a:xfrm>
            <a:off x="1117600" y="534152"/>
            <a:ext cx="10130255" cy="5289131"/>
          </a:xfrm>
          <a:prstGeom prst="rect">
            <a:avLst/>
          </a:prstGeom>
        </p:spPr>
      </p:pic>
    </p:spTree>
    <p:extLst>
      <p:ext uri="{BB962C8B-B14F-4D97-AF65-F5344CB8AC3E}">
        <p14:creationId xmlns:p14="http://schemas.microsoft.com/office/powerpoint/2010/main" val="11137565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b="6781"/>
          <a:stretch/>
        </p:blipFill>
        <p:spPr>
          <a:xfrm>
            <a:off x="0" y="0"/>
            <a:ext cx="12192000" cy="6392985"/>
          </a:xfrm>
          <a:prstGeom prst="rect">
            <a:avLst/>
          </a:prstGeom>
        </p:spPr>
      </p:pic>
    </p:spTree>
    <p:extLst>
      <p:ext uri="{BB962C8B-B14F-4D97-AF65-F5344CB8AC3E}">
        <p14:creationId xmlns:p14="http://schemas.microsoft.com/office/powerpoint/2010/main" val="34390266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b="6553"/>
          <a:stretch/>
        </p:blipFill>
        <p:spPr>
          <a:xfrm>
            <a:off x="0" y="0"/>
            <a:ext cx="12192000" cy="6408615"/>
          </a:xfrm>
          <a:prstGeom prst="rect">
            <a:avLst/>
          </a:prstGeom>
        </p:spPr>
      </p:pic>
    </p:spTree>
    <p:extLst>
      <p:ext uri="{BB962C8B-B14F-4D97-AF65-F5344CB8AC3E}">
        <p14:creationId xmlns:p14="http://schemas.microsoft.com/office/powerpoint/2010/main" val="27363119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b="5869"/>
          <a:stretch/>
        </p:blipFill>
        <p:spPr>
          <a:xfrm>
            <a:off x="0" y="0"/>
            <a:ext cx="12192000" cy="6455508"/>
          </a:xfrm>
          <a:prstGeom prst="rect">
            <a:avLst/>
          </a:prstGeom>
        </p:spPr>
      </p:pic>
    </p:spTree>
    <p:extLst>
      <p:ext uri="{BB962C8B-B14F-4D97-AF65-F5344CB8AC3E}">
        <p14:creationId xmlns:p14="http://schemas.microsoft.com/office/powerpoint/2010/main" val="41720886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CB4E5F5-8194-4E27-BC0F-2A12B0B7C03D}"/>
              </a:ext>
            </a:extLst>
          </p:cNvPr>
          <p:cNvPicPr>
            <a:picLocks noChangeAspect="1"/>
          </p:cNvPicPr>
          <p:nvPr/>
        </p:nvPicPr>
        <p:blipFill rotWithShape="1">
          <a:blip r:embed="rId2">
            <a:extLst>
              <a:ext uri="{28A0092B-C50C-407E-A947-70E740481C1C}">
                <a14:useLocalDpi xmlns:a14="http://schemas.microsoft.com/office/drawing/2010/main" val="0"/>
              </a:ext>
            </a:extLst>
          </a:blip>
          <a:srcRect l="12032"/>
          <a:stretch/>
        </p:blipFill>
        <p:spPr>
          <a:xfrm>
            <a:off x="1148862" y="1432312"/>
            <a:ext cx="9522839" cy="3071159"/>
          </a:xfrm>
          <a:prstGeom prst="rect">
            <a:avLst/>
          </a:prstGeom>
        </p:spPr>
      </p:pic>
      <p:pic>
        <p:nvPicPr>
          <p:cNvPr id="2" name="Picture 1">
            <a:extLst>
              <a:ext uri="{FF2B5EF4-FFF2-40B4-BE49-F238E27FC236}">
                <a16:creationId xmlns:a16="http://schemas.microsoft.com/office/drawing/2014/main" id="{CC977D01-E432-4FF6-DEE6-B34A2FD6D929}"/>
              </a:ext>
            </a:extLst>
          </p:cNvPr>
          <p:cNvPicPr>
            <a:picLocks noChangeAspect="1"/>
          </p:cNvPicPr>
          <p:nvPr/>
        </p:nvPicPr>
        <p:blipFill rotWithShape="1">
          <a:blip r:embed="rId3"/>
          <a:srcRect l="16691" t="3104" b="-1"/>
          <a:stretch/>
        </p:blipFill>
        <p:spPr>
          <a:xfrm>
            <a:off x="1287780" y="457199"/>
            <a:ext cx="3672840" cy="481263"/>
          </a:xfrm>
          <a:prstGeom prst="rect">
            <a:avLst/>
          </a:prstGeom>
        </p:spPr>
      </p:pic>
    </p:spTree>
    <p:extLst>
      <p:ext uri="{BB962C8B-B14F-4D97-AF65-F5344CB8AC3E}">
        <p14:creationId xmlns:p14="http://schemas.microsoft.com/office/powerpoint/2010/main" val="11065896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85AC5F-2700-4712-AD0E-DE85EC559F79}"/>
              </a:ext>
            </a:extLst>
          </p:cNvPr>
          <p:cNvPicPr>
            <a:picLocks noChangeAspect="1"/>
          </p:cNvPicPr>
          <p:nvPr/>
        </p:nvPicPr>
        <p:blipFill rotWithShape="1">
          <a:blip r:embed="rId2">
            <a:extLst>
              <a:ext uri="{28A0092B-C50C-407E-A947-70E740481C1C}">
                <a14:useLocalDpi xmlns:a14="http://schemas.microsoft.com/office/drawing/2010/main" val="0"/>
              </a:ext>
            </a:extLst>
          </a:blip>
          <a:srcRect l="11782" b="12094"/>
          <a:stretch/>
        </p:blipFill>
        <p:spPr>
          <a:xfrm>
            <a:off x="1125416" y="1076683"/>
            <a:ext cx="10102522" cy="5175430"/>
          </a:xfrm>
          <a:prstGeom prst="rect">
            <a:avLst/>
          </a:prstGeom>
        </p:spPr>
      </p:pic>
      <p:sp>
        <p:nvSpPr>
          <p:cNvPr id="4" name="TextBox 3">
            <a:extLst>
              <a:ext uri="{FF2B5EF4-FFF2-40B4-BE49-F238E27FC236}">
                <a16:creationId xmlns:a16="http://schemas.microsoft.com/office/drawing/2014/main" id="{B86F0991-E00F-494E-805F-D1D0819EFC12}"/>
              </a:ext>
            </a:extLst>
          </p:cNvPr>
          <p:cNvSpPr txBox="1"/>
          <p:nvPr/>
        </p:nvSpPr>
        <p:spPr>
          <a:xfrm>
            <a:off x="414215" y="73169"/>
            <a:ext cx="10192826" cy="61555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Data Life Cycle</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4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Data life cycle management </a:t>
            </a:r>
            <a:r>
              <a:rPr kumimoji="0" lang="en-US" sz="1400" b="0" i="0" u="none" strike="noStrike" kern="1200" cap="none" spc="0" normalizeH="0" baseline="0" noProof="0" dirty="0">
                <a:ln>
                  <a:noFill/>
                </a:ln>
                <a:solidFill>
                  <a:srgbClr val="0070C0"/>
                </a:solidFill>
                <a:effectLst/>
                <a:uLnTx/>
                <a:uFillTx/>
                <a:latin typeface="Berlin Sans FB Demi" panose="020E0802020502020306" pitchFamily="34" charset="0"/>
                <a:ea typeface="+mn-ea"/>
                <a:cs typeface="+mn-cs"/>
              </a:rPr>
              <a:t>describes the stages that data go through in the course of existence in an organization. </a:t>
            </a:r>
          </a:p>
        </p:txBody>
      </p:sp>
    </p:spTree>
    <p:extLst>
      <p:ext uri="{BB962C8B-B14F-4D97-AF65-F5344CB8AC3E}">
        <p14:creationId xmlns:p14="http://schemas.microsoft.com/office/powerpoint/2010/main" val="2116226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DC21B9B-A00C-4969-870E-35650B846BF1}"/>
              </a:ext>
            </a:extLst>
          </p:cNvPr>
          <p:cNvSpPr txBox="1"/>
          <p:nvPr/>
        </p:nvSpPr>
        <p:spPr>
          <a:xfrm>
            <a:off x="2085926" y="748650"/>
            <a:ext cx="5427394" cy="4825552"/>
          </a:xfrm>
          <a:prstGeom prst="rect">
            <a:avLst/>
          </a:prstGeom>
          <a:noFill/>
        </p:spPr>
        <p:txBody>
          <a:bodyPr wrap="square">
            <a:spAutoFit/>
          </a:bodyPr>
          <a:lstStyle/>
          <a:p>
            <a:pPr marL="285750" marR="0" lvl="0" indent="-285750" algn="l" defTabSz="914400" rtl="0" eaLnBrk="1" fontAlgn="auto" latinLnBrk="0" hangingPunct="1">
              <a:lnSpc>
                <a:spcPct val="107000"/>
              </a:lnSpc>
              <a:spcBef>
                <a:spcPts val="0"/>
              </a:spcBef>
              <a:spcAft>
                <a:spcPts val="800"/>
              </a:spcAft>
              <a:buClrTx/>
              <a:buSzTx/>
              <a:buFont typeface="Wingdings" panose="05000000000000000000" pitchFamily="2" charset="2"/>
              <a:buChar char="q"/>
              <a:tabLst/>
              <a:defRPr/>
            </a:pPr>
            <a:r>
              <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ea typeface="Calibri" panose="020F0502020204030204" pitchFamily="34" charset="0"/>
                <a:cs typeface="LiberationSerif"/>
              </a:rPr>
              <a:t>Plan</a:t>
            </a:r>
            <a:endParaRPr kumimoji="0" lang="en-US" sz="1100" b="1" i="0" u="none" strike="noStrike" kern="1200" cap="none" spc="0" normalizeH="0" baseline="0" noProof="0" dirty="0">
              <a:ln>
                <a:noFill/>
              </a:ln>
              <a:solidFill>
                <a:srgbClr val="C00000"/>
              </a:solidFill>
              <a:effectLst/>
              <a:uLnTx/>
              <a:uFillTx/>
              <a:latin typeface="Berlin Sans FB Demi" panose="020E0802020502020306" pitchFamily="34" charset="0"/>
              <a:ea typeface="Calibri" panose="020F0502020204030204" pitchFamily="34" charset="0"/>
              <a:cs typeface="Arial" panose="020B0604020202020204" pitchFamily="34" charset="0"/>
            </a:endParaRPr>
          </a:p>
          <a:p>
            <a:pPr marL="800100" lvl="1" indent="-342900">
              <a:buFont typeface="Wingdings" panose="05000000000000000000" pitchFamily="2" charset="2"/>
              <a:buChar char="§"/>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LiberationSerif"/>
              </a:rPr>
              <a:t>The phase in which the creation, acquisition and use of the information resource is prepared. </a:t>
            </a:r>
          </a:p>
          <a:p>
            <a:pPr marL="628650" lvl="1" indent="-171450">
              <a:buFont typeface="Wingdings" panose="05000000000000000000" pitchFamily="2" charset="2"/>
              <a:buChar char="§"/>
              <a:defRPr/>
            </a:pPr>
            <a:endParaRPr kumimoji="0" lang="en-US" sz="1100" b="0" i="0" u="none" strike="noStrike" kern="1200" cap="none" spc="0" normalizeH="0" baseline="0" noProof="0" dirty="0">
              <a:ln>
                <a:noFill/>
              </a:ln>
              <a:solidFill>
                <a:srgbClr val="000000"/>
              </a:solidFill>
              <a:effectLst/>
              <a:uLnTx/>
              <a:uFillTx/>
              <a:latin typeface="Berlin Sans FB" panose="020E0602020502020306" pitchFamily="34" charset="0"/>
              <a:ea typeface="Times New Roman" panose="02020603050405020304" pitchFamily="18" charset="0"/>
            </a:endParaRPr>
          </a:p>
          <a:p>
            <a:pPr marL="800100" lvl="1" indent="-342900">
              <a:buFont typeface="Wingdings" panose="05000000000000000000" pitchFamily="2" charset="2"/>
              <a:buChar char="§"/>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LiberationSerif"/>
              </a:rPr>
              <a:t>Activities in this phase include</a:t>
            </a:r>
            <a:endParaRPr kumimoji="0" lang="en-US" sz="1100" b="0" i="0" u="none" strike="noStrike" kern="1200" cap="none" spc="0" normalizeH="0" baseline="0" noProof="0" dirty="0">
              <a:ln>
                <a:noFill/>
              </a:ln>
              <a:solidFill>
                <a:srgbClr val="000000"/>
              </a:solidFill>
              <a:effectLst/>
              <a:uLnTx/>
              <a:uFillTx/>
              <a:latin typeface="Berlin Sans FB" panose="020E0602020502020306" pitchFamily="34" charset="0"/>
              <a:ea typeface="Times New Roman" panose="02020603050405020304" pitchFamily="18" charset="0"/>
            </a:endParaRPr>
          </a:p>
          <a:p>
            <a:pPr marL="1200150" lvl="2" indent="-285750">
              <a:buFont typeface="+mj-lt"/>
              <a:buAutoNum type="alphaLcPeriod"/>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LiberationSerif"/>
              </a:rPr>
              <a:t>understanding information use in the respective business processes,</a:t>
            </a:r>
            <a:endParaRPr kumimoji="0" lang="en-US" sz="1100" b="0" i="0" u="none" strike="noStrike" kern="1200" cap="none" spc="0" normalizeH="0" baseline="0" noProof="0" dirty="0">
              <a:ln>
                <a:noFill/>
              </a:ln>
              <a:solidFill>
                <a:srgbClr val="000000"/>
              </a:solidFill>
              <a:effectLst/>
              <a:uLnTx/>
              <a:uFillTx/>
              <a:latin typeface="Berlin Sans FB" panose="020E0602020502020306" pitchFamily="34" charset="0"/>
              <a:ea typeface="Times New Roman" panose="02020603050405020304" pitchFamily="18" charset="0"/>
            </a:endParaRPr>
          </a:p>
          <a:p>
            <a:pPr marL="1200150" lvl="2" indent="-285750">
              <a:buFont typeface="+mj-lt"/>
              <a:buAutoNum type="alphaLcPeriod"/>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LiberationSerif"/>
              </a:rPr>
              <a:t>determining the value of the information asset and its associated classification, </a:t>
            </a:r>
            <a:endParaRPr kumimoji="0" lang="en-US" sz="1100" b="0" i="0" u="none" strike="noStrike" kern="1200" cap="none" spc="0" normalizeH="0" baseline="0" noProof="0" dirty="0">
              <a:ln>
                <a:noFill/>
              </a:ln>
              <a:solidFill>
                <a:srgbClr val="000000"/>
              </a:solidFill>
              <a:effectLst/>
              <a:uLnTx/>
              <a:uFillTx/>
              <a:latin typeface="Berlin Sans FB" panose="020E0602020502020306" pitchFamily="34" charset="0"/>
              <a:ea typeface="Times New Roman" panose="02020603050405020304" pitchFamily="18" charset="0"/>
            </a:endParaRPr>
          </a:p>
          <a:p>
            <a:pPr marL="1200150" lvl="2" indent="-285750">
              <a:buFont typeface="+mj-lt"/>
              <a:buAutoNum type="alphaLcPeriod"/>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LiberationSerif"/>
              </a:rPr>
              <a:t>identifying objectives and planning the information architecture.</a:t>
            </a:r>
            <a:endParaRPr kumimoji="0" lang="en-US" sz="1100" b="0" i="0" u="none" strike="noStrike" kern="1200" cap="none" spc="0" normalizeH="0" baseline="0" noProof="0" dirty="0">
              <a:ln>
                <a:noFill/>
              </a:ln>
              <a:solidFill>
                <a:srgbClr val="000000"/>
              </a:solidFill>
              <a:effectLst/>
              <a:uLnTx/>
              <a:uFillTx/>
              <a:latin typeface="Berlin Sans FB" panose="020E0602020502020306" pitchFamily="34" charset="0"/>
              <a:ea typeface="Times New Roman" panose="02020603050405020304" pitchFamily="18" charset="0"/>
            </a:endParaRPr>
          </a:p>
          <a:p>
            <a:pPr marL="285750" indent="-285750">
              <a:lnSpc>
                <a:spcPct val="107000"/>
              </a:lnSpc>
              <a:spcAft>
                <a:spcPts val="800"/>
              </a:spcAft>
              <a:buFont typeface="Wingdings" panose="05000000000000000000" pitchFamily="2" charset="2"/>
              <a:buChar char="q"/>
              <a:defRPr/>
            </a:pPr>
            <a:r>
              <a:rPr lang="en-US" sz="1600" b="1" dirty="0">
                <a:solidFill>
                  <a:srgbClr val="C00000"/>
                </a:solidFill>
                <a:latin typeface="Berlin Sans FB Demi" panose="020E0802020502020306" pitchFamily="34" charset="0"/>
              </a:rPr>
              <a:t>Design</a:t>
            </a:r>
          </a:p>
          <a:p>
            <a:pPr marL="800100" lvl="1" indent="-342900">
              <a:buFont typeface="Wingdings" panose="05000000000000000000" pitchFamily="2" charset="2"/>
              <a:buChar char="§"/>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LiberationSerif"/>
              </a:rPr>
              <a:t>The phase in which more detailed work is done in specifying how the information will look and how systems processing the information will have to work. </a:t>
            </a:r>
          </a:p>
          <a:p>
            <a:pPr marL="800100" lvl="1" indent="-342900">
              <a:buFont typeface="Wingdings" panose="05000000000000000000" pitchFamily="2" charset="2"/>
              <a:buChar char="§"/>
              <a:defRPr/>
            </a:pPr>
            <a:endParaRPr kumimoji="0" lang="en-US" sz="1100" b="0" i="0" u="none" strike="noStrike" kern="1200" cap="none" spc="0" normalizeH="0" baseline="0" noProof="0" dirty="0">
              <a:ln>
                <a:noFill/>
              </a:ln>
              <a:solidFill>
                <a:srgbClr val="000000"/>
              </a:solidFill>
              <a:effectLst/>
              <a:uLnTx/>
              <a:uFillTx/>
              <a:latin typeface="Berlin Sans FB" panose="020E0602020502020306" pitchFamily="34" charset="0"/>
              <a:ea typeface="Times New Roman" panose="02020603050405020304" pitchFamily="18" charset="0"/>
            </a:endParaRPr>
          </a:p>
          <a:p>
            <a:pPr marL="800100" lvl="1" indent="-342900">
              <a:buFont typeface="Wingdings" panose="05000000000000000000" pitchFamily="2" charset="2"/>
              <a:buChar char="§"/>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LiberationSerif"/>
              </a:rPr>
              <a:t>Activities in this phase may refer to the development of standards and definitions (</a:t>
            </a:r>
            <a:r>
              <a:rPr kumimoji="0" lang="en-US" sz="1400" b="0" i="0" u="none" strike="noStrike" kern="1200" cap="none" spc="0" normalizeH="0" baseline="0" noProof="0" dirty="0">
                <a:ln>
                  <a:noFill/>
                </a:ln>
                <a:solidFill>
                  <a:srgbClr val="C00000"/>
                </a:solidFill>
                <a:effectLst/>
                <a:uLnTx/>
                <a:uFillTx/>
                <a:latin typeface="Berlin Sans FB" panose="020E0602020502020306" pitchFamily="34" charset="0"/>
                <a:ea typeface="Times New Roman" panose="02020603050405020304" pitchFamily="18" charset="0"/>
                <a:cs typeface="LiberationSerif"/>
              </a:rPr>
              <a:t>e.g., data definitions, data collection, access, storage procedures, metadata characteristics and data classification</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LiberationSerif"/>
              </a:rPr>
              <a:t>).</a:t>
            </a:r>
            <a:endParaRPr kumimoji="0" lang="en-US" sz="1100" b="0" i="0" u="none" strike="noStrike" kern="1200" cap="none" spc="0" normalizeH="0" baseline="0" noProof="0" dirty="0">
              <a:ln>
                <a:noFill/>
              </a:ln>
              <a:solidFill>
                <a:srgbClr val="000000"/>
              </a:solidFill>
              <a:effectLst/>
              <a:uLnTx/>
              <a:uFillTx/>
              <a:latin typeface="Berlin Sans FB" panose="020E0602020502020306" pitchFamily="34" charset="0"/>
              <a:ea typeface="Times New Roman" panose="02020603050405020304" pitchFamily="18" charset="0"/>
            </a:endParaRPr>
          </a:p>
          <a:p>
            <a:pPr marL="914400" lvl="1">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LiberationSerif"/>
              </a:rPr>
              <a:t> </a:t>
            </a:r>
            <a:endParaRPr kumimoji="0" lang="en-US" sz="1100" b="0" i="0" u="none" strike="noStrike" kern="1200" cap="none" spc="0" normalizeH="0" baseline="0" noProof="0" dirty="0">
              <a:ln>
                <a:noFill/>
              </a:ln>
              <a:solidFill>
                <a:srgbClr val="000000"/>
              </a:solidFill>
              <a:effectLst/>
              <a:uLnTx/>
              <a:uFillTx/>
              <a:latin typeface="Berlin Sans FB" panose="020E0602020502020306" pitchFamily="34" charset="0"/>
              <a:ea typeface="Times New Roman" panose="02020603050405020304" pitchFamily="18" charset="0"/>
            </a:endParaRPr>
          </a:p>
        </p:txBody>
      </p:sp>
    </p:spTree>
    <p:extLst>
      <p:ext uri="{BB962C8B-B14F-4D97-AF65-F5344CB8AC3E}">
        <p14:creationId xmlns:p14="http://schemas.microsoft.com/office/powerpoint/2010/main" val="15657464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A20306-8561-4BB2-9FD3-6E2C882A13B3}"/>
              </a:ext>
            </a:extLst>
          </p:cNvPr>
          <p:cNvSpPr txBox="1"/>
          <p:nvPr/>
        </p:nvSpPr>
        <p:spPr>
          <a:xfrm>
            <a:off x="1344246" y="263103"/>
            <a:ext cx="7518400" cy="5492016"/>
          </a:xfrm>
          <a:prstGeom prst="rect">
            <a:avLst/>
          </a:prstGeom>
          <a:noFill/>
        </p:spPr>
        <p:txBody>
          <a:bodyPr wrap="square">
            <a:spAutoFit/>
          </a:bodyPr>
          <a:lstStyle/>
          <a:p>
            <a:pPr marL="285750" indent="-285750">
              <a:lnSpc>
                <a:spcPct val="107000"/>
              </a:lnSpc>
              <a:spcAft>
                <a:spcPts val="800"/>
              </a:spcAft>
              <a:buFont typeface="Wingdings" panose="05000000000000000000" pitchFamily="2" charset="2"/>
              <a:buChar char="q"/>
              <a:defRPr/>
            </a:pPr>
            <a:r>
              <a:rPr lang="en-US" sz="1600" b="1" dirty="0">
                <a:solidFill>
                  <a:srgbClr val="C00000"/>
                </a:solidFill>
                <a:latin typeface="Berlin Sans FB Demi" panose="020E0802020502020306" pitchFamily="34" charset="0"/>
              </a:rPr>
              <a:t>Build/acquire</a:t>
            </a:r>
          </a:p>
          <a:p>
            <a:pPr marL="800100" lvl="1" indent="-342900">
              <a:buFont typeface="+mj-lt"/>
              <a:buAutoNum type="alphaLcPeriod"/>
              <a:defRPr/>
            </a:pPr>
            <a:r>
              <a:rPr lang="en-US" sz="1400" dirty="0">
                <a:solidFill>
                  <a:srgbClr val="002060"/>
                </a:solidFill>
                <a:latin typeface="Berlin Sans FB" panose="020E0602020502020306" pitchFamily="34" charset="0"/>
              </a:rPr>
              <a:t>The phase in which the information resource is acquired.</a:t>
            </a:r>
          </a:p>
          <a:p>
            <a:pPr marL="800100" lvl="1" indent="-342900">
              <a:buFont typeface="+mj-lt"/>
              <a:buAutoNum type="alphaLcPeriod"/>
              <a:defRPr/>
            </a:pPr>
            <a:r>
              <a:rPr lang="en-US" sz="1400" dirty="0">
                <a:solidFill>
                  <a:srgbClr val="002060"/>
                </a:solidFill>
                <a:latin typeface="Berlin Sans FB" panose="020E0602020502020306" pitchFamily="34" charset="0"/>
              </a:rPr>
              <a:t>Activities in this phase may refer to the creation of data records, </a:t>
            </a:r>
          </a:p>
          <a:p>
            <a:pPr marL="800100" lvl="1" indent="-342900">
              <a:buFont typeface="+mj-lt"/>
              <a:buAutoNum type="alphaLcPeriod"/>
              <a:defRPr/>
            </a:pPr>
            <a:r>
              <a:rPr lang="en-US" sz="1400" dirty="0">
                <a:solidFill>
                  <a:srgbClr val="002060"/>
                </a:solidFill>
                <a:latin typeface="Berlin Sans FB" panose="020E0602020502020306" pitchFamily="34" charset="0"/>
              </a:rPr>
              <a:t>The purchase of data and the loading of external files.</a:t>
            </a:r>
          </a:p>
          <a:p>
            <a:pPr marL="91440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Times New Roman" panose="02020603050405020304" pitchFamily="18" charset="0"/>
                <a:cs typeface="LiberationSerif"/>
              </a:rPr>
              <a:t> </a:t>
            </a:r>
            <a:endParaRPr kumimoji="0" 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mn-cs"/>
            </a:endParaRPr>
          </a:p>
          <a:p>
            <a:pPr marL="285750" indent="-285750">
              <a:lnSpc>
                <a:spcPct val="107000"/>
              </a:lnSpc>
              <a:spcAft>
                <a:spcPts val="800"/>
              </a:spcAft>
              <a:buFont typeface="Wingdings" panose="05000000000000000000" pitchFamily="2" charset="2"/>
              <a:buChar char="q"/>
              <a:defRPr/>
            </a:pPr>
            <a:r>
              <a:rPr lang="en-US" sz="1600" b="1" dirty="0">
                <a:solidFill>
                  <a:srgbClr val="C00000"/>
                </a:solidFill>
                <a:latin typeface="Berlin Sans FB Demi" panose="020E0802020502020306" pitchFamily="34" charset="0"/>
              </a:rPr>
              <a:t>Use/operate</a:t>
            </a:r>
          </a:p>
          <a:p>
            <a:pPr marL="457200" marR="0" lvl="0" indent="0" algn="l" defTabSz="914400" rtl="0" eaLnBrk="1" fontAlgn="auto" latinLnBrk="0" hangingPunct="1">
              <a:lnSpc>
                <a:spcPct val="107000"/>
              </a:lnSpc>
              <a:spcBef>
                <a:spcPts val="0"/>
              </a:spcBef>
              <a:spcAft>
                <a:spcPts val="800"/>
              </a:spcAft>
              <a:buClrTx/>
              <a:buSzTx/>
              <a:buFontTx/>
              <a:buNone/>
              <a:tabLst/>
              <a:defRPr/>
            </a:pPr>
            <a:r>
              <a:rPr lang="en-US" sz="1400" dirty="0">
                <a:solidFill>
                  <a:srgbClr val="002060"/>
                </a:solidFill>
                <a:latin typeface="Berlin Sans FB" panose="020E0602020502020306" pitchFamily="34" charset="0"/>
              </a:rPr>
              <a:t>This phase includes:</a:t>
            </a:r>
          </a:p>
          <a:p>
            <a:pPr marL="457200" marR="0" lvl="0" indent="0" algn="l" defTabSz="914400" rtl="0" eaLnBrk="1" fontAlgn="auto" latinLnBrk="0" hangingPunct="1">
              <a:lnSpc>
                <a:spcPct val="107000"/>
              </a:lnSpc>
              <a:spcBef>
                <a:spcPts val="0"/>
              </a:spcBef>
              <a:spcAft>
                <a:spcPts val="800"/>
              </a:spcAft>
              <a:buClrTx/>
              <a:buSzTx/>
              <a:buFontTx/>
              <a:buNone/>
              <a:tabLst/>
              <a:defRPr/>
            </a:pPr>
            <a:r>
              <a:rPr lang="en-US" sz="1400" dirty="0">
                <a:solidFill>
                  <a:srgbClr val="002060"/>
                </a:solidFill>
                <a:latin typeface="Berlin Sans FB" panose="020E0602020502020306" pitchFamily="34" charset="0"/>
              </a:rPr>
              <a:t>Store—The phase in which information is held electronically or in hard</a:t>
            </a:r>
          </a:p>
          <a:p>
            <a:pPr marL="457200" marR="0" lvl="0" indent="0" algn="l" defTabSz="914400" rtl="0" eaLnBrk="1" fontAlgn="auto" latinLnBrk="0" hangingPunct="1">
              <a:lnSpc>
                <a:spcPct val="107000"/>
              </a:lnSpc>
              <a:spcBef>
                <a:spcPts val="0"/>
              </a:spcBef>
              <a:spcAft>
                <a:spcPts val="800"/>
              </a:spcAft>
              <a:buClrTx/>
              <a:buSzTx/>
              <a:buFontTx/>
              <a:buNone/>
              <a:tabLst/>
              <a:defRPr/>
            </a:pPr>
            <a:r>
              <a:rPr lang="en-US" sz="1400" dirty="0">
                <a:solidFill>
                  <a:srgbClr val="002060"/>
                </a:solidFill>
                <a:latin typeface="Berlin Sans FB" panose="020E0602020502020306" pitchFamily="34" charset="0"/>
              </a:rPr>
              <a:t>copy (or even just in human memory). </a:t>
            </a:r>
          </a:p>
          <a:p>
            <a:pPr marL="457200" marR="0" lvl="0" indent="0" algn="l" defTabSz="914400" rtl="0" eaLnBrk="1" fontAlgn="auto" latinLnBrk="0" hangingPunct="1">
              <a:lnSpc>
                <a:spcPct val="107000"/>
              </a:lnSpc>
              <a:spcBef>
                <a:spcPts val="0"/>
              </a:spcBef>
              <a:spcAft>
                <a:spcPts val="800"/>
              </a:spcAft>
              <a:buClrTx/>
              <a:buSzTx/>
              <a:buFontTx/>
              <a:buNone/>
              <a:tabLst/>
              <a:defRPr/>
            </a:pPr>
            <a:r>
              <a:rPr lang="en-US" sz="1400" dirty="0">
                <a:solidFill>
                  <a:srgbClr val="002060"/>
                </a:solidFill>
                <a:latin typeface="Berlin Sans FB" panose="020E0602020502020306" pitchFamily="34" charset="0"/>
              </a:rPr>
              <a:t>Share—The phase in which information is made available for use</a:t>
            </a:r>
          </a:p>
          <a:p>
            <a:pPr marL="457200" marR="0" lvl="0" indent="0" algn="l" defTabSz="914400" rtl="0" eaLnBrk="1" fontAlgn="auto" latinLnBrk="0" hangingPunct="1">
              <a:lnSpc>
                <a:spcPct val="107000"/>
              </a:lnSpc>
              <a:spcBef>
                <a:spcPts val="0"/>
              </a:spcBef>
              <a:spcAft>
                <a:spcPts val="800"/>
              </a:spcAft>
              <a:buClrTx/>
              <a:buSzTx/>
              <a:buFontTx/>
              <a:buNone/>
              <a:tabLst/>
              <a:defRPr/>
            </a:pPr>
            <a:r>
              <a:rPr lang="en-US" sz="1400" dirty="0">
                <a:solidFill>
                  <a:srgbClr val="002060"/>
                </a:solidFill>
                <a:latin typeface="Berlin Sans FB" panose="020E0602020502020306" pitchFamily="34" charset="0"/>
              </a:rPr>
              <a:t>through a distribution method</a:t>
            </a:r>
          </a:p>
          <a:p>
            <a:pPr marL="457200" marR="0" lvl="0" indent="0" algn="l" defTabSz="914400" rtl="0" eaLnBrk="1" fontAlgn="auto" latinLnBrk="0" hangingPunct="1">
              <a:lnSpc>
                <a:spcPct val="107000"/>
              </a:lnSpc>
              <a:spcBef>
                <a:spcPts val="0"/>
              </a:spcBef>
              <a:spcAft>
                <a:spcPts val="800"/>
              </a:spcAft>
              <a:buClrTx/>
              <a:buSzTx/>
              <a:buFontTx/>
              <a:buNone/>
              <a:tabLst/>
              <a:defRPr/>
            </a:pPr>
            <a:r>
              <a:rPr lang="en-US" sz="1400" dirty="0">
                <a:solidFill>
                  <a:srgbClr val="002060"/>
                </a:solidFill>
                <a:latin typeface="Berlin Sans FB" panose="020E0602020502020306" pitchFamily="34" charset="0"/>
              </a:rPr>
              <a:t>Use—The phase in which information is used to accomplish (IT-related</a:t>
            </a:r>
          </a:p>
          <a:p>
            <a:pPr marL="457200" marR="0" lvl="0" indent="0" algn="l" defTabSz="914400" rtl="0" eaLnBrk="1" fontAlgn="auto" latinLnBrk="0" hangingPunct="1">
              <a:lnSpc>
                <a:spcPct val="107000"/>
              </a:lnSpc>
              <a:spcBef>
                <a:spcPts val="0"/>
              </a:spcBef>
              <a:spcAft>
                <a:spcPts val="800"/>
              </a:spcAft>
              <a:buClrTx/>
              <a:buSzTx/>
              <a:buFontTx/>
              <a:buNone/>
              <a:tabLst/>
              <a:defRPr/>
            </a:pPr>
            <a:r>
              <a:rPr lang="en-US" sz="1400" dirty="0">
                <a:solidFill>
                  <a:srgbClr val="002060"/>
                </a:solidFill>
                <a:latin typeface="Berlin Sans FB" panose="020E0602020502020306" pitchFamily="34" charset="0"/>
              </a:rPr>
              <a:t>and thus enterprise) goals. </a:t>
            </a:r>
          </a:p>
          <a:p>
            <a:pPr marL="285750" indent="-285750">
              <a:lnSpc>
                <a:spcPct val="107000"/>
              </a:lnSpc>
              <a:spcAft>
                <a:spcPts val="800"/>
              </a:spcAft>
              <a:buFont typeface="Wingdings" panose="05000000000000000000" pitchFamily="2" charset="2"/>
              <a:buChar char="q"/>
              <a:defRPr/>
            </a:pPr>
            <a:r>
              <a:rPr lang="en-US" sz="1600" b="1" dirty="0">
                <a:solidFill>
                  <a:srgbClr val="C00000"/>
                </a:solidFill>
                <a:latin typeface="Berlin Sans FB Demi" panose="020E0802020502020306" pitchFamily="34" charset="0"/>
              </a:rPr>
              <a:t>Monitor</a:t>
            </a:r>
          </a:p>
          <a:p>
            <a:pPr marL="800100" lvl="1" indent="-342900">
              <a:buFont typeface="+mj-lt"/>
              <a:buAutoNum type="alphaLcPeriod"/>
              <a:defRPr/>
            </a:pPr>
            <a:r>
              <a:rPr lang="en-US" sz="1400" dirty="0">
                <a:solidFill>
                  <a:srgbClr val="002060"/>
                </a:solidFill>
                <a:latin typeface="Berlin Sans FB" panose="020E0602020502020306" pitchFamily="34" charset="0"/>
              </a:rPr>
              <a:t>The phase in which it is ensured that the information resource continues to work properly (i.e., to be valuable). </a:t>
            </a:r>
          </a:p>
          <a:p>
            <a:pPr marL="800100" lvl="1" indent="-342900">
              <a:buFont typeface="+mj-lt"/>
              <a:buAutoNum type="alphaLcPeriod"/>
              <a:defRPr/>
            </a:pPr>
            <a:r>
              <a:rPr lang="en-US" sz="1400" dirty="0">
                <a:solidFill>
                  <a:srgbClr val="002060"/>
                </a:solidFill>
                <a:latin typeface="Berlin Sans FB" panose="020E0602020502020306" pitchFamily="34" charset="0"/>
              </a:rPr>
              <a:t>Activities in this phase may refer to keeping information up to date and other kinds of information management activities (e.g., enhancing, cleansing, merging and removing duplicate information in data warehouses).</a:t>
            </a:r>
          </a:p>
        </p:txBody>
      </p:sp>
    </p:spTree>
    <p:extLst>
      <p:ext uri="{BB962C8B-B14F-4D97-AF65-F5344CB8AC3E}">
        <p14:creationId xmlns:p14="http://schemas.microsoft.com/office/powerpoint/2010/main" val="4227451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F56B0C-73F3-4C41-8319-40D8C8A0F4C5}"/>
              </a:ext>
            </a:extLst>
          </p:cNvPr>
          <p:cNvSpPr txBox="1"/>
          <p:nvPr/>
        </p:nvSpPr>
        <p:spPr>
          <a:xfrm>
            <a:off x="1406768" y="429605"/>
            <a:ext cx="6807591" cy="4458336"/>
          </a:xfrm>
          <a:prstGeom prst="rect">
            <a:avLst/>
          </a:prstGeom>
          <a:noFill/>
        </p:spPr>
        <p:txBody>
          <a:bodyPr wrap="square">
            <a:spAutoFit/>
          </a:bodyPr>
          <a:lstStyle/>
          <a:p>
            <a:pPr marL="285750" indent="-285750">
              <a:lnSpc>
                <a:spcPct val="107000"/>
              </a:lnSpc>
              <a:spcAft>
                <a:spcPts val="800"/>
              </a:spcAft>
              <a:buFont typeface="Wingdings" panose="05000000000000000000" pitchFamily="2" charset="2"/>
              <a:buChar char="q"/>
              <a:defRPr/>
            </a:pPr>
            <a:r>
              <a:rPr lang="en-US" sz="1600" b="1" dirty="0">
                <a:solidFill>
                  <a:srgbClr val="C00000"/>
                </a:solidFill>
                <a:latin typeface="Berlin Sans FB Demi" panose="020E0802020502020306" pitchFamily="34" charset="0"/>
              </a:rPr>
              <a:t>Dispose</a:t>
            </a:r>
          </a:p>
          <a:p>
            <a:pPr marL="800100" lvl="1" indent="-342900">
              <a:buFont typeface="+mj-lt"/>
              <a:buAutoNum type="alphaLcPeriod"/>
              <a:defRPr/>
            </a:pPr>
            <a:r>
              <a:rPr lang="en-US" sz="1400" dirty="0">
                <a:solidFill>
                  <a:srgbClr val="002060"/>
                </a:solidFill>
                <a:latin typeface="Berlin Sans FB" panose="020E0602020502020306" pitchFamily="34" charset="0"/>
              </a:rPr>
              <a:t>The phase in which the information resource is transferred or retained for a defined period, destroyed, or handled as part of an archive as needed. </a:t>
            </a:r>
          </a:p>
          <a:p>
            <a:pPr marL="800100" lvl="1" indent="-342900">
              <a:buFont typeface="+mj-lt"/>
              <a:buAutoNum type="alphaLcPeriod"/>
              <a:defRPr/>
            </a:pPr>
            <a:endParaRPr lang="en-US" sz="1400" dirty="0">
              <a:solidFill>
                <a:srgbClr val="002060"/>
              </a:solidFill>
              <a:latin typeface="Berlin Sans FB" panose="020E0602020502020306" pitchFamily="34" charset="0"/>
            </a:endParaRPr>
          </a:p>
          <a:p>
            <a:pPr marL="800100" lvl="1" indent="-342900">
              <a:buFont typeface="+mj-lt"/>
              <a:buAutoNum type="alphaLcPeriod"/>
              <a:defRPr/>
            </a:pPr>
            <a:r>
              <a:rPr lang="en-US" sz="1400" dirty="0">
                <a:solidFill>
                  <a:srgbClr val="002060"/>
                </a:solidFill>
                <a:latin typeface="Berlin Sans FB" panose="020E0602020502020306" pitchFamily="34" charset="0"/>
              </a:rPr>
              <a:t>Activities in this phase may refer to information retention, archiving or destroying.</a:t>
            </a:r>
          </a:p>
          <a:p>
            <a:pPr lvl="1">
              <a:lnSpc>
                <a:spcPct val="107000"/>
              </a:lnSpc>
              <a:spcAft>
                <a:spcPts val="800"/>
              </a:spcAft>
              <a:defRPr/>
            </a:pPr>
            <a:r>
              <a:rPr kumimoji="0" lang="en-US" b="0" i="0" u="none" strike="noStrike" kern="1200" cap="none" spc="0" normalizeH="0" baseline="0" noProof="0" dirty="0">
                <a:ln>
                  <a:noFill/>
                </a:ln>
                <a:solidFill>
                  <a:srgbClr val="002060"/>
                </a:solidFill>
                <a:effectLst/>
                <a:uLnTx/>
                <a:uFillTx/>
                <a:latin typeface="Bell MT" panose="02020503060305020303" pitchFamily="18" charset="0"/>
                <a:ea typeface="Calibri" panose="020F0502020204030204" pitchFamily="34" charset="0"/>
                <a:cs typeface="LiberationSerif"/>
              </a:rPr>
              <a:t> </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Berlin Sans FB Demi" panose="020E0802020502020306" pitchFamily="34" charset="0"/>
                <a:ea typeface="Times New Roman" panose="02020603050405020304" pitchFamily="18" charset="0"/>
                <a:cs typeface="LiberationSerif"/>
              </a:rPr>
              <a:t>The IS auditor should ensure that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C00000"/>
              </a:solidFill>
              <a:effectLst/>
              <a:uLnTx/>
              <a:uFillTx/>
              <a:latin typeface="Times New Roman" panose="02020603050405020304" pitchFamily="18" charset="0"/>
              <a:ea typeface="Times New Roman" panose="02020603050405020304" pitchFamily="18" charset="0"/>
              <a:cs typeface="+mn-cs"/>
            </a:endParaRPr>
          </a:p>
          <a:p>
            <a:pPr marL="742950" marR="0" lvl="1" indent="-285750" algn="l" defTabSz="914400" rtl="0" eaLnBrk="1" fontAlgn="auto" latinLnBrk="0" hangingPunct="1">
              <a:lnSpc>
                <a:spcPct val="100000"/>
              </a:lnSpc>
              <a:spcBef>
                <a:spcPts val="0"/>
              </a:spcBef>
              <a:spcAft>
                <a:spcPts val="0"/>
              </a:spcAft>
              <a:buClrTx/>
              <a:buSzTx/>
              <a:buFont typeface="+mj-lt"/>
              <a:buAutoNum type="alphaLcPeriod"/>
              <a:tabLst/>
              <a:defRPr/>
            </a:pPr>
            <a:r>
              <a:rPr lang="en-US" sz="1400" dirty="0">
                <a:solidFill>
                  <a:srgbClr val="002060"/>
                </a:solidFill>
                <a:latin typeface="Berlin Sans FB" panose="020E0602020502020306" pitchFamily="34" charset="0"/>
              </a:rPr>
              <a:t> the quality of the data allows the organization to meet its strategic objectives. </a:t>
            </a:r>
          </a:p>
          <a:p>
            <a:pPr marL="742950" marR="0" lvl="1" indent="-285750" algn="l" defTabSz="914400" rtl="0" eaLnBrk="1" fontAlgn="auto" latinLnBrk="0" hangingPunct="1">
              <a:lnSpc>
                <a:spcPct val="100000"/>
              </a:lnSpc>
              <a:spcBef>
                <a:spcPts val="0"/>
              </a:spcBef>
              <a:spcAft>
                <a:spcPts val="0"/>
              </a:spcAft>
              <a:buClrTx/>
              <a:buSzTx/>
              <a:buFont typeface="+mj-lt"/>
              <a:buAutoNum type="alphaLcPeriod"/>
              <a:tabLst/>
              <a:defRPr/>
            </a:pPr>
            <a:r>
              <a:rPr lang="en-US" sz="1400" dirty="0">
                <a:solidFill>
                  <a:srgbClr val="002060"/>
                </a:solidFill>
                <a:latin typeface="Berlin Sans FB" panose="020E0602020502020306" pitchFamily="34" charset="0"/>
              </a:rPr>
              <a:t>Are the data being captured and processed to required standards? </a:t>
            </a:r>
          </a:p>
          <a:p>
            <a:pPr marL="742950" marR="0" lvl="1" indent="-285750" algn="l" defTabSz="914400" rtl="0" eaLnBrk="1" fontAlgn="auto" latinLnBrk="0" hangingPunct="1">
              <a:lnSpc>
                <a:spcPct val="100000"/>
              </a:lnSpc>
              <a:spcBef>
                <a:spcPts val="0"/>
              </a:spcBef>
              <a:spcAft>
                <a:spcPts val="0"/>
              </a:spcAft>
              <a:buClrTx/>
              <a:buSzTx/>
              <a:buFont typeface="+mj-lt"/>
              <a:buAutoNum type="alphaLcPeriod"/>
              <a:tabLst/>
              <a:defRPr/>
            </a:pPr>
            <a:endParaRPr lang="en-US" sz="1400" dirty="0">
              <a:solidFill>
                <a:srgbClr val="002060"/>
              </a:solidFill>
              <a:latin typeface="Berlin Sans FB" panose="020E0602020502020306" pitchFamily="34" charset="0"/>
            </a:endParaRPr>
          </a:p>
          <a:p>
            <a:pPr marL="742950" marR="0" lvl="1" indent="-285750" algn="l" defTabSz="914400" rtl="0" eaLnBrk="1" fontAlgn="auto" latinLnBrk="0" hangingPunct="1">
              <a:lnSpc>
                <a:spcPct val="100000"/>
              </a:lnSpc>
              <a:spcBef>
                <a:spcPts val="0"/>
              </a:spcBef>
              <a:spcAft>
                <a:spcPts val="0"/>
              </a:spcAft>
              <a:buClrTx/>
              <a:buSzTx/>
              <a:buFont typeface="+mj-lt"/>
              <a:buAutoNum type="alphaLcPeriod"/>
              <a:tabLst/>
              <a:defRPr/>
            </a:pPr>
            <a:r>
              <a:rPr lang="en-US" sz="1400" dirty="0">
                <a:solidFill>
                  <a:srgbClr val="002060"/>
                </a:solidFill>
                <a:latin typeface="Berlin Sans FB" panose="020E0602020502020306" pitchFamily="34" charset="0"/>
              </a:rPr>
              <a:t>configuration of the organization’s applications and database management systems is in line with organizational objectives. </a:t>
            </a:r>
          </a:p>
          <a:p>
            <a:pPr marL="742950" marR="0" lvl="1" indent="-285750" algn="l" defTabSz="914400" rtl="0" eaLnBrk="1" fontAlgn="auto" latinLnBrk="0" hangingPunct="1">
              <a:lnSpc>
                <a:spcPct val="100000"/>
              </a:lnSpc>
              <a:spcBef>
                <a:spcPts val="0"/>
              </a:spcBef>
              <a:spcAft>
                <a:spcPts val="0"/>
              </a:spcAft>
              <a:buClrTx/>
              <a:buSzTx/>
              <a:buFont typeface="+mj-lt"/>
              <a:buAutoNum type="alphaLcPeriod"/>
              <a:tabLst/>
              <a:defRPr/>
            </a:pPr>
            <a:endParaRPr lang="en-US" sz="1400" dirty="0">
              <a:solidFill>
                <a:srgbClr val="002060"/>
              </a:solidFill>
              <a:latin typeface="Berlin Sans FB" panose="020E0602020502020306" pitchFamily="34" charset="0"/>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dirty="0">
                <a:ln>
                  <a:noFill/>
                </a:ln>
                <a:solidFill>
                  <a:srgbClr val="0070C0"/>
                </a:solidFill>
                <a:effectLst/>
                <a:uLnTx/>
                <a:uFillTx/>
                <a:latin typeface="Berlin Sans FB" panose="020E0602020502020306" pitchFamily="34" charset="0"/>
                <a:ea typeface="Times New Roman" panose="02020603050405020304" pitchFamily="18" charset="0"/>
                <a:cs typeface="LiberationSerif"/>
              </a:rPr>
              <a:t>For example, are data being archived, retained or destroyed in line with a data retention policy?</a:t>
            </a:r>
            <a:endParaRPr kumimoji="0" lang="en-US" sz="1200" i="0" u="none" strike="noStrike" kern="1200" cap="none" spc="0" normalizeH="0" baseline="0" noProof="0" dirty="0">
              <a:ln>
                <a:noFill/>
              </a:ln>
              <a:solidFill>
                <a:srgbClr val="0070C0"/>
              </a:solidFill>
              <a:effectLst/>
              <a:uLnTx/>
              <a:uFillTx/>
              <a:latin typeface="Berlin Sans FB" panose="020E0602020502020306" pitchFamily="34" charset="0"/>
              <a:ea typeface="Times New Roman" panose="02020603050405020304" pitchFamily="18" charset="0"/>
            </a:endParaRPr>
          </a:p>
          <a:p>
            <a:pPr marL="137160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Times New Roman" panose="02020603050405020304" pitchFamily="18" charset="0"/>
                <a:cs typeface="LiberationSerif"/>
              </a:rPr>
              <a:t> </a:t>
            </a:r>
            <a:endParaRPr kumimoji="0" lang="en-US" sz="1400" b="0" i="0" u="none" strike="noStrike" kern="1200" cap="none" spc="0" normalizeH="0" baseline="0" noProof="0" dirty="0">
              <a:ln>
                <a:noFill/>
              </a:ln>
              <a:solidFill>
                <a:srgbClr val="0070C0"/>
              </a:solidFill>
              <a:effectLst/>
              <a:uLnTx/>
              <a:uFillTx/>
              <a:latin typeface="Berlin Sans FB" panose="020E0602020502020306" pitchFamily="34" charset="0"/>
              <a:ea typeface="Times New Roman" panose="02020603050405020304" pitchFamily="18" charset="0"/>
            </a:endParaRPr>
          </a:p>
        </p:txBody>
      </p:sp>
    </p:spTree>
    <p:extLst>
      <p:ext uri="{BB962C8B-B14F-4D97-AF65-F5344CB8AC3E}">
        <p14:creationId xmlns:p14="http://schemas.microsoft.com/office/powerpoint/2010/main" val="15537161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77B23A-14CE-41CB-B607-B5AA055ED989}"/>
              </a:ext>
            </a:extLst>
          </p:cNvPr>
          <p:cNvPicPr>
            <a:picLocks noChangeAspect="1"/>
          </p:cNvPicPr>
          <p:nvPr/>
        </p:nvPicPr>
        <p:blipFill rotWithShape="1">
          <a:blip r:embed="rId2">
            <a:extLst>
              <a:ext uri="{28A0092B-C50C-407E-A947-70E740481C1C}">
                <a14:useLocalDpi xmlns:a14="http://schemas.microsoft.com/office/drawing/2010/main" val="0"/>
              </a:ext>
            </a:extLst>
          </a:blip>
          <a:srcRect l="12027"/>
          <a:stretch/>
        </p:blipFill>
        <p:spPr>
          <a:xfrm>
            <a:off x="2211754" y="815641"/>
            <a:ext cx="8998734" cy="5226718"/>
          </a:xfrm>
          <a:prstGeom prst="rect">
            <a:avLst/>
          </a:prstGeom>
        </p:spPr>
      </p:pic>
    </p:spTree>
    <p:extLst>
      <p:ext uri="{BB962C8B-B14F-4D97-AF65-F5344CB8AC3E}">
        <p14:creationId xmlns:p14="http://schemas.microsoft.com/office/powerpoint/2010/main" val="25463730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605B8E-77D5-429B-8B58-E08C955BF22A}"/>
              </a:ext>
            </a:extLst>
          </p:cNvPr>
          <p:cNvPicPr>
            <a:picLocks noChangeAspect="1"/>
          </p:cNvPicPr>
          <p:nvPr/>
        </p:nvPicPr>
        <p:blipFill rotWithShape="1">
          <a:blip r:embed="rId2">
            <a:extLst>
              <a:ext uri="{28A0092B-C50C-407E-A947-70E740481C1C}">
                <a14:useLocalDpi xmlns:a14="http://schemas.microsoft.com/office/drawing/2010/main" val="0"/>
              </a:ext>
            </a:extLst>
          </a:blip>
          <a:srcRect l="12315"/>
          <a:stretch/>
        </p:blipFill>
        <p:spPr>
          <a:xfrm>
            <a:off x="1930399" y="326838"/>
            <a:ext cx="9692475" cy="5674143"/>
          </a:xfrm>
          <a:prstGeom prst="rect">
            <a:avLst/>
          </a:prstGeom>
        </p:spPr>
      </p:pic>
    </p:spTree>
    <p:extLst>
      <p:ext uri="{BB962C8B-B14F-4D97-AF65-F5344CB8AC3E}">
        <p14:creationId xmlns:p14="http://schemas.microsoft.com/office/powerpoint/2010/main" val="16920705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32B550-8231-40F2-9048-1A9A329ED65E}"/>
              </a:ext>
            </a:extLst>
          </p:cNvPr>
          <p:cNvPicPr>
            <a:picLocks noChangeAspect="1"/>
          </p:cNvPicPr>
          <p:nvPr/>
        </p:nvPicPr>
        <p:blipFill rotWithShape="1">
          <a:blip r:embed="rId2">
            <a:extLst>
              <a:ext uri="{28A0092B-C50C-407E-A947-70E740481C1C}">
                <a14:useLocalDpi xmlns:a14="http://schemas.microsoft.com/office/drawing/2010/main" val="0"/>
              </a:ext>
            </a:extLst>
          </a:blip>
          <a:srcRect l="11950"/>
          <a:stretch/>
        </p:blipFill>
        <p:spPr>
          <a:xfrm>
            <a:off x="1565703" y="615313"/>
            <a:ext cx="9060593" cy="5254041"/>
          </a:xfrm>
          <a:prstGeom prst="rect">
            <a:avLst/>
          </a:prstGeom>
        </p:spPr>
      </p:pic>
    </p:spTree>
    <p:extLst>
      <p:ext uri="{BB962C8B-B14F-4D97-AF65-F5344CB8AC3E}">
        <p14:creationId xmlns:p14="http://schemas.microsoft.com/office/powerpoint/2010/main" val="19982080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B18DF3-4E08-4871-BC3F-6DA0BDFEBFF8}"/>
              </a:ext>
            </a:extLst>
          </p:cNvPr>
          <p:cNvPicPr>
            <a:picLocks noChangeAspect="1"/>
          </p:cNvPicPr>
          <p:nvPr/>
        </p:nvPicPr>
        <p:blipFill rotWithShape="1">
          <a:blip r:embed="rId2">
            <a:extLst>
              <a:ext uri="{28A0092B-C50C-407E-A947-70E740481C1C}">
                <a14:useLocalDpi xmlns:a14="http://schemas.microsoft.com/office/drawing/2010/main" val="0"/>
              </a:ext>
            </a:extLst>
          </a:blip>
          <a:srcRect l="11857"/>
          <a:stretch/>
        </p:blipFill>
        <p:spPr>
          <a:xfrm>
            <a:off x="1062892" y="349446"/>
            <a:ext cx="9770624" cy="5690185"/>
          </a:xfrm>
          <a:prstGeom prst="rect">
            <a:avLst/>
          </a:prstGeom>
        </p:spPr>
      </p:pic>
    </p:spTree>
    <p:extLst>
      <p:ext uri="{BB962C8B-B14F-4D97-AF65-F5344CB8AC3E}">
        <p14:creationId xmlns:p14="http://schemas.microsoft.com/office/powerpoint/2010/main" val="1146530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BC17E4-088F-4956-8129-AB1B5DA3D3DC}"/>
              </a:ext>
            </a:extLst>
          </p:cNvPr>
          <p:cNvPicPr>
            <a:picLocks noChangeAspect="1"/>
          </p:cNvPicPr>
          <p:nvPr/>
        </p:nvPicPr>
        <p:blipFill rotWithShape="1">
          <a:blip r:embed="rId2">
            <a:extLst>
              <a:ext uri="{28A0092B-C50C-407E-A947-70E740481C1C}">
                <a14:useLocalDpi xmlns:a14="http://schemas.microsoft.com/office/drawing/2010/main" val="0"/>
              </a:ext>
            </a:extLst>
          </a:blip>
          <a:srcRect l="11835"/>
          <a:stretch/>
        </p:blipFill>
        <p:spPr>
          <a:xfrm>
            <a:off x="1257405" y="271655"/>
            <a:ext cx="9677190" cy="5651584"/>
          </a:xfrm>
          <a:prstGeom prst="rect">
            <a:avLst/>
          </a:prstGeom>
        </p:spPr>
      </p:pic>
    </p:spTree>
    <p:extLst>
      <p:ext uri="{BB962C8B-B14F-4D97-AF65-F5344CB8AC3E}">
        <p14:creationId xmlns:p14="http://schemas.microsoft.com/office/powerpoint/2010/main" val="4229811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F0595B-D58E-40CC-9DFC-2B6811E0F885}"/>
              </a:ext>
            </a:extLst>
          </p:cNvPr>
          <p:cNvPicPr>
            <a:picLocks noChangeAspect="1"/>
          </p:cNvPicPr>
          <p:nvPr/>
        </p:nvPicPr>
        <p:blipFill rotWithShape="1">
          <a:blip r:embed="rId2">
            <a:extLst>
              <a:ext uri="{28A0092B-C50C-407E-A947-70E740481C1C}">
                <a14:useLocalDpi xmlns:a14="http://schemas.microsoft.com/office/drawing/2010/main" val="0"/>
              </a:ext>
            </a:extLst>
          </a:blip>
          <a:srcRect l="11802"/>
          <a:stretch/>
        </p:blipFill>
        <p:spPr>
          <a:xfrm>
            <a:off x="1938214" y="440906"/>
            <a:ext cx="9600195" cy="5557661"/>
          </a:xfrm>
          <a:prstGeom prst="rect">
            <a:avLst/>
          </a:prstGeom>
        </p:spPr>
      </p:pic>
    </p:spTree>
    <p:extLst>
      <p:ext uri="{BB962C8B-B14F-4D97-AF65-F5344CB8AC3E}">
        <p14:creationId xmlns:p14="http://schemas.microsoft.com/office/powerpoint/2010/main" val="24347782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B1CF1D-689D-44B8-9DBD-9220530A7C04}"/>
              </a:ext>
            </a:extLst>
          </p:cNvPr>
          <p:cNvPicPr>
            <a:picLocks noChangeAspect="1"/>
          </p:cNvPicPr>
          <p:nvPr/>
        </p:nvPicPr>
        <p:blipFill rotWithShape="1">
          <a:blip r:embed="rId3"/>
          <a:srcRect l="31304" r="6570"/>
          <a:stretch/>
        </p:blipFill>
        <p:spPr>
          <a:xfrm>
            <a:off x="3930315" y="145041"/>
            <a:ext cx="6464969" cy="6224299"/>
          </a:xfrm>
          <a:prstGeom prst="rect">
            <a:avLst/>
          </a:prstGeom>
        </p:spPr>
      </p:pic>
      <p:pic>
        <p:nvPicPr>
          <p:cNvPr id="4" name="Picture 3">
            <a:extLst>
              <a:ext uri="{FF2B5EF4-FFF2-40B4-BE49-F238E27FC236}">
                <a16:creationId xmlns:a16="http://schemas.microsoft.com/office/drawing/2014/main" id="{8D14AAF5-9404-43D7-89EA-901A9699F0E3}"/>
              </a:ext>
            </a:extLst>
          </p:cNvPr>
          <p:cNvPicPr>
            <a:picLocks noChangeAspect="1"/>
          </p:cNvPicPr>
          <p:nvPr/>
        </p:nvPicPr>
        <p:blipFill>
          <a:blip r:embed="rId4"/>
          <a:stretch>
            <a:fillRect/>
          </a:stretch>
        </p:blipFill>
        <p:spPr>
          <a:xfrm>
            <a:off x="2056269" y="611605"/>
            <a:ext cx="1267460" cy="5311515"/>
          </a:xfrm>
          <a:prstGeom prst="rect">
            <a:avLst/>
          </a:prstGeom>
        </p:spPr>
      </p:pic>
      <p:pic>
        <p:nvPicPr>
          <p:cNvPr id="2" name="Picture 1">
            <a:extLst>
              <a:ext uri="{FF2B5EF4-FFF2-40B4-BE49-F238E27FC236}">
                <a16:creationId xmlns:a16="http://schemas.microsoft.com/office/drawing/2014/main" id="{421E1D8B-FD31-F087-8E00-70FE9906BD90}"/>
              </a:ext>
            </a:extLst>
          </p:cNvPr>
          <p:cNvPicPr>
            <a:picLocks noChangeAspect="1"/>
          </p:cNvPicPr>
          <p:nvPr/>
        </p:nvPicPr>
        <p:blipFill rotWithShape="1">
          <a:blip r:embed="rId5"/>
          <a:srcRect l="4330" r="64537" b="75063"/>
          <a:stretch/>
        </p:blipFill>
        <p:spPr>
          <a:xfrm>
            <a:off x="769620" y="223085"/>
            <a:ext cx="3401327" cy="498810"/>
          </a:xfrm>
          <a:prstGeom prst="rect">
            <a:avLst/>
          </a:prstGeom>
        </p:spPr>
      </p:pic>
    </p:spTree>
    <p:extLst>
      <p:ext uri="{BB962C8B-B14F-4D97-AF65-F5344CB8AC3E}">
        <p14:creationId xmlns:p14="http://schemas.microsoft.com/office/powerpoint/2010/main" val="15258913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19DC94-CB40-44FF-8617-578E8DE135C3}"/>
              </a:ext>
            </a:extLst>
          </p:cNvPr>
          <p:cNvPicPr>
            <a:picLocks noChangeAspect="1"/>
          </p:cNvPicPr>
          <p:nvPr/>
        </p:nvPicPr>
        <p:blipFill>
          <a:blip r:embed="rId2"/>
          <a:stretch>
            <a:fillRect/>
          </a:stretch>
        </p:blipFill>
        <p:spPr>
          <a:xfrm>
            <a:off x="1019419" y="579765"/>
            <a:ext cx="9407023" cy="4489540"/>
          </a:xfrm>
          <a:prstGeom prst="rect">
            <a:avLst/>
          </a:prstGeom>
        </p:spPr>
      </p:pic>
    </p:spTree>
    <p:extLst>
      <p:ext uri="{BB962C8B-B14F-4D97-AF65-F5344CB8AC3E}">
        <p14:creationId xmlns:p14="http://schemas.microsoft.com/office/powerpoint/2010/main" val="27040122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52C88B9-1BBD-4235-BA89-FDF982B71DF5}"/>
              </a:ext>
            </a:extLst>
          </p:cNvPr>
          <p:cNvPicPr>
            <a:picLocks noChangeAspect="1"/>
          </p:cNvPicPr>
          <p:nvPr/>
        </p:nvPicPr>
        <p:blipFill>
          <a:blip r:embed="rId2"/>
          <a:stretch>
            <a:fillRect/>
          </a:stretch>
        </p:blipFill>
        <p:spPr>
          <a:xfrm>
            <a:off x="396816" y="200526"/>
            <a:ext cx="9434383" cy="5075467"/>
          </a:xfrm>
          <a:prstGeom prst="rect">
            <a:avLst/>
          </a:prstGeom>
        </p:spPr>
      </p:pic>
    </p:spTree>
    <p:extLst>
      <p:ext uri="{BB962C8B-B14F-4D97-AF65-F5344CB8AC3E}">
        <p14:creationId xmlns:p14="http://schemas.microsoft.com/office/powerpoint/2010/main" val="18965461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0539CBE-6DD2-40B4-8524-5F9779AC91CE}"/>
              </a:ext>
            </a:extLst>
          </p:cNvPr>
          <p:cNvPicPr>
            <a:picLocks noChangeAspect="1"/>
          </p:cNvPicPr>
          <p:nvPr/>
        </p:nvPicPr>
        <p:blipFill>
          <a:blip r:embed="rId2"/>
          <a:stretch>
            <a:fillRect/>
          </a:stretch>
        </p:blipFill>
        <p:spPr>
          <a:xfrm>
            <a:off x="613704" y="289737"/>
            <a:ext cx="8718698" cy="4850780"/>
          </a:xfrm>
          <a:prstGeom prst="rect">
            <a:avLst/>
          </a:prstGeom>
        </p:spPr>
      </p:pic>
    </p:spTree>
    <p:extLst>
      <p:ext uri="{BB962C8B-B14F-4D97-AF65-F5344CB8AC3E}">
        <p14:creationId xmlns:p14="http://schemas.microsoft.com/office/powerpoint/2010/main" val="6162155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1B92B1-EA10-4396-BFED-7562AC2D72CF}"/>
              </a:ext>
            </a:extLst>
          </p:cNvPr>
          <p:cNvPicPr>
            <a:picLocks noChangeAspect="1"/>
          </p:cNvPicPr>
          <p:nvPr/>
        </p:nvPicPr>
        <p:blipFill>
          <a:blip r:embed="rId2"/>
          <a:stretch>
            <a:fillRect/>
          </a:stretch>
        </p:blipFill>
        <p:spPr>
          <a:xfrm>
            <a:off x="1218081" y="543279"/>
            <a:ext cx="8761228" cy="4873083"/>
          </a:xfrm>
          <a:prstGeom prst="rect">
            <a:avLst/>
          </a:prstGeom>
        </p:spPr>
      </p:pic>
    </p:spTree>
    <p:extLst>
      <p:ext uri="{BB962C8B-B14F-4D97-AF65-F5344CB8AC3E}">
        <p14:creationId xmlns:p14="http://schemas.microsoft.com/office/powerpoint/2010/main" val="42070262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9E835A-D573-4891-AD68-A75FFC53221D}"/>
              </a:ext>
            </a:extLst>
          </p:cNvPr>
          <p:cNvPicPr>
            <a:picLocks noChangeAspect="1"/>
          </p:cNvPicPr>
          <p:nvPr/>
        </p:nvPicPr>
        <p:blipFill>
          <a:blip r:embed="rId2"/>
          <a:stretch>
            <a:fillRect/>
          </a:stretch>
        </p:blipFill>
        <p:spPr>
          <a:xfrm>
            <a:off x="6074735" y="3367668"/>
            <a:ext cx="42530" cy="122663"/>
          </a:xfrm>
          <a:prstGeom prst="rect">
            <a:avLst/>
          </a:prstGeom>
        </p:spPr>
      </p:pic>
      <p:pic>
        <p:nvPicPr>
          <p:cNvPr id="6" name="Picture 5">
            <a:extLst>
              <a:ext uri="{FF2B5EF4-FFF2-40B4-BE49-F238E27FC236}">
                <a16:creationId xmlns:a16="http://schemas.microsoft.com/office/drawing/2014/main" id="{A45DFB37-717C-48B3-B8CB-5DA20CCD792C}"/>
              </a:ext>
            </a:extLst>
          </p:cNvPr>
          <p:cNvPicPr>
            <a:picLocks noChangeAspect="1"/>
          </p:cNvPicPr>
          <p:nvPr/>
        </p:nvPicPr>
        <p:blipFill rotWithShape="1">
          <a:blip r:embed="rId3"/>
          <a:srcRect l="14821" t="4961" r="13200" b="6364"/>
          <a:stretch/>
        </p:blipFill>
        <p:spPr>
          <a:xfrm>
            <a:off x="847211" y="2258192"/>
            <a:ext cx="5088115" cy="3773063"/>
          </a:xfrm>
          <a:prstGeom prst="rect">
            <a:avLst/>
          </a:prstGeom>
        </p:spPr>
      </p:pic>
      <p:pic>
        <p:nvPicPr>
          <p:cNvPr id="3" name="Picture 2">
            <a:extLst>
              <a:ext uri="{FF2B5EF4-FFF2-40B4-BE49-F238E27FC236}">
                <a16:creationId xmlns:a16="http://schemas.microsoft.com/office/drawing/2014/main" id="{0B24DBEA-ABAC-4860-8FC3-0668F30D21A3}"/>
              </a:ext>
            </a:extLst>
          </p:cNvPr>
          <p:cNvPicPr>
            <a:picLocks noChangeAspect="1"/>
          </p:cNvPicPr>
          <p:nvPr/>
        </p:nvPicPr>
        <p:blipFill rotWithShape="1">
          <a:blip r:embed="rId4"/>
          <a:srcRect r="8682"/>
          <a:stretch/>
        </p:blipFill>
        <p:spPr>
          <a:xfrm>
            <a:off x="7166707" y="556267"/>
            <a:ext cx="4892431" cy="5350713"/>
          </a:xfrm>
          <a:prstGeom prst="rect">
            <a:avLst/>
          </a:prstGeom>
        </p:spPr>
      </p:pic>
      <p:sp>
        <p:nvSpPr>
          <p:cNvPr id="7" name="TextBox 6">
            <a:extLst>
              <a:ext uri="{FF2B5EF4-FFF2-40B4-BE49-F238E27FC236}">
                <a16:creationId xmlns:a16="http://schemas.microsoft.com/office/drawing/2014/main" id="{927523AA-2455-4DFF-8617-E9AA41D9CEC8}"/>
              </a:ext>
            </a:extLst>
          </p:cNvPr>
          <p:cNvSpPr txBox="1"/>
          <p:nvPr/>
        </p:nvSpPr>
        <p:spPr>
          <a:xfrm>
            <a:off x="626076" y="175015"/>
            <a:ext cx="6096000" cy="187743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verification and validation model,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Demi" panose="020E0802020502020306" pitchFamily="34" charset="0"/>
                <a:ea typeface="+mn-ea"/>
                <a:cs typeface="+mn-cs"/>
              </a:rPr>
              <a:t>also called the V-model</a:t>
            </a:r>
            <a:r>
              <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rPr>
              <a:t>, also emphasizes the relationship between development phases and testing levels.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rPr>
              <a:t>The most granular testing—the unit test—occurs immediately after programs have been written. Following this model, testing occurs to validate the detailed design. </a:t>
            </a:r>
          </a:p>
        </p:txBody>
      </p:sp>
    </p:spTree>
    <p:extLst>
      <p:ext uri="{BB962C8B-B14F-4D97-AF65-F5344CB8AC3E}">
        <p14:creationId xmlns:p14="http://schemas.microsoft.com/office/powerpoint/2010/main" val="26471598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2581AD-3F98-4736-B1AC-E5349EAA294D}"/>
              </a:ext>
            </a:extLst>
          </p:cNvPr>
          <p:cNvSpPr txBox="1"/>
          <p:nvPr/>
        </p:nvSpPr>
        <p:spPr>
          <a:xfrm>
            <a:off x="443640" y="197129"/>
            <a:ext cx="7007918" cy="6027740"/>
          </a:xfrm>
          <a:prstGeom prst="rect">
            <a:avLst/>
          </a:prstGeom>
          <a:noFill/>
        </p:spPr>
        <p:txBody>
          <a:bodyPr wrap="square">
            <a:spAutoFit/>
          </a:bodyPr>
          <a:lstStyle/>
          <a:p>
            <a:pPr marL="0" marR="0" lvl="0" indent="0" algn="l" defTabSz="457200" rtl="0" eaLnBrk="1" fontAlgn="auto" latinLnBrk="0" hangingPunct="1">
              <a:lnSpc>
                <a:spcPct val="107000"/>
              </a:lnSpc>
              <a:spcBef>
                <a:spcPts val="0"/>
              </a:spcBef>
              <a:spcAft>
                <a:spcPts val="800"/>
              </a:spcAft>
              <a:buClrTx/>
              <a:buSzTx/>
              <a:buFontTx/>
              <a:buNone/>
              <a:tabLst/>
              <a:defRPr/>
            </a:pPr>
            <a:r>
              <a:rPr kumimoji="0" lang="en-US" sz="2000" b="1" i="0" u="sng" strike="noStrike" kern="1200" cap="none" spc="0" normalizeH="0" baseline="0" noProof="0" dirty="0">
                <a:ln>
                  <a:noFill/>
                </a:ln>
                <a:solidFill>
                  <a:srgbClr val="002060"/>
                </a:solidFill>
                <a:effectLst/>
                <a:uLnTx/>
                <a:uFillTx/>
                <a:latin typeface="Bahnschrift" panose="020B0502040204020203" pitchFamily="34" charset="0"/>
                <a:ea typeface="Calibri" panose="020F0502020204030204" pitchFamily="34" charset="0"/>
                <a:cs typeface="Arial" panose="020B0604020202020204" pitchFamily="34" charset="0"/>
              </a:rPr>
              <a:t>The Agile Iteration Workflow</a:t>
            </a:r>
          </a:p>
          <a:p>
            <a:pPr marL="285750" marR="0" lvl="0" indent="-285750" algn="l" defTabSz="457200" rtl="0" eaLnBrk="1" fontAlgn="auto" latinLnBrk="0" hangingPunct="1">
              <a:lnSpc>
                <a:spcPct val="107000"/>
              </a:lnSpc>
              <a:spcBef>
                <a:spcPts val="0"/>
              </a:spcBef>
              <a:spcAft>
                <a:spcPts val="8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ahnschrift" panose="020B0502040204020203" pitchFamily="34" charset="0"/>
                <a:ea typeface="+mn-ea"/>
                <a:cs typeface="+mn-cs"/>
              </a:rPr>
              <a:t>Agile Software Development Life Cycle (SDLC) is the </a:t>
            </a:r>
            <a:r>
              <a:rPr kumimoji="0" lang="en-US" sz="1400" b="1" i="0" u="none" strike="noStrike" kern="1200" cap="none" spc="0" normalizeH="0" baseline="0" noProof="0" dirty="0">
                <a:ln>
                  <a:noFill/>
                </a:ln>
                <a:solidFill>
                  <a:srgbClr val="002060"/>
                </a:solidFill>
                <a:effectLst/>
                <a:uLnTx/>
                <a:uFillTx/>
                <a:latin typeface="Bahnschrift" panose="020B0502040204020203" pitchFamily="34" charset="0"/>
                <a:ea typeface="+mn-ea"/>
                <a:cs typeface="+mn-cs"/>
              </a:rPr>
              <a:t>combination of both iterative and incremental process models</a:t>
            </a:r>
            <a:r>
              <a:rPr kumimoji="0" lang="en-US" sz="1400" b="0" i="0" u="none" strike="noStrike" kern="1200" cap="none" spc="0" normalizeH="0" baseline="0" noProof="0" dirty="0">
                <a:ln>
                  <a:noFill/>
                </a:ln>
                <a:solidFill>
                  <a:srgbClr val="002060"/>
                </a:solidFill>
                <a:effectLst/>
                <a:uLnTx/>
                <a:uFillTx/>
                <a:latin typeface="Bahnschrift" panose="020B0502040204020203" pitchFamily="34" charset="0"/>
                <a:ea typeface="+mn-ea"/>
                <a:cs typeface="+mn-cs"/>
              </a:rPr>
              <a:t>. </a:t>
            </a:r>
          </a:p>
          <a:p>
            <a:pPr marL="285750" marR="0" lvl="0" indent="-285750" algn="l" defTabSz="457200" rtl="0" eaLnBrk="1" fontAlgn="auto" latinLnBrk="0" hangingPunct="1">
              <a:lnSpc>
                <a:spcPct val="107000"/>
              </a:lnSpc>
              <a:spcBef>
                <a:spcPts val="0"/>
              </a:spcBef>
              <a:spcAft>
                <a:spcPts val="8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70C0"/>
                </a:solidFill>
                <a:effectLst/>
                <a:uLnTx/>
                <a:uFillTx/>
                <a:latin typeface="Bahnschrift" panose="020B0502040204020203" pitchFamily="34" charset="0"/>
                <a:ea typeface="+mn-ea"/>
                <a:cs typeface="+mn-cs"/>
              </a:rPr>
              <a:t>It focuses on process adaptability and customer satisfaction by rapid delivery of working software product. </a:t>
            </a:r>
          </a:p>
          <a:p>
            <a:pPr marL="285750" marR="0" lvl="0" indent="-285750" algn="l" defTabSz="457200" rtl="0" eaLnBrk="1" fontAlgn="auto" latinLnBrk="0" hangingPunct="1">
              <a:lnSpc>
                <a:spcPct val="107000"/>
              </a:lnSpc>
              <a:spcBef>
                <a:spcPts val="0"/>
              </a:spcBef>
              <a:spcAft>
                <a:spcPts val="8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ahnschrift" panose="020B0502040204020203" pitchFamily="34" charset="0"/>
                <a:ea typeface="+mn-ea"/>
                <a:cs typeface="+mn-cs"/>
              </a:rPr>
              <a:t>Agile SDLC breaks down the product into small incremental builds.</a:t>
            </a:r>
            <a:endParaRPr kumimoji="0" lang="en-US" sz="1400" b="0" i="0" u="sng" strike="noStrike" kern="1200" cap="none" spc="0" normalizeH="0" baseline="0" noProof="0" dirty="0">
              <a:ln>
                <a:noFill/>
              </a:ln>
              <a:solidFill>
                <a:srgbClr val="002060"/>
              </a:solidFill>
              <a:effectLst/>
              <a:uLnTx/>
              <a:uFillTx/>
              <a:latin typeface="Bahnschrift" panose="020B0502040204020203" pitchFamily="34" charset="0"/>
              <a:ea typeface="Calibri" panose="020F0502020204030204" pitchFamily="34" charset="0"/>
              <a:cs typeface="Arial" panose="020B0604020202020204" pitchFamily="34" charset="0"/>
            </a:endParaRPr>
          </a:p>
          <a:p>
            <a:pPr marL="457200" marR="0" lvl="1" indent="0" algn="l" defTabSz="457200" rtl="0" eaLnBrk="1" fontAlgn="auto" latinLnBrk="0" hangingPunct="1">
              <a:lnSpc>
                <a:spcPct val="107000"/>
              </a:lnSpc>
              <a:spcBef>
                <a:spcPts val="0"/>
              </a:spcBef>
              <a:spcAft>
                <a:spcPts val="800"/>
              </a:spcAft>
              <a:buClrTx/>
              <a:buSzTx/>
              <a:buFontTx/>
              <a:buNone/>
              <a:tabLst/>
              <a:defRPr/>
            </a:pPr>
            <a:r>
              <a:rPr kumimoji="0" lang="en-US" sz="1600" b="0" i="0" u="none" strike="noStrike" kern="1200" cap="none" spc="0" normalizeH="0" baseline="0" noProof="0" dirty="0">
                <a:ln>
                  <a:noFill/>
                </a:ln>
                <a:solidFill>
                  <a:srgbClr val="0070C0"/>
                </a:solidFill>
                <a:effectLst/>
                <a:uLnTx/>
                <a:uFillTx/>
                <a:latin typeface="Bahnschrift" panose="020B0502040204020203" pitchFamily="34" charset="0"/>
                <a:ea typeface="Calibri" panose="020F0502020204030204" pitchFamily="34" charset="0"/>
                <a:cs typeface="Arial" panose="020B0604020202020204" pitchFamily="34" charset="0"/>
              </a:rPr>
              <a:t>A typical iteration (repetition, </a:t>
            </a:r>
            <a:r>
              <a:rPr kumimoji="0" lang="en-US" sz="1600" b="0" i="0" u="none" strike="noStrike" kern="1200" cap="none" spc="0" normalizeH="0" baseline="0" noProof="0" dirty="0">
                <a:ln>
                  <a:noFill/>
                </a:ln>
                <a:solidFill>
                  <a:srgbClr val="0070C0"/>
                </a:solidFill>
                <a:effectLst/>
                <a:uLnTx/>
                <a:uFillTx/>
                <a:latin typeface="Bahnschrift" panose="020B0502040204020203" pitchFamily="34" charset="0"/>
                <a:ea typeface="+mn-ea"/>
                <a:cs typeface="+mn-cs"/>
              </a:rPr>
              <a:t>duplication</a:t>
            </a:r>
            <a:r>
              <a:rPr kumimoji="0" lang="en-US" sz="1600" b="0" i="0" u="none" strike="noStrike" kern="1200" cap="none" spc="0" normalizeH="0" baseline="0" noProof="0" dirty="0">
                <a:ln>
                  <a:noFill/>
                </a:ln>
                <a:solidFill>
                  <a:srgbClr val="0070C0"/>
                </a:solidFill>
                <a:effectLst/>
                <a:uLnTx/>
                <a:uFillTx/>
                <a:latin typeface="Bahnschrift" panose="020B0502040204020203" pitchFamily="34" charset="0"/>
                <a:ea typeface="Calibri" panose="020F0502020204030204" pitchFamily="34" charset="0"/>
                <a:cs typeface="Arial" panose="020B0604020202020204" pitchFamily="34" charset="0"/>
              </a:rPr>
              <a:t>) process flow can be visualized as follows:</a:t>
            </a:r>
            <a:endParaRPr kumimoji="0" lang="en-US" sz="1100" b="0" i="0" u="none" strike="noStrike" kern="1200" cap="none" spc="0" normalizeH="0" baseline="0" noProof="0" dirty="0">
              <a:ln>
                <a:noFill/>
              </a:ln>
              <a:solidFill>
                <a:srgbClr val="0070C0"/>
              </a:solidFill>
              <a:effectLst/>
              <a:uLnTx/>
              <a:uFillTx/>
              <a:latin typeface="Bahnschrift" panose="020B0502040204020203" pitchFamily="34" charset="0"/>
              <a:ea typeface="Calibri" panose="020F0502020204030204" pitchFamily="34" charset="0"/>
              <a:cs typeface="Arial" panose="020B0604020202020204" pitchFamily="34" charset="0"/>
            </a:endParaRPr>
          </a:p>
          <a:p>
            <a:pPr marL="800100" marR="0" lvl="1" indent="-342900" algn="l" defTabSz="457200" rtl="0" eaLnBrk="1" fontAlgn="auto" latinLnBrk="0" hangingPunct="1">
              <a:lnSpc>
                <a:spcPct val="107000"/>
              </a:lnSpc>
              <a:spcBef>
                <a:spcPts val="0"/>
              </a:spcBef>
              <a:spcAft>
                <a:spcPts val="800"/>
              </a:spcAft>
              <a:buClrTx/>
              <a:buSzPts val="1000"/>
              <a:buFont typeface="+mj-lt"/>
              <a:buAutoNum type="arabicPeriod"/>
              <a:tabLst>
                <a:tab pos="457200" algn="l"/>
              </a:tabLst>
              <a:defRPr/>
            </a:pPr>
            <a:r>
              <a:rPr kumimoji="0" lang="en-US" sz="1600" b="1" i="0" u="none" strike="noStrike" kern="1200" cap="none" spc="0" normalizeH="0" baseline="0" noProof="0" dirty="0">
                <a:ln>
                  <a:noFill/>
                </a:ln>
                <a:solidFill>
                  <a:srgbClr val="002060"/>
                </a:solidFill>
                <a:effectLst/>
                <a:uLnTx/>
                <a:uFillTx/>
                <a:latin typeface="Bahnschrift" panose="020B0502040204020203" pitchFamily="34" charset="0"/>
                <a:ea typeface="Calibri" panose="020F0502020204030204" pitchFamily="34" charset="0"/>
                <a:cs typeface="Arial" panose="020B0604020202020204" pitchFamily="34" charset="0"/>
              </a:rPr>
              <a:t>Requirements</a:t>
            </a:r>
            <a:r>
              <a:rPr kumimoji="0" lang="en-US" sz="1600" b="0" i="0" u="none" strike="noStrike" kern="1200" cap="none" spc="0" normalizeH="0" baseline="0" noProof="0" dirty="0">
                <a:ln>
                  <a:noFill/>
                </a:ln>
                <a:solidFill>
                  <a:srgbClr val="002060"/>
                </a:solidFill>
                <a:effectLst/>
                <a:uLnTx/>
                <a:uFillTx/>
                <a:latin typeface="Bahnschrift" panose="020B0502040204020203" pitchFamily="34" charset="0"/>
                <a:ea typeface="Calibri" panose="020F0502020204030204" pitchFamily="34" charset="0"/>
                <a:cs typeface="Arial" panose="020B0604020202020204" pitchFamily="34" charset="0"/>
              </a:rPr>
              <a:t> - Define the requirements for the iteration based on the product backlog (core, heart), customer and stakeholder feedback</a:t>
            </a:r>
            <a:endParaRPr kumimoji="0" lang="en-US" sz="1100" b="0" i="0" u="none" strike="noStrike" kern="1200" cap="none" spc="0" normalizeH="0" baseline="0" noProof="0" dirty="0">
              <a:ln>
                <a:noFill/>
              </a:ln>
              <a:solidFill>
                <a:srgbClr val="002060"/>
              </a:solidFill>
              <a:effectLst/>
              <a:uLnTx/>
              <a:uFillTx/>
              <a:latin typeface="Bahnschrift" panose="020B0502040204020203" pitchFamily="34" charset="0"/>
              <a:ea typeface="Calibri" panose="020F0502020204030204" pitchFamily="34" charset="0"/>
              <a:cs typeface="Arial" panose="020B0604020202020204" pitchFamily="34" charset="0"/>
            </a:endParaRPr>
          </a:p>
          <a:p>
            <a:pPr marL="800100" marR="0" lvl="1" indent="-342900" algn="l" defTabSz="457200" rtl="0" eaLnBrk="1" fontAlgn="auto" latinLnBrk="0" hangingPunct="1">
              <a:lnSpc>
                <a:spcPct val="107000"/>
              </a:lnSpc>
              <a:spcBef>
                <a:spcPts val="0"/>
              </a:spcBef>
              <a:spcAft>
                <a:spcPts val="800"/>
              </a:spcAft>
              <a:buClrTx/>
              <a:buSzPts val="1000"/>
              <a:buFont typeface="+mj-lt"/>
              <a:buAutoNum type="arabicPeriod"/>
              <a:tabLst>
                <a:tab pos="457200" algn="l"/>
              </a:tabLst>
              <a:defRPr/>
            </a:pPr>
            <a:r>
              <a:rPr kumimoji="0" lang="en-US" sz="1600" b="1" i="0" u="none" strike="noStrike" kern="1200" cap="none" spc="0" normalizeH="0" baseline="0" noProof="0" dirty="0">
                <a:ln>
                  <a:noFill/>
                </a:ln>
                <a:solidFill>
                  <a:srgbClr val="002060"/>
                </a:solidFill>
                <a:effectLst/>
                <a:uLnTx/>
                <a:uFillTx/>
                <a:latin typeface="Bahnschrift" panose="020B0502040204020203" pitchFamily="34" charset="0"/>
                <a:ea typeface="Calibri" panose="020F0502020204030204" pitchFamily="34" charset="0"/>
                <a:cs typeface="Arial" panose="020B0604020202020204" pitchFamily="34" charset="0"/>
              </a:rPr>
              <a:t>Development</a:t>
            </a:r>
            <a:r>
              <a:rPr kumimoji="0" lang="en-US" sz="1600" b="0" i="0" u="none" strike="noStrike" kern="1200" cap="none" spc="0" normalizeH="0" baseline="0" noProof="0" dirty="0">
                <a:ln>
                  <a:noFill/>
                </a:ln>
                <a:solidFill>
                  <a:srgbClr val="002060"/>
                </a:solidFill>
                <a:effectLst/>
                <a:uLnTx/>
                <a:uFillTx/>
                <a:latin typeface="Bahnschrift" panose="020B0502040204020203" pitchFamily="34" charset="0"/>
                <a:ea typeface="Calibri" panose="020F0502020204030204" pitchFamily="34" charset="0"/>
                <a:cs typeface="Arial" panose="020B0604020202020204" pitchFamily="34" charset="0"/>
              </a:rPr>
              <a:t> - Design and develop software based on defined requirements</a:t>
            </a:r>
            <a:endParaRPr kumimoji="0" lang="en-US" sz="1100" b="0" i="0" u="none" strike="noStrike" kern="1200" cap="none" spc="0" normalizeH="0" baseline="0" noProof="0" dirty="0">
              <a:ln>
                <a:noFill/>
              </a:ln>
              <a:solidFill>
                <a:srgbClr val="002060"/>
              </a:solidFill>
              <a:effectLst/>
              <a:uLnTx/>
              <a:uFillTx/>
              <a:latin typeface="Bahnschrift" panose="020B0502040204020203" pitchFamily="34" charset="0"/>
              <a:ea typeface="Calibri" panose="020F0502020204030204" pitchFamily="34" charset="0"/>
              <a:cs typeface="Arial" panose="020B0604020202020204" pitchFamily="34" charset="0"/>
            </a:endParaRPr>
          </a:p>
          <a:p>
            <a:pPr marL="800100" marR="0" lvl="1" indent="-342900" algn="l" defTabSz="457200" rtl="0" eaLnBrk="1" fontAlgn="auto" latinLnBrk="0" hangingPunct="1">
              <a:lnSpc>
                <a:spcPct val="107000"/>
              </a:lnSpc>
              <a:spcBef>
                <a:spcPts val="0"/>
              </a:spcBef>
              <a:spcAft>
                <a:spcPts val="800"/>
              </a:spcAft>
              <a:buClrTx/>
              <a:buSzPts val="1000"/>
              <a:buFont typeface="+mj-lt"/>
              <a:buAutoNum type="arabicPeriod"/>
              <a:tabLst>
                <a:tab pos="457200" algn="l"/>
              </a:tabLst>
              <a:defRPr/>
            </a:pPr>
            <a:r>
              <a:rPr kumimoji="0" lang="en-US" sz="1600" b="1" i="0" u="none" strike="noStrike" kern="1200" cap="none" spc="0" normalizeH="0" baseline="0" noProof="0" dirty="0">
                <a:ln>
                  <a:noFill/>
                </a:ln>
                <a:solidFill>
                  <a:srgbClr val="002060"/>
                </a:solidFill>
                <a:effectLst/>
                <a:uLnTx/>
                <a:uFillTx/>
                <a:latin typeface="Bahnschrift" panose="020B0502040204020203" pitchFamily="34" charset="0"/>
                <a:ea typeface="Calibri" panose="020F0502020204030204" pitchFamily="34" charset="0"/>
                <a:cs typeface="Arial" panose="020B0604020202020204" pitchFamily="34" charset="0"/>
              </a:rPr>
              <a:t>Testing</a:t>
            </a:r>
            <a:r>
              <a:rPr kumimoji="0" lang="en-US" sz="1600" b="0" i="0" u="none" strike="noStrike" kern="1200" cap="none" spc="0" normalizeH="0" baseline="0" noProof="0" dirty="0">
                <a:ln>
                  <a:noFill/>
                </a:ln>
                <a:solidFill>
                  <a:srgbClr val="002060"/>
                </a:solidFill>
                <a:effectLst/>
                <a:uLnTx/>
                <a:uFillTx/>
                <a:latin typeface="Bahnschrift" panose="020B0502040204020203" pitchFamily="34" charset="0"/>
                <a:ea typeface="Calibri" panose="020F0502020204030204" pitchFamily="34" charset="0"/>
                <a:cs typeface="Arial" panose="020B0604020202020204" pitchFamily="34" charset="0"/>
              </a:rPr>
              <a:t> - QA (Quality Assurance) testing, internal and external training, documentation development</a:t>
            </a:r>
            <a:endParaRPr kumimoji="0" lang="en-US" sz="1100" b="0" i="0" u="none" strike="noStrike" kern="1200" cap="none" spc="0" normalizeH="0" baseline="0" noProof="0" dirty="0">
              <a:ln>
                <a:noFill/>
              </a:ln>
              <a:solidFill>
                <a:srgbClr val="002060"/>
              </a:solidFill>
              <a:effectLst/>
              <a:uLnTx/>
              <a:uFillTx/>
              <a:latin typeface="Bahnschrift" panose="020B0502040204020203" pitchFamily="34" charset="0"/>
              <a:ea typeface="Calibri" panose="020F0502020204030204" pitchFamily="34" charset="0"/>
              <a:cs typeface="Arial" panose="020B0604020202020204" pitchFamily="34" charset="0"/>
            </a:endParaRPr>
          </a:p>
          <a:p>
            <a:pPr marL="800100" marR="0" lvl="1" indent="-342900" algn="l" defTabSz="457200" rtl="0" eaLnBrk="1" fontAlgn="auto" latinLnBrk="0" hangingPunct="1">
              <a:lnSpc>
                <a:spcPct val="107000"/>
              </a:lnSpc>
              <a:spcBef>
                <a:spcPts val="0"/>
              </a:spcBef>
              <a:spcAft>
                <a:spcPts val="800"/>
              </a:spcAft>
              <a:buClrTx/>
              <a:buSzPts val="1000"/>
              <a:buFont typeface="+mj-lt"/>
              <a:buAutoNum type="arabicPeriod"/>
              <a:tabLst>
                <a:tab pos="457200" algn="l"/>
              </a:tabLst>
              <a:defRPr/>
            </a:pPr>
            <a:r>
              <a:rPr kumimoji="0" lang="en-US" sz="1600" b="1" i="0" u="none" strike="noStrike" kern="1200" cap="none" spc="0" normalizeH="0" baseline="0" noProof="0" dirty="0">
                <a:ln>
                  <a:noFill/>
                </a:ln>
                <a:solidFill>
                  <a:srgbClr val="002060"/>
                </a:solidFill>
                <a:effectLst/>
                <a:uLnTx/>
                <a:uFillTx/>
                <a:latin typeface="Bahnschrift" panose="020B0502040204020203" pitchFamily="34" charset="0"/>
                <a:ea typeface="Calibri" panose="020F0502020204030204" pitchFamily="34" charset="0"/>
                <a:cs typeface="Arial" panose="020B0604020202020204" pitchFamily="34" charset="0"/>
              </a:rPr>
              <a:t>Delivery</a:t>
            </a:r>
            <a:r>
              <a:rPr kumimoji="0" lang="en-US" sz="1600" b="0" i="0" u="none" strike="noStrike" kern="1200" cap="none" spc="0" normalizeH="0" baseline="0" noProof="0" dirty="0">
                <a:ln>
                  <a:noFill/>
                </a:ln>
                <a:solidFill>
                  <a:srgbClr val="002060"/>
                </a:solidFill>
                <a:effectLst/>
                <a:uLnTx/>
                <a:uFillTx/>
                <a:latin typeface="Bahnschrift" panose="020B0502040204020203" pitchFamily="34" charset="0"/>
                <a:ea typeface="Calibri" panose="020F0502020204030204" pitchFamily="34" charset="0"/>
                <a:cs typeface="Arial" panose="020B0604020202020204" pitchFamily="34" charset="0"/>
              </a:rPr>
              <a:t> - Integrate and deliver the working iteration into production</a:t>
            </a:r>
            <a:endParaRPr kumimoji="0" lang="en-US" sz="1100" b="0" i="0" u="none" strike="noStrike" kern="1200" cap="none" spc="0" normalizeH="0" baseline="0" noProof="0" dirty="0">
              <a:ln>
                <a:noFill/>
              </a:ln>
              <a:solidFill>
                <a:srgbClr val="002060"/>
              </a:solidFill>
              <a:effectLst/>
              <a:uLnTx/>
              <a:uFillTx/>
              <a:latin typeface="Bahnschrift" panose="020B0502040204020203" pitchFamily="34" charset="0"/>
              <a:ea typeface="Calibri" panose="020F0502020204030204" pitchFamily="34" charset="0"/>
              <a:cs typeface="Arial" panose="020B0604020202020204" pitchFamily="34" charset="0"/>
            </a:endParaRPr>
          </a:p>
          <a:p>
            <a:pPr marL="800100" marR="0" lvl="1" indent="-342900" algn="l" defTabSz="457200" rtl="0" eaLnBrk="1" fontAlgn="auto" latinLnBrk="0" hangingPunct="1">
              <a:lnSpc>
                <a:spcPct val="107000"/>
              </a:lnSpc>
              <a:spcBef>
                <a:spcPts val="0"/>
              </a:spcBef>
              <a:spcAft>
                <a:spcPts val="800"/>
              </a:spcAft>
              <a:buClrTx/>
              <a:buSzPts val="1000"/>
              <a:buFont typeface="+mj-lt"/>
              <a:buAutoNum type="arabicPeriod"/>
              <a:tabLst>
                <a:tab pos="457200" algn="l"/>
              </a:tabLst>
              <a:defRPr/>
            </a:pPr>
            <a:r>
              <a:rPr kumimoji="0" lang="en-US" sz="1600" b="1" i="0" u="none" strike="noStrike" kern="1200" cap="none" spc="0" normalizeH="0" baseline="0" noProof="0" dirty="0">
                <a:ln>
                  <a:noFill/>
                </a:ln>
                <a:solidFill>
                  <a:srgbClr val="002060"/>
                </a:solidFill>
                <a:effectLst/>
                <a:uLnTx/>
                <a:uFillTx/>
                <a:latin typeface="Bahnschrift" panose="020B0502040204020203" pitchFamily="34" charset="0"/>
                <a:ea typeface="Calibri" panose="020F0502020204030204" pitchFamily="34" charset="0"/>
                <a:cs typeface="Arial" panose="020B0604020202020204" pitchFamily="34" charset="0"/>
              </a:rPr>
              <a:t>Feedback</a:t>
            </a:r>
            <a:r>
              <a:rPr kumimoji="0" lang="en-US" sz="1600" b="0" i="0" u="none" strike="noStrike" kern="1200" cap="none" spc="0" normalizeH="0" baseline="0" noProof="0" dirty="0">
                <a:ln>
                  <a:noFill/>
                </a:ln>
                <a:solidFill>
                  <a:srgbClr val="002060"/>
                </a:solidFill>
                <a:effectLst/>
                <a:uLnTx/>
                <a:uFillTx/>
                <a:latin typeface="Bahnschrift" panose="020B0502040204020203" pitchFamily="34" charset="0"/>
                <a:ea typeface="Calibri" panose="020F0502020204030204" pitchFamily="34" charset="0"/>
                <a:cs typeface="Arial" panose="020B0604020202020204" pitchFamily="34" charset="0"/>
              </a:rPr>
              <a:t> - Accept customer and stakeholder feedback and work it into the requirements of the next iteration</a:t>
            </a:r>
            <a:endParaRPr kumimoji="0" lang="en-US" sz="1100" b="0" i="0" u="none" strike="noStrike" kern="1200" cap="none" spc="0" normalizeH="0" baseline="0" noProof="0" dirty="0">
              <a:ln>
                <a:noFill/>
              </a:ln>
              <a:solidFill>
                <a:srgbClr val="002060"/>
              </a:solidFill>
              <a:effectLst/>
              <a:uLnTx/>
              <a:uFillTx/>
              <a:latin typeface="Bahnschrift" panose="020B0502040204020203" pitchFamily="34" charset="0"/>
              <a:ea typeface="Calibri" panose="020F050202020403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3B8AD965-53E6-40DF-A1F9-07BAFF610061}"/>
              </a:ext>
            </a:extLst>
          </p:cNvPr>
          <p:cNvPicPr>
            <a:picLocks noChangeAspect="1"/>
          </p:cNvPicPr>
          <p:nvPr/>
        </p:nvPicPr>
        <p:blipFill rotWithShape="1">
          <a:blip r:embed="rId2"/>
          <a:srcRect l="20923" r="23122"/>
          <a:stretch/>
        </p:blipFill>
        <p:spPr>
          <a:xfrm>
            <a:off x="7746611" y="1699260"/>
            <a:ext cx="4134508" cy="3694506"/>
          </a:xfrm>
          <a:prstGeom prst="rect">
            <a:avLst/>
          </a:prstGeom>
        </p:spPr>
      </p:pic>
    </p:spTree>
    <p:extLst>
      <p:ext uri="{BB962C8B-B14F-4D97-AF65-F5344CB8AC3E}">
        <p14:creationId xmlns:p14="http://schemas.microsoft.com/office/powerpoint/2010/main" val="35338193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A55A8F8-37F3-4A75-962B-90419BF07D2E}"/>
              </a:ext>
            </a:extLst>
          </p:cNvPr>
          <p:cNvPicPr>
            <a:picLocks noChangeAspect="1"/>
          </p:cNvPicPr>
          <p:nvPr/>
        </p:nvPicPr>
        <p:blipFill rotWithShape="1">
          <a:blip r:embed="rId2">
            <a:extLst>
              <a:ext uri="{28A0092B-C50C-407E-A947-70E740481C1C}">
                <a14:useLocalDpi xmlns:a14="http://schemas.microsoft.com/office/drawing/2010/main" val="0"/>
              </a:ext>
            </a:extLst>
          </a:blip>
          <a:srcRect t="4934"/>
          <a:stretch/>
        </p:blipFill>
        <p:spPr>
          <a:xfrm>
            <a:off x="298442" y="295751"/>
            <a:ext cx="7649848" cy="4090737"/>
          </a:xfrm>
          <a:prstGeom prst="rect">
            <a:avLst/>
          </a:prstGeom>
        </p:spPr>
      </p:pic>
      <p:pic>
        <p:nvPicPr>
          <p:cNvPr id="4" name="Picture 3">
            <a:extLst>
              <a:ext uri="{FF2B5EF4-FFF2-40B4-BE49-F238E27FC236}">
                <a16:creationId xmlns:a16="http://schemas.microsoft.com/office/drawing/2014/main" id="{832D88B6-A0B4-478C-892F-34E3225C70E4}"/>
              </a:ext>
            </a:extLst>
          </p:cNvPr>
          <p:cNvPicPr>
            <a:picLocks noChangeAspect="1"/>
          </p:cNvPicPr>
          <p:nvPr/>
        </p:nvPicPr>
        <p:blipFill rotWithShape="1">
          <a:blip r:embed="rId3"/>
          <a:srcRect l="12125" r="7558" b="21517"/>
          <a:stretch/>
        </p:blipFill>
        <p:spPr>
          <a:xfrm>
            <a:off x="7158892" y="3873107"/>
            <a:ext cx="4587630" cy="2367273"/>
          </a:xfrm>
          <a:prstGeom prst="rect">
            <a:avLst/>
          </a:prstGeom>
        </p:spPr>
      </p:pic>
    </p:spTree>
    <p:extLst>
      <p:ext uri="{BB962C8B-B14F-4D97-AF65-F5344CB8AC3E}">
        <p14:creationId xmlns:p14="http://schemas.microsoft.com/office/powerpoint/2010/main" val="28243574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B2F7A2-5F07-2BA4-2153-05AFC3263483}"/>
              </a:ext>
            </a:extLst>
          </p:cNvPr>
          <p:cNvPicPr>
            <a:picLocks noChangeAspect="1"/>
          </p:cNvPicPr>
          <p:nvPr/>
        </p:nvPicPr>
        <p:blipFill rotWithShape="1">
          <a:blip r:embed="rId2"/>
          <a:srcRect l="1952" t="-1153" r="62946" b="95088"/>
          <a:stretch/>
        </p:blipFill>
        <p:spPr>
          <a:xfrm>
            <a:off x="373380" y="236220"/>
            <a:ext cx="3284220" cy="415992"/>
          </a:xfrm>
          <a:prstGeom prst="rect">
            <a:avLst/>
          </a:prstGeom>
        </p:spPr>
      </p:pic>
      <p:sp>
        <p:nvSpPr>
          <p:cNvPr id="5" name="TextBox 4">
            <a:extLst>
              <a:ext uri="{FF2B5EF4-FFF2-40B4-BE49-F238E27FC236}">
                <a16:creationId xmlns:a16="http://schemas.microsoft.com/office/drawing/2014/main" id="{32821527-2772-0EF0-2716-43F10CEC9CBF}"/>
              </a:ext>
            </a:extLst>
          </p:cNvPr>
          <p:cNvSpPr txBox="1"/>
          <p:nvPr/>
        </p:nvSpPr>
        <p:spPr>
          <a:xfrm>
            <a:off x="1545256" y="1351330"/>
            <a:ext cx="6745304" cy="3262432"/>
          </a:xfrm>
          <a:prstGeom prst="rect">
            <a:avLst/>
          </a:prstGeom>
          <a:noFill/>
        </p:spPr>
        <p:txBody>
          <a:bodyPr wrap="square">
            <a:spAutoFit/>
          </a:bodyPr>
          <a:lstStyle/>
          <a:p>
            <a:endParaRPr lang="en-US" sz="1600" dirty="0">
              <a:latin typeface="Berlin Sans FB" panose="020E0602020502020306" pitchFamily="34" charset="0"/>
            </a:endParaRPr>
          </a:p>
          <a:p>
            <a:pPr marL="800100" lvl="1" indent="-342900">
              <a:spcAft>
                <a:spcPts val="1200"/>
              </a:spcAft>
              <a:buFont typeface="+mj-lt"/>
              <a:buAutoNum type="arabicPeriod"/>
            </a:pPr>
            <a:r>
              <a:rPr lang="en-US" sz="1600" dirty="0">
                <a:solidFill>
                  <a:srgbClr val="0070C0"/>
                </a:solidFill>
                <a:latin typeface="Berlin Sans FB" panose="020E0602020502020306" pitchFamily="34" charset="0"/>
              </a:rPr>
              <a:t>IT risk is often linked to information security, which is the protecting of information and information systems (including smart technology)from risk events. </a:t>
            </a:r>
          </a:p>
          <a:p>
            <a:pPr marL="800100" lvl="1" indent="-342900">
              <a:spcAft>
                <a:spcPts val="1200"/>
              </a:spcAft>
              <a:buFont typeface="+mj-lt"/>
              <a:buAutoNum type="arabicPeriod"/>
            </a:pPr>
            <a:r>
              <a:rPr lang="en-US" sz="1600" dirty="0">
                <a:solidFill>
                  <a:srgbClr val="0070C0"/>
                </a:solidFill>
                <a:latin typeface="Berlin Sans FB" panose="020E0602020502020306" pitchFamily="34" charset="0"/>
              </a:rPr>
              <a:t>Information security controls are based on risk, and risk is the primary justification used to support information security activities.</a:t>
            </a:r>
          </a:p>
          <a:p>
            <a:pPr marL="800100" lvl="1" indent="-342900">
              <a:spcAft>
                <a:spcPts val="1200"/>
              </a:spcAft>
              <a:buFont typeface="+mj-lt"/>
              <a:buAutoNum type="arabicPeriod"/>
            </a:pPr>
            <a:r>
              <a:rPr lang="en-US" sz="1600" dirty="0">
                <a:solidFill>
                  <a:srgbClr val="002060"/>
                </a:solidFill>
                <a:latin typeface="Berlin Sans FB" panose="020E0602020502020306" pitchFamily="34" charset="0"/>
              </a:rPr>
              <a:t>Some enterprises have a mature risk-management process that is able to quantify risk with a high level of accuracy. </a:t>
            </a:r>
          </a:p>
          <a:p>
            <a:pPr marL="800100" lvl="1" indent="-342900">
              <a:spcAft>
                <a:spcPts val="1200"/>
              </a:spcAft>
              <a:buFont typeface="+mj-lt"/>
              <a:buAutoNum type="arabicPeriod"/>
            </a:pPr>
            <a:r>
              <a:rPr lang="en-US" sz="1600" dirty="0">
                <a:solidFill>
                  <a:srgbClr val="002060"/>
                </a:solidFill>
                <a:latin typeface="Berlin Sans FB" panose="020E0602020502020306" pitchFamily="34" charset="0"/>
              </a:rPr>
              <a:t>Often, the predicted impact of an undesired event occur results in only direct, immediate effects, whereas actual events are discovered long after the event has occurred (such as damage to reputation).</a:t>
            </a:r>
          </a:p>
        </p:txBody>
      </p:sp>
      <p:sp>
        <p:nvSpPr>
          <p:cNvPr id="4" name="TextBox 3">
            <a:extLst>
              <a:ext uri="{FF2B5EF4-FFF2-40B4-BE49-F238E27FC236}">
                <a16:creationId xmlns:a16="http://schemas.microsoft.com/office/drawing/2014/main" id="{ABD32782-6E09-0953-B07C-E0C53C2C7BD0}"/>
              </a:ext>
            </a:extLst>
          </p:cNvPr>
          <p:cNvSpPr txBox="1"/>
          <p:nvPr/>
        </p:nvSpPr>
        <p:spPr>
          <a:xfrm>
            <a:off x="1630680" y="951220"/>
            <a:ext cx="6827520" cy="400110"/>
          </a:xfrm>
          <a:prstGeom prst="rect">
            <a:avLst/>
          </a:prstGeom>
          <a:noFill/>
        </p:spPr>
        <p:txBody>
          <a:bodyPr wrap="square">
            <a:spAutoFit/>
          </a:bodyPr>
          <a:lstStyle/>
          <a:p>
            <a:r>
              <a:rPr lang="en-US" sz="2000" dirty="0">
                <a:solidFill>
                  <a:srgbClr val="C00000"/>
                </a:solidFill>
                <a:latin typeface="Berlin Sans FB Demi" panose="020E0802020502020306" pitchFamily="34" charset="0"/>
              </a:rPr>
              <a:t>Information Security Concepts, Frameworks and Standards</a:t>
            </a:r>
          </a:p>
        </p:txBody>
      </p:sp>
    </p:spTree>
    <p:extLst>
      <p:ext uri="{BB962C8B-B14F-4D97-AF65-F5344CB8AC3E}">
        <p14:creationId xmlns:p14="http://schemas.microsoft.com/office/powerpoint/2010/main" val="42740508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A3D6CD-AB79-496C-91A7-0A7942C842BD}"/>
              </a:ext>
            </a:extLst>
          </p:cNvPr>
          <p:cNvPicPr>
            <a:picLocks noChangeAspect="1"/>
          </p:cNvPicPr>
          <p:nvPr/>
        </p:nvPicPr>
        <p:blipFill rotWithShape="1">
          <a:blip r:embed="rId2">
            <a:extLst>
              <a:ext uri="{28A0092B-C50C-407E-A947-70E740481C1C}">
                <a14:useLocalDpi xmlns:a14="http://schemas.microsoft.com/office/drawing/2010/main" val="0"/>
              </a:ext>
            </a:extLst>
          </a:blip>
          <a:srcRect b="5249"/>
          <a:stretch/>
        </p:blipFill>
        <p:spPr>
          <a:xfrm>
            <a:off x="0" y="0"/>
            <a:ext cx="12192000" cy="6367849"/>
          </a:xfrm>
          <a:prstGeom prst="rect">
            <a:avLst/>
          </a:prstGeom>
        </p:spPr>
      </p:pic>
    </p:spTree>
    <p:extLst>
      <p:ext uri="{BB962C8B-B14F-4D97-AF65-F5344CB8AC3E}">
        <p14:creationId xmlns:p14="http://schemas.microsoft.com/office/powerpoint/2010/main" val="14827589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1\08. Authentication_factors (1-8-2019 10-46-59 AM)\08. Authentication_factors 017.jpg"/>
          <p:cNvPicPr>
            <a:picLocks noChangeAspect="1" noChangeArrowheads="1"/>
          </p:cNvPicPr>
          <p:nvPr/>
        </p:nvPicPr>
        <p:blipFill rotWithShape="1">
          <a:blip r:embed="rId2">
            <a:extLst>
              <a:ext uri="{28A0092B-C50C-407E-A947-70E740481C1C}">
                <a14:useLocalDpi xmlns:a14="http://schemas.microsoft.com/office/drawing/2010/main" val="0"/>
              </a:ext>
            </a:extLst>
          </a:blip>
          <a:srcRect b="6084"/>
          <a:stretch/>
        </p:blipFill>
        <p:spPr bwMode="auto">
          <a:xfrm>
            <a:off x="0" y="0"/>
            <a:ext cx="12192000" cy="63760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91292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A64359-7CC6-4507-812E-BA07CB261A38}"/>
              </a:ext>
            </a:extLst>
          </p:cNvPr>
          <p:cNvPicPr>
            <a:picLocks noChangeAspect="1"/>
          </p:cNvPicPr>
          <p:nvPr/>
        </p:nvPicPr>
        <p:blipFill rotWithShape="1">
          <a:blip r:embed="rId2">
            <a:extLst>
              <a:ext uri="{28A0092B-C50C-407E-A947-70E740481C1C}">
                <a14:useLocalDpi xmlns:a14="http://schemas.microsoft.com/office/drawing/2010/main" val="0"/>
              </a:ext>
            </a:extLst>
          </a:blip>
          <a:srcRect b="7127"/>
          <a:stretch/>
        </p:blipFill>
        <p:spPr>
          <a:xfrm>
            <a:off x="0" y="0"/>
            <a:ext cx="12192000" cy="5585791"/>
          </a:xfrm>
          <a:prstGeom prst="rect">
            <a:avLst/>
          </a:prstGeom>
        </p:spPr>
      </p:pic>
      <p:sp>
        <p:nvSpPr>
          <p:cNvPr id="2" name="Rectangle 1"/>
          <p:cNvSpPr/>
          <p:nvPr/>
        </p:nvSpPr>
        <p:spPr>
          <a:xfrm>
            <a:off x="726205" y="5774327"/>
            <a:ext cx="10491692" cy="738664"/>
          </a:xfrm>
          <a:prstGeom prst="rect">
            <a:avLst/>
          </a:prstGeom>
        </p:spPr>
        <p:txBody>
          <a:bodyPr wrap="square">
            <a:spAutoFit/>
          </a:bodyPr>
          <a:lstStyle/>
          <a:p>
            <a:pPr marL="285750" marR="0" lvl="0" indent="-285750" algn="l" defTabSz="457200" rtl="0" eaLnBrk="1" fontAlgn="auto" latinLnBrk="0" hangingPunct="1">
              <a:lnSpc>
                <a:spcPct val="100000"/>
              </a:lnSpc>
              <a:spcBef>
                <a:spcPts val="0"/>
              </a:spcBef>
              <a:spcAft>
                <a:spcPts val="0"/>
              </a:spcAft>
              <a:buClrTx/>
              <a:buSzTx/>
              <a:buFont typeface="Wingdings" pitchFamily="2" charset="2"/>
              <a:buChar char="q"/>
              <a:tabLst/>
              <a:defRPr/>
            </a:pPr>
            <a:r>
              <a:rPr kumimoji="0" lang="en-US" sz="1400" b="0" i="0" u="none" strike="noStrike" kern="1200" cap="none" spc="0" normalizeH="0" baseline="0" noProof="0" dirty="0">
                <a:ln>
                  <a:noFill/>
                </a:ln>
                <a:solidFill>
                  <a:srgbClr val="000000"/>
                </a:solidFill>
                <a:effectLst/>
                <a:uLnTx/>
                <a:uFillTx/>
                <a:latin typeface="Bell MT" pitchFamily="18" charset="0"/>
                <a:ea typeface="+mn-ea"/>
                <a:cs typeface="+mn-cs"/>
              </a:rPr>
              <a:t>One of the best ways to create a strong password is to use a passphrase instead.</a:t>
            </a:r>
          </a:p>
          <a:p>
            <a:pPr marL="285750" marR="0" lvl="0" indent="-285750" algn="l" defTabSz="457200" rtl="0" eaLnBrk="1" fontAlgn="auto" latinLnBrk="0" hangingPunct="1">
              <a:lnSpc>
                <a:spcPct val="100000"/>
              </a:lnSpc>
              <a:spcBef>
                <a:spcPts val="0"/>
              </a:spcBef>
              <a:spcAft>
                <a:spcPts val="0"/>
              </a:spcAft>
              <a:buClrTx/>
              <a:buSzTx/>
              <a:buFont typeface="Wingdings" pitchFamily="2" charset="2"/>
              <a:buChar char="q"/>
              <a:tabLst/>
              <a:defRPr/>
            </a:pPr>
            <a:r>
              <a:rPr kumimoji="0" lang="en-US" sz="1400" b="0" i="0" u="none" strike="noStrike" kern="1200" cap="none" spc="0" normalizeH="0" baseline="0" noProof="0" dirty="0">
                <a:ln>
                  <a:noFill/>
                </a:ln>
                <a:solidFill>
                  <a:srgbClr val="000000"/>
                </a:solidFill>
                <a:effectLst/>
                <a:uLnTx/>
                <a:uFillTx/>
                <a:latin typeface="Bell MT" pitchFamily="18" charset="0"/>
                <a:ea typeface="+mn-ea"/>
                <a:cs typeface="+mn-cs"/>
              </a:rPr>
              <a:t>For example, you might choose the easily memorable phrase chocolate-covered strawberries are for me, and write it like this instead.</a:t>
            </a:r>
          </a:p>
          <a:p>
            <a:pPr marL="285750" marR="0" lvl="0" indent="-285750" algn="l" defTabSz="457200" rtl="0" eaLnBrk="1" fontAlgn="auto" latinLnBrk="0" hangingPunct="1">
              <a:lnSpc>
                <a:spcPct val="100000"/>
              </a:lnSpc>
              <a:spcBef>
                <a:spcPts val="0"/>
              </a:spcBef>
              <a:spcAft>
                <a:spcPts val="0"/>
              </a:spcAft>
              <a:buClrTx/>
              <a:buSzTx/>
              <a:buFont typeface="Wingdings" pitchFamily="2" charset="2"/>
              <a:buChar char="q"/>
              <a:tabLst/>
              <a:defRPr/>
            </a:pPr>
            <a:r>
              <a:rPr kumimoji="0" lang="en-US" sz="1400" b="0" i="0" u="none" strike="noStrike" kern="1200" cap="none" spc="0" normalizeH="0" baseline="0" noProof="0" dirty="0">
                <a:ln>
                  <a:noFill/>
                </a:ln>
                <a:solidFill>
                  <a:srgbClr val="000000"/>
                </a:solidFill>
                <a:effectLst/>
                <a:uLnTx/>
                <a:uFillTx/>
                <a:latin typeface="Bell MT" pitchFamily="18" charset="0"/>
                <a:ea typeface="+mn-ea"/>
                <a:cs typeface="+mn-cs"/>
              </a:rPr>
              <a:t>That gives you a strong complex password that is easy to remember and hard to guess.</a:t>
            </a:r>
            <a:endParaRPr kumimoji="0" lang="en-GB" sz="1400" b="0" i="0" u="none" strike="noStrike" kern="1200" cap="none" spc="0" normalizeH="0" baseline="0" noProof="0" dirty="0">
              <a:ln>
                <a:noFill/>
              </a:ln>
              <a:solidFill>
                <a:srgbClr val="000000"/>
              </a:solidFill>
              <a:effectLst/>
              <a:uLnTx/>
              <a:uFillTx/>
              <a:latin typeface="Bell MT" pitchFamily="18" charset="0"/>
              <a:ea typeface="+mn-ea"/>
              <a:cs typeface="+mn-cs"/>
            </a:endParaRPr>
          </a:p>
        </p:txBody>
      </p:sp>
    </p:spTree>
    <p:extLst>
      <p:ext uri="{BB962C8B-B14F-4D97-AF65-F5344CB8AC3E}">
        <p14:creationId xmlns:p14="http://schemas.microsoft.com/office/powerpoint/2010/main" val="12851567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1\08. Authentication_factors (1-8-2019 10-46-59 AM)\08. Authentication_factors 051.jpg"/>
          <p:cNvPicPr>
            <a:picLocks noChangeAspect="1" noChangeArrowheads="1"/>
          </p:cNvPicPr>
          <p:nvPr/>
        </p:nvPicPr>
        <p:blipFill rotWithShape="1">
          <a:blip r:embed="rId2">
            <a:extLst>
              <a:ext uri="{28A0092B-C50C-407E-A947-70E740481C1C}">
                <a14:useLocalDpi xmlns:a14="http://schemas.microsoft.com/office/drawing/2010/main" val="0"/>
              </a:ext>
            </a:extLst>
          </a:blip>
          <a:srcRect b="5752"/>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33782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AD06EF-E992-4458-918D-18A57353DE5E}"/>
              </a:ext>
            </a:extLst>
          </p:cNvPr>
          <p:cNvPicPr>
            <a:picLocks noChangeAspect="1"/>
          </p:cNvPicPr>
          <p:nvPr/>
        </p:nvPicPr>
        <p:blipFill rotWithShape="1">
          <a:blip r:embed="rId2">
            <a:extLst>
              <a:ext uri="{28A0092B-C50C-407E-A947-70E740481C1C}">
                <a14:useLocalDpi xmlns:a14="http://schemas.microsoft.com/office/drawing/2010/main" val="0"/>
              </a:ext>
            </a:extLst>
          </a:blip>
          <a:srcRect b="4741"/>
          <a:stretch/>
        </p:blipFill>
        <p:spPr>
          <a:xfrm>
            <a:off x="0" y="0"/>
            <a:ext cx="12192000" cy="6858000"/>
          </a:xfrm>
          <a:prstGeom prst="rect">
            <a:avLst/>
          </a:prstGeom>
        </p:spPr>
      </p:pic>
    </p:spTree>
    <p:extLst>
      <p:ext uri="{BB962C8B-B14F-4D97-AF65-F5344CB8AC3E}">
        <p14:creationId xmlns:p14="http://schemas.microsoft.com/office/powerpoint/2010/main" val="29625769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CFF138-BA82-49F0-A5F6-CEC22F808976}"/>
              </a:ext>
            </a:extLst>
          </p:cNvPr>
          <p:cNvPicPr>
            <a:picLocks noChangeAspect="1"/>
          </p:cNvPicPr>
          <p:nvPr/>
        </p:nvPicPr>
        <p:blipFill rotWithShape="1">
          <a:blip r:embed="rId2">
            <a:extLst>
              <a:ext uri="{28A0092B-C50C-407E-A947-70E740481C1C}">
                <a14:useLocalDpi xmlns:a14="http://schemas.microsoft.com/office/drawing/2010/main" val="0"/>
              </a:ext>
            </a:extLst>
          </a:blip>
          <a:srcRect l="217" t="-15746" r="-217" b="5602"/>
          <a:stretch/>
        </p:blipFill>
        <p:spPr>
          <a:xfrm>
            <a:off x="26504" y="-699659"/>
            <a:ext cx="12192000" cy="4192502"/>
          </a:xfrm>
          <a:prstGeom prst="rect">
            <a:avLst/>
          </a:prstGeom>
        </p:spPr>
      </p:pic>
      <p:sp>
        <p:nvSpPr>
          <p:cNvPr id="2" name="Rectangle 1"/>
          <p:cNvSpPr/>
          <p:nvPr/>
        </p:nvSpPr>
        <p:spPr>
          <a:xfrm>
            <a:off x="718482" y="3584713"/>
            <a:ext cx="10097799" cy="2677656"/>
          </a:xfrm>
          <a:prstGeom prst="rect">
            <a:avLst/>
          </a:prstGeom>
        </p:spPr>
        <p:txBody>
          <a:bodyPr wrap="square">
            <a:spAutoFit/>
          </a:bodyPr>
          <a:lstStyle/>
          <a:p>
            <a:pPr marL="285750" marR="0" lvl="0" indent="-285750" algn="l" defTabSz="457200" rtl="0" eaLnBrk="1" fontAlgn="auto" latinLnBrk="0" hangingPunct="1">
              <a:lnSpc>
                <a:spcPct val="100000"/>
              </a:lnSpc>
              <a:spcBef>
                <a:spcPts val="0"/>
              </a:spcBef>
              <a:spcAft>
                <a:spcPts val="0"/>
              </a:spcAft>
              <a:buClrTx/>
              <a:buSzTx/>
              <a:buFont typeface="Wingdings" pitchFamily="2" charset="2"/>
              <a:buChar char="q"/>
              <a:tabLst/>
              <a:defRPr/>
            </a:pPr>
            <a:r>
              <a:rPr kumimoji="0" lang="en-US" sz="1400" b="0" i="0" u="none" strike="noStrike" kern="1200" cap="none" spc="0" normalizeH="0" baseline="0" noProof="0" dirty="0">
                <a:ln>
                  <a:noFill/>
                </a:ln>
                <a:solidFill>
                  <a:srgbClr val="000000"/>
                </a:solidFill>
                <a:effectLst/>
                <a:uLnTx/>
                <a:uFillTx/>
                <a:latin typeface="Bell MT" pitchFamily="18" charset="0"/>
                <a:ea typeface="+mn-ea"/>
                <a:cs typeface="+mn-cs"/>
              </a:rPr>
              <a:t>The strength of techniques used by each of these authentication factors may be measured by the number of errors that it generates.</a:t>
            </a:r>
          </a:p>
          <a:p>
            <a:pPr marL="285750" marR="0" lvl="0" indent="-285750" algn="l" defTabSz="457200" rtl="0" eaLnBrk="1" fontAlgn="auto" latinLnBrk="0" hangingPunct="1">
              <a:lnSpc>
                <a:spcPct val="100000"/>
              </a:lnSpc>
              <a:spcBef>
                <a:spcPts val="0"/>
              </a:spcBef>
              <a:spcAft>
                <a:spcPts val="0"/>
              </a:spcAft>
              <a:buClrTx/>
              <a:buSzTx/>
              <a:buFont typeface="Wingdings" pitchFamily="2" charset="2"/>
              <a:buChar char="q"/>
              <a:tabLst/>
              <a:defRPr/>
            </a:pPr>
            <a:r>
              <a:rPr kumimoji="0" lang="en-US" sz="1400" b="0" i="0" u="none" strike="noStrike" kern="1200" cap="none" spc="0" normalizeH="0" baseline="0" noProof="0" dirty="0">
                <a:ln>
                  <a:noFill/>
                </a:ln>
                <a:solidFill>
                  <a:srgbClr val="000000"/>
                </a:solidFill>
                <a:effectLst/>
                <a:uLnTx/>
                <a:uFillTx/>
                <a:latin typeface="Bell MT" pitchFamily="18" charset="0"/>
                <a:ea typeface="+mn-ea"/>
                <a:cs typeface="+mn-cs"/>
              </a:rPr>
              <a:t>There are two basic types of errors in authentication systems.</a:t>
            </a:r>
          </a:p>
          <a:p>
            <a:pPr marL="742950" marR="0" lvl="1" indent="-285750" algn="l" defTabSz="457200" rtl="0" eaLnBrk="1" fontAlgn="auto" latinLnBrk="0" hangingPunct="1">
              <a:lnSpc>
                <a:spcPct val="100000"/>
              </a:lnSpc>
              <a:spcBef>
                <a:spcPts val="0"/>
              </a:spcBef>
              <a:spcAft>
                <a:spcPts val="0"/>
              </a:spcAft>
              <a:buClrTx/>
              <a:buSzTx/>
              <a:buFont typeface="Wingdings" pitchFamily="2" charset="2"/>
              <a:buChar char="v"/>
              <a:tabLst/>
              <a:defRPr/>
            </a:pPr>
            <a:r>
              <a:rPr kumimoji="0" lang="en-US" sz="1400" b="0" i="0" u="none" strike="noStrike" kern="1200" cap="none" spc="0" normalizeH="0" baseline="0" noProof="0" dirty="0">
                <a:ln>
                  <a:noFill/>
                </a:ln>
                <a:solidFill>
                  <a:srgbClr val="000000"/>
                </a:solidFill>
                <a:effectLst/>
                <a:uLnTx/>
                <a:uFillTx/>
                <a:latin typeface="Bell MT" pitchFamily="18" charset="0"/>
                <a:ea typeface="+mn-ea"/>
                <a:cs typeface="+mn-cs"/>
              </a:rPr>
              <a:t>False acceptance errors occur when the system misidentified an individual as an authorized user and grants access that should be denied.</a:t>
            </a:r>
          </a:p>
          <a:p>
            <a:pPr marL="742950" marR="0" lvl="1" indent="-285750" algn="l" defTabSz="457200" rtl="0" eaLnBrk="1" fontAlgn="auto" latinLnBrk="0" hangingPunct="1">
              <a:lnSpc>
                <a:spcPct val="100000"/>
              </a:lnSpc>
              <a:spcBef>
                <a:spcPts val="0"/>
              </a:spcBef>
              <a:spcAft>
                <a:spcPts val="0"/>
              </a:spcAft>
              <a:buClrTx/>
              <a:buSzTx/>
              <a:buFont typeface="Wingdings" pitchFamily="2" charset="2"/>
              <a:buChar char="v"/>
              <a:tabLst/>
              <a:defRPr/>
            </a:pPr>
            <a:r>
              <a:rPr kumimoji="0" lang="en-US" sz="1400" b="0" i="0" u="none" strike="noStrike" kern="1200" cap="none" spc="0" normalizeH="0" baseline="0" noProof="0" dirty="0">
                <a:ln>
                  <a:noFill/>
                </a:ln>
                <a:solidFill>
                  <a:srgbClr val="000000"/>
                </a:solidFill>
                <a:effectLst/>
                <a:uLnTx/>
                <a:uFillTx/>
                <a:latin typeface="Bell MT" pitchFamily="18" charset="0"/>
                <a:ea typeface="+mn-ea"/>
                <a:cs typeface="+mn-cs"/>
              </a:rPr>
              <a:t>This is a very serious error, because it allows unauthorized access to the system, device, information, or facility.</a:t>
            </a:r>
          </a:p>
          <a:p>
            <a:pPr marL="742950" marR="0" lvl="1" indent="-285750" algn="l" defTabSz="457200" rtl="0" eaLnBrk="1" fontAlgn="auto" latinLnBrk="0" hangingPunct="1">
              <a:lnSpc>
                <a:spcPct val="100000"/>
              </a:lnSpc>
              <a:spcBef>
                <a:spcPts val="0"/>
              </a:spcBef>
              <a:spcAft>
                <a:spcPts val="0"/>
              </a:spcAft>
              <a:buClrTx/>
              <a:buSzTx/>
              <a:buFont typeface="Wingdings" pitchFamily="2" charset="2"/>
              <a:buChar char="v"/>
              <a:tabLst/>
              <a:defRPr/>
            </a:pPr>
            <a:r>
              <a:rPr kumimoji="0" lang="en-US" sz="1400" b="0" i="0" u="none" strike="noStrike" kern="1200" cap="none" spc="0" normalizeH="0" baseline="0" noProof="0" dirty="0">
                <a:ln>
                  <a:noFill/>
                </a:ln>
                <a:solidFill>
                  <a:srgbClr val="000000"/>
                </a:solidFill>
                <a:effectLst/>
                <a:uLnTx/>
                <a:uFillTx/>
                <a:latin typeface="Bell MT" pitchFamily="18" charset="0"/>
                <a:ea typeface="+mn-ea"/>
                <a:cs typeface="+mn-cs"/>
              </a:rPr>
              <a:t>The frequency of these errors is measured by the false acceptance rate, or FAR.</a:t>
            </a:r>
          </a:p>
          <a:p>
            <a:pPr marL="742950" marR="0" lvl="1" indent="-285750" algn="l" defTabSz="457200" rtl="0" eaLnBrk="1" fontAlgn="auto" latinLnBrk="0" hangingPunct="1">
              <a:lnSpc>
                <a:spcPct val="100000"/>
              </a:lnSpc>
              <a:spcBef>
                <a:spcPts val="0"/>
              </a:spcBef>
              <a:spcAft>
                <a:spcPts val="0"/>
              </a:spcAft>
              <a:buClrTx/>
              <a:buSzTx/>
              <a:buFont typeface="Wingdings" pitchFamily="2" charset="2"/>
              <a:buChar char="v"/>
              <a:tabLst/>
              <a:defRPr/>
            </a:pPr>
            <a:endParaRPr kumimoji="0" lang="en-US" sz="1400" b="0" i="0" u="none" strike="noStrike" kern="1200" cap="none" spc="0" normalizeH="0" baseline="0" noProof="0" dirty="0">
              <a:ln>
                <a:noFill/>
              </a:ln>
              <a:solidFill>
                <a:srgbClr val="000000"/>
              </a:solidFill>
              <a:effectLst/>
              <a:uLnTx/>
              <a:uFillTx/>
              <a:latin typeface="Bell MT" pitchFamily="18" charset="0"/>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Wingdings" pitchFamily="2" charset="2"/>
              <a:buChar char="v"/>
              <a:tabLst/>
              <a:defRPr/>
            </a:pPr>
            <a:r>
              <a:rPr kumimoji="0" lang="en-US" sz="1400" b="0" i="0" u="none" strike="noStrike" kern="1200" cap="none" spc="0" normalizeH="0" baseline="0" noProof="0" dirty="0">
                <a:ln>
                  <a:noFill/>
                </a:ln>
                <a:solidFill>
                  <a:srgbClr val="000000"/>
                </a:solidFill>
                <a:effectLst/>
                <a:uLnTx/>
                <a:uFillTx/>
                <a:latin typeface="Bell MT" pitchFamily="18" charset="0"/>
                <a:ea typeface="+mn-ea"/>
                <a:cs typeface="+mn-cs"/>
              </a:rPr>
              <a:t>False rejection errors occur when an authorized individual attempts to gain access to a system, but is incorrectly denied access by that system.</a:t>
            </a:r>
          </a:p>
          <a:p>
            <a:pPr marL="742950" marR="0" lvl="1" indent="-285750" algn="l" defTabSz="457200" rtl="0" eaLnBrk="1" fontAlgn="auto" latinLnBrk="0" hangingPunct="1">
              <a:lnSpc>
                <a:spcPct val="100000"/>
              </a:lnSpc>
              <a:spcBef>
                <a:spcPts val="0"/>
              </a:spcBef>
              <a:spcAft>
                <a:spcPts val="0"/>
              </a:spcAft>
              <a:buClrTx/>
              <a:buSzTx/>
              <a:buFont typeface="Wingdings" pitchFamily="2" charset="2"/>
              <a:buChar char="v"/>
              <a:tabLst/>
              <a:defRPr/>
            </a:pPr>
            <a:r>
              <a:rPr kumimoji="0" lang="en-US" sz="1400" b="0" i="0" u="none" strike="noStrike" kern="1200" cap="none" spc="0" normalizeH="0" baseline="0" noProof="0" dirty="0">
                <a:ln>
                  <a:noFill/>
                </a:ln>
                <a:solidFill>
                  <a:srgbClr val="000000"/>
                </a:solidFill>
                <a:effectLst/>
                <a:uLnTx/>
                <a:uFillTx/>
                <a:latin typeface="Bell MT" pitchFamily="18" charset="0"/>
                <a:ea typeface="+mn-ea"/>
                <a:cs typeface="+mn-cs"/>
              </a:rPr>
              <a:t>This is not as serious as a false acceptance, because it does not jeopardize confidentiality or integrity. But it is still a serious error, because it jeopardizes the availability of those resources to authorized users. The frequency of these errors</a:t>
            </a:r>
          </a:p>
          <a:p>
            <a:pPr marL="742950" marR="0" lvl="1" indent="-285750" algn="l" defTabSz="457200" rtl="0" eaLnBrk="1" fontAlgn="auto" latinLnBrk="0" hangingPunct="1">
              <a:lnSpc>
                <a:spcPct val="100000"/>
              </a:lnSpc>
              <a:spcBef>
                <a:spcPts val="0"/>
              </a:spcBef>
              <a:spcAft>
                <a:spcPts val="0"/>
              </a:spcAft>
              <a:buClrTx/>
              <a:buSzTx/>
              <a:buFont typeface="Wingdings" pitchFamily="2" charset="2"/>
              <a:buChar char="v"/>
              <a:tabLst/>
              <a:defRPr/>
            </a:pPr>
            <a:r>
              <a:rPr kumimoji="0" lang="en-US" sz="1400" b="0" i="0" u="none" strike="noStrike" kern="1200" cap="none" spc="0" normalizeH="0" baseline="0" noProof="0" dirty="0">
                <a:ln>
                  <a:noFill/>
                </a:ln>
                <a:solidFill>
                  <a:srgbClr val="000000"/>
                </a:solidFill>
                <a:effectLst/>
                <a:uLnTx/>
                <a:uFillTx/>
                <a:latin typeface="Bell MT" pitchFamily="18" charset="0"/>
                <a:ea typeface="+mn-ea"/>
                <a:cs typeface="+mn-cs"/>
              </a:rPr>
              <a:t>is measured by the false rejection rate, or FRR.</a:t>
            </a:r>
            <a:endParaRPr kumimoji="0" lang="en-GB" sz="1400" b="0" i="0" u="none" strike="noStrike" kern="1200" cap="none" spc="0" normalizeH="0" baseline="0" noProof="0" dirty="0">
              <a:ln>
                <a:noFill/>
              </a:ln>
              <a:solidFill>
                <a:srgbClr val="000000"/>
              </a:solidFill>
              <a:effectLst/>
              <a:uLnTx/>
              <a:uFillTx/>
              <a:latin typeface="Bell MT" pitchFamily="18" charset="0"/>
              <a:ea typeface="+mn-ea"/>
              <a:cs typeface="+mn-cs"/>
            </a:endParaRPr>
          </a:p>
        </p:txBody>
      </p:sp>
    </p:spTree>
    <p:extLst>
      <p:ext uri="{BB962C8B-B14F-4D97-AF65-F5344CB8AC3E}">
        <p14:creationId xmlns:p14="http://schemas.microsoft.com/office/powerpoint/2010/main" val="9303320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1EFE08-6A60-44A4-9B8E-82AE3BE4BEF1}"/>
              </a:ext>
            </a:extLst>
          </p:cNvPr>
          <p:cNvPicPr>
            <a:picLocks noChangeAspect="1"/>
          </p:cNvPicPr>
          <p:nvPr/>
        </p:nvPicPr>
        <p:blipFill>
          <a:blip r:embed="rId2"/>
          <a:stretch>
            <a:fillRect/>
          </a:stretch>
        </p:blipFill>
        <p:spPr>
          <a:xfrm>
            <a:off x="226828" y="134919"/>
            <a:ext cx="11738344" cy="6077415"/>
          </a:xfrm>
          <a:prstGeom prst="rect">
            <a:avLst/>
          </a:prstGeom>
        </p:spPr>
      </p:pic>
      <p:graphicFrame>
        <p:nvGraphicFramePr>
          <p:cNvPr id="4" name="Table 3">
            <a:extLst>
              <a:ext uri="{FF2B5EF4-FFF2-40B4-BE49-F238E27FC236}">
                <a16:creationId xmlns:a16="http://schemas.microsoft.com/office/drawing/2014/main" id="{D6AE6EF9-09A4-4496-BFFD-8E90B4E42242}"/>
              </a:ext>
            </a:extLst>
          </p:cNvPr>
          <p:cNvGraphicFramePr>
            <a:graphicFrameLocks noGrp="1"/>
          </p:cNvGraphicFramePr>
          <p:nvPr/>
        </p:nvGraphicFramePr>
        <p:xfrm>
          <a:off x="8980927" y="401480"/>
          <a:ext cx="2730500" cy="736600"/>
        </p:xfrm>
        <a:graphic>
          <a:graphicData uri="http://schemas.openxmlformats.org/drawingml/2006/table">
            <a:tbl>
              <a:tblPr firstRow="1" bandRow="1">
                <a:tableStyleId>{5C22544A-7EE6-4342-B048-85BDC9FD1C3A}</a:tableStyleId>
              </a:tblPr>
              <a:tblGrid>
                <a:gridCol w="2730500">
                  <a:extLst>
                    <a:ext uri="{9D8B030D-6E8A-4147-A177-3AD203B41FA5}">
                      <a16:colId xmlns:a16="http://schemas.microsoft.com/office/drawing/2014/main" val="3934298693"/>
                    </a:ext>
                  </a:extLst>
                </a:gridCol>
              </a:tblGrid>
              <a:tr h="163561">
                <a:tc>
                  <a:txBody>
                    <a:bodyPr/>
                    <a:lstStyle/>
                    <a:p>
                      <a:endParaRPr lang="en-US" dirty="0"/>
                    </a:p>
                  </a:txBody>
                  <a:tcPr/>
                </a:tc>
                <a:extLst>
                  <a:ext uri="{0D108BD9-81ED-4DB2-BD59-A6C34878D82A}">
                    <a16:rowId xmlns:a16="http://schemas.microsoft.com/office/drawing/2014/main" val="972467905"/>
                  </a:ext>
                </a:extLst>
              </a:tr>
              <a:tr h="370840">
                <a:tc>
                  <a:txBody>
                    <a:bodyPr/>
                    <a:lstStyle/>
                    <a:p>
                      <a:endParaRPr lang="en-US" dirty="0"/>
                    </a:p>
                  </a:txBody>
                  <a:tcPr/>
                </a:tc>
                <a:extLst>
                  <a:ext uri="{0D108BD9-81ED-4DB2-BD59-A6C34878D82A}">
                    <a16:rowId xmlns:a16="http://schemas.microsoft.com/office/drawing/2014/main" val="4196884502"/>
                  </a:ext>
                </a:extLst>
              </a:tr>
            </a:tbl>
          </a:graphicData>
        </a:graphic>
      </p:graphicFrame>
    </p:spTree>
    <p:extLst>
      <p:ext uri="{BB962C8B-B14F-4D97-AF65-F5344CB8AC3E}">
        <p14:creationId xmlns:p14="http://schemas.microsoft.com/office/powerpoint/2010/main" val="1593966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70CD0DC-0DB9-4299-85A4-F6747E7CEB25}"/>
              </a:ext>
            </a:extLst>
          </p:cNvPr>
          <p:cNvPicPr>
            <a:picLocks noChangeAspect="1"/>
          </p:cNvPicPr>
          <p:nvPr/>
        </p:nvPicPr>
        <p:blipFill rotWithShape="1">
          <a:blip r:embed="rId2">
            <a:extLst>
              <a:ext uri="{28A0092B-C50C-407E-A947-70E740481C1C}">
                <a14:useLocalDpi xmlns:a14="http://schemas.microsoft.com/office/drawing/2010/main" val="0"/>
              </a:ext>
            </a:extLst>
          </a:blip>
          <a:srcRect b="6170"/>
          <a:stretch/>
        </p:blipFill>
        <p:spPr>
          <a:xfrm>
            <a:off x="0" y="-1"/>
            <a:ext cx="12192000" cy="4160109"/>
          </a:xfrm>
          <a:prstGeom prst="rect">
            <a:avLst/>
          </a:prstGeom>
        </p:spPr>
      </p:pic>
      <p:sp>
        <p:nvSpPr>
          <p:cNvPr id="2" name="Rectangle 1"/>
          <p:cNvSpPr/>
          <p:nvPr/>
        </p:nvSpPr>
        <p:spPr>
          <a:xfrm>
            <a:off x="1161111" y="4613269"/>
            <a:ext cx="9144000" cy="1384995"/>
          </a:xfrm>
          <a:prstGeom prst="rect">
            <a:avLst/>
          </a:prstGeom>
        </p:spPr>
        <p:txBody>
          <a:bodyPr wrap="square">
            <a:spAutoFit/>
          </a:bodyPr>
          <a:lstStyle/>
          <a:p>
            <a:pPr marL="285750" marR="0" lvl="0" indent="-285750" algn="l" defTabSz="457200" rtl="0" eaLnBrk="1" fontAlgn="auto" latinLnBrk="0" hangingPunct="1">
              <a:lnSpc>
                <a:spcPct val="100000"/>
              </a:lnSpc>
              <a:spcBef>
                <a:spcPts val="0"/>
              </a:spcBef>
              <a:spcAft>
                <a:spcPts val="0"/>
              </a:spcAft>
              <a:buClrTx/>
              <a:buSzTx/>
              <a:buFont typeface="Wingdings" pitchFamily="2" charset="2"/>
              <a:buChar char="q"/>
              <a:tabLst/>
              <a:defRPr/>
            </a:pPr>
            <a:r>
              <a:rPr kumimoji="0" lang="en-US" sz="1400" b="0" i="0" u="none" strike="noStrike" kern="1200" cap="none" spc="0" normalizeH="0" baseline="0" noProof="0" dirty="0">
                <a:ln>
                  <a:noFill/>
                </a:ln>
                <a:solidFill>
                  <a:srgbClr val="000000"/>
                </a:solidFill>
                <a:effectLst/>
                <a:uLnTx/>
                <a:uFillTx/>
                <a:latin typeface="Bell MT" pitchFamily="18" charset="0"/>
                <a:ea typeface="+mn-ea"/>
                <a:cs typeface="+mn-cs"/>
              </a:rPr>
              <a:t>The FAR and FRR are not, by themselves, good measures of the strength of an authentication factor, because they may easily be manipulated.</a:t>
            </a:r>
          </a:p>
          <a:p>
            <a:pPr marL="285750" marR="0" lvl="0" indent="-285750" algn="l" defTabSz="457200" rtl="0" eaLnBrk="1" fontAlgn="auto" latinLnBrk="0" hangingPunct="1">
              <a:lnSpc>
                <a:spcPct val="100000"/>
              </a:lnSpc>
              <a:spcBef>
                <a:spcPts val="0"/>
              </a:spcBef>
              <a:spcAft>
                <a:spcPts val="0"/>
              </a:spcAft>
              <a:buClrTx/>
              <a:buSzTx/>
              <a:buFont typeface="Wingdings" pitchFamily="2" charset="2"/>
              <a:buChar char="q"/>
              <a:tabLst/>
              <a:defRPr/>
            </a:pPr>
            <a:r>
              <a:rPr kumimoji="0" lang="en-US" sz="1400" b="0" i="0" u="none" strike="noStrike" kern="1200" cap="none" spc="0" normalizeH="0" baseline="0" noProof="0" dirty="0">
                <a:ln>
                  <a:noFill/>
                </a:ln>
                <a:solidFill>
                  <a:srgbClr val="000000"/>
                </a:solidFill>
                <a:effectLst/>
                <a:uLnTx/>
                <a:uFillTx/>
                <a:latin typeface="Bell MT" pitchFamily="18" charset="0"/>
                <a:ea typeface="+mn-ea"/>
                <a:cs typeface="+mn-cs"/>
              </a:rPr>
              <a:t>On one extreme, administrators may configure the system to simply admit nobody at all, giving it a perfect false acceptance rate, but, also, a very high false rejection rate.</a:t>
            </a:r>
          </a:p>
          <a:p>
            <a:pPr marL="285750" marR="0" lvl="0" indent="-285750" algn="l" defTabSz="457200" rtl="0" eaLnBrk="1" fontAlgn="auto" latinLnBrk="0" hangingPunct="1">
              <a:lnSpc>
                <a:spcPct val="100000"/>
              </a:lnSpc>
              <a:spcBef>
                <a:spcPts val="0"/>
              </a:spcBef>
              <a:spcAft>
                <a:spcPts val="0"/>
              </a:spcAft>
              <a:buClrTx/>
              <a:buSzTx/>
              <a:buFont typeface="Wingdings" pitchFamily="2" charset="2"/>
              <a:buChar char="q"/>
              <a:tabLst/>
              <a:defRPr/>
            </a:pPr>
            <a:r>
              <a:rPr kumimoji="0" lang="en-US" sz="1400" b="0" i="0" u="none" strike="noStrike" kern="1200" cap="none" spc="0" normalizeH="0" baseline="0" noProof="0" dirty="0">
                <a:ln>
                  <a:noFill/>
                </a:ln>
                <a:solidFill>
                  <a:srgbClr val="000000"/>
                </a:solidFill>
                <a:effectLst/>
                <a:uLnTx/>
                <a:uFillTx/>
                <a:latin typeface="Bell MT" pitchFamily="18" charset="0"/>
                <a:ea typeface="+mn-ea"/>
                <a:cs typeface="+mn-cs"/>
              </a:rPr>
              <a:t>Similarly, if the system allows anyone access, it has a perfect false rejection rate, but an unacceptably high false acceptance rate.</a:t>
            </a:r>
          </a:p>
        </p:txBody>
      </p:sp>
    </p:spTree>
    <p:extLst>
      <p:ext uri="{BB962C8B-B14F-4D97-AF65-F5344CB8AC3E}">
        <p14:creationId xmlns:p14="http://schemas.microsoft.com/office/powerpoint/2010/main" val="16209160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3AE0F72-1557-40D5-9C68-81B60A505731}"/>
              </a:ext>
            </a:extLst>
          </p:cNvPr>
          <p:cNvPicPr>
            <a:picLocks noChangeAspect="1"/>
          </p:cNvPicPr>
          <p:nvPr/>
        </p:nvPicPr>
        <p:blipFill rotWithShape="1">
          <a:blip r:embed="rId2">
            <a:extLst>
              <a:ext uri="{28A0092B-C50C-407E-A947-70E740481C1C}">
                <a14:useLocalDpi xmlns:a14="http://schemas.microsoft.com/office/drawing/2010/main" val="0"/>
              </a:ext>
            </a:extLst>
          </a:blip>
          <a:srcRect b="6088"/>
          <a:stretch/>
        </p:blipFill>
        <p:spPr>
          <a:xfrm>
            <a:off x="0" y="0"/>
            <a:ext cx="12192000" cy="5099222"/>
          </a:xfrm>
          <a:prstGeom prst="rect">
            <a:avLst/>
          </a:prstGeom>
        </p:spPr>
      </p:pic>
      <p:sp>
        <p:nvSpPr>
          <p:cNvPr id="2" name="Rectangle 1"/>
          <p:cNvSpPr/>
          <p:nvPr/>
        </p:nvSpPr>
        <p:spPr>
          <a:xfrm>
            <a:off x="852564" y="5099222"/>
            <a:ext cx="8497382" cy="1077218"/>
          </a:xfrm>
          <a:prstGeom prst="rect">
            <a:avLst/>
          </a:prstGeom>
        </p:spPr>
        <p:txBody>
          <a:bodyPr wrap="square">
            <a:spAutoFit/>
          </a:bodyPr>
          <a:lstStyle/>
          <a:p>
            <a:pPr marL="285750" marR="0" lvl="0" indent="-285750" algn="l" defTabSz="457200" rtl="0" eaLnBrk="1" fontAlgn="auto" latinLnBrk="0" hangingPunct="1">
              <a:lnSpc>
                <a:spcPct val="100000"/>
              </a:lnSpc>
              <a:spcBef>
                <a:spcPts val="0"/>
              </a:spcBef>
              <a:spcAft>
                <a:spcPts val="0"/>
              </a:spcAft>
              <a:buClrTx/>
              <a:buSzTx/>
              <a:buFont typeface="Wingdings" pitchFamily="2" charset="2"/>
              <a:buChar char="q"/>
              <a:tabLst/>
              <a:defRPr/>
            </a:pPr>
            <a:r>
              <a:rPr kumimoji="0" lang="en-US" sz="1600" b="0" i="0" u="none" strike="noStrike" kern="1200" cap="none" spc="0" normalizeH="0" baseline="0" noProof="0" dirty="0">
                <a:ln>
                  <a:noFill/>
                </a:ln>
                <a:solidFill>
                  <a:srgbClr val="000000"/>
                </a:solidFill>
                <a:effectLst/>
                <a:uLnTx/>
                <a:uFillTx/>
                <a:latin typeface="Bell MT" pitchFamily="18" charset="0"/>
                <a:ea typeface="+mn-ea"/>
                <a:cs typeface="+mn-cs"/>
              </a:rPr>
              <a:t>The solution to this measurement problem is to use a balanced measure of authentication strength called the crossover error rate, or CER.</a:t>
            </a:r>
          </a:p>
          <a:p>
            <a:pPr marL="285750" marR="0" lvl="0" indent="-285750" algn="l" defTabSz="457200" rtl="0" eaLnBrk="1" fontAlgn="auto" latinLnBrk="0" hangingPunct="1">
              <a:lnSpc>
                <a:spcPct val="100000"/>
              </a:lnSpc>
              <a:spcBef>
                <a:spcPts val="0"/>
              </a:spcBef>
              <a:spcAft>
                <a:spcPts val="0"/>
              </a:spcAft>
              <a:buClrTx/>
              <a:buSzTx/>
              <a:buFont typeface="Wingdings" pitchFamily="2" charset="2"/>
              <a:buChar char="q"/>
              <a:tabLst/>
              <a:defRPr/>
            </a:pPr>
            <a:r>
              <a:rPr kumimoji="0" lang="en-US" sz="1600" b="0" i="0" u="none" strike="noStrike" kern="1200" cap="none" spc="0" normalizeH="0" baseline="0" noProof="0" dirty="0">
                <a:ln>
                  <a:noFill/>
                </a:ln>
                <a:solidFill>
                  <a:srgbClr val="000000"/>
                </a:solidFill>
                <a:effectLst/>
                <a:uLnTx/>
                <a:uFillTx/>
                <a:latin typeface="Bell MT" pitchFamily="18" charset="0"/>
                <a:ea typeface="+mn-ea"/>
                <a:cs typeface="+mn-cs"/>
              </a:rPr>
              <a:t>The crossover error rate is the error frequency that occurs when administrators tune the system to have equal false acceptance and false rejection rates.</a:t>
            </a:r>
            <a:endParaRPr kumimoji="0" lang="en-GB" sz="1600" b="0" i="0" u="none" strike="noStrike" kern="1200" cap="none" spc="0" normalizeH="0" baseline="0" noProof="0" dirty="0">
              <a:ln>
                <a:noFill/>
              </a:ln>
              <a:solidFill>
                <a:srgbClr val="000000"/>
              </a:solidFill>
              <a:effectLst/>
              <a:uLnTx/>
              <a:uFillTx/>
              <a:latin typeface="Bell MT" pitchFamily="18" charset="0"/>
              <a:ea typeface="+mn-ea"/>
              <a:cs typeface="+mn-cs"/>
            </a:endParaRPr>
          </a:p>
        </p:txBody>
      </p:sp>
    </p:spTree>
    <p:extLst>
      <p:ext uri="{BB962C8B-B14F-4D97-AF65-F5344CB8AC3E}">
        <p14:creationId xmlns:p14="http://schemas.microsoft.com/office/powerpoint/2010/main" val="5912847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FECC3B-1117-4B2B-9B2C-868B0B779324}"/>
              </a:ext>
            </a:extLst>
          </p:cNvPr>
          <p:cNvPicPr>
            <a:picLocks noChangeAspect="1"/>
          </p:cNvPicPr>
          <p:nvPr/>
        </p:nvPicPr>
        <p:blipFill rotWithShape="1">
          <a:blip r:embed="rId2">
            <a:extLst>
              <a:ext uri="{28A0092B-C50C-407E-A947-70E740481C1C}">
                <a14:useLocalDpi xmlns:a14="http://schemas.microsoft.com/office/drawing/2010/main" val="0"/>
              </a:ext>
            </a:extLst>
          </a:blip>
          <a:srcRect b="6325"/>
          <a:stretch/>
        </p:blipFill>
        <p:spPr>
          <a:xfrm>
            <a:off x="0" y="0"/>
            <a:ext cx="12192000" cy="6424246"/>
          </a:xfrm>
          <a:prstGeom prst="rect">
            <a:avLst/>
          </a:prstGeom>
        </p:spPr>
      </p:pic>
    </p:spTree>
    <p:extLst>
      <p:ext uri="{BB962C8B-B14F-4D97-AF65-F5344CB8AC3E}">
        <p14:creationId xmlns:p14="http://schemas.microsoft.com/office/powerpoint/2010/main" val="16911820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1E468C-B16B-45D8-873E-FE0B53388C18}"/>
              </a:ext>
            </a:extLst>
          </p:cNvPr>
          <p:cNvPicPr>
            <a:picLocks noChangeAspect="1"/>
          </p:cNvPicPr>
          <p:nvPr/>
        </p:nvPicPr>
        <p:blipFill rotWithShape="1">
          <a:blip r:embed="rId2">
            <a:extLst>
              <a:ext uri="{28A0092B-C50C-407E-A947-70E740481C1C}">
                <a14:useLocalDpi xmlns:a14="http://schemas.microsoft.com/office/drawing/2010/main" val="0"/>
              </a:ext>
            </a:extLst>
          </a:blip>
          <a:srcRect b="6154"/>
          <a:stretch/>
        </p:blipFill>
        <p:spPr>
          <a:xfrm>
            <a:off x="0" y="0"/>
            <a:ext cx="12192000" cy="6435969"/>
          </a:xfrm>
          <a:prstGeom prst="rect">
            <a:avLst/>
          </a:prstGeom>
        </p:spPr>
      </p:pic>
    </p:spTree>
    <p:extLst>
      <p:ext uri="{BB962C8B-B14F-4D97-AF65-F5344CB8AC3E}">
        <p14:creationId xmlns:p14="http://schemas.microsoft.com/office/powerpoint/2010/main" val="385498491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BB3FAC-5459-47C8-A4D3-48CE118BD854}"/>
              </a:ext>
            </a:extLst>
          </p:cNvPr>
          <p:cNvPicPr>
            <a:picLocks noChangeAspect="1"/>
          </p:cNvPicPr>
          <p:nvPr/>
        </p:nvPicPr>
        <p:blipFill rotWithShape="1">
          <a:blip r:embed="rId2">
            <a:extLst>
              <a:ext uri="{28A0092B-C50C-407E-A947-70E740481C1C}">
                <a14:useLocalDpi xmlns:a14="http://schemas.microsoft.com/office/drawing/2010/main" val="0"/>
              </a:ext>
            </a:extLst>
          </a:blip>
          <a:srcRect b="5983"/>
          <a:stretch/>
        </p:blipFill>
        <p:spPr>
          <a:xfrm>
            <a:off x="0" y="0"/>
            <a:ext cx="12192000" cy="6447692"/>
          </a:xfrm>
          <a:prstGeom prst="rect">
            <a:avLst/>
          </a:prstGeom>
        </p:spPr>
      </p:pic>
    </p:spTree>
    <p:extLst>
      <p:ext uri="{BB962C8B-B14F-4D97-AF65-F5344CB8AC3E}">
        <p14:creationId xmlns:p14="http://schemas.microsoft.com/office/powerpoint/2010/main" val="21427153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E43ADB-62F5-4F7E-BCF0-F79E8C17E11A}"/>
              </a:ext>
            </a:extLst>
          </p:cNvPr>
          <p:cNvPicPr>
            <a:picLocks noChangeAspect="1"/>
          </p:cNvPicPr>
          <p:nvPr/>
        </p:nvPicPr>
        <p:blipFill rotWithShape="1">
          <a:blip r:embed="rId2">
            <a:extLst>
              <a:ext uri="{28A0092B-C50C-407E-A947-70E740481C1C}">
                <a14:useLocalDpi xmlns:a14="http://schemas.microsoft.com/office/drawing/2010/main" val="0"/>
              </a:ext>
            </a:extLst>
          </a:blip>
          <a:srcRect b="6495"/>
          <a:stretch/>
        </p:blipFill>
        <p:spPr>
          <a:xfrm>
            <a:off x="0" y="0"/>
            <a:ext cx="12192000" cy="6412523"/>
          </a:xfrm>
          <a:prstGeom prst="rect">
            <a:avLst/>
          </a:prstGeom>
        </p:spPr>
      </p:pic>
    </p:spTree>
    <p:extLst>
      <p:ext uri="{BB962C8B-B14F-4D97-AF65-F5344CB8AC3E}">
        <p14:creationId xmlns:p14="http://schemas.microsoft.com/office/powerpoint/2010/main" val="189663772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4A8191-B7BB-44A9-851D-CC8E17DCA4B4}"/>
              </a:ext>
            </a:extLst>
          </p:cNvPr>
          <p:cNvPicPr>
            <a:picLocks noChangeAspect="1"/>
          </p:cNvPicPr>
          <p:nvPr/>
        </p:nvPicPr>
        <p:blipFill rotWithShape="1">
          <a:blip r:embed="rId2">
            <a:extLst>
              <a:ext uri="{28A0092B-C50C-407E-A947-70E740481C1C}">
                <a14:useLocalDpi xmlns:a14="http://schemas.microsoft.com/office/drawing/2010/main" val="0"/>
              </a:ext>
            </a:extLst>
          </a:blip>
          <a:srcRect b="6495"/>
          <a:stretch/>
        </p:blipFill>
        <p:spPr>
          <a:xfrm>
            <a:off x="0" y="0"/>
            <a:ext cx="12192000" cy="6412523"/>
          </a:xfrm>
          <a:prstGeom prst="rect">
            <a:avLst/>
          </a:prstGeom>
        </p:spPr>
      </p:pic>
    </p:spTree>
    <p:extLst>
      <p:ext uri="{BB962C8B-B14F-4D97-AF65-F5344CB8AC3E}">
        <p14:creationId xmlns:p14="http://schemas.microsoft.com/office/powerpoint/2010/main" val="81917847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CB17BA-805F-447F-9B7F-58AD6067D9CE}"/>
              </a:ext>
            </a:extLst>
          </p:cNvPr>
          <p:cNvPicPr>
            <a:picLocks noChangeAspect="1"/>
          </p:cNvPicPr>
          <p:nvPr/>
        </p:nvPicPr>
        <p:blipFill rotWithShape="1">
          <a:blip r:embed="rId2">
            <a:extLst>
              <a:ext uri="{28A0092B-C50C-407E-A947-70E740481C1C}">
                <a14:useLocalDpi xmlns:a14="http://schemas.microsoft.com/office/drawing/2010/main" val="0"/>
              </a:ext>
            </a:extLst>
          </a:blip>
          <a:srcRect l="12324"/>
          <a:stretch/>
        </p:blipFill>
        <p:spPr>
          <a:xfrm>
            <a:off x="1504461" y="528345"/>
            <a:ext cx="9183077" cy="5351999"/>
          </a:xfrm>
          <a:prstGeom prst="rect">
            <a:avLst/>
          </a:prstGeom>
        </p:spPr>
      </p:pic>
    </p:spTree>
    <p:extLst>
      <p:ext uri="{BB962C8B-B14F-4D97-AF65-F5344CB8AC3E}">
        <p14:creationId xmlns:p14="http://schemas.microsoft.com/office/powerpoint/2010/main" val="424027514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5E6833-ABC2-485F-AFE4-69260D3A0351}"/>
              </a:ext>
            </a:extLst>
          </p:cNvPr>
          <p:cNvPicPr>
            <a:picLocks noChangeAspect="1"/>
          </p:cNvPicPr>
          <p:nvPr/>
        </p:nvPicPr>
        <p:blipFill rotWithShape="1">
          <a:blip r:embed="rId2">
            <a:extLst>
              <a:ext uri="{28A0092B-C50C-407E-A947-70E740481C1C}">
                <a14:useLocalDpi xmlns:a14="http://schemas.microsoft.com/office/drawing/2010/main" val="0"/>
              </a:ext>
            </a:extLst>
          </a:blip>
          <a:srcRect l="12066"/>
          <a:stretch/>
        </p:blipFill>
        <p:spPr>
          <a:xfrm>
            <a:off x="1276472" y="256098"/>
            <a:ext cx="9639055" cy="5644311"/>
          </a:xfrm>
          <a:prstGeom prst="rect">
            <a:avLst/>
          </a:prstGeom>
        </p:spPr>
      </p:pic>
    </p:spTree>
    <p:extLst>
      <p:ext uri="{BB962C8B-B14F-4D97-AF65-F5344CB8AC3E}">
        <p14:creationId xmlns:p14="http://schemas.microsoft.com/office/powerpoint/2010/main" val="39766202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C32BE3-7BE1-4CA3-859C-3E98FEB8E9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 y="0"/>
            <a:ext cx="12115800" cy="6267450"/>
          </a:xfrm>
          <a:prstGeom prst="rect">
            <a:avLst/>
          </a:prstGeom>
        </p:spPr>
      </p:pic>
    </p:spTree>
    <p:extLst>
      <p:ext uri="{BB962C8B-B14F-4D97-AF65-F5344CB8AC3E}">
        <p14:creationId xmlns:p14="http://schemas.microsoft.com/office/powerpoint/2010/main" val="31530027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2B73C1-F8C0-43E8-B171-37D6E9827E31}"/>
              </a:ext>
            </a:extLst>
          </p:cNvPr>
          <p:cNvPicPr>
            <a:picLocks noChangeAspect="1"/>
          </p:cNvPicPr>
          <p:nvPr/>
        </p:nvPicPr>
        <p:blipFill rotWithShape="1">
          <a:blip r:embed="rId2">
            <a:extLst>
              <a:ext uri="{28A0092B-C50C-407E-A947-70E740481C1C}">
                <a14:useLocalDpi xmlns:a14="http://schemas.microsoft.com/office/drawing/2010/main" val="0"/>
              </a:ext>
            </a:extLst>
          </a:blip>
          <a:srcRect l="12182"/>
          <a:stretch/>
        </p:blipFill>
        <p:spPr>
          <a:xfrm>
            <a:off x="1292530" y="481321"/>
            <a:ext cx="9606939" cy="5594408"/>
          </a:xfrm>
          <a:prstGeom prst="rect">
            <a:avLst/>
          </a:prstGeom>
        </p:spPr>
      </p:pic>
    </p:spTree>
    <p:extLst>
      <p:ext uri="{BB962C8B-B14F-4D97-AF65-F5344CB8AC3E}">
        <p14:creationId xmlns:p14="http://schemas.microsoft.com/office/powerpoint/2010/main" val="269314743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E025A5-2EAF-4D2F-8B3A-F1559F3DA2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75" y="0"/>
            <a:ext cx="12134850" cy="6257925"/>
          </a:xfrm>
          <a:prstGeom prst="rect">
            <a:avLst/>
          </a:prstGeom>
        </p:spPr>
      </p:pic>
    </p:spTree>
    <p:extLst>
      <p:ext uri="{BB962C8B-B14F-4D97-AF65-F5344CB8AC3E}">
        <p14:creationId xmlns:p14="http://schemas.microsoft.com/office/powerpoint/2010/main" val="34336954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98E3B2-61EA-4935-BBC8-D2BA3E43C5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50" y="0"/>
            <a:ext cx="12134850" cy="6257925"/>
          </a:xfrm>
          <a:prstGeom prst="rect">
            <a:avLst/>
          </a:prstGeom>
        </p:spPr>
      </p:pic>
    </p:spTree>
    <p:extLst>
      <p:ext uri="{BB962C8B-B14F-4D97-AF65-F5344CB8AC3E}">
        <p14:creationId xmlns:p14="http://schemas.microsoft.com/office/powerpoint/2010/main" val="285843883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26D065-D701-404D-B83D-3A80BD61B16B}"/>
              </a:ext>
            </a:extLst>
          </p:cNvPr>
          <p:cNvPicPr>
            <a:picLocks noChangeAspect="1"/>
          </p:cNvPicPr>
          <p:nvPr/>
        </p:nvPicPr>
        <p:blipFill rotWithShape="1">
          <a:blip r:embed="rId2">
            <a:extLst>
              <a:ext uri="{28A0092B-C50C-407E-A947-70E740481C1C}">
                <a14:useLocalDpi xmlns:a14="http://schemas.microsoft.com/office/drawing/2010/main" val="0"/>
              </a:ext>
            </a:extLst>
          </a:blip>
          <a:srcRect l="12324" b="5854"/>
          <a:stretch/>
        </p:blipFill>
        <p:spPr>
          <a:xfrm>
            <a:off x="776287" y="243704"/>
            <a:ext cx="10639425" cy="5828851"/>
          </a:xfrm>
          <a:prstGeom prst="rect">
            <a:avLst/>
          </a:prstGeom>
        </p:spPr>
      </p:pic>
    </p:spTree>
    <p:extLst>
      <p:ext uri="{BB962C8B-B14F-4D97-AF65-F5344CB8AC3E}">
        <p14:creationId xmlns:p14="http://schemas.microsoft.com/office/powerpoint/2010/main" val="4556139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7B3FE1-A1EE-4566-8B76-E2EF26569649}"/>
              </a:ext>
            </a:extLst>
          </p:cNvPr>
          <p:cNvPicPr>
            <a:picLocks noChangeAspect="1"/>
          </p:cNvPicPr>
          <p:nvPr/>
        </p:nvPicPr>
        <p:blipFill rotWithShape="1">
          <a:blip r:embed="rId2">
            <a:extLst>
              <a:ext uri="{28A0092B-C50C-407E-A947-70E740481C1C}">
                <a14:useLocalDpi xmlns:a14="http://schemas.microsoft.com/office/drawing/2010/main" val="0"/>
              </a:ext>
            </a:extLst>
          </a:blip>
          <a:srcRect l="12108" b="6709"/>
          <a:stretch/>
        </p:blipFill>
        <p:spPr>
          <a:xfrm>
            <a:off x="763221" y="140678"/>
            <a:ext cx="10665558" cy="5838092"/>
          </a:xfrm>
          <a:prstGeom prst="rect">
            <a:avLst/>
          </a:prstGeom>
        </p:spPr>
      </p:pic>
    </p:spTree>
    <p:extLst>
      <p:ext uri="{BB962C8B-B14F-4D97-AF65-F5344CB8AC3E}">
        <p14:creationId xmlns:p14="http://schemas.microsoft.com/office/powerpoint/2010/main" val="280794554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8112A0-450F-487D-8253-D7DF48FA02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50" y="304800"/>
            <a:ext cx="12134850" cy="6248400"/>
          </a:xfrm>
          <a:prstGeom prst="rect">
            <a:avLst/>
          </a:prstGeom>
        </p:spPr>
      </p:pic>
    </p:spTree>
    <p:extLst>
      <p:ext uri="{BB962C8B-B14F-4D97-AF65-F5344CB8AC3E}">
        <p14:creationId xmlns:p14="http://schemas.microsoft.com/office/powerpoint/2010/main" val="66925711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2CB114-00D5-4293-9D15-D0E7936BB9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75" y="0"/>
            <a:ext cx="12134850" cy="6267450"/>
          </a:xfrm>
          <a:prstGeom prst="rect">
            <a:avLst/>
          </a:prstGeom>
        </p:spPr>
      </p:pic>
    </p:spTree>
    <p:extLst>
      <p:ext uri="{BB962C8B-B14F-4D97-AF65-F5344CB8AC3E}">
        <p14:creationId xmlns:p14="http://schemas.microsoft.com/office/powerpoint/2010/main" val="79383875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15B546-7588-4F76-9FF5-0DA2046A9905}"/>
              </a:ext>
            </a:extLst>
          </p:cNvPr>
          <p:cNvPicPr>
            <a:picLocks noChangeAspect="1"/>
          </p:cNvPicPr>
          <p:nvPr/>
        </p:nvPicPr>
        <p:blipFill rotWithShape="1">
          <a:blip r:embed="rId2">
            <a:extLst>
              <a:ext uri="{28A0092B-C50C-407E-A947-70E740481C1C}">
                <a14:useLocalDpi xmlns:a14="http://schemas.microsoft.com/office/drawing/2010/main" val="0"/>
              </a:ext>
            </a:extLst>
          </a:blip>
          <a:srcRect l="12130" b="6850"/>
          <a:stretch/>
        </p:blipFill>
        <p:spPr>
          <a:xfrm>
            <a:off x="764564" y="273539"/>
            <a:ext cx="10662871" cy="5838092"/>
          </a:xfrm>
          <a:prstGeom prst="rect">
            <a:avLst/>
          </a:prstGeom>
        </p:spPr>
      </p:pic>
    </p:spTree>
    <p:extLst>
      <p:ext uri="{BB962C8B-B14F-4D97-AF65-F5344CB8AC3E}">
        <p14:creationId xmlns:p14="http://schemas.microsoft.com/office/powerpoint/2010/main" val="23242083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C19A4A1-E4EC-41BC-9E63-A2471B18C3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34850" cy="6210300"/>
          </a:xfrm>
          <a:prstGeom prst="rect">
            <a:avLst/>
          </a:prstGeom>
        </p:spPr>
      </p:pic>
    </p:spTree>
    <p:extLst>
      <p:ext uri="{BB962C8B-B14F-4D97-AF65-F5344CB8AC3E}">
        <p14:creationId xmlns:p14="http://schemas.microsoft.com/office/powerpoint/2010/main" val="82511080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5A507E-DB75-49CD-B0DF-CA588326D7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50" y="117057"/>
            <a:ext cx="12134850" cy="6238875"/>
          </a:xfrm>
          <a:prstGeom prst="rect">
            <a:avLst/>
          </a:prstGeom>
        </p:spPr>
      </p:pic>
    </p:spTree>
    <p:extLst>
      <p:ext uri="{BB962C8B-B14F-4D97-AF65-F5344CB8AC3E}">
        <p14:creationId xmlns:p14="http://schemas.microsoft.com/office/powerpoint/2010/main" val="381740921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7B4C07-7408-4218-964C-B10B21708D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75" y="0"/>
            <a:ext cx="12134850" cy="6238875"/>
          </a:xfrm>
          <a:prstGeom prst="rect">
            <a:avLst/>
          </a:prstGeom>
        </p:spPr>
      </p:pic>
    </p:spTree>
    <p:extLst>
      <p:ext uri="{BB962C8B-B14F-4D97-AF65-F5344CB8AC3E}">
        <p14:creationId xmlns:p14="http://schemas.microsoft.com/office/powerpoint/2010/main" val="383283054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7A89BC-5ADE-4F0E-9149-8B531EB8E80D}"/>
              </a:ext>
            </a:extLst>
          </p:cNvPr>
          <p:cNvPicPr>
            <a:picLocks noChangeAspect="1"/>
          </p:cNvPicPr>
          <p:nvPr/>
        </p:nvPicPr>
        <p:blipFill rotWithShape="1">
          <a:blip r:embed="rId3">
            <a:extLst>
              <a:ext uri="{28A0092B-C50C-407E-A947-70E740481C1C}">
                <a14:useLocalDpi xmlns:a14="http://schemas.microsoft.com/office/drawing/2010/main" val="0"/>
              </a:ext>
            </a:extLst>
          </a:blip>
          <a:srcRect l="11914" b="6156"/>
          <a:stretch/>
        </p:blipFill>
        <p:spPr>
          <a:xfrm>
            <a:off x="751498" y="273539"/>
            <a:ext cx="10689004" cy="5845908"/>
          </a:xfrm>
          <a:prstGeom prst="rect">
            <a:avLst/>
          </a:prstGeom>
        </p:spPr>
      </p:pic>
    </p:spTree>
    <p:extLst>
      <p:ext uri="{BB962C8B-B14F-4D97-AF65-F5344CB8AC3E}">
        <p14:creationId xmlns:p14="http://schemas.microsoft.com/office/powerpoint/2010/main" val="212432488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5DC05A-C108-4D2B-9846-A0B9BBC266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75" y="123573"/>
            <a:ext cx="12134850" cy="6257925"/>
          </a:xfrm>
          <a:prstGeom prst="rect">
            <a:avLst/>
          </a:prstGeom>
        </p:spPr>
      </p:pic>
    </p:spTree>
    <p:extLst>
      <p:ext uri="{BB962C8B-B14F-4D97-AF65-F5344CB8AC3E}">
        <p14:creationId xmlns:p14="http://schemas.microsoft.com/office/powerpoint/2010/main" val="183423143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F8F77D-D4AE-48F5-9C26-66A421522DB5}"/>
              </a:ext>
            </a:extLst>
          </p:cNvPr>
          <p:cNvPicPr>
            <a:picLocks noChangeAspect="1"/>
          </p:cNvPicPr>
          <p:nvPr/>
        </p:nvPicPr>
        <p:blipFill rotWithShape="1">
          <a:blip r:embed="rId2">
            <a:extLst>
              <a:ext uri="{28A0092B-C50C-407E-A947-70E740481C1C}">
                <a14:useLocalDpi xmlns:a14="http://schemas.microsoft.com/office/drawing/2010/main" val="0"/>
              </a:ext>
            </a:extLst>
          </a:blip>
          <a:srcRect l="9596"/>
          <a:stretch/>
        </p:blipFill>
        <p:spPr>
          <a:xfrm>
            <a:off x="1450975" y="523892"/>
            <a:ext cx="9290050" cy="5307477"/>
          </a:xfrm>
          <a:prstGeom prst="rect">
            <a:avLst/>
          </a:prstGeom>
        </p:spPr>
      </p:pic>
    </p:spTree>
    <p:extLst>
      <p:ext uri="{BB962C8B-B14F-4D97-AF65-F5344CB8AC3E}">
        <p14:creationId xmlns:p14="http://schemas.microsoft.com/office/powerpoint/2010/main" val="247866179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131F209-B31E-4A22-99C5-491A17A6A508}"/>
              </a:ext>
            </a:extLst>
          </p:cNvPr>
          <p:cNvPicPr>
            <a:picLocks noChangeAspect="1"/>
          </p:cNvPicPr>
          <p:nvPr/>
        </p:nvPicPr>
        <p:blipFill rotWithShape="1">
          <a:blip r:embed="rId2"/>
          <a:srcRect l="5017" t="566" b="92223"/>
          <a:stretch/>
        </p:blipFill>
        <p:spPr>
          <a:xfrm>
            <a:off x="1074420" y="68579"/>
            <a:ext cx="10603230" cy="448779"/>
          </a:xfrm>
          <a:prstGeom prst="rect">
            <a:avLst/>
          </a:prstGeom>
        </p:spPr>
      </p:pic>
      <p:pic>
        <p:nvPicPr>
          <p:cNvPr id="3" name="Picture 2">
            <a:extLst>
              <a:ext uri="{FF2B5EF4-FFF2-40B4-BE49-F238E27FC236}">
                <a16:creationId xmlns:a16="http://schemas.microsoft.com/office/drawing/2014/main" id="{09227143-3A71-CF4C-E427-9CADE001E29D}"/>
              </a:ext>
            </a:extLst>
          </p:cNvPr>
          <p:cNvPicPr>
            <a:picLocks noChangeAspect="1"/>
          </p:cNvPicPr>
          <p:nvPr/>
        </p:nvPicPr>
        <p:blipFill>
          <a:blip r:embed="rId3"/>
          <a:stretch>
            <a:fillRect/>
          </a:stretch>
        </p:blipFill>
        <p:spPr>
          <a:xfrm>
            <a:off x="0" y="802104"/>
            <a:ext cx="12192000" cy="5538537"/>
          </a:xfrm>
          <a:prstGeom prst="rect">
            <a:avLst/>
          </a:prstGeom>
        </p:spPr>
      </p:pic>
    </p:spTree>
    <p:extLst>
      <p:ext uri="{BB962C8B-B14F-4D97-AF65-F5344CB8AC3E}">
        <p14:creationId xmlns:p14="http://schemas.microsoft.com/office/powerpoint/2010/main" val="325830436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776F1A-2BA7-445C-91E8-07B92EE523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2" y="0"/>
            <a:ext cx="12192000" cy="6229350"/>
          </a:xfrm>
          <a:prstGeom prst="rect">
            <a:avLst/>
          </a:prstGeom>
        </p:spPr>
      </p:pic>
    </p:spTree>
    <p:extLst>
      <p:ext uri="{BB962C8B-B14F-4D97-AF65-F5344CB8AC3E}">
        <p14:creationId xmlns:p14="http://schemas.microsoft.com/office/powerpoint/2010/main" val="49059582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4D7C9E-BA96-4ADE-8386-39D1BF193F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 y="0"/>
            <a:ext cx="12153900" cy="6296025"/>
          </a:xfrm>
          <a:prstGeom prst="rect">
            <a:avLst/>
          </a:prstGeom>
        </p:spPr>
      </p:pic>
    </p:spTree>
    <p:extLst>
      <p:ext uri="{BB962C8B-B14F-4D97-AF65-F5344CB8AC3E}">
        <p14:creationId xmlns:p14="http://schemas.microsoft.com/office/powerpoint/2010/main" val="197014396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descr="C:\New folder\chapter_045 (10-21-2018 11-17-33 PM)\chapter_045 11.jpg"/>
          <p:cNvPicPr>
            <a:picLocks noChangeAspect="1" noChangeArrowheads="1"/>
          </p:cNvPicPr>
          <p:nvPr/>
        </p:nvPicPr>
        <p:blipFill rotWithShape="1">
          <a:blip r:embed="rId2">
            <a:extLst>
              <a:ext uri="{28A0092B-C50C-407E-A947-70E740481C1C}">
                <a14:useLocalDpi xmlns:a14="http://schemas.microsoft.com/office/drawing/2010/main" val="0"/>
              </a:ext>
            </a:extLst>
          </a:blip>
          <a:srcRect b="7778"/>
          <a:stretch/>
        </p:blipFill>
        <p:spPr bwMode="auto">
          <a:xfrm>
            <a:off x="0" y="0"/>
            <a:ext cx="12192000" cy="632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201311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descr="C:\New folder\chapter_045 (10-21-2018 11-17-33 PM)\chapter_045 25.jpg"/>
          <p:cNvPicPr>
            <a:picLocks noChangeAspect="1" noChangeArrowheads="1"/>
          </p:cNvPicPr>
          <p:nvPr/>
        </p:nvPicPr>
        <p:blipFill rotWithShape="1">
          <a:blip r:embed="rId2">
            <a:extLst>
              <a:ext uri="{28A0092B-C50C-407E-A947-70E740481C1C}">
                <a14:useLocalDpi xmlns:a14="http://schemas.microsoft.com/office/drawing/2010/main" val="0"/>
              </a:ext>
            </a:extLst>
          </a:blip>
          <a:srcRect b="6573"/>
          <a:stretch/>
        </p:blipFill>
        <p:spPr bwMode="auto">
          <a:xfrm>
            <a:off x="0" y="-29817"/>
            <a:ext cx="12192000" cy="64071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375405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descr="C:\New folder\chapter_045 (10-21-2018 11-17-33 PM)\chapter_045 39.jpg"/>
          <p:cNvPicPr>
            <a:picLocks noChangeAspect="1" noChangeArrowheads="1"/>
          </p:cNvPicPr>
          <p:nvPr/>
        </p:nvPicPr>
        <p:blipFill rotWithShape="1">
          <a:blip r:embed="rId3">
            <a:extLst>
              <a:ext uri="{28A0092B-C50C-407E-A947-70E740481C1C}">
                <a14:useLocalDpi xmlns:a14="http://schemas.microsoft.com/office/drawing/2010/main" val="0"/>
              </a:ext>
            </a:extLst>
          </a:blip>
          <a:srcRect b="8345"/>
          <a:stretch/>
        </p:blipFill>
        <p:spPr bwMode="auto">
          <a:xfrm>
            <a:off x="0" y="-9939"/>
            <a:ext cx="12192000" cy="6285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418911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descr="C:\New folder\chapter_045 (10-21-2018 11-17-33 PM)\chapter_045 45.jpg"/>
          <p:cNvPicPr>
            <a:picLocks noChangeAspect="1" noChangeArrowheads="1"/>
          </p:cNvPicPr>
          <p:nvPr/>
        </p:nvPicPr>
        <p:blipFill rotWithShape="1">
          <a:blip r:embed="rId3">
            <a:extLst>
              <a:ext uri="{28A0092B-C50C-407E-A947-70E740481C1C}">
                <a14:useLocalDpi xmlns:a14="http://schemas.microsoft.com/office/drawing/2010/main" val="0"/>
              </a:ext>
            </a:extLst>
          </a:blip>
          <a:srcRect b="6553"/>
          <a:stretch/>
        </p:blipFill>
        <p:spPr bwMode="auto">
          <a:xfrm>
            <a:off x="0" y="0"/>
            <a:ext cx="12192000" cy="64086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329798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BC22A3-BFC3-4CBC-8218-9B8231ABC8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324600"/>
          </a:xfrm>
          <a:prstGeom prst="rect">
            <a:avLst/>
          </a:prstGeom>
        </p:spPr>
      </p:pic>
    </p:spTree>
    <p:extLst>
      <p:ext uri="{BB962C8B-B14F-4D97-AF65-F5344CB8AC3E}">
        <p14:creationId xmlns:p14="http://schemas.microsoft.com/office/powerpoint/2010/main" val="197287789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0CEA1C-4CAB-45D0-B71A-1CFAD515D4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 y="0"/>
            <a:ext cx="12153900" cy="6257925"/>
          </a:xfrm>
          <a:prstGeom prst="rect">
            <a:avLst/>
          </a:prstGeom>
        </p:spPr>
      </p:pic>
    </p:spTree>
    <p:extLst>
      <p:ext uri="{BB962C8B-B14F-4D97-AF65-F5344CB8AC3E}">
        <p14:creationId xmlns:p14="http://schemas.microsoft.com/office/powerpoint/2010/main" val="305156728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B1D2CD-7683-4A40-A12E-ED76016409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336"/>
            <a:ext cx="12153900" cy="6086475"/>
          </a:xfrm>
          <a:prstGeom prst="rect">
            <a:avLst/>
          </a:prstGeom>
        </p:spPr>
      </p:pic>
    </p:spTree>
    <p:extLst>
      <p:ext uri="{BB962C8B-B14F-4D97-AF65-F5344CB8AC3E}">
        <p14:creationId xmlns:p14="http://schemas.microsoft.com/office/powerpoint/2010/main" val="120646807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0" y="0"/>
            <a:ext cx="12192000" cy="6248400"/>
          </a:xfrm>
          <a:custGeom>
            <a:avLst/>
            <a:gdLst>
              <a:gd name="connsiteX0" fmla="*/ 0 w 12192000"/>
              <a:gd name="connsiteY0" fmla="*/ 6858000 h 6858000"/>
              <a:gd name="connsiteX1" fmla="*/ 12192000 w 12192000"/>
              <a:gd name="connsiteY1" fmla="*/ 6858000 h 6858000"/>
              <a:gd name="connsiteX2" fmla="*/ 12192000 w 12192000"/>
              <a:gd name="connsiteY2" fmla="*/ 0 h 6858000"/>
              <a:gd name="connsiteX3" fmla="*/ 0 w 12192000"/>
              <a:gd name="connsiteY3" fmla="*/ 0 h 6858000"/>
              <a:gd name="connsiteX4" fmla="*/ 0 w 12192000"/>
              <a:gd name="connsiteY4" fmla="*/ 6858000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92000" h="6858000">
                <a:moveTo>
                  <a:pt x="0" y="6858000"/>
                </a:moveTo>
                <a:lnTo>
                  <a:pt x="12192000" y="6858000"/>
                </a:lnTo>
                <a:lnTo>
                  <a:pt x="12192000" y="0"/>
                </a:lnTo>
                <a:lnTo>
                  <a:pt x="0" y="0"/>
                </a:lnTo>
                <a:lnTo>
                  <a:pt x="0" y="685800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pic>
        <p:nvPicPr>
          <p:cNvPr id="5" name="Picture 4">
            <a:extLst>
              <a:ext uri="{FF2B5EF4-FFF2-40B4-BE49-F238E27FC236}">
                <a16:creationId xmlns:a16="http://schemas.microsoft.com/office/drawing/2014/main" id="{8BA1A504-7E3A-483B-80CB-892BD57C9A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01" y="304800"/>
            <a:ext cx="12182475" cy="6248400"/>
          </a:xfrm>
          <a:prstGeom prst="rect">
            <a:avLst/>
          </a:prstGeom>
        </p:spPr>
      </p:pic>
    </p:spTree>
    <p:extLst>
      <p:ext uri="{BB962C8B-B14F-4D97-AF65-F5344CB8AC3E}">
        <p14:creationId xmlns:p14="http://schemas.microsoft.com/office/powerpoint/2010/main" val="96471470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9A7B07-F130-4C1A-AAC3-23050DDB74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37" y="587793"/>
            <a:ext cx="12125325" cy="5682414"/>
          </a:xfrm>
          <a:prstGeom prst="rect">
            <a:avLst/>
          </a:prstGeom>
        </p:spPr>
      </p:pic>
      <p:pic>
        <p:nvPicPr>
          <p:cNvPr id="2" name="Picture 1">
            <a:extLst>
              <a:ext uri="{FF2B5EF4-FFF2-40B4-BE49-F238E27FC236}">
                <a16:creationId xmlns:a16="http://schemas.microsoft.com/office/drawing/2014/main" id="{D321ED60-9244-B1EB-8BAB-65D37F8EB3A6}"/>
              </a:ext>
            </a:extLst>
          </p:cNvPr>
          <p:cNvPicPr>
            <a:picLocks noChangeAspect="1"/>
          </p:cNvPicPr>
          <p:nvPr/>
        </p:nvPicPr>
        <p:blipFill rotWithShape="1">
          <a:blip r:embed="rId3"/>
          <a:srcRect l="6139"/>
          <a:stretch/>
        </p:blipFill>
        <p:spPr>
          <a:xfrm>
            <a:off x="678180" y="0"/>
            <a:ext cx="10368729" cy="426757"/>
          </a:xfrm>
          <a:prstGeom prst="rect">
            <a:avLst/>
          </a:prstGeom>
        </p:spPr>
      </p:pic>
    </p:spTree>
    <p:extLst>
      <p:ext uri="{BB962C8B-B14F-4D97-AF65-F5344CB8AC3E}">
        <p14:creationId xmlns:p14="http://schemas.microsoft.com/office/powerpoint/2010/main" val="135645369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9928" y="194553"/>
            <a:ext cx="11332143" cy="707886"/>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2000" b="0" i="0" u="none" strike="noStrike" kern="1200" cap="none" spc="0" normalizeH="0" baseline="0" noProof="0" dirty="0">
                <a:ln>
                  <a:noFill/>
                </a:ln>
                <a:solidFill>
                  <a:srgbClr val="002060"/>
                </a:solidFill>
                <a:effectLst/>
                <a:uLnTx/>
                <a:uFillTx/>
                <a:latin typeface="Bell MT" pitchFamily="18" charset="0"/>
                <a:ea typeface="+mn-ea"/>
                <a:cs typeface="+mn-cs"/>
              </a:rPr>
              <a:t>The Generally Accepted Privacy Principles, or GAPP were developed through a collaboration between four major industry organizations.</a:t>
            </a:r>
          </a:p>
        </p:txBody>
      </p:sp>
      <p:pic>
        <p:nvPicPr>
          <p:cNvPr id="7" name="Picture 6">
            <a:extLst>
              <a:ext uri="{FF2B5EF4-FFF2-40B4-BE49-F238E27FC236}">
                <a16:creationId xmlns:a16="http://schemas.microsoft.com/office/drawing/2014/main" id="{B21CFCBE-F632-4EFE-9250-AA76869191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2" y="1108953"/>
            <a:ext cx="12182475" cy="5206122"/>
          </a:xfrm>
          <a:prstGeom prst="rect">
            <a:avLst/>
          </a:prstGeom>
        </p:spPr>
      </p:pic>
    </p:spTree>
    <p:extLst>
      <p:ext uri="{BB962C8B-B14F-4D97-AF65-F5344CB8AC3E}">
        <p14:creationId xmlns:p14="http://schemas.microsoft.com/office/powerpoint/2010/main" val="371022974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4D1235D-6306-4E53-9C4B-913B2FF364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71475"/>
            <a:ext cx="12192000" cy="2452991"/>
          </a:xfrm>
          <a:prstGeom prst="rect">
            <a:avLst/>
          </a:prstGeom>
        </p:spPr>
      </p:pic>
      <p:pic>
        <p:nvPicPr>
          <p:cNvPr id="6" name="Picture 5">
            <a:extLst>
              <a:ext uri="{FF2B5EF4-FFF2-40B4-BE49-F238E27FC236}">
                <a16:creationId xmlns:a16="http://schemas.microsoft.com/office/drawing/2014/main" id="{CB485971-136B-4634-B02E-724207437450}"/>
              </a:ext>
            </a:extLst>
          </p:cNvPr>
          <p:cNvPicPr>
            <a:picLocks noChangeAspect="1"/>
          </p:cNvPicPr>
          <p:nvPr/>
        </p:nvPicPr>
        <p:blipFill>
          <a:blip r:embed="rId3"/>
          <a:stretch>
            <a:fillRect/>
          </a:stretch>
        </p:blipFill>
        <p:spPr>
          <a:xfrm>
            <a:off x="47715" y="3429000"/>
            <a:ext cx="12144285" cy="2621507"/>
          </a:xfrm>
          <a:prstGeom prst="rect">
            <a:avLst/>
          </a:prstGeom>
        </p:spPr>
      </p:pic>
    </p:spTree>
    <p:extLst>
      <p:ext uri="{BB962C8B-B14F-4D97-AF65-F5344CB8AC3E}">
        <p14:creationId xmlns:p14="http://schemas.microsoft.com/office/powerpoint/2010/main" val="112251886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DBB1EA8-5385-47D3-8121-D3DCCB0720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9816"/>
            <a:ext cx="12144375" cy="2761034"/>
          </a:xfrm>
          <a:prstGeom prst="rect">
            <a:avLst/>
          </a:prstGeom>
        </p:spPr>
      </p:pic>
      <p:pic>
        <p:nvPicPr>
          <p:cNvPr id="6" name="Picture 5">
            <a:extLst>
              <a:ext uri="{FF2B5EF4-FFF2-40B4-BE49-F238E27FC236}">
                <a16:creationId xmlns:a16="http://schemas.microsoft.com/office/drawing/2014/main" id="{88AC7509-ED2F-4688-8F2D-F3B9E026BC3C}"/>
              </a:ext>
            </a:extLst>
          </p:cNvPr>
          <p:cNvPicPr>
            <a:picLocks noChangeAspect="1"/>
          </p:cNvPicPr>
          <p:nvPr/>
        </p:nvPicPr>
        <p:blipFill>
          <a:blip r:embed="rId3"/>
          <a:stretch>
            <a:fillRect/>
          </a:stretch>
        </p:blipFill>
        <p:spPr>
          <a:xfrm>
            <a:off x="0" y="3657600"/>
            <a:ext cx="12144285" cy="2363472"/>
          </a:xfrm>
          <a:prstGeom prst="rect">
            <a:avLst/>
          </a:prstGeom>
        </p:spPr>
      </p:pic>
    </p:spTree>
    <p:extLst>
      <p:ext uri="{BB962C8B-B14F-4D97-AF65-F5344CB8AC3E}">
        <p14:creationId xmlns:p14="http://schemas.microsoft.com/office/powerpoint/2010/main" val="107225994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D1C6A35-40F4-4A3B-BEDA-612F3DD32E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61950"/>
            <a:ext cx="12192000" cy="2581275"/>
          </a:xfrm>
          <a:prstGeom prst="rect">
            <a:avLst/>
          </a:prstGeom>
        </p:spPr>
      </p:pic>
      <p:pic>
        <p:nvPicPr>
          <p:cNvPr id="5" name="Picture 4">
            <a:extLst>
              <a:ext uri="{FF2B5EF4-FFF2-40B4-BE49-F238E27FC236}">
                <a16:creationId xmlns:a16="http://schemas.microsoft.com/office/drawing/2014/main" id="{D00ED942-A838-436D-A2C3-5E290CDB4CB9}"/>
              </a:ext>
            </a:extLst>
          </p:cNvPr>
          <p:cNvPicPr>
            <a:picLocks noChangeAspect="1"/>
          </p:cNvPicPr>
          <p:nvPr/>
        </p:nvPicPr>
        <p:blipFill>
          <a:blip r:embed="rId3"/>
          <a:stretch>
            <a:fillRect/>
          </a:stretch>
        </p:blipFill>
        <p:spPr>
          <a:xfrm>
            <a:off x="0" y="3303902"/>
            <a:ext cx="12144285" cy="2993395"/>
          </a:xfrm>
          <a:prstGeom prst="rect">
            <a:avLst/>
          </a:prstGeom>
        </p:spPr>
      </p:pic>
    </p:spTree>
    <p:extLst>
      <p:ext uri="{BB962C8B-B14F-4D97-AF65-F5344CB8AC3E}">
        <p14:creationId xmlns:p14="http://schemas.microsoft.com/office/powerpoint/2010/main" val="128023649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57A742-11BB-4C1D-855B-5412061F8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1938"/>
            <a:ext cx="12192000" cy="2639436"/>
          </a:xfrm>
          <a:prstGeom prst="rect">
            <a:avLst/>
          </a:prstGeom>
        </p:spPr>
      </p:pic>
      <p:pic>
        <p:nvPicPr>
          <p:cNvPr id="5" name="Picture 4">
            <a:extLst>
              <a:ext uri="{FF2B5EF4-FFF2-40B4-BE49-F238E27FC236}">
                <a16:creationId xmlns:a16="http://schemas.microsoft.com/office/drawing/2014/main" id="{3AE42460-0FFD-40C1-865A-90B3F367109F}"/>
              </a:ext>
            </a:extLst>
          </p:cNvPr>
          <p:cNvPicPr>
            <a:picLocks noChangeAspect="1"/>
          </p:cNvPicPr>
          <p:nvPr/>
        </p:nvPicPr>
        <p:blipFill>
          <a:blip r:embed="rId3"/>
          <a:stretch>
            <a:fillRect/>
          </a:stretch>
        </p:blipFill>
        <p:spPr>
          <a:xfrm>
            <a:off x="148443" y="3667125"/>
            <a:ext cx="12180864" cy="2639436"/>
          </a:xfrm>
          <a:prstGeom prst="rect">
            <a:avLst/>
          </a:prstGeom>
        </p:spPr>
      </p:pic>
    </p:spTree>
    <p:extLst>
      <p:ext uri="{BB962C8B-B14F-4D97-AF65-F5344CB8AC3E}">
        <p14:creationId xmlns:p14="http://schemas.microsoft.com/office/powerpoint/2010/main" val="19596192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5CA66D7-16EC-4D36-9D45-BC2C36505B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0025"/>
            <a:ext cx="12106275" cy="2581275"/>
          </a:xfrm>
          <a:prstGeom prst="rect">
            <a:avLst/>
          </a:prstGeom>
        </p:spPr>
      </p:pic>
      <p:pic>
        <p:nvPicPr>
          <p:cNvPr id="5" name="Picture 4">
            <a:extLst>
              <a:ext uri="{FF2B5EF4-FFF2-40B4-BE49-F238E27FC236}">
                <a16:creationId xmlns:a16="http://schemas.microsoft.com/office/drawing/2014/main" id="{28F4141F-B343-4D20-B5C0-F329301F79C3}"/>
              </a:ext>
            </a:extLst>
          </p:cNvPr>
          <p:cNvPicPr>
            <a:picLocks noChangeAspect="1"/>
          </p:cNvPicPr>
          <p:nvPr/>
        </p:nvPicPr>
        <p:blipFill>
          <a:blip r:embed="rId3"/>
          <a:stretch>
            <a:fillRect/>
          </a:stretch>
        </p:blipFill>
        <p:spPr>
          <a:xfrm>
            <a:off x="85725" y="2933701"/>
            <a:ext cx="12144285" cy="2438399"/>
          </a:xfrm>
          <a:prstGeom prst="rect">
            <a:avLst/>
          </a:prstGeom>
        </p:spPr>
      </p:pic>
      <p:sp>
        <p:nvSpPr>
          <p:cNvPr id="6" name="Rectangle 5">
            <a:extLst>
              <a:ext uri="{FF2B5EF4-FFF2-40B4-BE49-F238E27FC236}">
                <a16:creationId xmlns:a16="http://schemas.microsoft.com/office/drawing/2014/main" id="{DC1AAACA-F75F-4266-AA5B-CE48471CC703}"/>
              </a:ext>
            </a:extLst>
          </p:cNvPr>
          <p:cNvSpPr/>
          <p:nvPr/>
        </p:nvSpPr>
        <p:spPr>
          <a:xfrm>
            <a:off x="85725" y="5524501"/>
            <a:ext cx="12020550" cy="646331"/>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800" b="0" i="0" u="none" strike="noStrike" kern="1200" cap="none" spc="0" normalizeH="0" baseline="0" noProof="0" dirty="0">
                <a:ln>
                  <a:noFill/>
                </a:ln>
                <a:solidFill>
                  <a:srgbClr val="002060"/>
                </a:solidFill>
                <a:effectLst/>
                <a:uLnTx/>
                <a:uFillTx/>
                <a:latin typeface="Calibri Light"/>
                <a:ea typeface="+mn-ea"/>
                <a:cs typeface="+mn-cs"/>
              </a:rPr>
              <a:t>Each of these 10 GAPP principles plays an important role in developing a comprehensive information privacy program.</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800" b="0" i="0" u="none" strike="noStrike" kern="1200" cap="none" spc="0" normalizeH="0" baseline="0" noProof="0" dirty="0">
                <a:ln>
                  <a:noFill/>
                </a:ln>
                <a:solidFill>
                  <a:srgbClr val="002060"/>
                </a:solidFill>
                <a:effectLst/>
                <a:uLnTx/>
                <a:uFillTx/>
                <a:latin typeface="Calibri Light"/>
                <a:ea typeface="+mn-ea"/>
                <a:cs typeface="+mn-cs"/>
              </a:rPr>
              <a:t>Data owners should ensure that these principles are followed for each element of personal information under their control.</a:t>
            </a:r>
          </a:p>
        </p:txBody>
      </p:sp>
    </p:spTree>
    <p:extLst>
      <p:ext uri="{BB962C8B-B14F-4D97-AF65-F5344CB8AC3E}">
        <p14:creationId xmlns:p14="http://schemas.microsoft.com/office/powerpoint/2010/main" val="2118272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296</TotalTime>
  <Words>1760</Words>
  <Application>Microsoft Office PowerPoint</Application>
  <PresentationFormat>Widescreen</PresentationFormat>
  <Paragraphs>142</Paragraphs>
  <Slides>103</Slides>
  <Notes>13</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103</vt:i4>
      </vt:variant>
    </vt:vector>
  </HeadingPairs>
  <TitlesOfParts>
    <vt:vector size="115" baseType="lpstr">
      <vt:lpstr>Arial</vt:lpstr>
      <vt:lpstr>Bahnschrift</vt:lpstr>
      <vt:lpstr>Bell MT</vt:lpstr>
      <vt:lpstr>Berlin Sans FB</vt:lpstr>
      <vt:lpstr>Berlin Sans FB Demi</vt:lpstr>
      <vt:lpstr>Calibri</vt:lpstr>
      <vt:lpstr>Calibri Light</vt:lpstr>
      <vt:lpstr>Courier New</vt:lpstr>
      <vt:lpstr>Times New Roman</vt:lpstr>
      <vt:lpstr>Wingdings</vt:lpstr>
      <vt:lpstr>Office Theme</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YOUSSRY KHATTAB</dc:creator>
  <cp:lastModifiedBy>YOUSSRY KHATTAB</cp:lastModifiedBy>
  <cp:revision>17</cp:revision>
  <dcterms:created xsi:type="dcterms:W3CDTF">2022-11-08T20:25:56Z</dcterms:created>
  <dcterms:modified xsi:type="dcterms:W3CDTF">2023-06-12T10:32:27Z</dcterms:modified>
</cp:coreProperties>
</file>
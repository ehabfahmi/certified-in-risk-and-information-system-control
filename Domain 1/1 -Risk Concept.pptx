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1"/>
  </p:notesMasterIdLst>
  <p:sldIdLst>
    <p:sldId id="2766" r:id="rId3"/>
    <p:sldId id="2767" r:id="rId4"/>
    <p:sldId id="2768" r:id="rId5"/>
    <p:sldId id="2770" r:id="rId6"/>
    <p:sldId id="2771" r:id="rId7"/>
    <p:sldId id="2772" r:id="rId8"/>
    <p:sldId id="2773" r:id="rId9"/>
    <p:sldId id="2774" r:id="rId10"/>
    <p:sldId id="2775" r:id="rId11"/>
    <p:sldId id="2776" r:id="rId12"/>
    <p:sldId id="2777" r:id="rId13"/>
    <p:sldId id="2778" r:id="rId14"/>
    <p:sldId id="2779" r:id="rId15"/>
    <p:sldId id="2780" r:id="rId16"/>
    <p:sldId id="2781" r:id="rId17"/>
    <p:sldId id="2782" r:id="rId18"/>
    <p:sldId id="2783" r:id="rId19"/>
    <p:sldId id="2784" r:id="rId20"/>
    <p:sldId id="394" r:id="rId21"/>
    <p:sldId id="2785" r:id="rId22"/>
    <p:sldId id="393" r:id="rId23"/>
    <p:sldId id="2786" r:id="rId24"/>
    <p:sldId id="2787" r:id="rId25"/>
    <p:sldId id="2788" r:id="rId26"/>
    <p:sldId id="2789" r:id="rId27"/>
    <p:sldId id="2790" r:id="rId28"/>
    <p:sldId id="407" r:id="rId29"/>
    <p:sldId id="2801" r:id="rId30"/>
    <p:sldId id="2802" r:id="rId31"/>
    <p:sldId id="2806" r:id="rId32"/>
    <p:sldId id="2807" r:id="rId33"/>
    <p:sldId id="2808" r:id="rId34"/>
    <p:sldId id="2809" r:id="rId35"/>
    <p:sldId id="2811" r:id="rId36"/>
    <p:sldId id="2812" r:id="rId37"/>
    <p:sldId id="2816" r:id="rId38"/>
    <p:sldId id="2817" r:id="rId39"/>
    <p:sldId id="281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E79D7-4BE4-4509-BFDE-94F01110EC09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66855-FC37-4187-BDB1-23361400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5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66855-FC37-4187-BDB1-23361400CA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27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en-US" sz="1400" b="0" i="0" u="none" strike="noStrike" kern="1200" cap="none" spc="0" normalizeH="0" baseline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66855-FC37-4187-BDB1-23361400CAD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7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B7D8-04FF-A7EE-67EB-F43C8EFAF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44EF8-584C-9659-3E07-996929367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C27C8-64FD-DD78-CEF9-D2BDA479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977E0-BDEB-5FA9-9DFD-2481B670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CC86-88DD-A951-55A4-0A13E429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8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2E820-1E68-3FBA-49DA-1D40898CE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720BC-3212-1FFB-087C-3CB14819F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19402-AFDE-8C79-3B52-AE956DF8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418E2-1F92-F121-684D-A60F98088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55F1B-7B13-849B-2953-F2F8466F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20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0E97-D288-DB59-D5FD-DD5E06007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B0025-BA66-598C-8B9C-4FDE2954A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DD7A9-A9EA-4FBE-B091-722B48D9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BAF56-0296-F0EF-668E-546FD885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47301-9135-7AC5-7937-9182663F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12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81A3-DB79-668F-8D2C-76E183C3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4DBA3-92F5-FD80-ED6D-B5C351852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D6702-2396-B047-F6B1-5D45965E3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2354C-A9B2-7BC7-C026-AFC4208F0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16E35-9A24-1E6C-DD46-B022EDA5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CCCFA-C870-DEE6-128D-9B809C75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48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4D77-D643-4662-ED86-A991FF8D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1591B-33D8-2A88-D3C2-8444DF402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8B6D5-BE19-74EA-847D-794123D8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68FDB5-F427-8A9D-E96C-850DEF151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0D2F4-05E8-F930-DC05-842B0316F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1C87C-0FA1-B2A1-7AD7-7EC986E0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A894EA-F037-5ACC-325C-428F2D82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1ADC4-5682-7BAD-468A-3AA4DD4A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8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014E-64A0-DFE4-1FB7-C594B414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DAD763-8491-2DFE-D82E-4B78FDED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922A0-CF41-D1CB-231A-BB31293B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868C6-39E9-CD7A-6953-A4190095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8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FAC3B-99FC-402A-F7A5-CFF77547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C545D-1E4B-CA35-422B-FA9FA5D2D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5D7C6-BCE2-BCD0-5BAE-AE9F632B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31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9ECD-5A57-AC5E-8329-4826CD18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1C9D5-F477-B836-773E-49FE20D0E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899E0-F05A-9E24-B3B6-111EBF594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EA06C-D1D7-BC58-37CB-C698BA07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97822-3DBF-3FF6-D63D-8416CE97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2486A-5FB5-42F9-C983-7A957BD1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8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46DA-BE2E-F3A6-BC45-A936702A0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2416E-0D83-4BCF-2E49-ECD93E740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6835F-C5E1-5E0B-F63A-3086DB65F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9FC60-94AE-84F2-95F1-02510F52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51107-A86D-A88D-792F-05F5444F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2331E-7990-503F-4898-A26B170A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6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49C5-EAF3-3C7B-D493-003ED6BA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46529-9E1F-6FFF-FB2F-5D52BA5A0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1DB03-CA97-7232-BFA8-39A1C721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9E9D5-F19D-3B1C-8E15-810E2913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6708A-0941-0177-34B6-AD4E7D60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9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393DD3-1A86-B43D-012E-BD571A6D3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262FC4-BD46-3218-9C91-1587CC428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CC6A-447C-2833-A802-16241A56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447BE-5CCF-67A6-F524-7CD8B3C3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DEEF8-80E6-474F-0995-80F8B588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16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157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87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077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98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1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25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53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89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071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281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2BF9C4-61EA-94F9-328E-C19C8B43C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9F499-A8C4-F3D2-3EA2-BE54C8049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62832-52EC-4764-AF6E-AC02900BA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C0923-909C-4FCA-9597-68B0711FFBE3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BC629-378E-962A-3777-A568F0BE2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480B-53DB-BF8B-E18F-A545A9F74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04A43-D8D5-409A-B583-D490D6122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1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072490D-569B-4A9C-B9BB-4F77B651EC5B}" type="datetimeFigureOut">
              <a:rPr lang="en-US" smtClean="0"/>
              <a:t>6/17/2023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01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23D332F-1ABC-90A1-803D-9623A2040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1830050" cy="646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11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4B6B22-0801-2928-A46C-77F6BA09D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66700"/>
            <a:ext cx="11314176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46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379FBE-C7F5-231D-01F4-52ECEBE85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1028700"/>
            <a:ext cx="97345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7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6F1E88-9731-9809-7ADC-C2DF9DCEB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" y="196669"/>
            <a:ext cx="11119104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1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5484D-F1D4-566F-DFB6-51E1D695A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806450"/>
            <a:ext cx="10436352" cy="52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66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44752D-ADD4-63B2-16AB-471089FD4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8" y="299720"/>
            <a:ext cx="10631424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49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2EFE7B-70EA-D0B0-86A9-1857BDA55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48" y="882650"/>
            <a:ext cx="9899904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81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65201-1FC8-329D-59B9-9CE730CAA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8" y="323850"/>
            <a:ext cx="10631424" cy="577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2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4045A0-4AAD-01E7-8BEE-3C3C63A36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44" y="781050"/>
            <a:ext cx="10192512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03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4CA61D-EFDD-3A8C-9546-10050F4E5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08" y="337584"/>
            <a:ext cx="994867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69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05E937-7E92-6B17-98EB-3B8B72E1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64" y="1238250"/>
            <a:ext cx="9948672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44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9E2E9F-AB15-3816-24FE-F4FC10421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48" y="1009650"/>
            <a:ext cx="9899904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04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F55BDF-039A-4691-FED9-9B6097FC6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48" y="1193800"/>
            <a:ext cx="9899904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9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AFFCDB-984D-1093-ED5A-C394BCC58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96" y="901700"/>
            <a:ext cx="10046208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9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FCBBDC-1A95-BFEB-77CB-99270CCC1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64" y="1104900"/>
            <a:ext cx="9948672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61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05CF5-C661-1417-ED33-4114856F0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48" y="1073150"/>
            <a:ext cx="9899904" cy="47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61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474CCF-C502-2378-41E3-B81294981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64" y="1873250"/>
            <a:ext cx="9948672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602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6BD11C-684E-F69F-B779-B861CECF3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44" y="717550"/>
            <a:ext cx="10192512" cy="542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89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FA725E-7520-8DDF-DA0B-0B67681FDE27}"/>
              </a:ext>
            </a:extLst>
          </p:cNvPr>
          <p:cNvSpPr txBox="1"/>
          <p:nvPr/>
        </p:nvSpPr>
        <p:spPr>
          <a:xfrm>
            <a:off x="2205789" y="320388"/>
            <a:ext cx="73873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Vulnerabilities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list of vulnerabilities – this is not a definitive list, it must be adapted to the individual organization: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EB311-A99C-C3DA-A76C-71529F727BF1}"/>
              </a:ext>
            </a:extLst>
          </p:cNvPr>
          <p:cNvSpPr txBox="1"/>
          <p:nvPr/>
        </p:nvSpPr>
        <p:spPr>
          <a:xfrm>
            <a:off x="352926" y="1554646"/>
            <a:ext cx="359343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Complicated user interface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Default passwords not changed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Disposal of storage media without deleting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Equipment sensitivity to changes in voltage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Equipment sensitivity to moisture and contaminants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Equipment sensitivity to temperature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cabling security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capacity management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change management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classification of information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control of physical access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maintenance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Inadequate network management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Inadequate or irregular backup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Inadequate password management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Lack of policy for the use of cryptography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2B368-1780-2D9B-3F93-8836D5561540}"/>
              </a:ext>
            </a:extLst>
          </p:cNvPr>
          <p:cNvSpPr txBox="1"/>
          <p:nvPr/>
        </p:nvSpPr>
        <p:spPr>
          <a:xfrm>
            <a:off x="4379494" y="1554646"/>
            <a:ext cx="39222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7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physical protection</a:t>
            </a:r>
          </a:p>
          <a:p>
            <a:pPr marL="342900" indent="-342900">
              <a:buFont typeface="+mj-lt"/>
              <a:buAutoNum type="arabicPeriod" startAt="17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protection of cryptographic keys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7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Inadequate replacement of older equipment</a:t>
            </a:r>
          </a:p>
          <a:p>
            <a:pPr marL="342900" indent="-342900">
              <a:buFont typeface="+mj-lt"/>
              <a:buAutoNum type="arabicPeriod" startAt="17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security awareness</a:t>
            </a:r>
          </a:p>
          <a:p>
            <a:pPr marL="342900" indent="-342900">
              <a:buFont typeface="+mj-lt"/>
              <a:buAutoNum type="arabicPeriod" startAt="17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segregation of duties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7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Inadequate segregation of operational and testing facilities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7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Inadequate supervision of employees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7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Inadequate supervision of vendors</a:t>
            </a:r>
          </a:p>
          <a:p>
            <a:pPr marL="342900" indent="-342900">
              <a:buFont typeface="+mj-lt"/>
              <a:buAutoNum type="arabicPeriod" startAt="17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Inadequate training of employees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7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Incomplete specification for software development</a:t>
            </a:r>
          </a:p>
          <a:p>
            <a:pPr marL="342900" indent="-342900">
              <a:buFont typeface="+mj-lt"/>
              <a:buAutoNum type="arabicPeriod" startAt="17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Insufficient software testing</a:t>
            </a:r>
          </a:p>
          <a:p>
            <a:pPr marL="342900" indent="-342900">
              <a:buFont typeface="+mj-lt"/>
              <a:buAutoNum type="arabicPeriod" startAt="17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Lack of access control policy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7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Lack of clean desk and clear screen policy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7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Lack of control over the input and output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7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Lack of internal documentation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7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Lack of or poor implementation of internal audit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51BAB-B66B-4534-FD3C-E9C8EB830EA2}"/>
              </a:ext>
            </a:extLst>
          </p:cNvPr>
          <p:cNvSpPr txBox="1"/>
          <p:nvPr/>
        </p:nvSpPr>
        <p:spPr>
          <a:xfrm>
            <a:off x="8534400" y="1554646"/>
            <a:ext cx="3657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Lack of procedure for removing access rights upon termination of employment</a:t>
            </a:r>
          </a:p>
          <a:p>
            <a:pPr marL="342900" indent="-342900">
              <a:buFont typeface="+mj-lt"/>
              <a:buAutoNum type="arabicPeriod" startAt="33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Lack of protection for mobile equipment</a:t>
            </a:r>
          </a:p>
          <a:p>
            <a:pPr marL="342900" indent="-342900">
              <a:buFont typeface="+mj-lt"/>
              <a:buAutoNum type="arabicPeriod" startAt="33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Lack of redundancy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Lack of systems for identification and authentication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Lack of validation of the processed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Location vulnerable to flooding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Poor selection of test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Single copy</a:t>
            </a:r>
          </a:p>
          <a:p>
            <a:pPr marL="342900" indent="-342900">
              <a:buFont typeface="+mj-lt"/>
              <a:buAutoNum type="arabicPeriod" startAt="33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Too much power in one person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Uncontrolled copying of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Uncontrolled download from the Internet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Uncontrolled use of information systems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Undocumented software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3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Unmotivated employees</a:t>
            </a:r>
          </a:p>
          <a:p>
            <a:pPr marL="342900" indent="-342900">
              <a:buFont typeface="+mj-lt"/>
              <a:buAutoNum type="arabicPeriod" startAt="33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Unprotected public network connections</a:t>
            </a:r>
          </a:p>
          <a:p>
            <a:pPr marL="342900" indent="-342900">
              <a:buFont typeface="+mj-lt"/>
              <a:buAutoNum type="arabicPeriod" startAt="33"/>
              <a:defRPr/>
            </a:pPr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User rights are not reviewed regularly</a:t>
            </a:r>
          </a:p>
        </p:txBody>
      </p:sp>
    </p:spTree>
    <p:extLst>
      <p:ext uri="{BB962C8B-B14F-4D97-AF65-F5344CB8AC3E}">
        <p14:creationId xmlns:p14="http://schemas.microsoft.com/office/powerpoint/2010/main" val="3819067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BDB67D-AC02-67B1-A479-2B9A03F88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23" y="282873"/>
            <a:ext cx="7529878" cy="3494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514C94-3560-35DC-C641-BF5C9DC0F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23" y="3886198"/>
            <a:ext cx="7675287" cy="235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58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53A3C7-A6D0-6352-412A-3FA11C365183}"/>
              </a:ext>
            </a:extLst>
          </p:cNvPr>
          <p:cNvSpPr txBox="1"/>
          <p:nvPr/>
        </p:nvSpPr>
        <p:spPr>
          <a:xfrm>
            <a:off x="3517990" y="17022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erlin Sans FB Demi" panose="020E0802020502020306" pitchFamily="34" charset="0"/>
                <a:ea typeface="+mn-ea"/>
                <a:cs typeface="+mn-cs"/>
              </a:rPr>
              <a:t>Catalogue of threats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E722C-CC31-4E44-7909-2B490C4273B1}"/>
              </a:ext>
            </a:extLst>
          </p:cNvPr>
          <p:cNvSpPr txBox="1"/>
          <p:nvPr/>
        </p:nvSpPr>
        <p:spPr>
          <a:xfrm>
            <a:off x="901597" y="628708"/>
            <a:ext cx="100477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This list of threats and vulnerabilities can serve as a help for implementing risk assessment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each organization must add their own specific threats and vulnerabilities that endanger the confidentiality, integrity and availability of their assets.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Below is a list of threats – this is not a definitive list, it must be adapted to the individual organization: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19554-ADC0-D2F6-BD2E-FDC2151F19B3}"/>
              </a:ext>
            </a:extLst>
          </p:cNvPr>
          <p:cNvSpPr txBox="1"/>
          <p:nvPr/>
        </p:nvSpPr>
        <p:spPr>
          <a:xfrm>
            <a:off x="377966" y="2779959"/>
            <a:ext cx="399047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Disclosure of passwords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Eavesdropping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Access to the network by unauthorized persons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Bomb threat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Breach of contractual relations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Breach of legislation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Compromising confidential information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Concealing user identity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Damage caused by a third party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Damages resulting from penetration testing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Destruction of records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Disaster (human caused)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Disaster (natural)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Disclosure of information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2EF678-A682-9183-4AC8-2D837D57882C}"/>
              </a:ext>
            </a:extLst>
          </p:cNvPr>
          <p:cNvSpPr txBox="1"/>
          <p:nvPr/>
        </p:nvSpPr>
        <p:spPr>
          <a:xfrm>
            <a:off x="4617958" y="2672238"/>
            <a:ext cx="295608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Errors in maintenance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Failure of communication links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Falsification of records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Fire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Flood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Fraud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Industrial espionage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Information leakage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Interruption of business processes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Loss of electricity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Loss of support services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Malfunction of equipment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Malicious code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Misuse of information systems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Misuse of audit tools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Pollution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CF5AD1-69B3-264E-3EFE-273AC93B73A3}"/>
              </a:ext>
            </a:extLst>
          </p:cNvPr>
          <p:cNvSpPr txBox="1"/>
          <p:nvPr/>
        </p:nvSpPr>
        <p:spPr>
          <a:xfrm>
            <a:off x="8073079" y="2672238"/>
            <a:ext cx="430860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Social engineering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Software errors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Strike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Terrorist attacks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Theft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Thunderstroke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Unintentional change of data in an information system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Unauthorized access to the information system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Unauthorized changes of records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Unauthorized installation of software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Unauthorized physical access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Unauthorized use of copyright material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Unauthorized use of software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User error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srgbClr val="7030A0"/>
                </a:solidFill>
                <a:latin typeface="Berlin Sans FB" panose="020E0602020502020306" pitchFamily="34" charset="0"/>
              </a:rPr>
              <a:t>Vandalism</a:t>
            </a:r>
          </a:p>
        </p:txBody>
      </p:sp>
    </p:spTree>
    <p:extLst>
      <p:ext uri="{BB962C8B-B14F-4D97-AF65-F5344CB8AC3E}">
        <p14:creationId xmlns:p14="http://schemas.microsoft.com/office/powerpoint/2010/main" val="3900608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E08877-9F0D-24E9-F40F-247707230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168400"/>
            <a:ext cx="10143744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2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56DC4-564A-C0A8-B3B4-9927AC68F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48" y="1136650"/>
            <a:ext cx="9899904" cy="458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27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04A023-86EB-1053-6BB3-36B7B1AD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965200"/>
            <a:ext cx="9704832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06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0CBF6-D310-1556-34DB-A26541162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44" y="401084"/>
            <a:ext cx="10192512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01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B8C716-4094-74ED-83CA-E7535385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16" y="838200"/>
            <a:ext cx="9802368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92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F78F0A-DAEB-4E6C-440C-4EAD039C1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11" y="0"/>
            <a:ext cx="10332432" cy="630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886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13E52-EC13-3105-3A43-58564687B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16" y="927100"/>
            <a:ext cx="9802368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92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50E210-348C-E497-5BCA-F0C9B7447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996950"/>
            <a:ext cx="950976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879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DF706-4B7A-4B7A-1E4D-5D856F72D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066800"/>
            <a:ext cx="9851136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051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4FE5EC-0E2F-419F-7E38-25DA51009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1047750"/>
            <a:ext cx="9704832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95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971F62-6F32-EF3E-BAE2-F967729FE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612900"/>
            <a:ext cx="9851136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9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D28DF-038F-C3B9-D0DA-0598286AC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16" y="977900"/>
            <a:ext cx="9802368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773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C8D45-70C6-8A4A-4FBB-6C67CC253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64" y="831850"/>
            <a:ext cx="9948672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393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2FF15F-0F9D-EA8D-FAD9-ED8BF16AF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857250"/>
            <a:ext cx="101437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400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5DC02-076C-2F7D-53D7-6557DB44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48" y="857250"/>
            <a:ext cx="98999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417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97D03-4853-E8B1-2438-10EC1FEDF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48" y="666750"/>
            <a:ext cx="9899904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64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E74922-3BE5-1F89-EB2B-66DB67BD0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" y="1479550"/>
            <a:ext cx="10094976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326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</TotalTime>
  <Words>455</Words>
  <Application>Microsoft Office PowerPoint</Application>
  <PresentationFormat>Widescreen</PresentationFormat>
  <Paragraphs>103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Berlin Sans FB</vt:lpstr>
      <vt:lpstr>Berlin Sans FB Demi</vt:lpstr>
      <vt:lpstr>Calibri</vt:lpstr>
      <vt:lpstr>Calibri Light</vt:lpstr>
      <vt:lpstr>Wingdings</vt:lpstr>
      <vt:lpstr>Office Theme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YOUSSRY KHATTAB</dc:creator>
  <cp:lastModifiedBy>YOUSSRY KHATTAB</cp:lastModifiedBy>
  <cp:revision>9</cp:revision>
  <dcterms:created xsi:type="dcterms:W3CDTF">2023-05-08T06:44:08Z</dcterms:created>
  <dcterms:modified xsi:type="dcterms:W3CDTF">2023-06-17T09:57:41Z</dcterms:modified>
</cp:coreProperties>
</file>
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51"/>
  </p:notesMasterIdLst>
  <p:sldIdLst>
    <p:sldId id="503" r:id="rId3"/>
    <p:sldId id="283" r:id="rId4"/>
    <p:sldId id="284" r:id="rId5"/>
    <p:sldId id="285" r:id="rId6"/>
    <p:sldId id="504" r:id="rId7"/>
    <p:sldId id="289" r:id="rId8"/>
    <p:sldId id="290" r:id="rId9"/>
    <p:sldId id="287" r:id="rId10"/>
    <p:sldId id="288" r:id="rId11"/>
    <p:sldId id="291" r:id="rId12"/>
    <p:sldId id="292" r:id="rId13"/>
    <p:sldId id="293" r:id="rId14"/>
    <p:sldId id="294" r:id="rId15"/>
    <p:sldId id="295" r:id="rId16"/>
    <p:sldId id="546" r:id="rId17"/>
    <p:sldId id="1149" r:id="rId18"/>
    <p:sldId id="1150" r:id="rId19"/>
    <p:sldId id="1145" r:id="rId20"/>
    <p:sldId id="1147" r:id="rId21"/>
    <p:sldId id="1148" r:id="rId22"/>
    <p:sldId id="2053" r:id="rId23"/>
    <p:sldId id="299" r:id="rId24"/>
    <p:sldId id="547" r:id="rId25"/>
    <p:sldId id="301" r:id="rId26"/>
    <p:sldId id="302" r:id="rId27"/>
    <p:sldId id="1961" r:id="rId28"/>
    <p:sldId id="304" r:id="rId29"/>
    <p:sldId id="305" r:id="rId30"/>
    <p:sldId id="1962" r:id="rId31"/>
    <p:sldId id="1963" r:id="rId32"/>
    <p:sldId id="1964" r:id="rId33"/>
    <p:sldId id="1968" r:id="rId34"/>
    <p:sldId id="1969" r:id="rId35"/>
    <p:sldId id="1970" r:id="rId36"/>
    <p:sldId id="263" r:id="rId37"/>
    <p:sldId id="1972" r:id="rId38"/>
    <p:sldId id="1975" r:id="rId39"/>
    <p:sldId id="1303" r:id="rId40"/>
    <p:sldId id="1976" r:id="rId41"/>
    <p:sldId id="1977" r:id="rId42"/>
    <p:sldId id="261" r:id="rId43"/>
    <p:sldId id="1261" r:id="rId44"/>
    <p:sldId id="2052" r:id="rId45"/>
    <p:sldId id="308" r:id="rId46"/>
    <p:sldId id="309" r:id="rId47"/>
    <p:sldId id="310" r:id="rId48"/>
    <p:sldId id="311" r:id="rId49"/>
    <p:sldId id="2818"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2" d="100"/>
          <a:sy n="122" d="100"/>
        </p:scale>
        <p:origin x="11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6F1F5C-A325-440B-80EC-DFCE99551BA9}" type="datetimeFigureOut">
              <a:rPr lang="en-US" smtClean="0"/>
              <a:t>6/19/2023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E67DFE-2944-4B0F-90D4-B3B4BCC7D6F4}" type="slidenum">
              <a:rPr lang="en-US" smtClean="0"/>
              <a:t>‹#›</a:t>
            </a:fld>
            <a:endParaRPr lang="en-US"/>
          </a:p>
        </p:txBody>
      </p:sp>
    </p:spTree>
    <p:extLst>
      <p:ext uri="{BB962C8B-B14F-4D97-AF65-F5344CB8AC3E}">
        <p14:creationId xmlns:p14="http://schemas.microsoft.com/office/powerpoint/2010/main" val="74239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E67DFE-2944-4B0F-90D4-B3B4BCC7D6F4}" type="slidenum">
              <a:rPr lang="en-US" smtClean="0"/>
              <a:t>11</a:t>
            </a:fld>
            <a:endParaRPr lang="en-US"/>
          </a:p>
        </p:txBody>
      </p:sp>
    </p:spTree>
    <p:extLst>
      <p:ext uri="{BB962C8B-B14F-4D97-AF65-F5344CB8AC3E}">
        <p14:creationId xmlns:p14="http://schemas.microsoft.com/office/powerpoint/2010/main" val="3779164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E67DFE-2944-4B0F-90D4-B3B4BCC7D6F4}" type="slidenum">
              <a:rPr lang="en-US" smtClean="0"/>
              <a:t>41</a:t>
            </a:fld>
            <a:endParaRPr lang="en-US"/>
          </a:p>
        </p:txBody>
      </p:sp>
    </p:spTree>
    <p:extLst>
      <p:ext uri="{BB962C8B-B14F-4D97-AF65-F5344CB8AC3E}">
        <p14:creationId xmlns:p14="http://schemas.microsoft.com/office/powerpoint/2010/main" val="2534145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7837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501503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E2CFA0-53A8-433A-A47F-F7ECCA5249C8}"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5066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E2CFA0-53A8-433A-A47F-F7ECCA5249C8}" type="datetimeFigureOut">
              <a:rPr lang="en-US" smtClean="0"/>
              <a:t>6/19/2023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1983671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E2CFA0-53A8-433A-A47F-F7ECCA5249C8}" type="datetimeFigureOut">
              <a:rPr lang="en-US" smtClean="0"/>
              <a:t>6/19/2023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436484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E2CFA0-53A8-433A-A47F-F7ECCA5249C8}" type="datetimeFigureOut">
              <a:rPr lang="en-US" smtClean="0"/>
              <a:t>6/19/2023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916626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FE2CFA0-53A8-433A-A47F-F7ECCA5249C8}" type="datetimeFigureOut">
              <a:rPr lang="en-US" smtClean="0"/>
              <a:t>6/19/2023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1303494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FE2CFA0-53A8-433A-A47F-F7ECCA5249C8}" type="datetimeFigureOut">
              <a:rPr lang="en-US" smtClean="0"/>
              <a:t>6/19/2023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A44C02-18DE-41FE-9E60-4563A10FB45B}" type="slidenum">
              <a:rPr lang="en-US" smtClean="0"/>
              <a:t>‹#›</a:t>
            </a:fld>
            <a:endParaRPr lang="en-US"/>
          </a:p>
        </p:txBody>
      </p:sp>
    </p:spTree>
    <p:extLst>
      <p:ext uri="{BB962C8B-B14F-4D97-AF65-F5344CB8AC3E}">
        <p14:creationId xmlns:p14="http://schemas.microsoft.com/office/powerpoint/2010/main" val="2349413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E2CFA0-53A8-433A-A47F-F7ECCA5249C8}" type="datetimeFigureOut">
              <a:rPr lang="en-US" smtClean="0"/>
              <a:t>6/19/2023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468996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829480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1078511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rgbClr val="FF0000"/>
                </a:solidFill>
                <a:latin typeface="Calibri Light"/>
                <a:cs typeface="Calibri Light"/>
              </a:defRPr>
            </a:lvl1pPr>
          </a:lstStyle>
          <a:p>
            <a:endParaRPr/>
          </a:p>
        </p:txBody>
      </p:sp>
      <p:sp>
        <p:nvSpPr>
          <p:cNvPr id="3" name="Holder 3"/>
          <p:cNvSpPr>
            <a:spLocks noGrp="1"/>
          </p:cNvSpPr>
          <p:nvPr>
            <p:ph sz="half" idx="2"/>
          </p:nvPr>
        </p:nvSpPr>
        <p:spPr>
          <a:xfrm>
            <a:off x="916939" y="1811782"/>
            <a:ext cx="4703445" cy="4135120"/>
          </a:xfrm>
          <a:prstGeom prst="rect">
            <a:avLst/>
          </a:prstGeom>
        </p:spPr>
        <p:txBody>
          <a:bodyPr wrap="square" lIns="0" tIns="0" rIns="0" bIns="0">
            <a:spAutoFit/>
          </a:bodyPr>
          <a:lstStyle>
            <a:lvl1pPr>
              <a:defRPr sz="2000" b="0" i="0">
                <a:solidFill>
                  <a:schemeClr val="tx1"/>
                </a:solidFill>
                <a:latin typeface="Calibri"/>
                <a:cs typeface="Calibri"/>
              </a:defRPr>
            </a:lvl1pPr>
          </a:lstStyle>
          <a:p>
            <a:endParaRPr/>
          </a:p>
        </p:txBody>
      </p:sp>
      <p:sp>
        <p:nvSpPr>
          <p:cNvPr id="4" name="Holder 4"/>
          <p:cNvSpPr>
            <a:spLocks noGrp="1"/>
          </p:cNvSpPr>
          <p:nvPr>
            <p:ph sz="half" idx="3"/>
          </p:nvPr>
        </p:nvSpPr>
        <p:spPr>
          <a:xfrm>
            <a:off x="6175628" y="1802638"/>
            <a:ext cx="4793615" cy="4190365"/>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6/19/2023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4604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7EFC135-6C8E-488D-BA91-F57CB95061B7}"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87C7DB-8D93-4040-8DFE-FFC7BEDD33CB}" type="slidenum">
              <a:rPr lang="en-US" smtClean="0"/>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7345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EFC135-6C8E-488D-BA91-F57CB95061B7}"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87C7DB-8D93-4040-8DFE-FFC7BEDD33CB}" type="slidenum">
              <a:rPr lang="en-US" smtClean="0"/>
              <a:t>‹#›</a:t>
            </a:fld>
            <a:endParaRPr lang="en-US"/>
          </a:p>
        </p:txBody>
      </p:sp>
    </p:spTree>
    <p:extLst>
      <p:ext uri="{BB962C8B-B14F-4D97-AF65-F5344CB8AC3E}">
        <p14:creationId xmlns:p14="http://schemas.microsoft.com/office/powerpoint/2010/main" val="12452957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EFC135-6C8E-488D-BA91-F57CB95061B7}"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87C7DB-8D93-4040-8DFE-FFC7BEDD33CB}" type="slidenum">
              <a:rPr lang="en-US" smtClean="0"/>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53651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7EFC135-6C8E-488D-BA91-F57CB95061B7}" type="datetimeFigureOut">
              <a:rPr lang="en-US" smtClean="0"/>
              <a:t>6/19/2023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87C7DB-8D93-4040-8DFE-FFC7BEDD33CB}" type="slidenum">
              <a:rPr lang="en-US" smtClean="0"/>
              <a:t>‹#›</a:t>
            </a:fld>
            <a:endParaRPr lang="en-US"/>
          </a:p>
        </p:txBody>
      </p:sp>
    </p:spTree>
    <p:extLst>
      <p:ext uri="{BB962C8B-B14F-4D97-AF65-F5344CB8AC3E}">
        <p14:creationId xmlns:p14="http://schemas.microsoft.com/office/powerpoint/2010/main" val="38503695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7EFC135-6C8E-488D-BA91-F57CB95061B7}" type="datetimeFigureOut">
              <a:rPr lang="en-US" smtClean="0"/>
              <a:t>6/19/2023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87C7DB-8D93-4040-8DFE-FFC7BEDD33CB}" type="slidenum">
              <a:rPr lang="en-US" smtClean="0"/>
              <a:t>‹#›</a:t>
            </a:fld>
            <a:endParaRPr lang="en-US"/>
          </a:p>
        </p:txBody>
      </p:sp>
    </p:spTree>
    <p:extLst>
      <p:ext uri="{BB962C8B-B14F-4D97-AF65-F5344CB8AC3E}">
        <p14:creationId xmlns:p14="http://schemas.microsoft.com/office/powerpoint/2010/main" val="18443565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7EFC135-6C8E-488D-BA91-F57CB95061B7}" type="datetimeFigureOut">
              <a:rPr lang="en-US" smtClean="0"/>
              <a:t>6/19/2023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87C7DB-8D93-4040-8DFE-FFC7BEDD33CB}" type="slidenum">
              <a:rPr lang="en-US" smtClean="0"/>
              <a:t>‹#›</a:t>
            </a:fld>
            <a:endParaRPr lang="en-US"/>
          </a:p>
        </p:txBody>
      </p:sp>
    </p:spTree>
    <p:extLst>
      <p:ext uri="{BB962C8B-B14F-4D97-AF65-F5344CB8AC3E}">
        <p14:creationId xmlns:p14="http://schemas.microsoft.com/office/powerpoint/2010/main" val="3281517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7EFC135-6C8E-488D-BA91-F57CB95061B7}" type="datetimeFigureOut">
              <a:rPr lang="en-US" smtClean="0"/>
              <a:t>6/19/2023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787C7DB-8D93-4040-8DFE-FFC7BEDD33CB}" type="slidenum">
              <a:rPr lang="en-US" smtClean="0"/>
              <a:t>‹#›</a:t>
            </a:fld>
            <a:endParaRPr lang="en-US"/>
          </a:p>
        </p:txBody>
      </p:sp>
    </p:spTree>
    <p:extLst>
      <p:ext uri="{BB962C8B-B14F-4D97-AF65-F5344CB8AC3E}">
        <p14:creationId xmlns:p14="http://schemas.microsoft.com/office/powerpoint/2010/main" val="40345510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8"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65513" y="6459787"/>
            <a:ext cx="2618511" cy="365125"/>
          </a:xfrm>
        </p:spPr>
        <p:txBody>
          <a:bodyPr/>
          <a:lstStyle>
            <a:lvl1pPr algn="l">
              <a:defRPr/>
            </a:lvl1pPr>
          </a:lstStyle>
          <a:p>
            <a:fld id="{F7EFC135-6C8E-488D-BA91-F57CB95061B7}" type="datetimeFigureOut">
              <a:rPr lang="en-US" smtClean="0"/>
              <a:t>6/19/2023</a:t>
            </a:fld>
            <a:endParaRPr lang="en-US"/>
          </a:p>
        </p:txBody>
      </p:sp>
      <p:sp>
        <p:nvSpPr>
          <p:cNvPr id="6" name="Footer Placeholder 5"/>
          <p:cNvSpPr>
            <a:spLocks noGrp="1"/>
          </p:cNvSpPr>
          <p:nvPr>
            <p:ph type="ftr" sz="quarter" idx="11"/>
          </p:nvPr>
        </p:nvSpPr>
        <p:spPr>
          <a:xfrm>
            <a:off x="4800600" y="6459787"/>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787C7DB-8D93-4040-8DFE-FFC7BEDD33CB}" type="slidenum">
              <a:rPr lang="en-US" smtClean="0"/>
              <a:t>‹#›</a:t>
            </a:fld>
            <a:endParaRPr lang="en-US"/>
          </a:p>
        </p:txBody>
      </p:sp>
    </p:spTree>
    <p:extLst>
      <p:ext uri="{BB962C8B-B14F-4D97-AF65-F5344CB8AC3E}">
        <p14:creationId xmlns:p14="http://schemas.microsoft.com/office/powerpoint/2010/main" val="38859666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0"/>
            <a:ext cx="12191985" cy="4915076"/>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F7EFC135-6C8E-488D-BA91-F57CB95061B7}" type="datetimeFigureOut">
              <a:rPr lang="en-US" smtClean="0"/>
              <a:t>6/19/2023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87C7DB-8D93-4040-8DFE-FFC7BEDD33CB}" type="slidenum">
              <a:rPr lang="en-US" smtClean="0"/>
              <a:t>‹#›</a:t>
            </a:fld>
            <a:endParaRPr lang="en-US"/>
          </a:p>
        </p:txBody>
      </p:sp>
    </p:spTree>
    <p:extLst>
      <p:ext uri="{BB962C8B-B14F-4D97-AF65-F5344CB8AC3E}">
        <p14:creationId xmlns:p14="http://schemas.microsoft.com/office/powerpoint/2010/main" val="7526893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EFC135-6C8E-488D-BA91-F57CB95061B7}"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87C7DB-8D93-4040-8DFE-FFC7BEDD33CB}" type="slidenum">
              <a:rPr lang="en-US" smtClean="0"/>
              <a:t>‹#›</a:t>
            </a:fld>
            <a:endParaRPr lang="en-US"/>
          </a:p>
        </p:txBody>
      </p:sp>
    </p:spTree>
    <p:extLst>
      <p:ext uri="{BB962C8B-B14F-4D97-AF65-F5344CB8AC3E}">
        <p14:creationId xmlns:p14="http://schemas.microsoft.com/office/powerpoint/2010/main" val="3043425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4780"/>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EFC135-6C8E-488D-BA91-F57CB95061B7}"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87C7DB-8D93-4040-8DFE-FFC7BEDD33CB}" type="slidenum">
              <a:rPr lang="en-US" smtClean="0"/>
              <a:t>‹#›</a:t>
            </a:fld>
            <a:endParaRPr lang="en-US"/>
          </a:p>
        </p:txBody>
      </p:sp>
    </p:spTree>
    <p:extLst>
      <p:ext uri="{BB962C8B-B14F-4D97-AF65-F5344CB8AC3E}">
        <p14:creationId xmlns:p14="http://schemas.microsoft.com/office/powerpoint/2010/main" val="1137275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FE2CFA0-53A8-433A-A47F-F7ECCA5249C8}" type="datetimeFigureOut">
              <a:rPr lang="en-US" smtClean="0"/>
              <a:t>6/19/2023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A44C02-18DE-41FE-9E60-4563A10FB45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65452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84"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5"/>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2" y="6459787"/>
            <a:ext cx="2472271" cy="365125"/>
          </a:xfrm>
          <a:prstGeom prst="rect">
            <a:avLst/>
          </a:prstGeom>
        </p:spPr>
        <p:txBody>
          <a:bodyPr vert="horz" lIns="91440" tIns="45720" rIns="91440" bIns="45720" rtlCol="0" anchor="ctr"/>
          <a:lstStyle>
            <a:lvl1pPr algn="l">
              <a:defRPr sz="675">
                <a:solidFill>
                  <a:srgbClr val="FFFFFF"/>
                </a:solidFill>
              </a:defRPr>
            </a:lvl1pPr>
          </a:lstStyle>
          <a:p>
            <a:fld id="{F7EFC135-6C8E-488D-BA91-F57CB95061B7}" type="datetimeFigureOut">
              <a:rPr lang="en-US" smtClean="0"/>
              <a:t>6/19/2023</a:t>
            </a:fld>
            <a:endParaRPr lang="en-US"/>
          </a:p>
        </p:txBody>
      </p:sp>
      <p:sp>
        <p:nvSpPr>
          <p:cNvPr id="5" name="Footer Placeholder 4"/>
          <p:cNvSpPr>
            <a:spLocks noGrp="1"/>
          </p:cNvSpPr>
          <p:nvPr>
            <p:ph type="ftr" sz="quarter" idx="3"/>
          </p:nvPr>
        </p:nvSpPr>
        <p:spPr>
          <a:xfrm>
            <a:off x="3686186" y="6459787"/>
            <a:ext cx="4822804" cy="365125"/>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60" y="6459787"/>
            <a:ext cx="1312025" cy="365125"/>
          </a:xfrm>
          <a:prstGeom prst="rect">
            <a:avLst/>
          </a:prstGeom>
        </p:spPr>
        <p:txBody>
          <a:bodyPr vert="horz" lIns="91440" tIns="45720" rIns="91440" bIns="45720" rtlCol="0" anchor="ctr"/>
          <a:lstStyle>
            <a:lvl1pPr algn="r">
              <a:defRPr sz="788">
                <a:solidFill>
                  <a:srgbClr val="FFFFFF"/>
                </a:solidFill>
              </a:defRPr>
            </a:lvl1pPr>
          </a:lstStyle>
          <a:p>
            <a:fld id="{B787C7DB-8D93-4040-8DFE-FFC7BEDD33C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875792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587EFFD-0371-4C6A-B1D5-552ED71D5657}"/>
              </a:ext>
            </a:extLst>
          </p:cNvPr>
          <p:cNvSpPr/>
          <p:nvPr/>
        </p:nvSpPr>
        <p:spPr>
          <a:xfrm>
            <a:off x="1323704" y="272214"/>
            <a:ext cx="8377644" cy="5663089"/>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Organizational Structure and Culture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structure and culture of the organization are critical success factors to the risk-management program, as they directly influence and inform staff decisions relating to risk prevention, risk detection and risk response efforts.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mature enterprise has policies and procedures and an effective reporting and notification structure in place to detect, notify and escalate a situation effectively.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For instance, an enterprise that does not have a mature incident response capability will often react to incidents in an unpredictable, ad hoc reactive manner and can expect to experience inconsistent results.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risk management function should have an enterprise mandate (delegation) that allows risk practitioners to review and provide input into all business processes, participate in incident management activities and be responsible for reviewing incidents for lessons learned and to improve incident response planning, detection and recovery.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If the organizational culture is to hide problems rather than communicate or address them or to only use an adverse situation to point blame then the ability of the risk practitioner to effectively contribute to the protection of the enterprise and assist in the investigation of an incident may be severely impaired.</a:t>
            </a:r>
          </a:p>
          <a:p>
            <a:pPr marL="457200" marR="0" lvl="1" indent="0" algn="l" defTabSz="457200" rtl="0" eaLnBrk="1" fontAlgn="auto" latinLnBrk="0" hangingPunct="1">
              <a:lnSpc>
                <a:spcPct val="100000"/>
              </a:lnSpc>
              <a:spcBef>
                <a:spcPts val="0"/>
              </a:spcBef>
              <a:spcAft>
                <a:spcPts val="60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 Figure 1.9 illustrates a sample organizational structure.</a:t>
            </a:r>
          </a:p>
        </p:txBody>
      </p:sp>
    </p:spTree>
    <p:extLst>
      <p:ext uri="{BB962C8B-B14F-4D97-AF65-F5344CB8AC3E}">
        <p14:creationId xmlns:p14="http://schemas.microsoft.com/office/powerpoint/2010/main" val="2522793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3FBE3DB-201B-41E2-8080-C33EDC6C0B24}"/>
              </a:ext>
            </a:extLst>
          </p:cNvPr>
          <p:cNvPicPr>
            <a:picLocks noChangeAspect="1"/>
          </p:cNvPicPr>
          <p:nvPr/>
        </p:nvPicPr>
        <p:blipFill>
          <a:blip r:embed="rId2"/>
          <a:stretch>
            <a:fillRect/>
          </a:stretch>
        </p:blipFill>
        <p:spPr>
          <a:xfrm>
            <a:off x="1327981" y="0"/>
            <a:ext cx="9536037" cy="6331131"/>
          </a:xfrm>
          <a:prstGeom prst="rect">
            <a:avLst/>
          </a:prstGeom>
        </p:spPr>
      </p:pic>
    </p:spTree>
    <p:extLst>
      <p:ext uri="{BB962C8B-B14F-4D97-AF65-F5344CB8AC3E}">
        <p14:creationId xmlns:p14="http://schemas.microsoft.com/office/powerpoint/2010/main" val="3626226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5423857-C5AD-46AA-8868-285A7AB2CCFD}"/>
              </a:ext>
            </a:extLst>
          </p:cNvPr>
          <p:cNvPicPr>
            <a:picLocks noChangeAspect="1"/>
          </p:cNvPicPr>
          <p:nvPr/>
        </p:nvPicPr>
        <p:blipFill>
          <a:blip r:embed="rId2"/>
          <a:stretch>
            <a:fillRect/>
          </a:stretch>
        </p:blipFill>
        <p:spPr>
          <a:xfrm>
            <a:off x="2381795" y="0"/>
            <a:ext cx="8786948" cy="6348549"/>
          </a:xfrm>
          <a:prstGeom prst="rect">
            <a:avLst/>
          </a:prstGeom>
        </p:spPr>
      </p:pic>
      <p:sp>
        <p:nvSpPr>
          <p:cNvPr id="3" name="TextBox 2">
            <a:extLst>
              <a:ext uri="{FF2B5EF4-FFF2-40B4-BE49-F238E27FC236}">
                <a16:creationId xmlns:a16="http://schemas.microsoft.com/office/drawing/2014/main" id="{38E6DCCB-3656-4869-B80A-5CDEA14A6A70}"/>
              </a:ext>
            </a:extLst>
          </p:cNvPr>
          <p:cNvSpPr txBox="1"/>
          <p:nvPr/>
        </p:nvSpPr>
        <p:spPr>
          <a:xfrm>
            <a:off x="252550" y="1613118"/>
            <a:ext cx="2351314"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panose="020F0502020204030204"/>
                <a:ea typeface="+mn-ea"/>
                <a:cs typeface="+mn-cs"/>
              </a:rPr>
              <a:t>Organization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panose="020F0502020204030204"/>
                <a:ea typeface="+mn-ea"/>
                <a:cs typeface="+mn-cs"/>
              </a:rPr>
              <a:t>Culture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libri" panose="020F0502020204030204"/>
                <a:ea typeface="+mn-ea"/>
                <a:cs typeface="+mn-cs"/>
              </a:rPr>
              <a:t>Relating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libri" panose="020F0502020204030204"/>
                <a:ea typeface="+mn-ea"/>
                <a:cs typeface="+mn-cs"/>
              </a:rPr>
              <a:t>To Risk </a:t>
            </a:r>
          </a:p>
        </p:txBody>
      </p:sp>
    </p:spTree>
    <p:extLst>
      <p:ext uri="{BB962C8B-B14F-4D97-AF65-F5344CB8AC3E}">
        <p14:creationId xmlns:p14="http://schemas.microsoft.com/office/powerpoint/2010/main" val="1500271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4AC7B4-168D-4279-9A81-271DE0870834}"/>
              </a:ext>
            </a:extLst>
          </p:cNvPr>
          <p:cNvSpPr/>
          <p:nvPr/>
        </p:nvSpPr>
        <p:spPr>
          <a:xfrm>
            <a:off x="562436" y="693671"/>
            <a:ext cx="9550286" cy="5924699"/>
          </a:xfrm>
          <a:prstGeom prst="rect">
            <a:avLst/>
          </a:prstGeom>
        </p:spPr>
        <p:txBody>
          <a:bodyPr wrap="square">
            <a:spAutoFit/>
          </a:bodyPr>
          <a:lstStyle/>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One of the first challenges faced by a risk practitioner is to determine the risk appetite of senior management.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Examples of risk that management must evaluate and set criteria for accepting include deciding whether the enterprise should:</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Invest</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Take on a new line of business</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Develop a new product</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Open a new office</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Invest in new hardware or software</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Upgrade existing applications</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Implement new controls</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60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practitioner should be aware that the risk appetite may change over time or vary based on the type of risk. </a:t>
            </a:r>
          </a:p>
          <a:p>
            <a:pPr marL="800100" marR="0" lvl="1" indent="-342900" algn="l" defTabSz="457200" rtl="0" eaLnBrk="1" fontAlgn="auto" latinLnBrk="0" hangingPunct="1">
              <a:lnSpc>
                <a:spcPct val="100000"/>
              </a:lnSpc>
              <a:spcBef>
                <a:spcPts val="60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Thus, the risk appetite requires periodic review. Depending on market conditions, confidence, past successes or failures, global economics, reports in the media, availability of resources, new regulations or long-term strategy.</a:t>
            </a:r>
          </a:p>
          <a:p>
            <a:pPr marL="800100" lvl="1" indent="-342900" defTabSz="457200">
              <a:spcBef>
                <a:spcPts val="600"/>
              </a:spcBef>
              <a:buFont typeface="+mj-lt"/>
              <a:buAutoNum type="arabicPeriod"/>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need for these to be established prior to risk management efforts ensures that responses to risk are considered in the proper context.</a:t>
            </a:r>
          </a:p>
          <a:p>
            <a:pPr marL="800100" lvl="1" indent="-342900" defTabSz="457200">
              <a:spcBef>
                <a:spcPts val="600"/>
              </a:spcBef>
              <a:buFont typeface="+mj-lt"/>
              <a:buAutoNum type="arabicPeriod"/>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For one example, a business unit may establish criteria prior to kicking off a project that allows for an increase of up to 20 percent in the project  duration, while at the same time only allowing for a 10 percent increase in costs.</a:t>
            </a:r>
          </a:p>
          <a:p>
            <a:pPr marL="800100" lvl="1" indent="-342900" defTabSz="457200">
              <a:spcBef>
                <a:spcPts val="600"/>
              </a:spcBef>
              <a:buFont typeface="+mj-lt"/>
              <a:buAutoNum type="arabicPeriod"/>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Another example is a financial institution that has generally defined a low appetite for credit card fraud and has implemented aggressive anti- fraud safeguards and countermeasures.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endPar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endParaRPr>
          </a:p>
        </p:txBody>
      </p:sp>
      <p:sp>
        <p:nvSpPr>
          <p:cNvPr id="3" name="Rectangle 2">
            <a:extLst>
              <a:ext uri="{FF2B5EF4-FFF2-40B4-BE49-F238E27FC236}">
                <a16:creationId xmlns:a16="http://schemas.microsoft.com/office/drawing/2014/main" id="{CFC14613-470E-4F8C-B063-26D66BE24344}"/>
              </a:ext>
            </a:extLst>
          </p:cNvPr>
          <p:cNvSpPr/>
          <p:nvPr/>
        </p:nvSpPr>
        <p:spPr>
          <a:xfrm>
            <a:off x="348342" y="232006"/>
            <a:ext cx="11059885" cy="46166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Organizational Culture and Behavior and the Impact on Risk Management</a:t>
            </a:r>
          </a:p>
        </p:txBody>
      </p:sp>
    </p:spTree>
    <p:extLst>
      <p:ext uri="{BB962C8B-B14F-4D97-AF65-F5344CB8AC3E}">
        <p14:creationId xmlns:p14="http://schemas.microsoft.com/office/powerpoint/2010/main" val="3802589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B2931D-9602-4D4B-B2EE-DA7817E79C37}"/>
              </a:ext>
            </a:extLst>
          </p:cNvPr>
          <p:cNvSpPr/>
          <p:nvPr/>
        </p:nvSpPr>
        <p:spPr>
          <a:xfrm>
            <a:off x="1558834" y="589232"/>
            <a:ext cx="6566263" cy="4370427"/>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Risk </a:t>
            </a: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Culture</a:t>
            </a: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457200" rtl="0" eaLnBrk="1" fontAlgn="auto" latinLnBrk="0" hangingPunct="1">
              <a:lnSpc>
                <a:spcPct val="100000"/>
              </a:lnSpc>
              <a:spcBef>
                <a:spcPts val="0"/>
              </a:spcBef>
              <a:spcAft>
                <a:spcPts val="120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4572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senior management develops and transfer a particular level of </a:t>
            </a:r>
            <a:r>
              <a:rPr kumimoji="0" lang="en-US" sz="1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willingness to adopt, carefully accept or avoid risk</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this is called the risk culture of the enterprise. </a:t>
            </a:r>
          </a:p>
          <a:p>
            <a:pPr marL="742950" marR="0" lvl="1" indent="-285750" algn="l" defTabSz="4572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 order to successfully embed an effective risk culture within an enterprise, senior management needs to lead from the top, supporting these concepts not only with their words, but also with their actions.</a:t>
            </a:r>
          </a:p>
          <a:p>
            <a:pPr marL="742950" marR="0" lvl="1" indent="-285750" algn="l" defTabSz="4572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best indicator of the enterprise risk culture is how it makes decisions on how to best respond to various risk. </a:t>
            </a:r>
          </a:p>
          <a:p>
            <a:pPr marL="742950" marR="0" lvl="1" indent="-285750" algn="l" defTabSz="4572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Risk culture reflects a balance between weighing the negative, positive and regulatory elements of risk, being informed as to the direction and response relating towards taking risk</a:t>
            </a:r>
          </a:p>
        </p:txBody>
      </p:sp>
      <p:sp>
        <p:nvSpPr>
          <p:cNvPr id="3" name="Rectangle 2">
            <a:extLst>
              <a:ext uri="{FF2B5EF4-FFF2-40B4-BE49-F238E27FC236}">
                <a16:creationId xmlns:a16="http://schemas.microsoft.com/office/drawing/2014/main" id="{89CEBBDB-0189-421E-B402-69936A3FA036}"/>
              </a:ext>
            </a:extLst>
          </p:cNvPr>
          <p:cNvSpPr/>
          <p:nvPr/>
        </p:nvSpPr>
        <p:spPr>
          <a:xfrm>
            <a:off x="1715588" y="5118352"/>
            <a:ext cx="6731725" cy="646331"/>
          </a:xfrm>
          <a:prstGeom prst="rect">
            <a:avLst/>
          </a:prstGeom>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as seen in figures 1.12 and 1.13. Symptoms of an inadequate or problematic risk culture are listed in figure 1.14.</a:t>
            </a:r>
          </a:p>
        </p:txBody>
      </p:sp>
    </p:spTree>
    <p:extLst>
      <p:ext uri="{BB962C8B-B14F-4D97-AF65-F5344CB8AC3E}">
        <p14:creationId xmlns:p14="http://schemas.microsoft.com/office/powerpoint/2010/main" val="3692650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F737E96-9517-4133-9B1F-14AA553D577F}"/>
              </a:ext>
            </a:extLst>
          </p:cNvPr>
          <p:cNvPicPr>
            <a:picLocks noChangeAspect="1"/>
          </p:cNvPicPr>
          <p:nvPr/>
        </p:nvPicPr>
        <p:blipFill rotWithShape="1">
          <a:blip r:embed="rId2"/>
          <a:srcRect l="12701" t="27809" r="15782" b="3463"/>
          <a:stretch/>
        </p:blipFill>
        <p:spPr>
          <a:xfrm>
            <a:off x="1586078" y="632377"/>
            <a:ext cx="7680960" cy="4713347"/>
          </a:xfrm>
          <a:prstGeom prst="rect">
            <a:avLst/>
          </a:prstGeom>
        </p:spPr>
      </p:pic>
      <p:pic>
        <p:nvPicPr>
          <p:cNvPr id="3" name="Picture 2">
            <a:extLst>
              <a:ext uri="{FF2B5EF4-FFF2-40B4-BE49-F238E27FC236}">
                <a16:creationId xmlns:a16="http://schemas.microsoft.com/office/drawing/2014/main" id="{C54FFA9D-9B95-CC04-EE01-DF50C42F3521}"/>
              </a:ext>
            </a:extLst>
          </p:cNvPr>
          <p:cNvPicPr>
            <a:picLocks noChangeAspect="1"/>
          </p:cNvPicPr>
          <p:nvPr/>
        </p:nvPicPr>
        <p:blipFill rotWithShape="1">
          <a:blip r:embed="rId3"/>
          <a:srcRect l="39698" t="10457" r="3149" b="83928"/>
          <a:stretch/>
        </p:blipFill>
        <p:spPr>
          <a:xfrm>
            <a:off x="939854" y="2313355"/>
            <a:ext cx="3514916" cy="347784"/>
          </a:xfrm>
          <a:prstGeom prst="rect">
            <a:avLst/>
          </a:prstGeom>
        </p:spPr>
      </p:pic>
      <p:pic>
        <p:nvPicPr>
          <p:cNvPr id="4" name="Picture 3">
            <a:extLst>
              <a:ext uri="{FF2B5EF4-FFF2-40B4-BE49-F238E27FC236}">
                <a16:creationId xmlns:a16="http://schemas.microsoft.com/office/drawing/2014/main" id="{4FA34FEA-7A34-BC34-4146-EA12581B1D6E}"/>
              </a:ext>
            </a:extLst>
          </p:cNvPr>
          <p:cNvPicPr>
            <a:picLocks noChangeAspect="1"/>
          </p:cNvPicPr>
          <p:nvPr/>
        </p:nvPicPr>
        <p:blipFill rotWithShape="1">
          <a:blip r:embed="rId3"/>
          <a:srcRect l="39622" t="24166" r="3225" b="66371"/>
          <a:stretch/>
        </p:blipFill>
        <p:spPr>
          <a:xfrm>
            <a:off x="70337" y="3978031"/>
            <a:ext cx="3407509" cy="586154"/>
          </a:xfrm>
          <a:prstGeom prst="rect">
            <a:avLst/>
          </a:prstGeom>
        </p:spPr>
      </p:pic>
      <p:pic>
        <p:nvPicPr>
          <p:cNvPr id="5" name="Picture 4">
            <a:extLst>
              <a:ext uri="{FF2B5EF4-FFF2-40B4-BE49-F238E27FC236}">
                <a16:creationId xmlns:a16="http://schemas.microsoft.com/office/drawing/2014/main" id="{D5309023-0F8F-1845-A0D9-76B1B83053A6}"/>
              </a:ext>
            </a:extLst>
          </p:cNvPr>
          <p:cNvPicPr>
            <a:picLocks noChangeAspect="1"/>
          </p:cNvPicPr>
          <p:nvPr/>
        </p:nvPicPr>
        <p:blipFill rotWithShape="1">
          <a:blip r:embed="rId3"/>
          <a:srcRect l="40080" t="17571" r="4598" b="77003"/>
          <a:stretch/>
        </p:blipFill>
        <p:spPr>
          <a:xfrm>
            <a:off x="7809468" y="4103077"/>
            <a:ext cx="3600994" cy="336062"/>
          </a:xfrm>
          <a:prstGeom prst="rect">
            <a:avLst/>
          </a:prstGeom>
        </p:spPr>
      </p:pic>
    </p:spTree>
    <p:extLst>
      <p:ext uri="{BB962C8B-B14F-4D97-AF65-F5344CB8AC3E}">
        <p14:creationId xmlns:p14="http://schemas.microsoft.com/office/powerpoint/2010/main" val="4228188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3513B5-5FAE-4B50-A1A5-9A1DD69D1CE2}"/>
              </a:ext>
            </a:extLst>
          </p:cNvPr>
          <p:cNvPicPr>
            <a:picLocks noChangeAspect="1"/>
          </p:cNvPicPr>
          <p:nvPr/>
        </p:nvPicPr>
        <p:blipFill rotWithShape="1">
          <a:blip r:embed="rId2"/>
          <a:srcRect t="36251"/>
          <a:stretch/>
        </p:blipFill>
        <p:spPr>
          <a:xfrm>
            <a:off x="824091" y="1187938"/>
            <a:ext cx="10242812" cy="3950007"/>
          </a:xfrm>
          <a:prstGeom prst="rect">
            <a:avLst/>
          </a:prstGeom>
        </p:spPr>
      </p:pic>
    </p:spTree>
    <p:extLst>
      <p:ext uri="{BB962C8B-B14F-4D97-AF65-F5344CB8AC3E}">
        <p14:creationId xmlns:p14="http://schemas.microsoft.com/office/powerpoint/2010/main" val="574730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75A255-B215-409F-A683-E427BE675364}"/>
              </a:ext>
            </a:extLst>
          </p:cNvPr>
          <p:cNvSpPr/>
          <p:nvPr/>
        </p:nvSpPr>
        <p:spPr>
          <a:xfrm>
            <a:off x="296092" y="187974"/>
            <a:ext cx="8934993" cy="5555367"/>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Risk Awareness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70C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Awareness is a powerful tool in creating the culture, forming ethics and influencing the behavior of the members of an enterprise.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Through awareness programs, will enables employees to identify and report on risk and to work to defend systems and networks from attacks.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 They can help identify vulnerabilities, suspicious activity and possible attacks.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This may enable a faster response and better containment of a risk when an attack happens.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Risk awareness acknowledges that risk is an integral part of the business.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r>
              <a:rPr kumimoji="0" lang="en-US" sz="16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This does not imply that all risk is to be avoided or eliminated, but rather that:</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Risk is well understood and known.</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IT risk issues are identifiable.</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The enterprise recognizes and uses the means to manage risk.</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risk awareness program creates an understanding of risk, risk factors and the various types of risk that an enterprise faces.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 risk awareness program should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not disclose vulnerabilities or ongoing investigations</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except where the problem has already been addressed.</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spTree>
    <p:extLst>
      <p:ext uri="{BB962C8B-B14F-4D97-AF65-F5344CB8AC3E}">
        <p14:creationId xmlns:p14="http://schemas.microsoft.com/office/powerpoint/2010/main" val="454583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017C2A-3E9E-472B-95C2-20586D06C136}"/>
              </a:ext>
            </a:extLst>
          </p:cNvPr>
          <p:cNvSpPr/>
          <p:nvPr/>
        </p:nvSpPr>
        <p:spPr>
          <a:xfrm>
            <a:off x="1645920" y="169787"/>
            <a:ext cx="8055428" cy="5693866"/>
          </a:xfrm>
          <a:prstGeom prst="rect">
            <a:avLst/>
          </a:prstGeom>
        </p:spPr>
        <p:txBody>
          <a:bodyPr wrap="square">
            <a:spAutoFit/>
          </a:bodyPr>
          <a:lstStyle/>
          <a:p>
            <a:pPr marL="342900" marR="0" lvl="0" indent="-342900" algn="l" defTabSz="457200" rtl="0" eaLnBrk="1" fontAlgn="auto" latinLnBrk="0" hangingPunct="1">
              <a:lnSpc>
                <a:spcPct val="100000"/>
              </a:lnSpc>
              <a:spcBef>
                <a:spcPts val="0"/>
              </a:spcBef>
              <a:spcAft>
                <a:spcPts val="600"/>
              </a:spcAft>
              <a:buClrTx/>
              <a:buSzTx/>
              <a:buFont typeface="+mj-lt"/>
              <a:buAutoNum type="arabicPeriod" startAt="12"/>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Using examples and descriptions of the types of attacks and compromises that </a:t>
            </a:r>
            <a:r>
              <a:rPr kumimoji="0" lang="en-US" sz="18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other</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organizations have experienced can reinforce the need for diligence and caution when addressing risk.</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startAt="12"/>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Awareness education and training can serve to mitigate some of the biggest organizational risk and achieve the most cost-effective improvement in risk and security.</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startAt="12"/>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This can generally be achieved by educating an organization staff in required procedures and policy compliance, along with ensuring that staff can identify and understand the risk that threatens the organization. </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startAt="12"/>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is critical that the training effectively communicate the risk and its potential impact in order for staff to understand the justification for what may be seen as inconvenient extra steps that risk mitigation and security controls often require.</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startAt="12"/>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Awareness of information security policies, standards and procedures by all personnel is essential to achieving effective risk management.</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startAt="12"/>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Employees cannot be expected to comply with policies or standards that they are not aware of, or follow procedures they do not understand.</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startAt="12"/>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Periodic use of a standardized testing approach provides metrics for awareness trends and training effectiveness. </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startAt="12"/>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Indicators for additional training requirements can come from various sources such as tracking help desk activity, operational errors, security events and audits.</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startAt="12"/>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spTree>
    <p:extLst>
      <p:ext uri="{BB962C8B-B14F-4D97-AF65-F5344CB8AC3E}">
        <p14:creationId xmlns:p14="http://schemas.microsoft.com/office/powerpoint/2010/main" val="1938345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C404D2-57BD-44A7-9829-DB215A839003}"/>
              </a:ext>
            </a:extLst>
          </p:cNvPr>
          <p:cNvSpPr/>
          <p:nvPr/>
        </p:nvSpPr>
        <p:spPr>
          <a:xfrm>
            <a:off x="1942010" y="1051118"/>
            <a:ext cx="7106195" cy="2462213"/>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A Risk-driven Business Approach</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mature organization is one that is able to make informed decisions relating to the various risk, in its respective business context.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This means that the risk practitioner is able to carry out risk management efforts that aligns with the defined risk appetite.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Figure 1.14 describes a sample approach for assessing risk associated with data loss.</a:t>
            </a:r>
          </a:p>
        </p:txBody>
      </p:sp>
    </p:spTree>
    <p:extLst>
      <p:ext uri="{BB962C8B-B14F-4D97-AF65-F5344CB8AC3E}">
        <p14:creationId xmlns:p14="http://schemas.microsoft.com/office/powerpoint/2010/main" val="778325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CC12C7-A1CC-47A3-AED1-7FE1189A4FD5}"/>
              </a:ext>
            </a:extLst>
          </p:cNvPr>
          <p:cNvPicPr>
            <a:picLocks noChangeAspect="1"/>
          </p:cNvPicPr>
          <p:nvPr/>
        </p:nvPicPr>
        <p:blipFill>
          <a:blip r:embed="rId3"/>
          <a:stretch>
            <a:fillRect/>
          </a:stretch>
        </p:blipFill>
        <p:spPr>
          <a:xfrm>
            <a:off x="2473543" y="0"/>
            <a:ext cx="8739954" cy="6310265"/>
          </a:xfrm>
          <a:prstGeom prst="rect">
            <a:avLst/>
          </a:prstGeom>
        </p:spPr>
      </p:pic>
      <p:sp>
        <p:nvSpPr>
          <p:cNvPr id="4" name="TextBox 3">
            <a:extLst>
              <a:ext uri="{FF2B5EF4-FFF2-40B4-BE49-F238E27FC236}">
                <a16:creationId xmlns:a16="http://schemas.microsoft.com/office/drawing/2014/main" id="{BB7F07D8-9C07-40F6-5B4A-D61963B8F6D9}"/>
              </a:ext>
            </a:extLst>
          </p:cNvPr>
          <p:cNvSpPr txBox="1"/>
          <p:nvPr/>
        </p:nvSpPr>
        <p:spPr>
          <a:xfrm>
            <a:off x="409074" y="2022993"/>
            <a:ext cx="2064469" cy="156966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Figure 1.14 describes a sample approach for assessing risk associated with </a:t>
            </a: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data loss.</a:t>
            </a:r>
            <a:endParaRPr kumimoji="0" lang="en-US" sz="1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p:txBody>
      </p:sp>
    </p:spTree>
    <p:extLst>
      <p:ext uri="{BB962C8B-B14F-4D97-AF65-F5344CB8AC3E}">
        <p14:creationId xmlns:p14="http://schemas.microsoft.com/office/powerpoint/2010/main" val="204711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BD7B0A-ACC8-48B5-B08A-13889351B79F}"/>
              </a:ext>
            </a:extLst>
          </p:cNvPr>
          <p:cNvSpPr/>
          <p:nvPr/>
        </p:nvSpPr>
        <p:spPr>
          <a:xfrm>
            <a:off x="1262744" y="260155"/>
            <a:ext cx="8623639" cy="5432256"/>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The Value of Risk Communication</a:t>
            </a: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Communication of the threats faced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by the enterprise, incidents experienced, existing vulnerabilities and the business value of assets is an essential part of the risk-management process.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Not every risk incident needs to be reported, but a lack of communication can be a sign that an enterprise is not healthy or stable.</a:t>
            </a: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discipline of risk management is related to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audit, business continuity management and information security Management.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Having a reporting relationship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that facilitates communication regarding risk, threats, incidents, vulnerabilities and assets among these groups will result in a greater level of accuracy for the risk-management process.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If managers are not open and transparent with regard to issues and operational failures, decisions may be made on the basis of incomplete or inaccurate information.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risk practitioner should seek to develop lines of communication and reporting so that information is available to management on a timely basis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method and openness of risk communications play a key role in defining the risk culture of the enterprise.</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Communication is important because it removes the uncertainty and doubts concerning risk management and supporting efforts. </a:t>
            </a:r>
          </a:p>
        </p:txBody>
      </p:sp>
    </p:spTree>
    <p:extLst>
      <p:ext uri="{BB962C8B-B14F-4D97-AF65-F5344CB8AC3E}">
        <p14:creationId xmlns:p14="http://schemas.microsoft.com/office/powerpoint/2010/main" val="1878978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ED9222-A11A-4759-8940-F03EAA7D7A94}"/>
              </a:ext>
            </a:extLst>
          </p:cNvPr>
          <p:cNvSpPr/>
          <p:nvPr/>
        </p:nvSpPr>
        <p:spPr>
          <a:xfrm>
            <a:off x="1149532" y="185462"/>
            <a:ext cx="9083040" cy="5478423"/>
          </a:xfrm>
          <a:prstGeom prst="rect">
            <a:avLst/>
          </a:prstGeom>
        </p:spPr>
        <p:txBody>
          <a:bodyPr wrap="square">
            <a:spAutoFit/>
          </a:bodyPr>
          <a:lstStyle/>
          <a:p>
            <a:pPr marR="0" lvl="0" algn="l" defTabSz="457200" rtl="0" eaLnBrk="1" fontAlgn="auto" latinLnBrk="0" hangingPunct="1">
              <a:lnSpc>
                <a:spcPct val="100000"/>
              </a:lnSpc>
              <a:spcBef>
                <a:spcPts val="0"/>
              </a:spcBef>
              <a:spcAft>
                <a:spcPts val="600"/>
              </a:spcAft>
              <a:buClrTx/>
              <a:buSzTx/>
              <a:tabLst/>
              <a:defRPr/>
            </a:pPr>
            <a:r>
              <a:rPr kumimoji="0" lang="en-US" sz="16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If risk is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to be </a:t>
            </a:r>
            <a:r>
              <a:rPr kumimoji="0" lang="en-US" sz="16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Berlin Sans FB" panose="020E0602020502020306" pitchFamily="34" charset="0"/>
                <a:ea typeface="+mn-ea"/>
                <a:cs typeface="+mn-cs"/>
              </a:rPr>
              <a:t>effectively and efficiently managed and mitigated, it must first be openly discussed, properly communicated, and understood by the various stakeholders and personnel throughout the enterprise in ways that are appropriate for their respective roles. </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benefits of open communication of risk include:</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More informed risk decisions by the appropriate stakeholders due to an improved understanding of actual exposure and potential business impact</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Greater awareness among all stakeholders of the importance and value of integrating risk management into their daily duties</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Transparency to external stakeholders regarding both the actual levels of risk facing the enterprise and the risk-management processes in use</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consequences of poor communication on risk include:</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 overconfidence in the enterprise capabilities and controls pertaining to the risk universe</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false sense of security at all levels of the enterprise</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Improper categorization of risk</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Misallocation of resources</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Reduced value to the stakeholders</a:t>
            </a:r>
          </a:p>
        </p:txBody>
      </p:sp>
    </p:spTree>
    <p:extLst>
      <p:ext uri="{BB962C8B-B14F-4D97-AF65-F5344CB8AC3E}">
        <p14:creationId xmlns:p14="http://schemas.microsoft.com/office/powerpoint/2010/main" val="4194880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712E52-BBE4-49C2-AA0A-3FC50B0D6CFC}"/>
              </a:ext>
            </a:extLst>
          </p:cNvPr>
          <p:cNvSpPr/>
          <p:nvPr/>
        </p:nvSpPr>
        <p:spPr>
          <a:xfrm>
            <a:off x="1419497" y="1254765"/>
            <a:ext cx="7846423" cy="2693045"/>
          </a:xfrm>
          <a:prstGeom prst="rect">
            <a:avLst/>
          </a:prstGeom>
        </p:spPr>
        <p:txBody>
          <a:bodyPr wrap="square">
            <a:spAutoFit/>
          </a:bodyPr>
          <a:lstStyle/>
          <a:p>
            <a:pPr marL="285750" marR="0" lvl="0"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Unbalanced or ineffective communication of an organization risk to external stakeholders has the potential to lead to incorrect and negative perceptions by third parties, such as:</a:t>
            </a:r>
          </a:p>
          <a:p>
            <a:pPr marL="1200150" marR="0" lvl="2"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Clients</a:t>
            </a:r>
          </a:p>
          <a:p>
            <a:pPr marL="1200150" marR="0" lvl="2"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Investors</a:t>
            </a:r>
          </a:p>
          <a:p>
            <a:pPr marL="1200150" marR="0" lvl="2"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Regulators</a:t>
            </a:r>
          </a:p>
          <a:p>
            <a:pPr marL="285750" marR="0" lvl="0"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Ineffective communication can also give the perception that the organization is trying to hide risk from stakeholders.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Tree>
    <p:extLst>
      <p:ext uri="{BB962C8B-B14F-4D97-AF65-F5344CB8AC3E}">
        <p14:creationId xmlns:p14="http://schemas.microsoft.com/office/powerpoint/2010/main" val="3125856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6BFE01-64BD-FA51-8501-A4E0407F45E3}"/>
              </a:ext>
            </a:extLst>
          </p:cNvPr>
          <p:cNvSpPr txBox="1"/>
          <p:nvPr/>
        </p:nvSpPr>
        <p:spPr>
          <a:xfrm>
            <a:off x="964271" y="684082"/>
            <a:ext cx="8919413" cy="5489836"/>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4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Importance of Policies and Procedures</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l" defTabSz="914400" rtl="0" eaLnBrk="1" fontAlgn="auto" latinLnBrk="0" hangingPunct="1">
              <a:lnSpc>
                <a:spcPct val="107000"/>
              </a:lnSpc>
              <a:spcBef>
                <a:spcPts val="0"/>
              </a:spcBef>
              <a:spcAft>
                <a:spcPts val="8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Policies and procedures reflect management guidance and direction in developing controls over information systems, related resources and processes.</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4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Policies</a:t>
            </a:r>
          </a:p>
          <a:p>
            <a:pPr marL="800100" marR="0" lvl="1" indent="-3429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Policies are high-level documents that represent the corporate philosophy of an organization. </a:t>
            </a:r>
          </a:p>
          <a:p>
            <a:pPr marL="800100" marR="0" lvl="1" indent="-3429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To be effective, policies must be clear and concise.</a:t>
            </a:r>
          </a:p>
          <a:p>
            <a:pPr marL="800100" marR="0" lvl="1" indent="-3429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Management must create a positive control environment by assuming responsibility for developing, documenting and controlling policies covering general goals and directives. </a:t>
            </a:r>
          </a:p>
          <a:p>
            <a:pPr marL="800100" marR="0" lvl="1" indent="-3429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 addition to corporate policies that set the tone for the organization as a whole, individual divisions and departments should define lower-level policies.</a:t>
            </a:r>
          </a:p>
          <a:p>
            <a:pPr marL="800100" marR="0" lvl="1" indent="-3429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To achieve strategic alignment, it is imperative that these divisional and departmental policies are consistent with corporate-level policies.</a:t>
            </a:r>
          </a:p>
          <a:p>
            <a:pPr marL="800100" marR="0" lvl="1" indent="-3429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Policies are one of the governance components .</a:t>
            </a:r>
          </a:p>
          <a:p>
            <a:pPr marL="800100" marR="0" lvl="1" indent="-342900" algn="l" defTabSz="914400" rtl="0" eaLnBrk="1" fontAlgn="auto" latinLnBrk="0" hangingPunct="1">
              <a:lnSpc>
                <a:spcPct val="100000"/>
              </a:lnSpc>
              <a:spcBef>
                <a:spcPts val="600"/>
              </a:spcBef>
              <a:spcAft>
                <a:spcPts val="8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Good policies are effective, efficient, and nonintrusive (overlap).</a:t>
            </a:r>
          </a:p>
          <a:p>
            <a:pPr marL="457200" marR="0" lvl="1" indent="0" algn="l" defTabSz="914400" rtl="0" eaLnBrk="1" fontAlgn="auto" latinLnBrk="0" hangingPunct="1">
              <a:lnSpc>
                <a:spcPct val="100000"/>
              </a:lnSpc>
              <a:spcBef>
                <a:spcPts val="600"/>
              </a:spcBef>
              <a:spcAft>
                <a:spcPts val="80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p>
          <a:p>
            <a:pPr marL="0" marR="0" lvl="0" indent="0" algn="l" defTabSz="914400" rtl="0" eaLnBrk="1" fontAlgn="auto" latinLnBrk="0" hangingPunct="1">
              <a:lnSpc>
                <a:spcPct val="107000"/>
              </a:lnSpc>
              <a:spcBef>
                <a:spcPts val="0"/>
              </a:spcBef>
              <a:spcAft>
                <a:spcPts val="80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
        <p:nvSpPr>
          <p:cNvPr id="7" name="TextBox 6">
            <a:extLst>
              <a:ext uri="{FF2B5EF4-FFF2-40B4-BE49-F238E27FC236}">
                <a16:creationId xmlns:a16="http://schemas.microsoft.com/office/drawing/2014/main" id="{5852A46A-C46B-74FC-88C0-4615ED607A22}"/>
              </a:ext>
            </a:extLst>
          </p:cNvPr>
          <p:cNvSpPr txBox="1"/>
          <p:nvPr/>
        </p:nvSpPr>
        <p:spPr>
          <a:xfrm>
            <a:off x="239994" y="84771"/>
            <a:ext cx="6097508" cy="461665"/>
          </a:xfrm>
          <a:prstGeom prst="rect">
            <a:avLst/>
          </a:prstGeom>
          <a:noFill/>
        </p:spPr>
        <p:txBody>
          <a:bodyPr wrap="square">
            <a:spAutoFit/>
          </a:bodyPr>
          <a:lstStyle/>
          <a:p>
            <a:r>
              <a:rPr lang="en-US" sz="2400" b="1" dirty="0">
                <a:solidFill>
                  <a:srgbClr val="7030A0"/>
                </a:solidFill>
                <a:effectLst>
                  <a:outerShdw blurRad="38100" dist="38100" dir="2700000" algn="tl">
                    <a:srgbClr val="000000">
                      <a:alpha val="43137"/>
                    </a:srgbClr>
                  </a:outerShdw>
                </a:effectLst>
                <a:latin typeface="Berlin Sans FB Demi" panose="020E0802020502020306" pitchFamily="34" charset="0"/>
              </a:rPr>
              <a:t>Policies and Procedures</a:t>
            </a:r>
          </a:p>
        </p:txBody>
      </p:sp>
    </p:spTree>
    <p:extLst>
      <p:ext uri="{BB962C8B-B14F-4D97-AF65-F5344CB8AC3E}">
        <p14:creationId xmlns:p14="http://schemas.microsoft.com/office/powerpoint/2010/main" val="206996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E5B437-713F-481A-9417-92DF9DA518AF}"/>
              </a:ext>
            </a:extLst>
          </p:cNvPr>
          <p:cNvSpPr/>
          <p:nvPr/>
        </p:nvSpPr>
        <p:spPr>
          <a:xfrm>
            <a:off x="739742" y="887561"/>
            <a:ext cx="5155731" cy="455509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 high-level information security policy </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should include statements on confidentiality, integrity and availability.</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primary information security policy is issued by the company to ensure that all employees who use information technology assets within the broadness of the organization, or its networks, comply with its stated rules and guidelines.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 data classification policy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should describe the classifications,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levels of control at each classification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and responsibilities of all potential users including ownership.</a:t>
            </a:r>
          </a:p>
        </p:txBody>
      </p:sp>
      <p:sp>
        <p:nvSpPr>
          <p:cNvPr id="5" name="TextBox 4">
            <a:extLst>
              <a:ext uri="{FF2B5EF4-FFF2-40B4-BE49-F238E27FC236}">
                <a16:creationId xmlns:a16="http://schemas.microsoft.com/office/drawing/2014/main" id="{E4471666-B713-4273-9B71-016253DAE5AE}"/>
              </a:ext>
            </a:extLst>
          </p:cNvPr>
          <p:cNvSpPr txBox="1"/>
          <p:nvPr/>
        </p:nvSpPr>
        <p:spPr>
          <a:xfrm>
            <a:off x="98853" y="83336"/>
            <a:ext cx="8674373" cy="862929"/>
          </a:xfrm>
          <a:prstGeom prst="rect">
            <a:avLst/>
          </a:prstGeom>
          <a:noFill/>
        </p:spPr>
        <p:txBody>
          <a:bodyPr wrap="square">
            <a:spAutoFit/>
          </a:bodyPr>
          <a:lstStyle/>
          <a:p>
            <a:pPr marL="0" marR="0" lvl="0" indent="-342900" algn="ctr" defTabSz="914400" rtl="0" eaLnBrk="1" fontAlgn="auto" latinLnBrk="0" hangingPunct="1">
              <a:lnSpc>
                <a:spcPct val="107000"/>
              </a:lnSpc>
              <a:spcBef>
                <a:spcPts val="0"/>
              </a:spcBef>
              <a:spcAft>
                <a:spcPts val="800"/>
              </a:spcAft>
              <a:buClrTx/>
              <a:buSzTx/>
              <a:buFontTx/>
              <a:buNone/>
              <a:tabLst>
                <a:tab pos="457200" algn="l"/>
              </a:tabLst>
              <a:defRPr/>
            </a:pPr>
            <a:r>
              <a:rPr kumimoji="0" lang="en-US" sz="24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information security policies as a set of policies. </a:t>
            </a:r>
          </a:p>
          <a:p>
            <a:pPr marL="0" marR="0" lvl="0" indent="-342900" algn="ctr" defTabSz="914400" rtl="0" eaLnBrk="1" fontAlgn="auto" latinLnBrk="0" hangingPunct="1">
              <a:lnSpc>
                <a:spcPct val="107000"/>
              </a:lnSpc>
              <a:spcBef>
                <a:spcPts val="0"/>
              </a:spcBef>
              <a:spcAft>
                <a:spcPts val="800"/>
              </a:spcAft>
              <a:buClrTx/>
              <a:buSzTx/>
              <a:buFontTx/>
              <a:buNone/>
              <a:tabLst>
                <a:tab pos="457200" algn="l"/>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Generally, the following policy concerns are addressed:</a:t>
            </a:r>
          </a:p>
        </p:txBody>
      </p:sp>
      <p:sp>
        <p:nvSpPr>
          <p:cNvPr id="6" name="TextBox 5">
            <a:extLst>
              <a:ext uri="{FF2B5EF4-FFF2-40B4-BE49-F238E27FC236}">
                <a16:creationId xmlns:a16="http://schemas.microsoft.com/office/drawing/2014/main" id="{09083C22-8094-4506-BAA6-DD9F39BD8E5D}"/>
              </a:ext>
            </a:extLst>
          </p:cNvPr>
          <p:cNvSpPr txBox="1"/>
          <p:nvPr/>
        </p:nvSpPr>
        <p:spPr>
          <a:xfrm>
            <a:off x="6536362" y="1044934"/>
            <a:ext cx="5454316" cy="4616648"/>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3"/>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An Employee Position Descriptions </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Define the role of every employee,</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including their level of responsibility, </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amount of authority for decision-making, </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overarching goals and specific tasks. </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Also create methods for monitoring performance and developing employees through training.</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4"/>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 Personnel Policies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Clearly state business hours,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terms of employment (hiring and termination),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wages or salary (and bonuses, if any), insurance and health benefits,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paid vs. unpaid vacation days, sick leave, and retirement.</a:t>
            </a:r>
          </a:p>
        </p:txBody>
      </p:sp>
    </p:spTree>
    <p:extLst>
      <p:ext uri="{BB962C8B-B14F-4D97-AF65-F5344CB8AC3E}">
        <p14:creationId xmlns:p14="http://schemas.microsoft.com/office/powerpoint/2010/main" val="1181909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84DDED-A383-4F2E-BE0D-3E322478EC37}"/>
              </a:ext>
            </a:extLst>
          </p:cNvPr>
          <p:cNvSpPr/>
          <p:nvPr/>
        </p:nvSpPr>
        <p:spPr>
          <a:xfrm>
            <a:off x="617577" y="416957"/>
            <a:ext cx="5991770" cy="6024085"/>
          </a:xfrm>
          <a:prstGeom prst="rect">
            <a:avLst/>
          </a:prstGeom>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5"/>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 Safety Policy</a:t>
            </a:r>
          </a:p>
          <a:p>
            <a:pPr marL="800100" marR="0" lvl="1" indent="-342900" algn="l" defTabSz="914400" rtl="0" eaLnBrk="1" fontAlgn="auto" latinLnBrk="0" hangingPunct="1">
              <a:lnSpc>
                <a:spcPct val="100000"/>
              </a:lnSpc>
              <a:spcBef>
                <a:spcPts val="0"/>
              </a:spcBef>
              <a:spcAft>
                <a:spcPts val="800"/>
              </a:spcAft>
              <a:buClrTx/>
              <a:buSzTx/>
              <a:buFont typeface="Wingdings" panose="05000000000000000000" pitchFamily="2" charset="2"/>
              <a:buChar char="q"/>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Arial" panose="020B0604020202020204" pitchFamily="34" charset="0"/>
              </a:rPr>
              <a:t>Use industry best practices and relevant local,</a:t>
            </a:r>
          </a:p>
          <a:p>
            <a:pPr marL="800100" marR="0" lvl="1" indent="-342900" algn="l" defTabSz="914400" rtl="0" eaLnBrk="1" fontAlgn="auto" latinLnBrk="0" hangingPunct="1">
              <a:lnSpc>
                <a:spcPct val="100000"/>
              </a:lnSpc>
              <a:spcBef>
                <a:spcPts val="0"/>
              </a:spcBef>
              <a:spcAft>
                <a:spcPts val="800"/>
              </a:spcAft>
              <a:buClrTx/>
              <a:buSzTx/>
              <a:buFont typeface="Wingdings" panose="05000000000000000000" pitchFamily="2" charset="2"/>
              <a:buChar char="q"/>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Arial" panose="020B0604020202020204" pitchFamily="34" charset="0"/>
              </a:rPr>
              <a:t> state and federal laws as guidelines to create rules detailing what safe behavior at work looks like, </a:t>
            </a:r>
          </a:p>
          <a:p>
            <a:pPr marL="800100" marR="0" lvl="1" indent="-342900" algn="l" defTabSz="914400" rtl="0" eaLnBrk="1" fontAlgn="auto" latinLnBrk="0" hangingPunct="1">
              <a:lnSpc>
                <a:spcPct val="100000"/>
              </a:lnSpc>
              <a:spcBef>
                <a:spcPts val="0"/>
              </a:spcBef>
              <a:spcAft>
                <a:spcPts val="800"/>
              </a:spcAft>
              <a:buClrTx/>
              <a:buSzTx/>
              <a:buFont typeface="Wingdings" panose="05000000000000000000" pitchFamily="2" charset="2"/>
              <a:buChar char="q"/>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Arial" panose="020B0604020202020204" pitchFamily="34" charset="0"/>
              </a:rPr>
              <a:t>how to use safety equipment, </a:t>
            </a:r>
          </a:p>
          <a:p>
            <a:pPr marL="800100" marR="0" lvl="1" indent="-342900" algn="l" defTabSz="914400" rtl="0" eaLnBrk="1" fontAlgn="auto" latinLnBrk="0" hangingPunct="1">
              <a:lnSpc>
                <a:spcPct val="100000"/>
              </a:lnSpc>
              <a:spcBef>
                <a:spcPts val="0"/>
              </a:spcBef>
              <a:spcAft>
                <a:spcPts val="800"/>
              </a:spcAft>
              <a:buClrTx/>
              <a:buSzTx/>
              <a:buFont typeface="Wingdings" panose="05000000000000000000" pitchFamily="2" charset="2"/>
              <a:buChar char="q"/>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Arial" panose="020B0604020202020204" pitchFamily="34" charset="0"/>
              </a:rPr>
              <a:t>how to report safety hazards, etc.</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5"/>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 Technology Policy</a:t>
            </a:r>
          </a:p>
          <a:p>
            <a:pPr marL="800100" marR="0" lvl="1" indent="-342900" algn="l" defTabSz="914400" rtl="0" eaLnBrk="1" fontAlgn="auto" latinLnBrk="0" hangingPunct="1">
              <a:lnSpc>
                <a:spcPct val="100000"/>
              </a:lnSpc>
              <a:spcBef>
                <a:spcPts val="0"/>
              </a:spcBef>
              <a:spcAft>
                <a:spcPts val="800"/>
              </a:spcAft>
              <a:buClrTx/>
              <a:buSzTx/>
              <a:buFont typeface="Wingdings" panose="05000000000000000000" pitchFamily="2" charset="2"/>
              <a:buChar char="q"/>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Establish what’s acceptable and what’s not in regards to Internet, </a:t>
            </a:r>
          </a:p>
          <a:p>
            <a:pPr marL="914400" marR="0" lvl="3" indent="-342900" algn="l" defTabSz="914400" rtl="0" eaLnBrk="1" fontAlgn="auto" latinLnBrk="0" hangingPunct="1">
              <a:lnSpc>
                <a:spcPct val="100000"/>
              </a:lnSpc>
              <a:spcBef>
                <a:spcPts val="0"/>
              </a:spcBef>
              <a:spcAft>
                <a:spcPts val="800"/>
              </a:spcAft>
              <a:buClrTx/>
              <a:buSzTx/>
              <a:buFont typeface="Wingdings" panose="05000000000000000000" pitchFamily="2" charset="2"/>
              <a:buChar char="q"/>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email and social media usage for personal purposes at work.</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5"/>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 Disciplinary Action Policy</a:t>
            </a:r>
          </a:p>
          <a:p>
            <a:pPr marL="800100" marR="0" lvl="1" indent="-342900" algn="l" defTabSz="914400" rtl="0" eaLnBrk="1" fontAlgn="auto" latinLnBrk="0" hangingPunct="1">
              <a:lnSpc>
                <a:spcPct val="100000"/>
              </a:lnSpc>
              <a:spcBef>
                <a:spcPts val="0"/>
              </a:spcBef>
              <a:spcAft>
                <a:spcPts val="800"/>
              </a:spcAft>
              <a:buClrTx/>
              <a:buSzTx/>
              <a:buFont typeface="Wingdings" panose="05000000000000000000" pitchFamily="2" charset="2"/>
              <a:buChar char="q"/>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Calibri" panose="020F0502020204030204" pitchFamily="34" charset="0"/>
                <a:cs typeface="Arial" panose="020B0604020202020204" pitchFamily="34" charset="0"/>
              </a:rPr>
              <a:t>Address issues of honesty, performance, </a:t>
            </a:r>
          </a:p>
          <a:p>
            <a:pPr marL="742950" marR="0" lvl="1" indent="-285750" algn="l" defTabSz="914400" rtl="0" eaLnBrk="1" fontAlgn="auto" latinLnBrk="0" hangingPunct="1">
              <a:lnSpc>
                <a:spcPct val="100000"/>
              </a:lnSpc>
              <a:spcBef>
                <a:spcPts val="0"/>
              </a:spcBef>
              <a:spcAft>
                <a:spcPts val="800"/>
              </a:spcAft>
              <a:buClrTx/>
              <a:buSzTx/>
              <a:buFont typeface="Wingdings" panose="05000000000000000000" pitchFamily="2" charset="2"/>
              <a:buChar char="q"/>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Calibri" panose="020F0502020204030204" pitchFamily="34" charset="0"/>
                <a:cs typeface="Arial" panose="020B0604020202020204" pitchFamily="34" charset="0"/>
              </a:rPr>
              <a:t>safety and misconduct,</a:t>
            </a:r>
          </a:p>
          <a:p>
            <a:pPr marL="742950" marR="0" lvl="1" indent="-285750" algn="l" defTabSz="914400" rtl="0" eaLnBrk="1" fontAlgn="auto" latinLnBrk="0" hangingPunct="1">
              <a:lnSpc>
                <a:spcPct val="100000"/>
              </a:lnSpc>
              <a:spcBef>
                <a:spcPts val="0"/>
              </a:spcBef>
              <a:spcAft>
                <a:spcPts val="800"/>
              </a:spcAft>
              <a:buClrTx/>
              <a:buSzTx/>
              <a:buFont typeface="Wingdings" panose="05000000000000000000" pitchFamily="2" charset="2"/>
              <a:buChar char="q"/>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Calibri" panose="020F0502020204030204" pitchFamily="34" charset="0"/>
                <a:cs typeface="Arial" panose="020B0604020202020204" pitchFamily="34" charset="0"/>
              </a:rPr>
              <a:t> and determine what constitutes a violation of company policy, </a:t>
            </a:r>
          </a:p>
          <a:p>
            <a:pPr marL="742950" marR="0" lvl="1" indent="-285750" algn="l" defTabSz="914400" rtl="0" eaLnBrk="1" fontAlgn="auto" latinLnBrk="0" hangingPunct="1">
              <a:lnSpc>
                <a:spcPct val="100000"/>
              </a:lnSpc>
              <a:spcBef>
                <a:spcPts val="0"/>
              </a:spcBef>
              <a:spcAft>
                <a:spcPts val="800"/>
              </a:spcAft>
              <a:buClrTx/>
              <a:buSzTx/>
              <a:buFont typeface="Wingdings" panose="05000000000000000000" pitchFamily="2" charset="2"/>
              <a:buChar char="q"/>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Calibri" panose="020F0502020204030204" pitchFamily="34" charset="0"/>
                <a:cs typeface="Arial" panose="020B0604020202020204" pitchFamily="34" charset="0"/>
              </a:rPr>
              <a:t>as well as how employees will be disciplined if they violate certain rules.</a:t>
            </a:r>
          </a:p>
          <a:p>
            <a:pPr marL="285750" marR="0" lvl="0" indent="-285750" algn="l" defTabSz="914400" rtl="0" eaLnBrk="1" fontAlgn="auto" latinLnBrk="0" hangingPunct="1">
              <a:lnSpc>
                <a:spcPct val="107000"/>
              </a:lnSpc>
              <a:spcBef>
                <a:spcPts val="0"/>
              </a:spcBef>
              <a:spcAft>
                <a:spcPts val="800"/>
              </a:spcAft>
              <a:buClrTx/>
              <a:buSzTx/>
              <a:buFont typeface="Courier New" panose="02070309020205020404" pitchFamily="49" charset="0"/>
              <a:buChar char="o"/>
              <a:tabLst>
                <a:tab pos="457200" algn="l"/>
              </a:tabLst>
              <a:defRPr/>
            </a:pPr>
            <a:endParaRPr kumimoji="0" lang="en-US" sz="1800" b="0" i="0" u="none" strike="noStrike" kern="1200" cap="none" spc="0" normalizeH="0" baseline="0" noProof="0" dirty="0">
              <a:ln>
                <a:noFill/>
              </a:ln>
              <a:solidFill>
                <a:srgbClr val="002060"/>
              </a:solidFill>
              <a:effectLst/>
              <a:uLnTx/>
              <a:uFillTx/>
              <a:latin typeface="Bell MT" panose="02020503060305020303" pitchFamily="18" charset="0"/>
              <a:ea typeface="Calibri" panose="020F0502020204030204" pitchFamily="34" charset="0"/>
              <a:cs typeface="Arial" panose="020B0604020202020204" pitchFamily="34" charset="0"/>
            </a:endParaRPr>
          </a:p>
        </p:txBody>
      </p:sp>
      <p:sp>
        <p:nvSpPr>
          <p:cNvPr id="4" name="TextBox 3">
            <a:extLst>
              <a:ext uri="{FF2B5EF4-FFF2-40B4-BE49-F238E27FC236}">
                <a16:creationId xmlns:a16="http://schemas.microsoft.com/office/drawing/2014/main" id="{A8A75502-971A-46F0-B023-A87BDCAC775E}"/>
              </a:ext>
            </a:extLst>
          </p:cNvPr>
          <p:cNvSpPr txBox="1"/>
          <p:nvPr/>
        </p:nvSpPr>
        <p:spPr>
          <a:xfrm>
            <a:off x="6609347" y="1463504"/>
            <a:ext cx="5368469" cy="3488712"/>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Change Management Policy</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 change management policy refers to a formal process for making changes to IT, software development and security services/operations. </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goal of a change management program is to increase the awareness and understanding of proposed changes across an organization,</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and to ensure that all changes are conducted methodically to minimize any adverse impact on services and customers. </a:t>
            </a:r>
          </a:p>
          <a:p>
            <a:pPr marL="285750" marR="0" lvl="0" indent="-285750" algn="l" defTabSz="914400" rtl="0" eaLnBrk="1" fontAlgn="auto" latinLnBrk="0" hangingPunct="1">
              <a:lnSpc>
                <a:spcPct val="107000"/>
              </a:lnSpc>
              <a:spcBef>
                <a:spcPts val="0"/>
              </a:spcBef>
              <a:spcAft>
                <a:spcPts val="800"/>
              </a:spcAft>
              <a:buClrTx/>
              <a:buSzTx/>
              <a:buFont typeface="Courier New" panose="02070309020205020404" pitchFamily="49" charset="0"/>
              <a:buChar char="o"/>
              <a:tabLst>
                <a:tab pos="457200" algn="l"/>
              </a:tabLst>
              <a:defRPr/>
            </a:pP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95767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8D62CC-2C5F-4AA6-88C9-B52551A6F47F}"/>
              </a:ext>
            </a:extLst>
          </p:cNvPr>
          <p:cNvSpPr/>
          <p:nvPr/>
        </p:nvSpPr>
        <p:spPr>
          <a:xfrm>
            <a:off x="1334031" y="-265723"/>
            <a:ext cx="6374201" cy="63709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Acceptable Use Policy (AUP)</a:t>
            </a:r>
            <a:endParaRPr kumimoji="0" lang="en-US" sz="2000" b="1"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An AUP stipulates the constraints and practices that an employee using organizational IT assets must agree to in order to access to the corporate network or the internet.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It is standard onboarding policy for new employees. They are given an AUP to read and sign before being granted a network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It is recommended that organizations IT, security, legal and HR departments discuss what is included in this policy.</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Access Control Policy (ACP)</a:t>
            </a:r>
            <a:endParaRPr kumimoji="0" lang="en-US" sz="18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ACP outlines the access available to employees in regards to an organization’s data and information systems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items covered in this policy are standards for user access, network access controls, operating system software controls and the complexity of corporate passwords. </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Privacy Policy </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Protect employees, the company and your customers by establishing a policy that encourages transparency and trust with your customers.</a:t>
            </a:r>
          </a:p>
        </p:txBody>
      </p:sp>
    </p:spTree>
    <p:extLst>
      <p:ext uri="{BB962C8B-B14F-4D97-AF65-F5344CB8AC3E}">
        <p14:creationId xmlns:p14="http://schemas.microsoft.com/office/powerpoint/2010/main" val="2867259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5E8DD7-6A2B-423F-BA4A-1F7F917DE09C}"/>
              </a:ext>
            </a:extLst>
          </p:cNvPr>
          <p:cNvSpPr/>
          <p:nvPr/>
        </p:nvSpPr>
        <p:spPr>
          <a:xfrm>
            <a:off x="1249210" y="0"/>
            <a:ext cx="7598011" cy="64325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 Incident Response (IR) Policy</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incident response policy is an organized approach to how the company will manage an incident and remediate the impact to operations.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It’s the one policy CISOs hope to never have to use.</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However, the goal of this policy is to describe the process of handling an incident with respect to limiting the damage to business operations, customers and reducing recovery time and costs.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Remote Access Policy</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remote access policy is a document which outlines and defines acceptable methods of remotely connecting to an organization's internal networks.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this policy include rules for the use of BYOD assets.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This policy is a requirement for organizations that have dispersed networks.</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 Email/Communication Policy</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 company's email policy is a document that is used to formally outline how employees can use the business’ chosen electronic communication medium.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this policy could cover email, blogs, social media and chat technologies.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primary goal of this policy is to provide guidelines to employees on what is considered the acceptable and unacceptable use of any corporate communication technology</a:t>
            </a: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 </a:t>
            </a:r>
          </a:p>
        </p:txBody>
      </p:sp>
    </p:spTree>
    <p:extLst>
      <p:ext uri="{BB962C8B-B14F-4D97-AF65-F5344CB8AC3E}">
        <p14:creationId xmlns:p14="http://schemas.microsoft.com/office/powerpoint/2010/main" val="2682413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61B725-CFE0-417F-AE11-1ADBDF422EAC}"/>
              </a:ext>
            </a:extLst>
          </p:cNvPr>
          <p:cNvSpPr/>
          <p:nvPr/>
        </p:nvSpPr>
        <p:spPr>
          <a:xfrm>
            <a:off x="2060047" y="217346"/>
            <a:ext cx="6049237" cy="586173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 Organizational Structure </a:t>
            </a:r>
          </a:p>
          <a:p>
            <a:pPr marL="800100" marR="0" lvl="1" indent="-34290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Create a chart with each person’s name and title showing how each person fits into the structure of the organization.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Disaster Recovery Policy</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An organization’s disaster recovery plan will generally include both cybersecurity and IT teams’ input and will be developed as part of the larger business continuity plan.</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CISO and teams will manage an incident through the incident response policy.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If the event has a significant business impact, the Business Continuity Plan will be activated</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8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 Business Continuity Plan (BCP)</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BCP will coordinate efforts across the organization and will use the disaster recovery plan to restore hardware, applications and data deemed essential for business continuity.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BCP’s are unique to each business because they describe how the organization will operate in an emergency. </a:t>
            </a:r>
          </a:p>
        </p:txBody>
      </p:sp>
    </p:spTree>
    <p:extLst>
      <p:ext uri="{BB962C8B-B14F-4D97-AF65-F5344CB8AC3E}">
        <p14:creationId xmlns:p14="http://schemas.microsoft.com/office/powerpoint/2010/main" val="2404536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C70195-A3E9-5918-ACEF-0D1CF937DB52}"/>
              </a:ext>
            </a:extLst>
          </p:cNvPr>
          <p:cNvSpPr txBox="1"/>
          <p:nvPr/>
        </p:nvSpPr>
        <p:spPr>
          <a:xfrm>
            <a:off x="1267486" y="201532"/>
            <a:ext cx="7967050" cy="5693866"/>
          </a:xfrm>
          <a:prstGeom prst="rect">
            <a:avLst/>
          </a:prstGeom>
          <a:noFill/>
        </p:spPr>
        <p:txBody>
          <a:bodyPr wrap="square">
            <a:spAutoFit/>
          </a:bodyPr>
          <a:lstStyle/>
          <a:p>
            <a:r>
              <a:rPr lang="en-US" sz="2000" b="1" dirty="0">
                <a:solidFill>
                  <a:srgbClr val="C00000"/>
                </a:solidFill>
                <a:latin typeface="Berlin Sans FB Demi" panose="020E0802020502020306" pitchFamily="34" charset="0"/>
              </a:rPr>
              <a:t>Risk Management Policy</a:t>
            </a:r>
          </a:p>
          <a:p>
            <a:pPr marL="800100" lvl="1" indent="-342900">
              <a:spcBef>
                <a:spcPts val="600"/>
              </a:spcBef>
              <a:buFont typeface="+mj-lt"/>
              <a:buAutoNum type="arabicPeriod"/>
            </a:pPr>
            <a:r>
              <a:rPr lang="en-US" sz="1600" dirty="0">
                <a:solidFill>
                  <a:srgbClr val="0070C0"/>
                </a:solidFill>
                <a:latin typeface="Berlin Sans FB" panose="020E0602020502020306" pitchFamily="34" charset="0"/>
                <a:cs typeface="Arial" panose="020B0604020202020204" pitchFamily="34" charset="0"/>
              </a:rPr>
              <a:t>Like all policies the risk management policy must be subject to periodic review</a:t>
            </a:r>
          </a:p>
          <a:p>
            <a:pPr marL="800100" lvl="1" indent="-342900">
              <a:spcBef>
                <a:spcPts val="600"/>
              </a:spcBef>
              <a:buFont typeface="+mj-lt"/>
              <a:buAutoNum type="arabicPeriod"/>
            </a:pPr>
            <a:r>
              <a:rPr lang="en-US" sz="1600" dirty="0">
                <a:solidFill>
                  <a:srgbClr val="0070C0"/>
                </a:solidFill>
                <a:latin typeface="Berlin Sans FB" panose="020E0602020502020306" pitchFamily="34" charset="0"/>
                <a:cs typeface="Arial" panose="020B0604020202020204" pitchFamily="34" charset="0"/>
              </a:rPr>
              <a:t>The organization’s risk appetite must be clearly articulated in the policy.</a:t>
            </a:r>
          </a:p>
          <a:p>
            <a:pPr marL="800100" lvl="1" indent="-342900">
              <a:spcBef>
                <a:spcPts val="600"/>
              </a:spcBef>
              <a:buFont typeface="+mj-lt"/>
              <a:buAutoNum type="arabicPeriod"/>
            </a:pPr>
            <a:r>
              <a:rPr lang="en-US" sz="1600" dirty="0">
                <a:solidFill>
                  <a:srgbClr val="0070C0"/>
                </a:solidFill>
                <a:latin typeface="Berlin Sans FB" panose="020E0602020502020306" pitchFamily="34" charset="0"/>
                <a:cs typeface="Arial" panose="020B0604020202020204" pitchFamily="34" charset="0"/>
              </a:rPr>
              <a:t>The policy must also clearly define the roles and responsibilities for managing risks; often in large organizations there is a risk manager who oversees the risk management framework and processes.</a:t>
            </a:r>
          </a:p>
          <a:p>
            <a:pPr marL="800100" lvl="1" indent="-342900">
              <a:spcBef>
                <a:spcPts val="600"/>
              </a:spcBef>
              <a:buFont typeface="+mj-lt"/>
              <a:buAutoNum type="arabicPeriod"/>
            </a:pPr>
            <a:r>
              <a:rPr lang="en-US" sz="1600" dirty="0">
                <a:solidFill>
                  <a:srgbClr val="002060"/>
                </a:solidFill>
                <a:latin typeface="Berlin Sans FB" panose="020E0602020502020306" pitchFamily="34" charset="0"/>
                <a:cs typeface="Arial" panose="020B0604020202020204" pitchFamily="34" charset="0"/>
              </a:rPr>
              <a:t> It is usual for each risk to have a named risk owner. The risk owner is responsible for the identification of the hazard, the evaluation and grading of the risk, and subsequent control measures.</a:t>
            </a:r>
          </a:p>
          <a:p>
            <a:pPr marL="800100" lvl="1" indent="-342900">
              <a:spcBef>
                <a:spcPts val="600"/>
              </a:spcBef>
              <a:buFont typeface="+mj-lt"/>
              <a:buAutoNum type="arabicPeriod"/>
            </a:pPr>
            <a:r>
              <a:rPr lang="en-US" sz="1600" dirty="0">
                <a:solidFill>
                  <a:srgbClr val="002060"/>
                </a:solidFill>
                <a:latin typeface="Berlin Sans FB" panose="020E0602020502020306" pitchFamily="34" charset="0"/>
                <a:cs typeface="Arial" panose="020B0604020202020204" pitchFamily="34" charset="0"/>
              </a:rPr>
              <a:t> There needs to be in place a regular review process whereby each risk is reviewed to ensure that the control measures are effective and that the residual risk is correctly graded.</a:t>
            </a:r>
          </a:p>
          <a:p>
            <a:pPr marL="800100" lvl="1" indent="-342900">
              <a:spcBef>
                <a:spcPts val="600"/>
              </a:spcBef>
              <a:buFont typeface="+mj-lt"/>
              <a:buAutoNum type="arabicPeriod"/>
            </a:pPr>
            <a:r>
              <a:rPr lang="en-US" sz="1600" dirty="0">
                <a:solidFill>
                  <a:srgbClr val="002060"/>
                </a:solidFill>
                <a:latin typeface="Berlin Sans FB" panose="020E0602020502020306" pitchFamily="34" charset="0"/>
                <a:cs typeface="Arial" panose="020B0604020202020204" pitchFamily="34" charset="0"/>
              </a:rPr>
              <a:t>The policy must set out the process, methods, and tools used to manage the risks within the organization. </a:t>
            </a:r>
          </a:p>
          <a:p>
            <a:pPr marL="800100" lvl="1" indent="-342900">
              <a:spcBef>
                <a:spcPts val="600"/>
              </a:spcBef>
              <a:buFont typeface="+mj-lt"/>
              <a:buAutoNum type="arabicPeriod"/>
            </a:pPr>
            <a:r>
              <a:rPr lang="en-US" sz="1600" dirty="0">
                <a:solidFill>
                  <a:srgbClr val="002060"/>
                </a:solidFill>
                <a:latin typeface="Berlin Sans FB" panose="020E0602020502020306" pitchFamily="34" charset="0"/>
                <a:cs typeface="Arial" panose="020B0604020202020204" pitchFamily="34" charset="0"/>
              </a:rPr>
              <a:t>Typically this will comprise a risk matrix to grade the consequences and likelihood and then the recording of risks, traditionally by means of a risk register.</a:t>
            </a:r>
          </a:p>
          <a:p>
            <a:pPr marL="800100" lvl="1" indent="-342900">
              <a:spcBef>
                <a:spcPts val="600"/>
              </a:spcBef>
              <a:buFont typeface="+mj-lt"/>
              <a:buAutoNum type="arabicPeriod"/>
            </a:pPr>
            <a:r>
              <a:rPr lang="en-US" sz="1600" dirty="0">
                <a:solidFill>
                  <a:srgbClr val="002060"/>
                </a:solidFill>
                <a:latin typeface="Berlin Sans FB" panose="020E0602020502020306" pitchFamily="34" charset="0"/>
                <a:cs typeface="Arial" panose="020B0604020202020204" pitchFamily="34" charset="0"/>
              </a:rPr>
              <a:t> There can be different levels of risk register, for example, at department level, and risks that cannot be managed at this level would sit on a higher level risk register at the division. Finally, there would be an organization risk register held by the board.</a:t>
            </a:r>
          </a:p>
        </p:txBody>
      </p:sp>
    </p:spTree>
    <p:extLst>
      <p:ext uri="{BB962C8B-B14F-4D97-AF65-F5344CB8AC3E}">
        <p14:creationId xmlns:p14="http://schemas.microsoft.com/office/powerpoint/2010/main" val="1635574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2D165D-E70D-9672-FD0C-88D32F1779AD}"/>
              </a:ext>
            </a:extLst>
          </p:cNvPr>
          <p:cNvSpPr txBox="1"/>
          <p:nvPr/>
        </p:nvSpPr>
        <p:spPr>
          <a:xfrm>
            <a:off x="872330" y="322132"/>
            <a:ext cx="9638743" cy="273921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Standards</a:t>
            </a:r>
            <a:endPar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A standard is a mandatory requirement</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code of practice or specification approved by a recognized external standards organization, such as ISO.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Standards are implemented to comply with the requirements and direction of policy to limit risk and support efficient business operations.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An enterprise may base its practices and operations on external standards, such as an ISO standard, or it may develop and tailor its own standards, such as requiring all staff to use the same product, operating system or desktop.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The use of a standard facilitates support and maintenance, provides better cost control and provides authority for the practices and procedures of the organization because a standard requires the implementation of certain practices.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endParaRPr lang="en-US" sz="1600" dirty="0">
              <a:solidFill>
                <a:srgbClr val="002060"/>
              </a:solidFill>
              <a:latin typeface="Berlin Sans FB" panose="020E0602020502020306" pitchFamily="34" charset="0"/>
              <a:cs typeface="Arial" panose="020B0604020202020204" pitchFamily="34" charset="0"/>
            </a:endParaRPr>
          </a:p>
        </p:txBody>
      </p:sp>
      <p:pic>
        <p:nvPicPr>
          <p:cNvPr id="5" name="Picture 4">
            <a:extLst>
              <a:ext uri="{FF2B5EF4-FFF2-40B4-BE49-F238E27FC236}">
                <a16:creationId xmlns:a16="http://schemas.microsoft.com/office/drawing/2014/main" id="{9D3881F7-F2E4-B1B4-D324-E6D301912C32}"/>
              </a:ext>
            </a:extLst>
          </p:cNvPr>
          <p:cNvPicPr>
            <a:picLocks noChangeAspect="1"/>
          </p:cNvPicPr>
          <p:nvPr/>
        </p:nvPicPr>
        <p:blipFill>
          <a:blip r:embed="rId2"/>
          <a:stretch>
            <a:fillRect/>
          </a:stretch>
        </p:blipFill>
        <p:spPr>
          <a:xfrm>
            <a:off x="656466" y="3139403"/>
            <a:ext cx="10879068" cy="3096057"/>
          </a:xfrm>
          <a:prstGeom prst="rect">
            <a:avLst/>
          </a:prstGeom>
        </p:spPr>
      </p:pic>
    </p:spTree>
    <p:extLst>
      <p:ext uri="{BB962C8B-B14F-4D97-AF65-F5344CB8AC3E}">
        <p14:creationId xmlns:p14="http://schemas.microsoft.com/office/powerpoint/2010/main" val="2559642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ECEDCBB-92DA-A3FF-1881-FBF71745B09A}"/>
              </a:ext>
            </a:extLst>
          </p:cNvPr>
          <p:cNvSpPr txBox="1"/>
          <p:nvPr/>
        </p:nvSpPr>
        <p:spPr>
          <a:xfrm>
            <a:off x="1434258" y="416459"/>
            <a:ext cx="7899865" cy="484748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Procedures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Procedures are more granular than standards and support their implementation.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procedure is a document containing a detailed description of the steps necessary to perform specific operations in conformance with applicable standards.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 lack of standards and procedures makes it difficult to carry out activities in a systematic manner and may result in undependable, inconsistent operations and elevated risk.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practitioner should also distinguish between the existence of published procedures and their actual use.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is common for procedures to be followed only for a short time, after which point experienced staff begin to work from memory.</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This practice should be discouraged in any environment in which precision is important, such as shutdown procedures for power plants or industrial machinery or complex monetary transactions.</a:t>
            </a:r>
          </a:p>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Specific to risk management efforts, Figure 1.18 lists common risk management procedures.</a:t>
            </a:r>
          </a:p>
        </p:txBody>
      </p:sp>
    </p:spTree>
    <p:extLst>
      <p:ext uri="{BB962C8B-B14F-4D97-AF65-F5344CB8AC3E}">
        <p14:creationId xmlns:p14="http://schemas.microsoft.com/office/powerpoint/2010/main" val="577464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E3167D-8726-4DB1-BD7B-FDF07EEB336B}"/>
              </a:ext>
            </a:extLst>
          </p:cNvPr>
          <p:cNvPicPr>
            <a:picLocks noChangeAspect="1"/>
          </p:cNvPicPr>
          <p:nvPr/>
        </p:nvPicPr>
        <p:blipFill>
          <a:blip r:embed="rId2"/>
          <a:stretch>
            <a:fillRect/>
          </a:stretch>
        </p:blipFill>
        <p:spPr>
          <a:xfrm>
            <a:off x="1506584" y="0"/>
            <a:ext cx="8708570" cy="6339840"/>
          </a:xfrm>
          <a:prstGeom prst="rect">
            <a:avLst/>
          </a:prstGeom>
        </p:spPr>
      </p:pic>
    </p:spTree>
    <p:extLst>
      <p:ext uri="{BB962C8B-B14F-4D97-AF65-F5344CB8AC3E}">
        <p14:creationId xmlns:p14="http://schemas.microsoft.com/office/powerpoint/2010/main" val="34335027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6E5257-731D-468D-B0D7-87BA4479AB50}"/>
              </a:ext>
            </a:extLst>
          </p:cNvPr>
          <p:cNvSpPr/>
          <p:nvPr/>
        </p:nvSpPr>
        <p:spPr>
          <a:xfrm>
            <a:off x="1706880" y="572653"/>
            <a:ext cx="6601097" cy="4431983"/>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Exception Management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Having policies, standards and procedures in place is an essential part of operating secure systems and attaining a secure state; however, there may be cases in which an exception to policy, standard or procedure is necessary. </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If exceptions are undocumented and uncontrolled, the level of risk is unknown and may result in an undesired level of risk</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Therefore,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exceptions should only be allowed through a documented, formal process that requires approval of the exception by a senior manager.</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The risk practitioner must ensure that an exception management process is in place and is being followed, and that exceptions are removed when they are no longer needed.</a:t>
            </a:r>
          </a:p>
        </p:txBody>
      </p:sp>
    </p:spTree>
    <p:extLst>
      <p:ext uri="{BB962C8B-B14F-4D97-AF65-F5344CB8AC3E}">
        <p14:creationId xmlns:p14="http://schemas.microsoft.com/office/powerpoint/2010/main" val="14204393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EBE8C9-909F-490F-50CE-0B2F4AD50E23}"/>
              </a:ext>
            </a:extLst>
          </p:cNvPr>
          <p:cNvSpPr txBox="1"/>
          <p:nvPr/>
        </p:nvSpPr>
        <p:spPr>
          <a:xfrm>
            <a:off x="1074820" y="2920705"/>
            <a:ext cx="10563727" cy="2830711"/>
          </a:xfrm>
          <a:prstGeom prst="rect">
            <a:avLst/>
          </a:prstGeom>
          <a:noFill/>
        </p:spPr>
        <p:txBody>
          <a:bodyPr wrap="square">
            <a:spAutoFit/>
          </a:bodyPr>
          <a:lstStyle/>
          <a:p>
            <a:pPr marR="0" lvl="1" algn="l" defTabSz="914400" rtl="0" eaLnBrk="1" fontAlgn="auto" latinLnBrk="0" hangingPunct="1">
              <a:lnSpc>
                <a:spcPct val="107000"/>
              </a:lnSpc>
              <a:spcBef>
                <a:spcPts val="0"/>
              </a:spcBef>
              <a:spcAft>
                <a:spcPts val="600"/>
              </a:spcAft>
              <a:buClrTx/>
              <a:buSzTx/>
              <a:tabLst/>
              <a:defRPr/>
            </a:pPr>
            <a:r>
              <a:rPr kumimoji="0" lang="en-US" sz="1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Some of the more popular ones include:</a:t>
            </a:r>
          </a:p>
          <a:p>
            <a:pPr marL="1257300" marR="0" lvl="2"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ISACA’s Risk IT Framework</a:t>
            </a:r>
          </a:p>
          <a:p>
            <a:pPr marL="1257300" marR="0" lvl="2"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COSO ERM Integrated Framework</a:t>
            </a:r>
          </a:p>
          <a:p>
            <a:pPr marL="1257300" marR="0" lvl="2"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Factor Analysis of Information Risk (FAIR)</a:t>
            </a:r>
          </a:p>
          <a:p>
            <a:pPr marL="1257300" marR="0" lvl="2"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ISO 31000 Risk Management series</a:t>
            </a:r>
          </a:p>
          <a:p>
            <a:pPr marL="1257300" marR="0" lvl="2"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Project Management Body of Knowledge (PMBOK®)</a:t>
            </a:r>
          </a:p>
          <a:p>
            <a:pPr marL="1257300" marR="0" lvl="2"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ISO/IEC 27005:2018: Information technology—Security techniques—Information security risk management</a:t>
            </a:r>
          </a:p>
          <a:p>
            <a:pPr marL="1257300" marR="0" lvl="2"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ISO/IEC 27001:2013: Information technology—Security techniques—Information security management systems—Requirements</a:t>
            </a:r>
          </a:p>
          <a:p>
            <a:pPr marL="1257300" marR="0" lvl="2"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ISO/MEC 27002:2013: Information technology—Security techniques—Code of practice for information security controls</a:t>
            </a:r>
          </a:p>
        </p:txBody>
      </p:sp>
      <p:sp>
        <p:nvSpPr>
          <p:cNvPr id="5" name="TextBox 4">
            <a:extLst>
              <a:ext uri="{FF2B5EF4-FFF2-40B4-BE49-F238E27FC236}">
                <a16:creationId xmlns:a16="http://schemas.microsoft.com/office/drawing/2014/main" id="{0A6B48A1-1617-839A-4F9F-6E9BBC929B8F}"/>
              </a:ext>
            </a:extLst>
          </p:cNvPr>
          <p:cNvSpPr txBox="1"/>
          <p:nvPr/>
        </p:nvSpPr>
        <p:spPr>
          <a:xfrm>
            <a:off x="0" y="100517"/>
            <a:ext cx="10042358" cy="27289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Risk Management Standards and Frameworks</a:t>
            </a:r>
          </a:p>
          <a:p>
            <a:pPr marL="457200" marR="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 </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endParaRPr>
          </a:p>
          <a:p>
            <a:pPr marL="800100" marR="0" lvl="1"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Many risk management frameworks and standards have been published and should be leveraged because they provide definition and guidance for formulation and implementation of the enterprise risk management (ERM) framework. </a:t>
            </a:r>
          </a:p>
          <a:p>
            <a:pPr marL="800100" marR="0" lvl="1"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After a risk management framework is in place, a common approach can be used across the business, bringing together disparate risk disciplines and functions into a consolidated and consistent approach.</a:t>
            </a:r>
          </a:p>
          <a:p>
            <a:pPr marR="0" lvl="1" algn="l" defTabSz="914400" rtl="0" eaLnBrk="1" fontAlgn="auto" latinLnBrk="0" hangingPunct="1">
              <a:lnSpc>
                <a:spcPct val="107000"/>
              </a:lnSpc>
              <a:spcBef>
                <a:spcPts val="0"/>
              </a:spcBef>
              <a:spcAft>
                <a:spcPts val="600"/>
              </a:spcAft>
              <a:buClrTx/>
              <a:buSzTx/>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Arial" panose="020B0604020202020204" pitchFamily="34" charset="0"/>
              </a:rPr>
              <a:t>There are a number of risk management frameworks and standards. They provide guidance for the application of risk management and have various origins. </a:t>
            </a:r>
          </a:p>
        </p:txBody>
      </p:sp>
      <p:sp>
        <p:nvSpPr>
          <p:cNvPr id="4" name="TextBox 3">
            <a:extLst>
              <a:ext uri="{FF2B5EF4-FFF2-40B4-BE49-F238E27FC236}">
                <a16:creationId xmlns:a16="http://schemas.microsoft.com/office/drawing/2014/main" id="{3933E5BE-C4BA-84CD-949B-5CE0B98B2FEB}"/>
              </a:ext>
            </a:extLst>
          </p:cNvPr>
          <p:cNvSpPr txBox="1"/>
          <p:nvPr/>
        </p:nvSpPr>
        <p:spPr>
          <a:xfrm>
            <a:off x="260683" y="5742363"/>
            <a:ext cx="11377864" cy="646331"/>
          </a:xfrm>
          <a:prstGeom prst="rect">
            <a:avLst/>
          </a:prstGeom>
          <a:noFill/>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Note: The CRISC candidate will not be tested on any specific standard. The use of any standards in this review manual is</a:t>
            </a:r>
            <a:r>
              <a:rPr kumimoji="0" lang="ar-SA"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for example and explanatory purposes only.</a:t>
            </a:r>
          </a:p>
        </p:txBody>
      </p:sp>
    </p:spTree>
    <p:extLst>
      <p:ext uri="{BB962C8B-B14F-4D97-AF65-F5344CB8AC3E}">
        <p14:creationId xmlns:p14="http://schemas.microsoft.com/office/powerpoint/2010/main" val="3167338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B5F269D-85FE-3C90-59CF-E8FF55E9D88D}"/>
              </a:ext>
            </a:extLst>
          </p:cNvPr>
          <p:cNvSpPr txBox="1"/>
          <p:nvPr/>
        </p:nvSpPr>
        <p:spPr>
          <a:xfrm>
            <a:off x="625642" y="480806"/>
            <a:ext cx="6509804" cy="518603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ISO 31000:2018 Risk Management  Guidelines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ISO 31000:2018 states:</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Organizations of all types and sizes face external and</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internal factors and influences that make it uncertain whether they will achieve their objectives.</a:t>
            </a:r>
            <a:endPar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Managing risk is will assists organizations in setting strategy, achieving objectives and making informed</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decisions.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Managing risk is part of governance and leadership and is fundamental to how the organization is managed at all</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levels.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Managing risk is part of all activities associated with an organization and includes interaction with stakeholders.</a:t>
            </a:r>
            <a:endPar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Managing risk considers the external and internal context of the organization, including human behavior and cultural</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factors.</a:t>
            </a:r>
          </a:p>
          <a:p>
            <a:pPr marL="457200" marR="0" lvl="1" indent="0" algn="l" defTabSz="4572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L="457200" marR="0" lvl="1" indent="0" algn="l"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ISO 31000:2018 also describes three major components for risk management (Figure 1.</a:t>
            </a:r>
            <a:r>
              <a:rPr kumimoji="0" lang="ar-SA"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19</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t>
            </a:r>
          </a:p>
        </p:txBody>
      </p:sp>
    </p:spTree>
    <p:extLst>
      <p:ext uri="{BB962C8B-B14F-4D97-AF65-F5344CB8AC3E}">
        <p14:creationId xmlns:p14="http://schemas.microsoft.com/office/powerpoint/2010/main" val="3214873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9CF6D67-5E77-4DE2-B6F6-E3D01662C031}"/>
              </a:ext>
            </a:extLst>
          </p:cNvPr>
          <p:cNvPicPr>
            <a:picLocks noChangeAspect="1"/>
          </p:cNvPicPr>
          <p:nvPr/>
        </p:nvPicPr>
        <p:blipFill rotWithShape="1">
          <a:blip r:embed="rId2"/>
          <a:srcRect t="6978"/>
          <a:stretch/>
        </p:blipFill>
        <p:spPr>
          <a:xfrm>
            <a:off x="1059423" y="417096"/>
            <a:ext cx="9736270" cy="5881265"/>
          </a:xfrm>
          <a:prstGeom prst="rect">
            <a:avLst/>
          </a:prstGeom>
        </p:spPr>
      </p:pic>
      <p:sp>
        <p:nvSpPr>
          <p:cNvPr id="4" name="TextBox 3">
            <a:extLst>
              <a:ext uri="{FF2B5EF4-FFF2-40B4-BE49-F238E27FC236}">
                <a16:creationId xmlns:a16="http://schemas.microsoft.com/office/drawing/2014/main" id="{AF48E9BB-281D-0BC0-8F1F-8ED15ADB03F7}"/>
              </a:ext>
            </a:extLst>
          </p:cNvPr>
          <p:cNvSpPr txBox="1"/>
          <p:nvPr/>
        </p:nvSpPr>
        <p:spPr>
          <a:xfrm>
            <a:off x="417095" y="0"/>
            <a:ext cx="10154652" cy="369332"/>
          </a:xfrm>
          <a:prstGeom prst="rect">
            <a:avLst/>
          </a:prstGeom>
          <a:noFill/>
        </p:spPr>
        <p:txBody>
          <a:bodyPr wrap="square">
            <a:spAutoFit/>
          </a:bodyPr>
          <a:lstStyle/>
          <a:p>
            <a:pPr marL="457200" marR="0" lvl="1" indent="0" algn="l"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ISO 31000:2018 also describes three major components for risk management (Figure 1.</a:t>
            </a:r>
            <a:r>
              <a:rPr kumimoji="0" lang="ar-SA"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19</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t>
            </a:r>
          </a:p>
        </p:txBody>
      </p:sp>
    </p:spTree>
    <p:extLst>
      <p:ext uri="{BB962C8B-B14F-4D97-AF65-F5344CB8AC3E}">
        <p14:creationId xmlns:p14="http://schemas.microsoft.com/office/powerpoint/2010/main" val="7043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AB1C54-A7D8-F065-D408-864992AC33C7}"/>
              </a:ext>
            </a:extLst>
          </p:cNvPr>
          <p:cNvSpPr txBox="1"/>
          <p:nvPr/>
        </p:nvSpPr>
        <p:spPr>
          <a:xfrm>
            <a:off x="956252" y="479999"/>
            <a:ext cx="9129308" cy="4496552"/>
          </a:xfrm>
          <a:prstGeom prst="rect">
            <a:avLst/>
          </a:prstGeom>
          <a:noFill/>
        </p:spPr>
        <p:txBody>
          <a:bodyPr wrap="square">
            <a:spAutoFit/>
          </a:bodyPr>
          <a:lstStyle/>
          <a:p>
            <a:pPr marL="457200" marR="0" lvl="0" indent="0" algn="l" defTabSz="914400" rtl="0" eaLnBrk="1" fontAlgn="auto" latinLnBrk="0" hangingPunct="1">
              <a:lnSpc>
                <a:spcPct val="107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Risk IT Framework</a:t>
            </a:r>
          </a:p>
          <a:p>
            <a:pPr marL="457200" marR="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 </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ISACA Risk IT framework is intended to help implement risk governance and enhance IT-related risk management.</a:t>
            </a:r>
          </a:p>
          <a:p>
            <a:pPr marL="342900" marR="0" lvl="0"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The Risk IT framework offers a structured, systematic methodology that enables enterprises to:</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p>
          <a:p>
            <a:pPr marL="1200150" marR="0" lvl="2" indent="-28575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Identify current and emerging risk throughout the extended enterprise</a:t>
            </a:r>
          </a:p>
          <a:p>
            <a:pPr marL="1200150" marR="0" lvl="2" indent="-28575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Develop appropriate operational capabilities to ensure that business processes continue operating through adverse events</a:t>
            </a:r>
          </a:p>
          <a:p>
            <a:pPr marL="1200150" marR="0" lvl="2" indent="-28575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Leverage investments in compliance or internal control systems already in place to optimize IT-related risk</a:t>
            </a:r>
          </a:p>
          <a:p>
            <a:pPr marL="1200150" marR="0" lvl="2" indent="-28575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Raise awareness of the balance between the benefits of technology and external partners and the potential impacts of cyberthreats, internal control failures, and risk introduced by vendors, suppliers, and partners</a:t>
            </a:r>
          </a:p>
          <a:p>
            <a:pPr marL="1200150" marR="0" lvl="2" indent="-28575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Focus internal and external risk management resources to maximize enterprise objectives</a:t>
            </a:r>
          </a:p>
        </p:txBody>
      </p:sp>
    </p:spTree>
    <p:extLst>
      <p:ext uri="{BB962C8B-B14F-4D97-AF65-F5344CB8AC3E}">
        <p14:creationId xmlns:p14="http://schemas.microsoft.com/office/powerpoint/2010/main" val="1066533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C4096-E66C-9A2A-C1E4-90928EC11869}"/>
              </a:ext>
            </a:extLst>
          </p:cNvPr>
          <p:cNvSpPr txBox="1"/>
          <p:nvPr/>
        </p:nvSpPr>
        <p:spPr>
          <a:xfrm>
            <a:off x="826168" y="172488"/>
            <a:ext cx="9617242" cy="3306611"/>
          </a:xfrm>
          <a:prstGeom prst="rect">
            <a:avLst/>
          </a:prstGeom>
          <a:noFill/>
        </p:spPr>
        <p:txBody>
          <a:bodyPr wrap="square">
            <a:spAutoFit/>
          </a:bodyPr>
          <a:lstStyle/>
          <a:p>
            <a:pPr marL="342900" marR="0" lvl="0"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Risk IT framework positions IT risk as a component of the overall risk universe of the enterprise. </a:t>
            </a:r>
          </a:p>
          <a:p>
            <a:pPr marL="342900" marR="0" lvl="0"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It takes its place in the risk that an enterprise faces, which includes strategic risk, operational risk, compliance risk, credit risk, and market risk. </a:t>
            </a:r>
          </a:p>
          <a:p>
            <a:pPr marL="342900" marR="0" lvl="0"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However, even strategic risk can have an IT component, especially when IT is the key enabler of new business initiatives.  </a:t>
            </a:r>
          </a:p>
          <a:p>
            <a:pPr marL="342900" marR="0" lvl="0"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same applies for credit risk, especially when poor IT security can lead to lower credit ratings.  </a:t>
            </a:r>
          </a:p>
          <a:p>
            <a:pPr marL="342900" marR="0" lvl="0"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For this reason, the preferred depiction of IT risk is not within a hierarchic dependency on one of the other risk categories, but as a horizontal risk category applying to all other individual risk categories </a:t>
            </a:r>
          </a:p>
          <a:p>
            <a:pPr marL="1028700" marR="0" lvl="0" indent="0" algn="l" defTabSz="914400" rtl="0" eaLnBrk="1" fontAlgn="auto" latinLnBrk="0" hangingPunct="1">
              <a:lnSpc>
                <a:spcPct val="107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 </a:t>
            </a:r>
            <a:endPar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endParaRPr>
          </a:p>
          <a:p>
            <a:pPr marL="1028700" marR="0" lvl="0" indent="0" algn="l" defTabSz="914400" rtl="0" eaLnBrk="1" fontAlgn="auto" latinLnBrk="0" hangingPunct="1">
              <a:lnSpc>
                <a:spcPct val="107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 </a:t>
            </a:r>
            <a:endPar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2033B2FB-C91F-CE3C-2B13-B96AD88ED137}"/>
              </a:ext>
            </a:extLst>
          </p:cNvPr>
          <p:cNvPicPr>
            <a:picLocks noChangeAspect="1"/>
          </p:cNvPicPr>
          <p:nvPr/>
        </p:nvPicPr>
        <p:blipFill>
          <a:blip r:embed="rId2"/>
          <a:stretch>
            <a:fillRect/>
          </a:stretch>
        </p:blipFill>
        <p:spPr>
          <a:xfrm>
            <a:off x="2305754" y="2983832"/>
            <a:ext cx="8025361" cy="3379559"/>
          </a:xfrm>
          <a:prstGeom prst="rect">
            <a:avLst/>
          </a:prstGeom>
        </p:spPr>
      </p:pic>
    </p:spTree>
    <p:extLst>
      <p:ext uri="{BB962C8B-B14F-4D97-AF65-F5344CB8AC3E}">
        <p14:creationId xmlns:p14="http://schemas.microsoft.com/office/powerpoint/2010/main" val="6088729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48F9DD-A89A-E9BF-AE21-15E0F86556DA}"/>
              </a:ext>
            </a:extLst>
          </p:cNvPr>
          <p:cNvSpPr txBox="1"/>
          <p:nvPr/>
        </p:nvSpPr>
        <p:spPr>
          <a:xfrm>
            <a:off x="850231" y="113167"/>
            <a:ext cx="8927432" cy="3159326"/>
          </a:xfrm>
          <a:prstGeom prst="rect">
            <a:avLst/>
          </a:prstGeom>
          <a:noFill/>
        </p:spPr>
        <p:txBody>
          <a:bodyPr wrap="square">
            <a:spAutoFit/>
          </a:bodyPr>
          <a:lstStyle/>
          <a:p>
            <a:pPr marL="228600" marR="0" lvl="2" indent="0" algn="l" defTabSz="914400" rtl="0" eaLnBrk="1" fontAlgn="auto" latinLnBrk="0" hangingPunct="1">
              <a:lnSpc>
                <a:spcPct val="107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COBIT 5 for Risk</a:t>
            </a:r>
          </a:p>
          <a:p>
            <a:pPr marL="1028700" marR="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 </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l" defTabSz="914400" rtl="0" eaLnBrk="1" fontAlgn="auto" latinLnBrk="0" hangingPunct="1">
              <a:lnSpc>
                <a:spcPct val="107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COBIT 5 for Risk is an information risk view of COBIT and serves as the information risk-specific guidance as it relates to COBIT for the ISACA information risk professionals.  </a:t>
            </a:r>
          </a:p>
          <a:p>
            <a:pPr marL="342900" marR="0" lvl="0" indent="-342900" algn="l" defTabSz="914400" rtl="0" eaLnBrk="1" fontAlgn="auto" latinLnBrk="0" hangingPunct="1">
              <a:lnSpc>
                <a:spcPct val="107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To provide context, enablers within COBIT 5 have now been transitioned to “components of a governance system” (components) in COBIT 2019.  </a:t>
            </a:r>
          </a:p>
          <a:p>
            <a:pPr marL="342900" marR="0" lvl="0" indent="-342900" algn="l" defTabSz="914400" rtl="0" eaLnBrk="1" fontAlgn="auto" latinLnBrk="0" hangingPunct="1">
              <a:lnSpc>
                <a:spcPct val="107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COBIT 5 for Risk develops two different perspectives in which practical guidance is provided:</a:t>
            </a:r>
          </a:p>
          <a:p>
            <a:pPr marL="1257300" marR="0" lvl="2" indent="-342900" algn="l" defTabSz="914400" rtl="0" eaLnBrk="1" fontAlgn="auto" latinLnBrk="0" hangingPunct="1">
              <a:lnSpc>
                <a:spcPct val="107000"/>
              </a:lnSpc>
              <a:spcBef>
                <a:spcPts val="0"/>
              </a:spcBef>
              <a:spcAft>
                <a:spcPts val="0"/>
              </a:spcAft>
              <a:buClrTx/>
              <a:buSzTx/>
              <a:buFont typeface="+mj-lt"/>
              <a:buAutoNum type="alphaL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risk function perspective—How to build and sustain a risk management function leveraging the COBIT 2019 components</a:t>
            </a:r>
          </a:p>
          <a:p>
            <a:pPr marL="1257300" marR="0" lvl="2" indent="-342900" algn="l" defTabSz="914400" rtl="0" eaLnBrk="1" fontAlgn="auto" latinLnBrk="0" hangingPunct="1">
              <a:lnSpc>
                <a:spcPct val="107000"/>
              </a:lnSpc>
              <a:spcBef>
                <a:spcPts val="0"/>
              </a:spcBef>
              <a:spcAft>
                <a:spcPts val="800"/>
              </a:spcAft>
              <a:buClrTx/>
              <a:buSzTx/>
              <a:buFont typeface="+mj-lt"/>
              <a:buAutoNum type="alphaL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risk management perspective—How to mitigate risk using the COBIT 2019 components</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b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713112DF-A943-8BEF-B01F-C90DC6818F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363" y="2697738"/>
            <a:ext cx="9719300" cy="3574726"/>
          </a:xfrm>
          <a:prstGeom prst="rect">
            <a:avLst/>
          </a:prstGeom>
        </p:spPr>
      </p:pic>
    </p:spTree>
    <p:extLst>
      <p:ext uri="{BB962C8B-B14F-4D97-AF65-F5344CB8AC3E}">
        <p14:creationId xmlns:p14="http://schemas.microsoft.com/office/powerpoint/2010/main" val="11715830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3C1481-2A92-FEDF-2830-ECEE6D9DFA46}"/>
              </a:ext>
            </a:extLst>
          </p:cNvPr>
          <p:cNvSpPr txBox="1"/>
          <p:nvPr/>
        </p:nvSpPr>
        <p:spPr>
          <a:xfrm>
            <a:off x="449178" y="638143"/>
            <a:ext cx="11173327" cy="873316"/>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ISO 31000:2018 Principles and Guidelines on Implementation of Risk Management</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 </a:t>
            </a:r>
          </a:p>
        </p:txBody>
      </p:sp>
      <p:sp>
        <p:nvSpPr>
          <p:cNvPr id="5" name="TextBox 4">
            <a:extLst>
              <a:ext uri="{FF2B5EF4-FFF2-40B4-BE49-F238E27FC236}">
                <a16:creationId xmlns:a16="http://schemas.microsoft.com/office/drawing/2014/main" id="{AA22BCEE-3760-E64F-96B8-3C3EBB67598D}"/>
              </a:ext>
            </a:extLst>
          </p:cNvPr>
          <p:cNvSpPr txBox="1"/>
          <p:nvPr/>
        </p:nvSpPr>
        <p:spPr>
          <a:xfrm>
            <a:off x="1764632" y="1351037"/>
            <a:ext cx="7515726" cy="2375009"/>
          </a:xfrm>
          <a:prstGeom prst="rect">
            <a:avLst/>
          </a:prstGeom>
          <a:noFill/>
        </p:spPr>
        <p:txBody>
          <a:bodyPr wrap="square">
            <a:spAutoFit/>
          </a:bodyPr>
          <a:lstStyle/>
          <a:p>
            <a:pPr marL="342900" marR="0" lvl="0"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ISO 31000 is a family of standards related to risk management.</a:t>
            </a:r>
          </a:p>
          <a:p>
            <a:pPr marL="342900" marR="0" lvl="0"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ISO 31000:2018—Risk Management—Guidelines is applicable throughout the life of an enterprise and to a wide range of activities, processes, functions, projects, products, services, assets, operations, and decisions. </a:t>
            </a:r>
          </a:p>
          <a:p>
            <a:pPr marL="0" marR="0" lvl="0" indent="0" algn="l" defTabSz="914400" rtl="0" eaLnBrk="1" fontAlgn="auto" latinLnBrk="0" hangingPunct="1">
              <a:lnSpc>
                <a:spcPct val="107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Clause 4 prescribes a number of principles to be adhered to for the effectiveness of an organization’s risk management</a:t>
            </a:r>
          </a:p>
        </p:txBody>
      </p:sp>
    </p:spTree>
    <p:extLst>
      <p:ext uri="{BB962C8B-B14F-4D97-AF65-F5344CB8AC3E}">
        <p14:creationId xmlns:p14="http://schemas.microsoft.com/office/powerpoint/2010/main" val="20959969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98CD3E1-47A6-603E-D821-DAC6BD6272A2}"/>
              </a:ext>
            </a:extLst>
          </p:cNvPr>
          <p:cNvPicPr>
            <a:picLocks noChangeAspect="1"/>
          </p:cNvPicPr>
          <p:nvPr/>
        </p:nvPicPr>
        <p:blipFill>
          <a:blip r:embed="rId2"/>
          <a:stretch>
            <a:fillRect/>
          </a:stretch>
        </p:blipFill>
        <p:spPr>
          <a:xfrm>
            <a:off x="232611" y="0"/>
            <a:ext cx="11622505" cy="6296526"/>
          </a:xfrm>
          <a:prstGeom prst="rect">
            <a:avLst/>
          </a:prstGeom>
        </p:spPr>
      </p:pic>
    </p:spTree>
    <p:extLst>
      <p:ext uri="{BB962C8B-B14F-4D97-AF65-F5344CB8AC3E}">
        <p14:creationId xmlns:p14="http://schemas.microsoft.com/office/powerpoint/2010/main" val="4744960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6555A5-9DF5-2A6E-5822-076093162834}"/>
              </a:ext>
            </a:extLst>
          </p:cNvPr>
          <p:cNvSpPr txBox="1"/>
          <p:nvPr/>
        </p:nvSpPr>
        <p:spPr>
          <a:xfrm>
            <a:off x="1211179" y="184270"/>
            <a:ext cx="8791074" cy="5957080"/>
          </a:xfrm>
          <a:prstGeom prst="rect">
            <a:avLst/>
          </a:prstGeom>
          <a:noFill/>
        </p:spPr>
        <p:txBody>
          <a:bodyPr wrap="square">
            <a:spAutoFit/>
          </a:bodyPr>
          <a:lstStyle/>
          <a:p>
            <a:pPr marL="342900" marR="0" lvl="0"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Clause 6 of the standard outlines processes for managing risk. </a:t>
            </a:r>
          </a:p>
          <a:p>
            <a:pPr marL="342900" marR="0" lvl="0"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standard states that the risk management process should be an integral part of management, and embedded in culture and practices, and tailored to the business processes of the enterprise. </a:t>
            </a:r>
          </a:p>
          <a:p>
            <a:pPr marL="0" marR="0" lvl="0" indent="0" algn="l" defTabSz="914400" rtl="0" eaLnBrk="1" fontAlgn="auto" latinLnBrk="0" hangingPunct="1">
              <a:lnSpc>
                <a:spcPct val="107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The risk management process includes five activities:</a:t>
            </a:r>
          </a:p>
          <a:p>
            <a:pPr marL="1257300" marR="0" lvl="2" indent="-342900" algn="l" defTabSz="914400" rtl="0" eaLnBrk="1" fontAlgn="auto" latinLnBrk="0" hangingPunct="1">
              <a:lnSpc>
                <a:spcPct val="107000"/>
              </a:lnSpc>
              <a:spcBef>
                <a:spcPts val="0"/>
              </a:spcBef>
              <a:spcAft>
                <a:spcPts val="60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Communication and consultation</a:t>
            </a:r>
          </a:p>
          <a:p>
            <a:pPr marL="1257300" marR="0" lvl="2" indent="-342900" algn="l" defTabSz="914400" rtl="0" eaLnBrk="1" fontAlgn="auto" latinLnBrk="0" hangingPunct="1">
              <a:lnSpc>
                <a:spcPct val="107000"/>
              </a:lnSpc>
              <a:spcBef>
                <a:spcPts val="0"/>
              </a:spcBef>
              <a:spcAft>
                <a:spcPts val="60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Establishing the context</a:t>
            </a:r>
          </a:p>
          <a:p>
            <a:pPr marL="1257300" marR="0" lvl="2" indent="-342900" algn="l" defTabSz="914400" rtl="0" eaLnBrk="1" fontAlgn="auto" latinLnBrk="0" hangingPunct="1">
              <a:lnSpc>
                <a:spcPct val="107000"/>
              </a:lnSpc>
              <a:spcBef>
                <a:spcPts val="0"/>
              </a:spcBef>
              <a:spcAft>
                <a:spcPts val="60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Risk assessment</a:t>
            </a:r>
          </a:p>
          <a:p>
            <a:pPr marL="1257300" marR="0" lvl="2" indent="-342900" algn="l" defTabSz="914400" rtl="0" eaLnBrk="1" fontAlgn="auto" latinLnBrk="0" hangingPunct="1">
              <a:lnSpc>
                <a:spcPct val="107000"/>
              </a:lnSpc>
              <a:spcBef>
                <a:spcPts val="0"/>
              </a:spcBef>
              <a:spcAft>
                <a:spcPts val="60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Risk treatment</a:t>
            </a:r>
          </a:p>
          <a:p>
            <a:pPr marL="1257300" marR="0" lvl="2" indent="-342900" algn="l" defTabSz="914400" rtl="0" eaLnBrk="1" fontAlgn="auto" latinLnBrk="0" hangingPunct="1">
              <a:lnSpc>
                <a:spcPct val="107000"/>
              </a:lnSpc>
              <a:spcBef>
                <a:spcPts val="0"/>
              </a:spcBef>
              <a:spcAft>
                <a:spcPts val="60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Monitoring and review</a:t>
            </a: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The objective of the standard is to provide guidance to enable public, private, or community enterprises, groups, and individuals to achieve the following:</a:t>
            </a:r>
          </a:p>
          <a:p>
            <a:pPr marL="1257300" marR="0" lvl="2" indent="-342900" algn="l" defTabSz="914400" rtl="0" eaLnBrk="1" fontAlgn="auto" latinLnBrk="0" hangingPunct="1">
              <a:lnSpc>
                <a:spcPct val="107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 more confident and rigorous basis for decision making and planning</a:t>
            </a:r>
          </a:p>
          <a:p>
            <a:pPr marL="1257300" marR="0" lvl="2" indent="-342900" algn="l" defTabSz="914400" rtl="0" eaLnBrk="1" fontAlgn="auto" latinLnBrk="0" hangingPunct="1">
              <a:lnSpc>
                <a:spcPct val="107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Better identification of opportunities and threats</a:t>
            </a:r>
          </a:p>
          <a:p>
            <a:pPr marL="1257300" marR="0" lvl="2" indent="-342900" algn="l" defTabSz="914400" rtl="0" eaLnBrk="1" fontAlgn="auto" latinLnBrk="0" hangingPunct="1">
              <a:lnSpc>
                <a:spcPct val="107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Gaining value from uncertainty and variability</a:t>
            </a:r>
          </a:p>
          <a:p>
            <a:pPr marL="1257300" marR="0" lvl="2" indent="-342900" algn="l" defTabSz="914400" rtl="0" eaLnBrk="1" fontAlgn="auto" latinLnBrk="0" hangingPunct="1">
              <a:lnSpc>
                <a:spcPct val="107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Proactive, rather than reactive, management</a:t>
            </a:r>
          </a:p>
          <a:p>
            <a:pPr marL="1257300" marR="0" lvl="2" indent="-342900" algn="l" defTabSz="914400" rtl="0" eaLnBrk="1" fontAlgn="auto" latinLnBrk="0" hangingPunct="1">
              <a:lnSpc>
                <a:spcPct val="107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More effective allocation and use of resources</a:t>
            </a:r>
          </a:p>
          <a:p>
            <a:pPr marL="1257300" marR="0" lvl="2" indent="-342900" algn="l" defTabSz="914400" rtl="0" eaLnBrk="1" fontAlgn="auto" latinLnBrk="0" hangingPunct="1">
              <a:lnSpc>
                <a:spcPct val="107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Improved incident management and reduction in loss and the cost of risk</a:t>
            </a:r>
          </a:p>
          <a:p>
            <a:pPr marL="1257300" marR="0" lvl="2" indent="-342900" algn="l" defTabSz="914400" rtl="0" eaLnBrk="1" fontAlgn="auto" latinLnBrk="0" hangingPunct="1">
              <a:lnSpc>
                <a:spcPct val="107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Improved stakeholder confidence and trust</a:t>
            </a:r>
          </a:p>
          <a:p>
            <a:pPr marL="1257300" marR="0" lvl="2" indent="-342900" algn="l" defTabSz="914400" rtl="0" eaLnBrk="1" fontAlgn="auto" latinLnBrk="0" hangingPunct="1">
              <a:lnSpc>
                <a:spcPct val="107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Improved compliance with relevant legislation</a:t>
            </a:r>
          </a:p>
          <a:p>
            <a:pPr marL="1257300" marR="0" lvl="2" indent="-342900" algn="l" defTabSz="914400" rtl="0" eaLnBrk="1" fontAlgn="auto" latinLnBrk="0" hangingPunct="1">
              <a:lnSpc>
                <a:spcPct val="107000"/>
              </a:lnSpc>
              <a:spcBef>
                <a:spcPts val="0"/>
              </a:spcBef>
              <a:spcAft>
                <a:spcPts val="8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Better corporate governance</a:t>
            </a:r>
          </a:p>
        </p:txBody>
      </p:sp>
    </p:spTree>
    <p:extLst>
      <p:ext uri="{BB962C8B-B14F-4D97-AF65-F5344CB8AC3E}">
        <p14:creationId xmlns:p14="http://schemas.microsoft.com/office/powerpoint/2010/main" val="28255651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593970" y="128465"/>
            <a:ext cx="8388350" cy="690563"/>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114" dirty="0">
                <a:solidFill>
                  <a:srgbClr val="074891"/>
                </a:solidFill>
                <a:uFill>
                  <a:solidFill>
                    <a:srgbClr val="000000"/>
                  </a:solidFill>
                </a:uFill>
              </a:rPr>
              <a:t>OCTAVE</a:t>
            </a:r>
            <a:r>
              <a:rPr sz="4400" u="sng" spc="-120" dirty="0">
                <a:solidFill>
                  <a:srgbClr val="074891"/>
                </a:solidFill>
                <a:uFill>
                  <a:solidFill>
                    <a:srgbClr val="000000"/>
                  </a:solidFill>
                </a:uFill>
              </a:rPr>
              <a:t> </a:t>
            </a:r>
            <a:r>
              <a:rPr sz="4400" u="sng" spc="-20" dirty="0">
                <a:solidFill>
                  <a:srgbClr val="074891"/>
                </a:solidFill>
                <a:uFill>
                  <a:solidFill>
                    <a:srgbClr val="000000"/>
                  </a:solidFill>
                </a:uFill>
              </a:rPr>
              <a:t>and</a:t>
            </a:r>
            <a:r>
              <a:rPr sz="4400" u="sng" spc="-110" dirty="0">
                <a:solidFill>
                  <a:srgbClr val="074891"/>
                </a:solidFill>
                <a:uFill>
                  <a:solidFill>
                    <a:srgbClr val="000000"/>
                  </a:solidFill>
                </a:uFill>
              </a:rPr>
              <a:t> </a:t>
            </a:r>
            <a:r>
              <a:rPr sz="4400" u="sng" spc="-100" dirty="0">
                <a:solidFill>
                  <a:srgbClr val="074891"/>
                </a:solidFill>
                <a:uFill>
                  <a:solidFill>
                    <a:srgbClr val="000000"/>
                  </a:solidFill>
                </a:uFill>
              </a:rPr>
              <a:t>OCTAVE-S</a:t>
            </a:r>
            <a:endParaRPr sz="4400" dirty="0"/>
          </a:p>
        </p:txBody>
      </p:sp>
      <p:sp>
        <p:nvSpPr>
          <p:cNvPr id="3" name="object 3"/>
          <p:cNvSpPr txBox="1">
            <a:spLocks noGrp="1"/>
          </p:cNvSpPr>
          <p:nvPr>
            <p:ph sz="half" idx="4294967295"/>
          </p:nvPr>
        </p:nvSpPr>
        <p:spPr>
          <a:xfrm>
            <a:off x="304800" y="2234589"/>
            <a:ext cx="5502030" cy="3487493"/>
          </a:xfrm>
          <a:prstGeom prst="rect">
            <a:avLst/>
          </a:prstGeom>
        </p:spPr>
        <p:txBody>
          <a:bodyPr vert="horz" wrap="square" lIns="0" tIns="47625" rIns="0" bIns="0" rtlCol="0">
            <a:spAutoFit/>
          </a:bodyPr>
          <a:lstStyle/>
          <a:p>
            <a:pPr marL="241300" marR="91440" indent="-229235">
              <a:lnSpc>
                <a:spcPts val="2160"/>
              </a:lnSpc>
              <a:spcBef>
                <a:spcPts val="375"/>
              </a:spcBef>
              <a:buFont typeface="Arial MT"/>
              <a:buChar char="•"/>
              <a:tabLst>
                <a:tab pos="241300" algn="l"/>
                <a:tab pos="241935" algn="l"/>
              </a:tabLst>
            </a:pPr>
            <a:r>
              <a:rPr spc="-40" dirty="0"/>
              <a:t>OCTAVE</a:t>
            </a:r>
            <a:r>
              <a:rPr spc="-30" dirty="0"/>
              <a:t> </a:t>
            </a:r>
            <a:r>
              <a:rPr spc="-5" dirty="0"/>
              <a:t>designed </a:t>
            </a:r>
            <a:r>
              <a:rPr spc="-15" dirty="0"/>
              <a:t>for </a:t>
            </a:r>
            <a:r>
              <a:rPr spc="-10" dirty="0"/>
              <a:t>organizations</a:t>
            </a:r>
            <a:r>
              <a:rPr spc="-15" dirty="0"/>
              <a:t> </a:t>
            </a:r>
            <a:r>
              <a:rPr spc="-5" dirty="0"/>
              <a:t>with</a:t>
            </a:r>
            <a:r>
              <a:rPr spc="5" dirty="0"/>
              <a:t> </a:t>
            </a:r>
            <a:r>
              <a:rPr spc="-15" dirty="0"/>
              <a:t>at </a:t>
            </a:r>
            <a:r>
              <a:rPr spc="-440" dirty="0"/>
              <a:t> </a:t>
            </a:r>
            <a:r>
              <a:rPr spc="-10" dirty="0"/>
              <a:t>least</a:t>
            </a:r>
            <a:r>
              <a:rPr spc="20" dirty="0"/>
              <a:t> </a:t>
            </a:r>
            <a:r>
              <a:rPr dirty="0"/>
              <a:t>300</a:t>
            </a:r>
            <a:r>
              <a:rPr spc="-30" dirty="0"/>
              <a:t> </a:t>
            </a:r>
            <a:r>
              <a:rPr spc="-5" dirty="0"/>
              <a:t>employees</a:t>
            </a:r>
          </a:p>
          <a:p>
            <a:pPr marL="241300" marR="38100" indent="-229235">
              <a:lnSpc>
                <a:spcPct val="90000"/>
              </a:lnSpc>
              <a:spcBef>
                <a:spcPts val="985"/>
              </a:spcBef>
              <a:buFont typeface="Arial MT"/>
              <a:buChar char="•"/>
              <a:tabLst>
                <a:tab pos="241300" algn="l"/>
                <a:tab pos="241935" algn="l"/>
              </a:tabLst>
            </a:pPr>
            <a:r>
              <a:rPr sz="1800" spc="-40" dirty="0"/>
              <a:t>OCTAVE</a:t>
            </a:r>
            <a:r>
              <a:rPr sz="1800" spc="-10" dirty="0"/>
              <a:t> </a:t>
            </a:r>
            <a:r>
              <a:rPr sz="1800" spc="-5" dirty="0"/>
              <a:t>is</a:t>
            </a:r>
            <a:r>
              <a:rPr sz="1800" dirty="0"/>
              <a:t> </a:t>
            </a:r>
            <a:r>
              <a:rPr sz="1800" spc="-10" dirty="0"/>
              <a:t>flexible</a:t>
            </a:r>
            <a:r>
              <a:rPr sz="1800" spc="10" dirty="0"/>
              <a:t> </a:t>
            </a:r>
            <a:r>
              <a:rPr sz="1800" dirty="0"/>
              <a:t>and </a:t>
            </a:r>
            <a:r>
              <a:rPr sz="1800" spc="-10" dirty="0"/>
              <a:t>allows</a:t>
            </a:r>
            <a:r>
              <a:rPr sz="1800" spc="10" dirty="0"/>
              <a:t> </a:t>
            </a:r>
            <a:r>
              <a:rPr sz="1800" dirty="0"/>
              <a:t>an</a:t>
            </a:r>
            <a:r>
              <a:rPr sz="1800" spc="15" dirty="0"/>
              <a:t> </a:t>
            </a:r>
            <a:r>
              <a:rPr sz="1800" spc="-15" dirty="0"/>
              <a:t>organization</a:t>
            </a:r>
            <a:r>
              <a:rPr sz="1800" spc="10" dirty="0"/>
              <a:t> </a:t>
            </a:r>
            <a:r>
              <a:rPr sz="1800" spc="-10" dirty="0"/>
              <a:t>to </a:t>
            </a:r>
            <a:r>
              <a:rPr sz="1800" spc="-390" dirty="0"/>
              <a:t> </a:t>
            </a:r>
            <a:r>
              <a:rPr sz="1800" spc="-10" dirty="0"/>
              <a:t>tailor</a:t>
            </a:r>
            <a:r>
              <a:rPr sz="1800" dirty="0"/>
              <a:t> </a:t>
            </a:r>
            <a:r>
              <a:rPr sz="1800" spc="-5" dirty="0"/>
              <a:t>its use</a:t>
            </a:r>
            <a:r>
              <a:rPr sz="1800" spc="10" dirty="0"/>
              <a:t> </a:t>
            </a:r>
            <a:r>
              <a:rPr sz="1800" i="1" spc="-5" dirty="0">
                <a:latin typeface="Calibri"/>
                <a:cs typeface="Calibri"/>
              </a:rPr>
              <a:t>based</a:t>
            </a:r>
            <a:r>
              <a:rPr sz="1800" i="1" spc="15" dirty="0">
                <a:latin typeface="Calibri"/>
                <a:cs typeface="Calibri"/>
              </a:rPr>
              <a:t> </a:t>
            </a:r>
            <a:r>
              <a:rPr sz="1800" i="1" spc="-5" dirty="0">
                <a:latin typeface="Calibri"/>
                <a:cs typeface="Calibri"/>
              </a:rPr>
              <a:t>upon</a:t>
            </a:r>
            <a:r>
              <a:rPr sz="1800" i="1" dirty="0">
                <a:latin typeface="Calibri"/>
                <a:cs typeface="Calibri"/>
              </a:rPr>
              <a:t> </a:t>
            </a:r>
            <a:r>
              <a:rPr sz="1800" i="1" spc="-5" dirty="0">
                <a:latin typeface="Calibri"/>
                <a:cs typeface="Calibri"/>
              </a:rPr>
              <a:t>its own</a:t>
            </a:r>
            <a:r>
              <a:rPr sz="1800" i="1" dirty="0">
                <a:latin typeface="Calibri"/>
                <a:cs typeface="Calibri"/>
              </a:rPr>
              <a:t> </a:t>
            </a:r>
            <a:r>
              <a:rPr sz="1800" i="1" spc="-5" dirty="0">
                <a:latin typeface="Calibri"/>
                <a:cs typeface="Calibri"/>
              </a:rPr>
              <a:t>assessment </a:t>
            </a:r>
            <a:r>
              <a:rPr sz="1800" i="1" dirty="0">
                <a:latin typeface="Calibri"/>
                <a:cs typeface="Calibri"/>
              </a:rPr>
              <a:t> </a:t>
            </a:r>
            <a:r>
              <a:rPr sz="1800" i="1" spc="-5" dirty="0">
                <a:latin typeface="Calibri"/>
                <a:cs typeface="Calibri"/>
              </a:rPr>
              <a:t>needs,</a:t>
            </a:r>
            <a:r>
              <a:rPr sz="1800" i="1" spc="10" dirty="0">
                <a:latin typeface="Calibri"/>
                <a:cs typeface="Calibri"/>
              </a:rPr>
              <a:t> </a:t>
            </a:r>
            <a:r>
              <a:rPr sz="1800" dirty="0"/>
              <a:t>the</a:t>
            </a:r>
            <a:r>
              <a:rPr sz="1800" spc="10" dirty="0"/>
              <a:t> </a:t>
            </a:r>
            <a:r>
              <a:rPr sz="1800" spc="-5" dirty="0"/>
              <a:t>methodology</a:t>
            </a:r>
            <a:r>
              <a:rPr sz="1800" spc="10" dirty="0"/>
              <a:t> </a:t>
            </a:r>
            <a:r>
              <a:rPr sz="1800" spc="-5" dirty="0"/>
              <a:t>is</a:t>
            </a:r>
            <a:r>
              <a:rPr sz="1800" dirty="0"/>
              <a:t> </a:t>
            </a:r>
            <a:r>
              <a:rPr sz="1800" spc="-10" dirty="0"/>
              <a:t>performed</a:t>
            </a:r>
            <a:r>
              <a:rPr sz="1800" spc="-5" dirty="0"/>
              <a:t> </a:t>
            </a:r>
            <a:r>
              <a:rPr sz="1800" dirty="0"/>
              <a:t>as </a:t>
            </a:r>
            <a:r>
              <a:rPr sz="1800" spc="-10" dirty="0"/>
              <a:t>three </a:t>
            </a:r>
            <a:r>
              <a:rPr sz="1800" spc="-5" dirty="0"/>
              <a:t> sequential</a:t>
            </a:r>
            <a:r>
              <a:rPr sz="1800" spc="-10" dirty="0"/>
              <a:t> </a:t>
            </a:r>
            <a:r>
              <a:rPr sz="1800" spc="-5" dirty="0"/>
              <a:t>phases.</a:t>
            </a:r>
            <a:endParaRPr sz="1800" dirty="0">
              <a:latin typeface="Calibri"/>
              <a:cs typeface="Calibri"/>
            </a:endParaRPr>
          </a:p>
          <a:p>
            <a:pPr marL="698500" marR="5080" lvl="1" indent="-228600">
              <a:lnSpc>
                <a:spcPts val="1939"/>
              </a:lnSpc>
              <a:spcBef>
                <a:spcPts val="520"/>
              </a:spcBef>
              <a:buFont typeface="Arial MT"/>
              <a:buChar char="•"/>
              <a:tabLst>
                <a:tab pos="698500" algn="l"/>
                <a:tab pos="699135" algn="l"/>
              </a:tabLst>
            </a:pPr>
            <a:r>
              <a:rPr sz="1800" b="1" spc="-5" dirty="0">
                <a:latin typeface="Calibri"/>
                <a:cs typeface="Calibri"/>
              </a:rPr>
              <a:t>The </a:t>
            </a:r>
            <a:r>
              <a:rPr sz="1800" b="1" spc="-15" dirty="0">
                <a:latin typeface="Calibri"/>
                <a:cs typeface="Calibri"/>
              </a:rPr>
              <a:t>first </a:t>
            </a:r>
            <a:r>
              <a:rPr sz="1800" b="1" dirty="0">
                <a:latin typeface="Calibri"/>
                <a:cs typeface="Calibri"/>
              </a:rPr>
              <a:t>phase:</a:t>
            </a:r>
            <a:r>
              <a:rPr sz="1800" b="1" spc="5" dirty="0">
                <a:latin typeface="Calibri"/>
                <a:cs typeface="Calibri"/>
              </a:rPr>
              <a:t> </a:t>
            </a:r>
            <a:r>
              <a:rPr sz="1800" spc="-5" dirty="0">
                <a:latin typeface="Calibri"/>
                <a:cs typeface="Calibri"/>
              </a:rPr>
              <a:t>identifying assets, threats, </a:t>
            </a:r>
            <a:r>
              <a:rPr sz="1800" spc="-395" dirty="0">
                <a:latin typeface="Calibri"/>
                <a:cs typeface="Calibri"/>
              </a:rPr>
              <a:t> </a:t>
            </a:r>
            <a:r>
              <a:rPr sz="1800" spc="-10" dirty="0">
                <a:latin typeface="Calibri"/>
                <a:cs typeface="Calibri"/>
              </a:rPr>
              <a:t>protection</a:t>
            </a:r>
            <a:r>
              <a:rPr sz="1800" spc="15" dirty="0">
                <a:latin typeface="Calibri"/>
                <a:cs typeface="Calibri"/>
              </a:rPr>
              <a:t> </a:t>
            </a:r>
            <a:r>
              <a:rPr sz="1800" spc="-10" dirty="0">
                <a:latin typeface="Calibri"/>
                <a:cs typeface="Calibri"/>
              </a:rPr>
              <a:t>practices,</a:t>
            </a:r>
            <a:r>
              <a:rPr sz="1800" spc="10" dirty="0">
                <a:latin typeface="Calibri"/>
                <a:cs typeface="Calibri"/>
              </a:rPr>
              <a:t> </a:t>
            </a:r>
            <a:r>
              <a:rPr sz="1800" spc="-5" dirty="0">
                <a:latin typeface="Calibri"/>
                <a:cs typeface="Calibri"/>
              </a:rPr>
              <a:t>vulnerabilities,</a:t>
            </a:r>
            <a:r>
              <a:rPr sz="1800" spc="10" dirty="0">
                <a:latin typeface="Calibri"/>
                <a:cs typeface="Calibri"/>
              </a:rPr>
              <a:t> </a:t>
            </a:r>
            <a:r>
              <a:rPr sz="1800" dirty="0">
                <a:latin typeface="Calibri"/>
                <a:cs typeface="Calibri"/>
              </a:rPr>
              <a:t>and </a:t>
            </a:r>
            <a:r>
              <a:rPr sz="1800" spc="5" dirty="0">
                <a:latin typeface="Calibri"/>
                <a:cs typeface="Calibri"/>
              </a:rPr>
              <a:t> </a:t>
            </a:r>
            <a:r>
              <a:rPr sz="1800" spc="-5" dirty="0">
                <a:latin typeface="Calibri"/>
                <a:cs typeface="Calibri"/>
              </a:rPr>
              <a:t>security</a:t>
            </a:r>
            <a:r>
              <a:rPr sz="1800" dirty="0">
                <a:latin typeface="Calibri"/>
                <a:cs typeface="Calibri"/>
              </a:rPr>
              <a:t> </a:t>
            </a:r>
            <a:r>
              <a:rPr sz="1800" spc="-5" dirty="0">
                <a:latin typeface="Calibri"/>
                <a:cs typeface="Calibri"/>
              </a:rPr>
              <a:t>requirements.</a:t>
            </a:r>
            <a:endParaRPr sz="1800" dirty="0">
              <a:latin typeface="Calibri"/>
              <a:cs typeface="Calibri"/>
            </a:endParaRPr>
          </a:p>
          <a:p>
            <a:pPr marL="698500" marR="274320" lvl="1" indent="-228600">
              <a:lnSpc>
                <a:spcPts val="1939"/>
              </a:lnSpc>
              <a:spcBef>
                <a:spcPts val="520"/>
              </a:spcBef>
              <a:buFont typeface="Arial MT"/>
              <a:buChar char="•"/>
              <a:tabLst>
                <a:tab pos="698500" algn="l"/>
                <a:tab pos="699135" algn="l"/>
              </a:tabLst>
            </a:pPr>
            <a:r>
              <a:rPr sz="1800" b="1" spc="-5" dirty="0">
                <a:latin typeface="Calibri"/>
                <a:cs typeface="Calibri"/>
              </a:rPr>
              <a:t>The second phase: </a:t>
            </a:r>
            <a:r>
              <a:rPr sz="1800" dirty="0">
                <a:latin typeface="Calibri"/>
                <a:cs typeface="Calibri"/>
              </a:rPr>
              <a:t>the </a:t>
            </a:r>
            <a:r>
              <a:rPr sz="1800" spc="-10" dirty="0">
                <a:latin typeface="Calibri"/>
                <a:cs typeface="Calibri"/>
              </a:rPr>
              <a:t>members </a:t>
            </a:r>
            <a:r>
              <a:rPr sz="1800" spc="-5" dirty="0">
                <a:latin typeface="Calibri"/>
                <a:cs typeface="Calibri"/>
              </a:rPr>
              <a:t>of </a:t>
            </a:r>
            <a:r>
              <a:rPr sz="1800" dirty="0">
                <a:latin typeface="Calibri"/>
                <a:cs typeface="Calibri"/>
              </a:rPr>
              <a:t>the </a:t>
            </a:r>
            <a:r>
              <a:rPr sz="1800" spc="5" dirty="0">
                <a:latin typeface="Calibri"/>
                <a:cs typeface="Calibri"/>
              </a:rPr>
              <a:t> </a:t>
            </a:r>
            <a:r>
              <a:rPr sz="1800" spc="-10" dirty="0">
                <a:latin typeface="Calibri"/>
                <a:cs typeface="Calibri"/>
              </a:rPr>
              <a:t>workshop perform </a:t>
            </a:r>
            <a:r>
              <a:rPr sz="1800" dirty="0">
                <a:latin typeface="Calibri"/>
                <a:cs typeface="Calibri"/>
              </a:rPr>
              <a:t>assessment </a:t>
            </a:r>
            <a:r>
              <a:rPr sz="1800" spc="-5" dirty="0">
                <a:latin typeface="Calibri"/>
                <a:cs typeface="Calibri"/>
              </a:rPr>
              <a:t>activities </a:t>
            </a:r>
            <a:r>
              <a:rPr sz="1800" spc="-395" dirty="0">
                <a:latin typeface="Calibri"/>
                <a:cs typeface="Calibri"/>
              </a:rPr>
              <a:t> </a:t>
            </a:r>
            <a:r>
              <a:rPr sz="1800" dirty="0">
                <a:latin typeface="Calibri"/>
                <a:cs typeface="Calibri"/>
              </a:rPr>
              <a:t>and</a:t>
            </a:r>
            <a:r>
              <a:rPr sz="1800" spc="5" dirty="0">
                <a:latin typeface="Calibri"/>
                <a:cs typeface="Calibri"/>
              </a:rPr>
              <a:t> </a:t>
            </a:r>
            <a:r>
              <a:rPr sz="1800" spc="-10" dirty="0">
                <a:latin typeface="Calibri"/>
                <a:cs typeface="Calibri"/>
              </a:rPr>
              <a:t>evaluate</a:t>
            </a:r>
            <a:r>
              <a:rPr sz="1800" spc="-5" dirty="0">
                <a:latin typeface="Calibri"/>
                <a:cs typeface="Calibri"/>
              </a:rPr>
              <a:t> </a:t>
            </a:r>
            <a:r>
              <a:rPr sz="1800" dirty="0">
                <a:latin typeface="Calibri"/>
                <a:cs typeface="Calibri"/>
              </a:rPr>
              <a:t>the</a:t>
            </a:r>
            <a:r>
              <a:rPr sz="1800" spc="10" dirty="0">
                <a:latin typeface="Calibri"/>
                <a:cs typeface="Calibri"/>
              </a:rPr>
              <a:t> </a:t>
            </a:r>
            <a:r>
              <a:rPr sz="1800" spc="-10" dirty="0">
                <a:latin typeface="Calibri"/>
                <a:cs typeface="Calibri"/>
              </a:rPr>
              <a:t>infrastructure.</a:t>
            </a:r>
            <a:endParaRPr sz="1800" dirty="0">
              <a:latin typeface="Calibri"/>
              <a:cs typeface="Calibri"/>
            </a:endParaRPr>
          </a:p>
          <a:p>
            <a:pPr marL="698500" marR="199390" lvl="1" indent="-228600">
              <a:lnSpc>
                <a:spcPct val="90100"/>
              </a:lnSpc>
              <a:spcBef>
                <a:spcPts val="480"/>
              </a:spcBef>
              <a:buFont typeface="Arial MT"/>
              <a:buChar char="•"/>
              <a:tabLst>
                <a:tab pos="698500" algn="l"/>
                <a:tab pos="699135" algn="l"/>
              </a:tabLst>
            </a:pPr>
            <a:r>
              <a:rPr sz="1800" b="1" spc="-5" dirty="0">
                <a:latin typeface="Calibri"/>
                <a:cs typeface="Calibri"/>
              </a:rPr>
              <a:t>The </a:t>
            </a:r>
            <a:r>
              <a:rPr sz="1800" b="1" spc="-10" dirty="0">
                <a:latin typeface="Calibri"/>
                <a:cs typeface="Calibri"/>
              </a:rPr>
              <a:t>third </a:t>
            </a:r>
            <a:r>
              <a:rPr sz="1800" b="1" dirty="0">
                <a:latin typeface="Calibri"/>
                <a:cs typeface="Calibri"/>
              </a:rPr>
              <a:t>phase: </a:t>
            </a:r>
            <a:r>
              <a:rPr sz="1800" dirty="0">
                <a:latin typeface="Calibri"/>
                <a:cs typeface="Calibri"/>
              </a:rPr>
              <a:t>the </a:t>
            </a:r>
            <a:r>
              <a:rPr sz="1800" spc="-10" dirty="0">
                <a:latin typeface="Calibri"/>
                <a:cs typeface="Calibri"/>
              </a:rPr>
              <a:t>workshop </a:t>
            </a:r>
            <a:r>
              <a:rPr sz="1800" spc="-5" dirty="0">
                <a:latin typeface="Calibri"/>
                <a:cs typeface="Calibri"/>
              </a:rPr>
              <a:t>members </a:t>
            </a:r>
            <a:r>
              <a:rPr sz="1800" spc="-395" dirty="0">
                <a:latin typeface="Calibri"/>
                <a:cs typeface="Calibri"/>
              </a:rPr>
              <a:t> </a:t>
            </a:r>
            <a:r>
              <a:rPr sz="1800" spc="-5" dirty="0">
                <a:latin typeface="Calibri"/>
                <a:cs typeface="Calibri"/>
              </a:rPr>
              <a:t>develop</a:t>
            </a:r>
            <a:r>
              <a:rPr sz="1800" spc="5" dirty="0">
                <a:latin typeface="Calibri"/>
                <a:cs typeface="Calibri"/>
              </a:rPr>
              <a:t> </a:t>
            </a:r>
            <a:r>
              <a:rPr sz="1800" spc="-10" dirty="0">
                <a:latin typeface="Calibri"/>
                <a:cs typeface="Calibri"/>
              </a:rPr>
              <a:t>response </a:t>
            </a:r>
            <a:r>
              <a:rPr sz="1800" spc="-15" dirty="0">
                <a:latin typeface="Calibri"/>
                <a:cs typeface="Calibri"/>
              </a:rPr>
              <a:t>strategies</a:t>
            </a:r>
            <a:r>
              <a:rPr sz="1800" dirty="0">
                <a:latin typeface="Calibri"/>
                <a:cs typeface="Calibri"/>
              </a:rPr>
              <a:t> </a:t>
            </a:r>
            <a:r>
              <a:rPr sz="1800" spc="-15" dirty="0">
                <a:latin typeface="Calibri"/>
                <a:cs typeface="Calibri"/>
              </a:rPr>
              <a:t>for</a:t>
            </a:r>
            <a:r>
              <a:rPr sz="1800" spc="-10" dirty="0">
                <a:latin typeface="Calibri"/>
                <a:cs typeface="Calibri"/>
              </a:rPr>
              <a:t> </a:t>
            </a:r>
            <a:r>
              <a:rPr sz="1800" dirty="0">
                <a:latin typeface="Calibri"/>
                <a:cs typeface="Calibri"/>
              </a:rPr>
              <a:t>the </a:t>
            </a:r>
            <a:r>
              <a:rPr sz="1800" spc="5" dirty="0">
                <a:latin typeface="Calibri"/>
                <a:cs typeface="Calibri"/>
              </a:rPr>
              <a:t> </a:t>
            </a:r>
            <a:r>
              <a:rPr sz="1800" spc="-5" dirty="0">
                <a:latin typeface="Calibri"/>
                <a:cs typeface="Calibri"/>
              </a:rPr>
              <a:t>identified</a:t>
            </a:r>
            <a:r>
              <a:rPr sz="1800" spc="5" dirty="0">
                <a:latin typeface="Calibri"/>
                <a:cs typeface="Calibri"/>
              </a:rPr>
              <a:t> </a:t>
            </a:r>
            <a:r>
              <a:rPr sz="1800" spc="-10" dirty="0">
                <a:latin typeface="Calibri"/>
                <a:cs typeface="Calibri"/>
              </a:rPr>
              <a:t>risks.</a:t>
            </a:r>
            <a:endParaRPr sz="1800" dirty="0">
              <a:latin typeface="Calibri"/>
              <a:cs typeface="Calibri"/>
            </a:endParaRPr>
          </a:p>
        </p:txBody>
      </p:sp>
      <p:sp>
        <p:nvSpPr>
          <p:cNvPr id="4" name="object 4"/>
          <p:cNvSpPr txBox="1">
            <a:spLocks noGrp="1"/>
          </p:cNvSpPr>
          <p:nvPr>
            <p:ph sz="half" idx="4294967295"/>
          </p:nvPr>
        </p:nvSpPr>
        <p:spPr>
          <a:xfrm>
            <a:off x="6194426" y="2233978"/>
            <a:ext cx="5575788" cy="3643690"/>
          </a:xfrm>
          <a:prstGeom prst="rect">
            <a:avLst/>
          </a:prstGeom>
        </p:spPr>
        <p:txBody>
          <a:bodyPr vert="horz" wrap="square" lIns="0" tIns="53975" rIns="0" bIns="0" rtlCol="0">
            <a:spAutoFit/>
          </a:bodyPr>
          <a:lstStyle/>
          <a:p>
            <a:pPr marL="241300" marR="5080" indent="-228600">
              <a:lnSpc>
                <a:spcPts val="2590"/>
              </a:lnSpc>
              <a:spcBef>
                <a:spcPts val="425"/>
              </a:spcBef>
              <a:buFont typeface="Arial MT"/>
              <a:buChar char="•"/>
              <a:tabLst>
                <a:tab pos="241300" algn="l"/>
              </a:tabLst>
            </a:pPr>
            <a:r>
              <a:rPr spc="-40" dirty="0"/>
              <a:t>OCTAVE-S </a:t>
            </a:r>
            <a:r>
              <a:rPr dirty="0"/>
              <a:t>is </a:t>
            </a:r>
            <a:r>
              <a:rPr spc="-10" dirty="0"/>
              <a:t>fundamentally </a:t>
            </a:r>
            <a:r>
              <a:rPr dirty="0"/>
              <a:t>the </a:t>
            </a:r>
            <a:r>
              <a:rPr spc="-5" dirty="0"/>
              <a:t>same </a:t>
            </a:r>
            <a:r>
              <a:rPr spc="-530" dirty="0"/>
              <a:t> </a:t>
            </a:r>
            <a:r>
              <a:rPr dirty="0"/>
              <a:t>as</a:t>
            </a:r>
            <a:r>
              <a:rPr spc="-15" dirty="0"/>
              <a:t> </a:t>
            </a:r>
            <a:r>
              <a:rPr dirty="0"/>
              <a:t>the</a:t>
            </a:r>
            <a:r>
              <a:rPr spc="-20" dirty="0"/>
              <a:t> </a:t>
            </a:r>
            <a:r>
              <a:rPr spc="-5" dirty="0"/>
              <a:t>original</a:t>
            </a:r>
            <a:r>
              <a:rPr spc="-10" dirty="0"/>
              <a:t> </a:t>
            </a:r>
            <a:r>
              <a:rPr spc="-45" dirty="0"/>
              <a:t>OCTAVE,</a:t>
            </a:r>
            <a:r>
              <a:rPr spc="-10" dirty="0"/>
              <a:t> Except:</a:t>
            </a:r>
          </a:p>
          <a:p>
            <a:pPr marL="698500" lvl="1" indent="-228600">
              <a:lnSpc>
                <a:spcPts val="2055"/>
              </a:lnSpc>
              <a:spcBef>
                <a:spcPts val="290"/>
              </a:spcBef>
              <a:buFont typeface="Arial MT"/>
              <a:buChar char="•"/>
              <a:tabLst>
                <a:tab pos="697865" algn="l"/>
                <a:tab pos="698500" algn="l"/>
              </a:tabLst>
            </a:pPr>
            <a:r>
              <a:rPr sz="1800" spc="-5" dirty="0">
                <a:latin typeface="Calibri"/>
                <a:cs typeface="Calibri"/>
              </a:rPr>
              <a:t>it</a:t>
            </a:r>
            <a:r>
              <a:rPr sz="1800" spc="-10" dirty="0">
                <a:latin typeface="Calibri"/>
                <a:cs typeface="Calibri"/>
              </a:rPr>
              <a:t> was </a:t>
            </a:r>
            <a:r>
              <a:rPr sz="1800" dirty="0">
                <a:latin typeface="Calibri"/>
                <a:cs typeface="Calibri"/>
              </a:rPr>
              <a:t>designed</a:t>
            </a:r>
            <a:r>
              <a:rPr sz="1800" spc="-15" dirty="0">
                <a:latin typeface="Calibri"/>
                <a:cs typeface="Calibri"/>
              </a:rPr>
              <a:t> </a:t>
            </a:r>
            <a:r>
              <a:rPr sz="1800" spc="-10" dirty="0">
                <a:latin typeface="Calibri"/>
                <a:cs typeface="Calibri"/>
              </a:rPr>
              <a:t>to</a:t>
            </a:r>
            <a:r>
              <a:rPr sz="1800" spc="-15" dirty="0">
                <a:latin typeface="Calibri"/>
                <a:cs typeface="Calibri"/>
              </a:rPr>
              <a:t> </a:t>
            </a:r>
            <a:r>
              <a:rPr sz="1800" dirty="0">
                <a:latin typeface="Calibri"/>
                <a:cs typeface="Calibri"/>
              </a:rPr>
              <a:t>assess</a:t>
            </a:r>
            <a:r>
              <a:rPr sz="1800" spc="-30" dirty="0">
                <a:latin typeface="Calibri"/>
                <a:cs typeface="Calibri"/>
              </a:rPr>
              <a:t> </a:t>
            </a:r>
            <a:r>
              <a:rPr sz="1800" spc="-5" dirty="0">
                <a:latin typeface="Calibri"/>
                <a:cs typeface="Calibri"/>
              </a:rPr>
              <a:t>smaller</a:t>
            </a:r>
            <a:endParaRPr sz="1800" dirty="0">
              <a:latin typeface="Calibri"/>
              <a:cs typeface="Calibri"/>
            </a:endParaRPr>
          </a:p>
          <a:p>
            <a:pPr marL="698500">
              <a:lnSpc>
                <a:spcPts val="2055"/>
              </a:lnSpc>
            </a:pPr>
            <a:r>
              <a:rPr sz="1800" spc="-10" dirty="0"/>
              <a:t>organizations,</a:t>
            </a:r>
            <a:r>
              <a:rPr sz="1800" spc="-15" dirty="0"/>
              <a:t> (fewer</a:t>
            </a:r>
            <a:r>
              <a:rPr sz="1800" spc="5" dirty="0"/>
              <a:t> </a:t>
            </a:r>
            <a:r>
              <a:rPr sz="1800" dirty="0"/>
              <a:t>than</a:t>
            </a:r>
            <a:r>
              <a:rPr sz="1800" spc="-15" dirty="0"/>
              <a:t> </a:t>
            </a:r>
            <a:r>
              <a:rPr sz="1800" dirty="0"/>
              <a:t>100</a:t>
            </a:r>
            <a:r>
              <a:rPr sz="1800" spc="-10" dirty="0"/>
              <a:t> </a:t>
            </a:r>
            <a:r>
              <a:rPr sz="1800" spc="-5" dirty="0"/>
              <a:t>people).</a:t>
            </a:r>
            <a:endParaRPr sz="1800" dirty="0"/>
          </a:p>
          <a:p>
            <a:pPr marL="698500" marR="304800" lvl="1" indent="-228600">
              <a:lnSpc>
                <a:spcPts val="1939"/>
              </a:lnSpc>
              <a:spcBef>
                <a:spcPts val="535"/>
              </a:spcBef>
              <a:buFont typeface="Arial MT"/>
              <a:buChar char="•"/>
              <a:tabLst>
                <a:tab pos="697865" algn="l"/>
                <a:tab pos="698500" algn="l"/>
              </a:tabLst>
            </a:pPr>
            <a:r>
              <a:rPr sz="1800" spc="-10" dirty="0">
                <a:latin typeface="Calibri"/>
                <a:cs typeface="Calibri"/>
              </a:rPr>
              <a:t>Relies</a:t>
            </a:r>
            <a:r>
              <a:rPr sz="1800" spc="10" dirty="0">
                <a:latin typeface="Calibri"/>
                <a:cs typeface="Calibri"/>
              </a:rPr>
              <a:t> </a:t>
            </a:r>
            <a:r>
              <a:rPr sz="1800" spc="-10" dirty="0">
                <a:latin typeface="Calibri"/>
                <a:cs typeface="Calibri"/>
              </a:rPr>
              <a:t>more</a:t>
            </a:r>
            <a:r>
              <a:rPr sz="1800" spc="10" dirty="0">
                <a:latin typeface="Calibri"/>
                <a:cs typeface="Calibri"/>
              </a:rPr>
              <a:t> </a:t>
            </a:r>
            <a:r>
              <a:rPr sz="1800" spc="-5" dirty="0">
                <a:latin typeface="Calibri"/>
                <a:cs typeface="Calibri"/>
              </a:rPr>
              <a:t>on</a:t>
            </a:r>
            <a:r>
              <a:rPr sz="1800" spc="-10" dirty="0">
                <a:latin typeface="Calibri"/>
                <a:cs typeface="Calibri"/>
              </a:rPr>
              <a:t> </a:t>
            </a:r>
            <a:r>
              <a:rPr sz="1800" spc="-5" dirty="0">
                <a:latin typeface="Calibri"/>
                <a:cs typeface="Calibri"/>
              </a:rPr>
              <a:t>internal</a:t>
            </a:r>
            <a:r>
              <a:rPr sz="1800" spc="15" dirty="0">
                <a:latin typeface="Calibri"/>
                <a:cs typeface="Calibri"/>
              </a:rPr>
              <a:t> </a:t>
            </a:r>
            <a:r>
              <a:rPr sz="1800" spc="-10" dirty="0">
                <a:latin typeface="Calibri"/>
                <a:cs typeface="Calibri"/>
              </a:rPr>
              <a:t>personnel</a:t>
            </a:r>
            <a:r>
              <a:rPr sz="1800" dirty="0">
                <a:latin typeface="Calibri"/>
                <a:cs typeface="Calibri"/>
              </a:rPr>
              <a:t> </a:t>
            </a:r>
            <a:r>
              <a:rPr sz="1800" spc="-5" dirty="0">
                <a:latin typeface="Calibri"/>
                <a:cs typeface="Calibri"/>
              </a:rPr>
              <a:t>with </a:t>
            </a:r>
            <a:r>
              <a:rPr sz="1800" dirty="0">
                <a:latin typeface="Calibri"/>
                <a:cs typeface="Calibri"/>
              </a:rPr>
              <a:t> </a:t>
            </a:r>
            <a:r>
              <a:rPr sz="1800" spc="-10" dirty="0">
                <a:latin typeface="Calibri"/>
                <a:cs typeface="Calibri"/>
              </a:rPr>
              <a:t>extensive</a:t>
            </a:r>
            <a:r>
              <a:rPr sz="1800" spc="-5" dirty="0">
                <a:latin typeface="Calibri"/>
                <a:cs typeface="Calibri"/>
              </a:rPr>
              <a:t> knowledge</a:t>
            </a:r>
            <a:r>
              <a:rPr sz="1800" spc="10" dirty="0">
                <a:latin typeface="Calibri"/>
                <a:cs typeface="Calibri"/>
              </a:rPr>
              <a:t> </a:t>
            </a:r>
            <a:r>
              <a:rPr sz="1800" spc="-5" dirty="0">
                <a:latin typeface="Calibri"/>
                <a:cs typeface="Calibri"/>
              </a:rPr>
              <a:t>of </a:t>
            </a:r>
            <a:r>
              <a:rPr sz="1800" dirty="0">
                <a:latin typeface="Calibri"/>
                <a:cs typeface="Calibri"/>
              </a:rPr>
              <a:t>the</a:t>
            </a:r>
            <a:r>
              <a:rPr sz="1800" spc="10" dirty="0">
                <a:latin typeface="Calibri"/>
                <a:cs typeface="Calibri"/>
              </a:rPr>
              <a:t> </a:t>
            </a:r>
            <a:r>
              <a:rPr sz="1800" spc="-15" dirty="0">
                <a:latin typeface="Calibri"/>
                <a:cs typeface="Calibri"/>
              </a:rPr>
              <a:t>organization </a:t>
            </a:r>
            <a:r>
              <a:rPr sz="1800" spc="-390" dirty="0">
                <a:latin typeface="Calibri"/>
                <a:cs typeface="Calibri"/>
              </a:rPr>
              <a:t> </a:t>
            </a:r>
            <a:r>
              <a:rPr sz="1800" dirty="0">
                <a:latin typeface="Calibri"/>
                <a:cs typeface="Calibri"/>
              </a:rPr>
              <a:t>and</a:t>
            </a:r>
            <a:r>
              <a:rPr sz="1800" spc="10" dirty="0">
                <a:latin typeface="Calibri"/>
                <a:cs typeface="Calibri"/>
              </a:rPr>
              <a:t> </a:t>
            </a:r>
            <a:r>
              <a:rPr sz="1800" spc="-5" dirty="0">
                <a:latin typeface="Calibri"/>
                <a:cs typeface="Calibri"/>
              </a:rPr>
              <a:t>its </a:t>
            </a:r>
            <a:r>
              <a:rPr sz="1800" spc="-15" dirty="0">
                <a:latin typeface="Calibri"/>
                <a:cs typeface="Calibri"/>
              </a:rPr>
              <a:t>infrastructure</a:t>
            </a:r>
            <a:r>
              <a:rPr sz="1800" spc="15" dirty="0">
                <a:latin typeface="Calibri"/>
                <a:cs typeface="Calibri"/>
              </a:rPr>
              <a:t> </a:t>
            </a:r>
            <a:r>
              <a:rPr sz="1800" dirty="0">
                <a:latin typeface="Calibri"/>
                <a:cs typeface="Calibri"/>
              </a:rPr>
              <a:t>and</a:t>
            </a:r>
            <a:r>
              <a:rPr sz="1800" spc="10" dirty="0">
                <a:latin typeface="Calibri"/>
                <a:cs typeface="Calibri"/>
              </a:rPr>
              <a:t> </a:t>
            </a:r>
            <a:r>
              <a:rPr sz="1800" dirty="0">
                <a:latin typeface="Calibri"/>
                <a:cs typeface="Calibri"/>
              </a:rPr>
              <a:t>less</a:t>
            </a:r>
            <a:r>
              <a:rPr sz="1800" spc="-15" dirty="0">
                <a:latin typeface="Calibri"/>
                <a:cs typeface="Calibri"/>
              </a:rPr>
              <a:t> </a:t>
            </a:r>
            <a:r>
              <a:rPr sz="1800" spc="-5" dirty="0">
                <a:latin typeface="Calibri"/>
                <a:cs typeface="Calibri"/>
              </a:rPr>
              <a:t>on</a:t>
            </a:r>
            <a:r>
              <a:rPr sz="1800" spc="10" dirty="0">
                <a:latin typeface="Calibri"/>
                <a:cs typeface="Calibri"/>
              </a:rPr>
              <a:t> </a:t>
            </a:r>
            <a:r>
              <a:rPr sz="1800" spc="-5" dirty="0">
                <a:latin typeface="Calibri"/>
                <a:cs typeface="Calibri"/>
              </a:rPr>
              <a:t>outside </a:t>
            </a:r>
            <a:r>
              <a:rPr sz="1800" spc="-395" dirty="0">
                <a:latin typeface="Calibri"/>
                <a:cs typeface="Calibri"/>
              </a:rPr>
              <a:t> </a:t>
            </a:r>
            <a:r>
              <a:rPr sz="1800" spc="-5" dirty="0">
                <a:latin typeface="Calibri"/>
                <a:cs typeface="Calibri"/>
              </a:rPr>
              <a:t>risk</a:t>
            </a:r>
            <a:r>
              <a:rPr sz="1800" spc="-10" dirty="0">
                <a:latin typeface="Calibri"/>
                <a:cs typeface="Calibri"/>
              </a:rPr>
              <a:t> </a:t>
            </a:r>
            <a:r>
              <a:rPr sz="1800" spc="-5" dirty="0">
                <a:latin typeface="Calibri"/>
                <a:cs typeface="Calibri"/>
              </a:rPr>
              <a:t>experts</a:t>
            </a:r>
            <a:r>
              <a:rPr sz="1800" spc="-10" dirty="0">
                <a:latin typeface="Calibri"/>
                <a:cs typeface="Calibri"/>
              </a:rPr>
              <a:t> </a:t>
            </a:r>
            <a:r>
              <a:rPr sz="1800" spc="-5" dirty="0">
                <a:latin typeface="Calibri"/>
                <a:cs typeface="Calibri"/>
              </a:rPr>
              <a:t>or</a:t>
            </a:r>
            <a:r>
              <a:rPr sz="1800" dirty="0">
                <a:latin typeface="Calibri"/>
                <a:cs typeface="Calibri"/>
              </a:rPr>
              <a:t> </a:t>
            </a:r>
            <a:r>
              <a:rPr sz="1800" spc="-15" dirty="0">
                <a:latin typeface="Calibri"/>
                <a:cs typeface="Calibri"/>
              </a:rPr>
              <a:t>facilitators.</a:t>
            </a:r>
            <a:endParaRPr sz="1800" dirty="0">
              <a:latin typeface="Calibri"/>
              <a:cs typeface="Calibri"/>
            </a:endParaRPr>
          </a:p>
          <a:p>
            <a:pPr marL="698500" marR="425450" lvl="1" indent="-228600">
              <a:lnSpc>
                <a:spcPts val="1939"/>
              </a:lnSpc>
              <a:spcBef>
                <a:spcPts val="509"/>
              </a:spcBef>
              <a:buFont typeface="Arial MT"/>
              <a:buChar char="•"/>
              <a:tabLst>
                <a:tab pos="697865" algn="l"/>
                <a:tab pos="698500" algn="l"/>
              </a:tabLst>
            </a:pPr>
            <a:r>
              <a:rPr sz="1800" spc="-5" dirty="0">
                <a:latin typeface="Calibri"/>
                <a:cs typeface="Calibri"/>
              </a:rPr>
              <a:t>The </a:t>
            </a:r>
            <a:r>
              <a:rPr sz="1800" dirty="0">
                <a:latin typeface="Calibri"/>
                <a:cs typeface="Calibri"/>
              </a:rPr>
              <a:t>number </a:t>
            </a:r>
            <a:r>
              <a:rPr sz="1800" spc="-5" dirty="0">
                <a:latin typeface="Calibri"/>
                <a:cs typeface="Calibri"/>
              </a:rPr>
              <a:t>of</a:t>
            </a:r>
            <a:r>
              <a:rPr sz="1800" spc="10" dirty="0">
                <a:latin typeface="Calibri"/>
                <a:cs typeface="Calibri"/>
              </a:rPr>
              <a:t> </a:t>
            </a:r>
            <a:r>
              <a:rPr sz="1800" spc="-10" dirty="0">
                <a:latin typeface="Calibri"/>
                <a:cs typeface="Calibri"/>
              </a:rPr>
              <a:t>workshop</a:t>
            </a:r>
            <a:r>
              <a:rPr sz="1800" spc="-20" dirty="0">
                <a:latin typeface="Calibri"/>
                <a:cs typeface="Calibri"/>
              </a:rPr>
              <a:t> </a:t>
            </a:r>
            <a:r>
              <a:rPr sz="1800" spc="-10" dirty="0">
                <a:latin typeface="Calibri"/>
                <a:cs typeface="Calibri"/>
              </a:rPr>
              <a:t>members </a:t>
            </a:r>
            <a:r>
              <a:rPr sz="1800" spc="-5" dirty="0">
                <a:latin typeface="Calibri"/>
                <a:cs typeface="Calibri"/>
              </a:rPr>
              <a:t> </a:t>
            </a:r>
            <a:r>
              <a:rPr sz="1800" spc="-10" dirty="0">
                <a:latin typeface="Calibri"/>
                <a:cs typeface="Calibri"/>
              </a:rPr>
              <a:t>considerably</a:t>
            </a:r>
            <a:r>
              <a:rPr sz="1800" spc="5" dirty="0">
                <a:latin typeface="Calibri"/>
                <a:cs typeface="Calibri"/>
              </a:rPr>
              <a:t> </a:t>
            </a:r>
            <a:r>
              <a:rPr sz="1800" spc="-5" dirty="0">
                <a:latin typeface="Calibri"/>
                <a:cs typeface="Calibri"/>
              </a:rPr>
              <a:t>less; </a:t>
            </a:r>
            <a:r>
              <a:rPr sz="1800" dirty="0">
                <a:latin typeface="Calibri"/>
                <a:cs typeface="Calibri"/>
              </a:rPr>
              <a:t>the</a:t>
            </a:r>
            <a:r>
              <a:rPr sz="1800" spc="15" dirty="0">
                <a:latin typeface="Calibri"/>
                <a:cs typeface="Calibri"/>
              </a:rPr>
              <a:t> </a:t>
            </a:r>
            <a:r>
              <a:rPr sz="1800" spc="-10" dirty="0">
                <a:latin typeface="Calibri"/>
                <a:cs typeface="Calibri"/>
              </a:rPr>
              <a:t>team</a:t>
            </a:r>
            <a:r>
              <a:rPr sz="1800" dirty="0">
                <a:latin typeface="Calibri"/>
                <a:cs typeface="Calibri"/>
              </a:rPr>
              <a:t> </a:t>
            </a:r>
            <a:r>
              <a:rPr sz="1800" spc="-15" dirty="0">
                <a:latin typeface="Calibri"/>
                <a:cs typeface="Calibri"/>
              </a:rPr>
              <a:t>may</a:t>
            </a:r>
            <a:r>
              <a:rPr sz="1800" dirty="0">
                <a:latin typeface="Calibri"/>
                <a:cs typeface="Calibri"/>
              </a:rPr>
              <a:t> </a:t>
            </a:r>
            <a:r>
              <a:rPr sz="1800" spc="-10" dirty="0">
                <a:latin typeface="Calibri"/>
                <a:cs typeface="Calibri"/>
              </a:rPr>
              <a:t>rely</a:t>
            </a:r>
            <a:r>
              <a:rPr sz="1800" spc="10" dirty="0">
                <a:latin typeface="Calibri"/>
                <a:cs typeface="Calibri"/>
              </a:rPr>
              <a:t> </a:t>
            </a:r>
            <a:r>
              <a:rPr sz="1800" spc="-5" dirty="0">
                <a:latin typeface="Calibri"/>
                <a:cs typeface="Calibri"/>
              </a:rPr>
              <a:t>on </a:t>
            </a:r>
            <a:r>
              <a:rPr sz="1800" spc="-395" dirty="0">
                <a:latin typeface="Calibri"/>
                <a:cs typeface="Calibri"/>
              </a:rPr>
              <a:t> </a:t>
            </a:r>
            <a:r>
              <a:rPr sz="1800" spc="-15" dirty="0">
                <a:latin typeface="Calibri"/>
                <a:cs typeface="Calibri"/>
              </a:rPr>
              <a:t>fewer</a:t>
            </a:r>
            <a:r>
              <a:rPr sz="1800" dirty="0">
                <a:latin typeface="Calibri"/>
                <a:cs typeface="Calibri"/>
              </a:rPr>
              <a:t> than</a:t>
            </a:r>
            <a:r>
              <a:rPr sz="1800" spc="-5" dirty="0">
                <a:latin typeface="Calibri"/>
                <a:cs typeface="Calibri"/>
              </a:rPr>
              <a:t> </a:t>
            </a:r>
            <a:r>
              <a:rPr sz="1800" spc="-10" dirty="0">
                <a:latin typeface="Calibri"/>
                <a:cs typeface="Calibri"/>
              </a:rPr>
              <a:t>ten</a:t>
            </a:r>
            <a:r>
              <a:rPr sz="1800" spc="10" dirty="0">
                <a:latin typeface="Calibri"/>
                <a:cs typeface="Calibri"/>
              </a:rPr>
              <a:t> </a:t>
            </a:r>
            <a:r>
              <a:rPr sz="1800" spc="-25" dirty="0">
                <a:latin typeface="Calibri"/>
                <a:cs typeface="Calibri"/>
              </a:rPr>
              <a:t>key</a:t>
            </a:r>
            <a:r>
              <a:rPr sz="1800" spc="-5" dirty="0">
                <a:latin typeface="Calibri"/>
                <a:cs typeface="Calibri"/>
              </a:rPr>
              <a:t> experts in</a:t>
            </a:r>
            <a:r>
              <a:rPr sz="1800" spc="-10" dirty="0">
                <a:latin typeface="Calibri"/>
                <a:cs typeface="Calibri"/>
              </a:rPr>
              <a:t> </a:t>
            </a:r>
            <a:r>
              <a:rPr sz="1800" dirty="0">
                <a:latin typeface="Calibri"/>
                <a:cs typeface="Calibri"/>
              </a:rPr>
              <a:t>the </a:t>
            </a:r>
            <a:r>
              <a:rPr sz="1800" spc="5" dirty="0">
                <a:latin typeface="Calibri"/>
                <a:cs typeface="Calibri"/>
              </a:rPr>
              <a:t> </a:t>
            </a:r>
            <a:r>
              <a:rPr sz="1800" spc="-15" dirty="0">
                <a:latin typeface="Calibri"/>
                <a:cs typeface="Calibri"/>
              </a:rPr>
              <a:t>organization.</a:t>
            </a:r>
            <a:endParaRPr sz="1800" dirty="0">
              <a:latin typeface="Calibri"/>
              <a:cs typeface="Calibri"/>
            </a:endParaRPr>
          </a:p>
          <a:p>
            <a:pPr marL="698500" marR="542925" lvl="1" indent="-228600">
              <a:lnSpc>
                <a:spcPct val="90100"/>
              </a:lnSpc>
              <a:spcBef>
                <a:spcPts val="484"/>
              </a:spcBef>
              <a:buFont typeface="Arial MT"/>
              <a:buChar char="•"/>
              <a:tabLst>
                <a:tab pos="697865" algn="l"/>
                <a:tab pos="698500" algn="l"/>
              </a:tabLst>
            </a:pPr>
            <a:r>
              <a:rPr sz="1800" spc="-10" dirty="0">
                <a:latin typeface="Calibri"/>
                <a:cs typeface="Calibri"/>
              </a:rPr>
              <a:t>Processes</a:t>
            </a:r>
            <a:r>
              <a:rPr sz="1800" spc="-20" dirty="0">
                <a:latin typeface="Calibri"/>
                <a:cs typeface="Calibri"/>
              </a:rPr>
              <a:t> </a:t>
            </a:r>
            <a:r>
              <a:rPr sz="1800" dirty="0">
                <a:latin typeface="Calibri"/>
                <a:cs typeface="Calibri"/>
              </a:rPr>
              <a:t>and </a:t>
            </a:r>
            <a:r>
              <a:rPr sz="1800" spc="-10" dirty="0">
                <a:latin typeface="Calibri"/>
                <a:cs typeface="Calibri"/>
              </a:rPr>
              <a:t>procedure</a:t>
            </a:r>
            <a:r>
              <a:rPr sz="1800" spc="20" dirty="0">
                <a:latin typeface="Calibri"/>
                <a:cs typeface="Calibri"/>
              </a:rPr>
              <a:t> </a:t>
            </a:r>
            <a:r>
              <a:rPr sz="1800" spc="-5" dirty="0">
                <a:latin typeface="Calibri"/>
                <a:cs typeface="Calibri"/>
              </a:rPr>
              <a:t>documents </a:t>
            </a:r>
            <a:r>
              <a:rPr sz="1800" dirty="0">
                <a:latin typeface="Calibri"/>
                <a:cs typeface="Calibri"/>
              </a:rPr>
              <a:t> </a:t>
            </a:r>
            <a:r>
              <a:rPr sz="1800" spc="-10" dirty="0">
                <a:latin typeface="Calibri"/>
                <a:cs typeface="Calibri"/>
              </a:rPr>
              <a:t>include</a:t>
            </a:r>
            <a:r>
              <a:rPr sz="1800" spc="35" dirty="0">
                <a:latin typeface="Calibri"/>
                <a:cs typeface="Calibri"/>
              </a:rPr>
              <a:t> </a:t>
            </a:r>
            <a:r>
              <a:rPr sz="1800" spc="-10" dirty="0">
                <a:latin typeface="Calibri"/>
                <a:cs typeface="Calibri"/>
              </a:rPr>
              <a:t>more</a:t>
            </a:r>
            <a:r>
              <a:rPr sz="1800" spc="20" dirty="0">
                <a:latin typeface="Calibri"/>
                <a:cs typeface="Calibri"/>
              </a:rPr>
              <a:t> </a:t>
            </a:r>
            <a:r>
              <a:rPr sz="1800" spc="-10" dirty="0">
                <a:latin typeface="Calibri"/>
                <a:cs typeface="Calibri"/>
              </a:rPr>
              <a:t>detailed</a:t>
            </a:r>
            <a:r>
              <a:rPr sz="1800" spc="25" dirty="0">
                <a:latin typeface="Calibri"/>
                <a:cs typeface="Calibri"/>
              </a:rPr>
              <a:t> </a:t>
            </a:r>
            <a:r>
              <a:rPr sz="1800" spc="-10" dirty="0">
                <a:latin typeface="Calibri"/>
                <a:cs typeface="Calibri"/>
              </a:rPr>
              <a:t>security-related </a:t>
            </a:r>
            <a:r>
              <a:rPr sz="1800" spc="-390" dirty="0">
                <a:latin typeface="Calibri"/>
                <a:cs typeface="Calibri"/>
              </a:rPr>
              <a:t> </a:t>
            </a:r>
            <a:r>
              <a:rPr sz="1800" spc="-10" dirty="0">
                <a:latin typeface="Calibri"/>
                <a:cs typeface="Calibri"/>
              </a:rPr>
              <a:t>information</a:t>
            </a:r>
            <a:endParaRPr sz="1800" dirty="0">
              <a:latin typeface="Calibri"/>
              <a:cs typeface="Calibri"/>
            </a:endParaRPr>
          </a:p>
        </p:txBody>
      </p:sp>
      <p:sp>
        <p:nvSpPr>
          <p:cNvPr id="6" name="TextBox 5">
            <a:extLst>
              <a:ext uri="{FF2B5EF4-FFF2-40B4-BE49-F238E27FC236}">
                <a16:creationId xmlns:a16="http://schemas.microsoft.com/office/drawing/2014/main" id="{1CA1E24B-B6A8-D4E8-F6C9-498B5FBB7219}"/>
              </a:ext>
            </a:extLst>
          </p:cNvPr>
          <p:cNvSpPr txBox="1"/>
          <p:nvPr/>
        </p:nvSpPr>
        <p:spPr>
          <a:xfrm>
            <a:off x="1016000" y="860314"/>
            <a:ext cx="8839200" cy="156966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Operationally Critical Threat, Asset, and Vulnerability Evaluation (OCTAVE) is a framework for identifying and managing information security risks. </a:t>
            </a:r>
          </a:p>
          <a:p>
            <a:pPr marL="342900" indent="-342900">
              <a:buFont typeface="+mj-lt"/>
              <a:buAutoNum type="arabicPeriod"/>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OCTAVE was developed in 2001 at Carnegie Mellon University (CMU), for the United States Department of Defense.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8B9094-5FA8-28AD-F368-746D67949A77}"/>
              </a:ext>
            </a:extLst>
          </p:cNvPr>
          <p:cNvPicPr>
            <a:picLocks noChangeAspect="1"/>
          </p:cNvPicPr>
          <p:nvPr/>
        </p:nvPicPr>
        <p:blipFill rotWithShape="1">
          <a:blip r:embed="rId2"/>
          <a:srcRect t="21754" b="13919"/>
          <a:stretch/>
        </p:blipFill>
        <p:spPr>
          <a:xfrm>
            <a:off x="294583" y="144380"/>
            <a:ext cx="10127798" cy="5221706"/>
          </a:xfrm>
          <a:prstGeom prst="rect">
            <a:avLst/>
          </a:prstGeom>
        </p:spPr>
      </p:pic>
      <p:sp>
        <p:nvSpPr>
          <p:cNvPr id="4" name="TextBox 3">
            <a:extLst>
              <a:ext uri="{FF2B5EF4-FFF2-40B4-BE49-F238E27FC236}">
                <a16:creationId xmlns:a16="http://schemas.microsoft.com/office/drawing/2014/main" id="{8C11FBC2-FD1C-9C40-A2E2-1000630B346A}"/>
              </a:ext>
            </a:extLst>
          </p:cNvPr>
          <p:cNvSpPr txBox="1"/>
          <p:nvPr/>
        </p:nvSpPr>
        <p:spPr>
          <a:xfrm>
            <a:off x="1941095" y="5301461"/>
            <a:ext cx="6096000" cy="923330"/>
          </a:xfrm>
          <a:prstGeom prst="rect">
            <a:avLst/>
          </a:prstGeom>
          <a:noFill/>
        </p:spPr>
        <p:txBody>
          <a:bodyPr wrap="square">
            <a:spAutoFit/>
          </a:bodyPr>
          <a:lstStyle/>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Phase 1: Build Asset-Based Threat Profiles</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Phase 2: Identify Infrastructure Vulnerabilities</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Phase 3: Develop Security Strategy and Plans</a:t>
            </a: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37345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96C350-FA62-4FF0-BB20-D0403F499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172200"/>
          </a:xfrm>
          <a:prstGeom prst="rect">
            <a:avLst/>
          </a:prstGeom>
        </p:spPr>
      </p:pic>
    </p:spTree>
    <p:extLst>
      <p:ext uri="{BB962C8B-B14F-4D97-AF65-F5344CB8AC3E}">
        <p14:creationId xmlns:p14="http://schemas.microsoft.com/office/powerpoint/2010/main" val="24332897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CAF2B3-1DF4-4BAF-82A1-2FE175BF1F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22" y="332509"/>
            <a:ext cx="11620503" cy="5752407"/>
          </a:xfrm>
          <a:prstGeom prst="rect">
            <a:avLst/>
          </a:prstGeom>
        </p:spPr>
      </p:pic>
    </p:spTree>
    <p:extLst>
      <p:ext uri="{BB962C8B-B14F-4D97-AF65-F5344CB8AC3E}">
        <p14:creationId xmlns:p14="http://schemas.microsoft.com/office/powerpoint/2010/main" val="1970956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AED2FC-177F-4656-B07A-FEE9AB4101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172200"/>
          </a:xfrm>
          <a:prstGeom prst="rect">
            <a:avLst/>
          </a:prstGeom>
        </p:spPr>
      </p:pic>
    </p:spTree>
    <p:extLst>
      <p:ext uri="{BB962C8B-B14F-4D97-AF65-F5344CB8AC3E}">
        <p14:creationId xmlns:p14="http://schemas.microsoft.com/office/powerpoint/2010/main" val="24503328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BE067B-41D0-4700-A047-7C9DB80609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200775"/>
          </a:xfrm>
          <a:prstGeom prst="rect">
            <a:avLst/>
          </a:prstGeom>
        </p:spPr>
      </p:pic>
    </p:spTree>
    <p:extLst>
      <p:ext uri="{BB962C8B-B14F-4D97-AF65-F5344CB8AC3E}">
        <p14:creationId xmlns:p14="http://schemas.microsoft.com/office/powerpoint/2010/main" val="24999136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539262" y="190381"/>
            <a:ext cx="8386763" cy="690562"/>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30" dirty="0">
                <a:solidFill>
                  <a:srgbClr val="074891"/>
                </a:solidFill>
                <a:uFill>
                  <a:solidFill>
                    <a:srgbClr val="000000"/>
                  </a:solidFill>
                </a:uFill>
              </a:rPr>
              <a:t>NIST</a:t>
            </a:r>
            <a:r>
              <a:rPr sz="4400" u="sng" spc="-125" dirty="0">
                <a:solidFill>
                  <a:srgbClr val="074891"/>
                </a:solidFill>
                <a:uFill>
                  <a:solidFill>
                    <a:srgbClr val="000000"/>
                  </a:solidFill>
                </a:uFill>
              </a:rPr>
              <a:t> </a:t>
            </a:r>
            <a:r>
              <a:rPr sz="4400" u="sng" spc="-30" dirty="0">
                <a:solidFill>
                  <a:srgbClr val="074891"/>
                </a:solidFill>
                <a:uFill>
                  <a:solidFill>
                    <a:srgbClr val="000000"/>
                  </a:solidFill>
                </a:uFill>
              </a:rPr>
              <a:t>RMF</a:t>
            </a:r>
            <a:endParaRPr sz="4400" dirty="0"/>
          </a:p>
        </p:txBody>
      </p:sp>
      <p:sp>
        <p:nvSpPr>
          <p:cNvPr id="3" name="object 3"/>
          <p:cNvSpPr txBox="1"/>
          <p:nvPr/>
        </p:nvSpPr>
        <p:spPr>
          <a:xfrm>
            <a:off x="7281798" y="2725872"/>
            <a:ext cx="3987165" cy="2103755"/>
          </a:xfrm>
          <a:prstGeom prst="rect">
            <a:avLst/>
          </a:prstGeom>
        </p:spPr>
        <p:txBody>
          <a:bodyPr vert="horz" wrap="square" lIns="0" tIns="47625" rIns="0" bIns="0" rtlCol="0">
            <a:spAutoFit/>
          </a:bodyPr>
          <a:lstStyle/>
          <a:p>
            <a:pPr marL="241300" marR="26670" lvl="0" indent="-228600" algn="l" defTabSz="457200" rtl="0" eaLnBrk="1" fontAlgn="auto" latinLnBrk="0" hangingPunct="1">
              <a:lnSpc>
                <a:spcPts val="2160"/>
              </a:lnSpc>
              <a:spcBef>
                <a:spcPts val="375"/>
              </a:spcBef>
              <a:spcAft>
                <a:spcPts val="0"/>
              </a:spcAft>
              <a:buClrTx/>
              <a:buSzTx/>
              <a:buFont typeface="Arial MT"/>
              <a:buChar char="•"/>
              <a:tabLst>
                <a:tab pos="240665" algn="l"/>
                <a:tab pos="241300"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Describes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an </a:t>
            </a:r>
            <a:r>
              <a:rPr kumimoji="0" sz="2000" b="0" i="0" u="none" strike="noStrike" kern="1200" cap="none" spc="-15" normalizeH="0" baseline="0" noProof="0" dirty="0">
                <a:ln>
                  <a:noFill/>
                </a:ln>
                <a:solidFill>
                  <a:prstClr val="black"/>
                </a:solidFill>
                <a:effectLst/>
                <a:uLnTx/>
                <a:uFillTx/>
                <a:latin typeface="Calibri"/>
                <a:ea typeface="+mn-ea"/>
                <a:cs typeface="Calibri"/>
              </a:rPr>
              <a:t>overall</a:t>
            </a:r>
            <a:r>
              <a:rPr kumimoji="0" sz="2000" b="0" i="0" u="none" strike="noStrike" kern="1200" cap="none" spc="-5" normalizeH="0" baseline="0" noProof="0" dirty="0">
                <a:ln>
                  <a:noFill/>
                </a:ln>
                <a:solidFill>
                  <a:prstClr val="black"/>
                </a:solidFill>
                <a:effectLst/>
                <a:uLnTx/>
                <a:uFillTx/>
                <a:latin typeface="Calibri"/>
                <a:ea typeface="+mn-ea"/>
                <a:cs typeface="Calibri"/>
              </a:rPr>
              <a:t> risk </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management</a:t>
            </a:r>
            <a:r>
              <a:rPr kumimoji="0" sz="2000" b="0" i="0" u="none" strike="noStrike" kern="1200" cap="none" spc="-10" normalizeH="0" baseline="0" noProof="0" dirty="0">
                <a:ln>
                  <a:noFill/>
                </a:ln>
                <a:solidFill>
                  <a:prstClr val="black"/>
                </a:solidFill>
                <a:effectLst/>
                <a:uLnTx/>
                <a:uFillTx/>
                <a:latin typeface="Calibri"/>
                <a:ea typeface="+mn-ea"/>
                <a:cs typeface="Calibri"/>
              </a:rPr>
              <a:t> process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that</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covers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all </a:t>
            </a:r>
            <a:r>
              <a:rPr kumimoji="0" sz="2000" b="0" i="0" u="none" strike="noStrike" kern="1200" cap="none" spc="-44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aspects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life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cycle.</a:t>
            </a:r>
            <a:endParaRPr kumimoji="0" sz="2000" b="0" i="0" u="none" strike="noStrike" kern="1200" cap="none" spc="0" normalizeH="0" baseline="0" noProof="0">
              <a:ln>
                <a:noFill/>
              </a:ln>
              <a:solidFill>
                <a:prstClr val="black"/>
              </a:solidFill>
              <a:effectLst/>
              <a:uLnTx/>
              <a:uFillTx/>
              <a:latin typeface="Calibri"/>
              <a:ea typeface="+mn-ea"/>
              <a:cs typeface="Calibri"/>
            </a:endParaRPr>
          </a:p>
          <a:p>
            <a:pPr marL="241300" marR="5080" lvl="0" indent="-228600" algn="l" defTabSz="457200" rtl="0" eaLnBrk="1" fontAlgn="auto" latinLnBrk="0" hangingPunct="1">
              <a:lnSpc>
                <a:spcPts val="2160"/>
              </a:lnSpc>
              <a:spcBef>
                <a:spcPts val="1000"/>
              </a:spcBef>
              <a:spcAft>
                <a:spcPts val="0"/>
              </a:spcAft>
              <a:buClrTx/>
              <a:buSzTx/>
              <a:buFont typeface="Arial MT"/>
              <a:buChar char="•"/>
              <a:tabLst>
                <a:tab pos="240665" algn="l"/>
                <a:tab pos="241300"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NIST</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uses </a:t>
            </a:r>
            <a:r>
              <a:rPr kumimoji="0" sz="2000" b="0" i="0" u="none" strike="noStrike" kern="1200" cap="none" spc="0" normalizeH="0" baseline="0" noProof="0" dirty="0">
                <a:ln>
                  <a:noFill/>
                </a:ln>
                <a:solidFill>
                  <a:prstClr val="black"/>
                </a:solidFill>
                <a:effectLst/>
                <a:uLnTx/>
                <a:uFillTx/>
                <a:latin typeface="Calibri"/>
                <a:ea typeface="+mn-ea"/>
                <a:cs typeface="Calibri"/>
              </a:rPr>
              <a:t>a </a:t>
            </a:r>
            <a:r>
              <a:rPr kumimoji="0" sz="2000" b="0" i="0" u="none" strike="noStrike" kern="1200" cap="none" spc="-10" normalizeH="0" baseline="0" noProof="0" dirty="0">
                <a:ln>
                  <a:noFill/>
                </a:ln>
                <a:solidFill>
                  <a:prstClr val="black"/>
                </a:solidFill>
                <a:effectLst/>
                <a:uLnTx/>
                <a:uFillTx/>
                <a:latin typeface="Calibri"/>
                <a:ea typeface="+mn-ea"/>
                <a:cs typeface="Calibri"/>
              </a:rPr>
              <a:t>four</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step</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 </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assessment </a:t>
            </a:r>
            <a:r>
              <a:rPr kumimoji="0" sz="2000" b="0" i="0" u="none" strike="noStrike" kern="1200" cap="none" spc="-10" normalizeH="0" baseline="0" noProof="0" dirty="0">
                <a:ln>
                  <a:noFill/>
                </a:ln>
                <a:solidFill>
                  <a:prstClr val="black"/>
                </a:solidFill>
                <a:effectLst/>
                <a:uLnTx/>
                <a:uFillTx/>
                <a:latin typeface="Calibri"/>
                <a:ea typeface="+mn-ea"/>
                <a:cs typeface="Calibri"/>
              </a:rPr>
              <a:t>process found </a:t>
            </a:r>
            <a:r>
              <a:rPr kumimoji="0" sz="2000" b="0" i="0" u="none" strike="noStrike" kern="1200" cap="none" spc="0" normalizeH="0" baseline="0" noProof="0" dirty="0">
                <a:ln>
                  <a:noFill/>
                </a:ln>
                <a:solidFill>
                  <a:prstClr val="black"/>
                </a:solidFill>
                <a:effectLst/>
                <a:uLnTx/>
                <a:uFillTx/>
                <a:latin typeface="Calibri"/>
                <a:ea typeface="+mn-ea"/>
                <a:cs typeface="Calibri"/>
              </a:rPr>
              <a:t>in Special </a:t>
            </a:r>
            <a:r>
              <a:rPr kumimoji="0" sz="2000" b="0" i="0" u="none" strike="noStrike" kern="1200" cap="none" spc="-44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Publication </a:t>
            </a:r>
            <a:r>
              <a:rPr kumimoji="0" sz="2000" b="0" i="0" u="none" strike="noStrike" kern="1200" cap="none" spc="0" normalizeH="0" baseline="0" noProof="0" dirty="0">
                <a:ln>
                  <a:noFill/>
                </a:ln>
                <a:solidFill>
                  <a:prstClr val="black"/>
                </a:solidFill>
                <a:effectLst/>
                <a:uLnTx/>
                <a:uFillTx/>
                <a:latin typeface="Calibri"/>
                <a:ea typeface="+mn-ea"/>
                <a:cs typeface="Calibri"/>
              </a:rPr>
              <a:t>800-30, </a:t>
            </a:r>
            <a:r>
              <a:rPr kumimoji="0" sz="2000" b="0" i="0" u="none" strike="noStrike" kern="1200" cap="none" spc="-5" normalizeH="0" baseline="0" noProof="0" dirty="0">
                <a:ln>
                  <a:noFill/>
                </a:ln>
                <a:solidFill>
                  <a:prstClr val="black"/>
                </a:solidFill>
                <a:effectLst/>
                <a:uLnTx/>
                <a:uFillTx/>
                <a:latin typeface="Calibri"/>
                <a:ea typeface="+mn-ea"/>
                <a:cs typeface="Calibri"/>
              </a:rPr>
              <a:t>“Guide </a:t>
            </a:r>
            <a:r>
              <a:rPr kumimoji="0" sz="2000" b="0" i="0" u="none" strike="noStrike" kern="1200" cap="none" spc="-20" normalizeH="0" baseline="0" noProof="0" dirty="0">
                <a:ln>
                  <a:noFill/>
                </a:ln>
                <a:solidFill>
                  <a:prstClr val="black"/>
                </a:solidFill>
                <a:effectLst/>
                <a:uLnTx/>
                <a:uFillTx/>
                <a:latin typeface="Calibri"/>
                <a:ea typeface="+mn-ea"/>
                <a:cs typeface="Calibri"/>
              </a:rPr>
              <a:t>for </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Conducting</a:t>
            </a:r>
            <a:r>
              <a:rPr kumimoji="0" sz="2000" b="0" i="0" u="none" strike="noStrike" kern="1200" cap="none" spc="-5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Risk</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Assessments.”</a:t>
            </a:r>
            <a:endParaRPr kumimoji="0" sz="2000" b="0" i="0" u="none" strike="noStrike" kern="1200" cap="none" spc="0" normalizeH="0" baseline="0" noProof="0">
              <a:ln>
                <a:noFill/>
              </a:ln>
              <a:solidFill>
                <a:prstClr val="black"/>
              </a:solidFill>
              <a:effectLst/>
              <a:uLnTx/>
              <a:uFillTx/>
              <a:latin typeface="Calibri"/>
              <a:ea typeface="+mn-ea"/>
              <a:cs typeface="Calibri"/>
            </a:endParaRPr>
          </a:p>
        </p:txBody>
      </p:sp>
      <p:sp>
        <p:nvSpPr>
          <p:cNvPr id="4" name="object 4"/>
          <p:cNvSpPr/>
          <p:nvPr/>
        </p:nvSpPr>
        <p:spPr>
          <a:xfrm>
            <a:off x="665987" y="1192982"/>
            <a:ext cx="1664335" cy="692150"/>
          </a:xfrm>
          <a:custGeom>
            <a:avLst/>
            <a:gdLst/>
            <a:ahLst/>
            <a:cxnLst/>
            <a:rect l="l" t="t" r="r" b="b"/>
            <a:pathLst>
              <a:path w="1664335" h="692150">
                <a:moveTo>
                  <a:pt x="1594993" y="0"/>
                </a:moveTo>
                <a:lnTo>
                  <a:pt x="69189" y="0"/>
                </a:lnTo>
                <a:lnTo>
                  <a:pt x="42257" y="5439"/>
                </a:lnTo>
                <a:lnTo>
                  <a:pt x="20264" y="20272"/>
                </a:lnTo>
                <a:lnTo>
                  <a:pt x="5436" y="42273"/>
                </a:lnTo>
                <a:lnTo>
                  <a:pt x="0" y="69214"/>
                </a:lnTo>
                <a:lnTo>
                  <a:pt x="0" y="622681"/>
                </a:lnTo>
                <a:lnTo>
                  <a:pt x="5436" y="649622"/>
                </a:lnTo>
                <a:lnTo>
                  <a:pt x="20264" y="671623"/>
                </a:lnTo>
                <a:lnTo>
                  <a:pt x="42257" y="686456"/>
                </a:lnTo>
                <a:lnTo>
                  <a:pt x="69189" y="691896"/>
                </a:lnTo>
                <a:lnTo>
                  <a:pt x="1594993" y="691896"/>
                </a:lnTo>
                <a:lnTo>
                  <a:pt x="1621934" y="686456"/>
                </a:lnTo>
                <a:lnTo>
                  <a:pt x="1643935" y="671623"/>
                </a:lnTo>
                <a:lnTo>
                  <a:pt x="1658768" y="649622"/>
                </a:lnTo>
                <a:lnTo>
                  <a:pt x="1664208" y="622681"/>
                </a:lnTo>
                <a:lnTo>
                  <a:pt x="1664208" y="69214"/>
                </a:lnTo>
                <a:lnTo>
                  <a:pt x="1658768" y="42273"/>
                </a:lnTo>
                <a:lnTo>
                  <a:pt x="1643935" y="20272"/>
                </a:lnTo>
                <a:lnTo>
                  <a:pt x="1621934" y="5439"/>
                </a:lnTo>
                <a:lnTo>
                  <a:pt x="1594993" y="0"/>
                </a:lnTo>
                <a:close/>
              </a:path>
            </a:pathLst>
          </a:custGeom>
          <a:solidFill>
            <a:srgbClr val="5B9BD4"/>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5" name="object 5"/>
          <p:cNvSpPr txBox="1"/>
          <p:nvPr/>
        </p:nvSpPr>
        <p:spPr>
          <a:xfrm>
            <a:off x="713638" y="1270197"/>
            <a:ext cx="1570355" cy="491490"/>
          </a:xfrm>
          <a:prstGeom prst="rect">
            <a:avLst/>
          </a:prstGeom>
        </p:spPr>
        <p:txBody>
          <a:bodyPr vert="horz" wrap="square" lIns="0" tIns="12065" rIns="0" bIns="0" rtlCol="0">
            <a:spAutoFit/>
          </a:bodyPr>
          <a:lstStyle/>
          <a:p>
            <a:pPr marL="0" marR="0" lvl="0" indent="0" algn="ctr" defTabSz="457200" rtl="0" eaLnBrk="1" fontAlgn="auto" latinLnBrk="0" hangingPunct="1">
              <a:lnSpc>
                <a:spcPts val="1835"/>
              </a:lnSpc>
              <a:spcBef>
                <a:spcPts val="95"/>
              </a:spcBef>
              <a:spcAft>
                <a:spcPts val="0"/>
              </a:spcAft>
              <a:buClrTx/>
              <a:buSzTx/>
              <a:buFontTx/>
              <a:buNone/>
              <a:tabLst/>
              <a:defRPr/>
            </a:pPr>
            <a:r>
              <a:rPr kumimoji="0" sz="1600" b="0" i="0" u="none" strike="noStrike" kern="1200" cap="none" spc="-10" normalizeH="0" baseline="0" noProof="0" dirty="0">
                <a:ln>
                  <a:noFill/>
                </a:ln>
                <a:solidFill>
                  <a:srgbClr val="FFFFFF"/>
                </a:solidFill>
                <a:effectLst/>
                <a:uLnTx/>
                <a:uFillTx/>
                <a:latin typeface="Calibri"/>
                <a:ea typeface="+mn-ea"/>
                <a:cs typeface="Calibri"/>
              </a:rPr>
              <a:t>Step</a:t>
            </a:r>
            <a:r>
              <a:rPr kumimoji="0" sz="1600" b="0" i="0" u="none" strike="noStrike" kern="1200" cap="none" spc="-20" normalizeH="0" baseline="0" noProof="0" dirty="0">
                <a:ln>
                  <a:noFill/>
                </a:ln>
                <a:solidFill>
                  <a:srgbClr val="FFFFFF"/>
                </a:solidFill>
                <a:effectLst/>
                <a:uLnTx/>
                <a:uFillTx/>
                <a:latin typeface="Calibri"/>
                <a:ea typeface="+mn-ea"/>
                <a:cs typeface="Calibri"/>
              </a:rPr>
              <a:t> </a:t>
            </a:r>
            <a:r>
              <a:rPr kumimoji="0" sz="1600" b="0" i="0" u="none" strike="noStrike" kern="1200" cap="none" spc="-10" normalizeH="0" baseline="0" noProof="0" dirty="0">
                <a:ln>
                  <a:noFill/>
                </a:ln>
                <a:solidFill>
                  <a:srgbClr val="FFFFFF"/>
                </a:solidFill>
                <a:effectLst/>
                <a:uLnTx/>
                <a:uFillTx/>
                <a:latin typeface="Calibri"/>
                <a:ea typeface="+mn-ea"/>
                <a:cs typeface="Calibri"/>
              </a:rPr>
              <a:t>1:</a:t>
            </a:r>
            <a:r>
              <a:rPr kumimoji="0" sz="1600" b="0" i="0" u="none" strike="noStrike" kern="1200" cap="none" spc="-15" normalizeH="0" baseline="0" noProof="0" dirty="0">
                <a:ln>
                  <a:noFill/>
                </a:ln>
                <a:solidFill>
                  <a:srgbClr val="FFFFFF"/>
                </a:solidFill>
                <a:effectLst/>
                <a:uLnTx/>
                <a:uFillTx/>
                <a:latin typeface="Calibri"/>
                <a:ea typeface="+mn-ea"/>
                <a:cs typeface="Calibri"/>
              </a:rPr>
              <a:t> </a:t>
            </a:r>
            <a:r>
              <a:rPr kumimoji="0" sz="1600" b="0" i="0" u="none" strike="noStrike" kern="1200" cap="none" spc="-10" normalizeH="0" baseline="0" noProof="0" dirty="0">
                <a:ln>
                  <a:noFill/>
                </a:ln>
                <a:solidFill>
                  <a:srgbClr val="FFFFFF"/>
                </a:solidFill>
                <a:effectLst/>
                <a:uLnTx/>
                <a:uFillTx/>
                <a:latin typeface="Calibri"/>
                <a:ea typeface="+mn-ea"/>
                <a:cs typeface="Calibri"/>
              </a:rPr>
              <a:t>Prepare</a:t>
            </a:r>
            <a:r>
              <a:rPr kumimoji="0" sz="1600" b="0" i="0" u="none" strike="noStrike" kern="1200" cap="none" spc="0" normalizeH="0" baseline="0" noProof="0" dirty="0">
                <a:ln>
                  <a:noFill/>
                </a:ln>
                <a:solidFill>
                  <a:srgbClr val="FFFFFF"/>
                </a:solidFill>
                <a:effectLst/>
                <a:uLnTx/>
                <a:uFillTx/>
                <a:latin typeface="Calibri"/>
                <a:ea typeface="+mn-ea"/>
                <a:cs typeface="Calibri"/>
              </a:rPr>
              <a:t> </a:t>
            </a:r>
            <a:r>
              <a:rPr kumimoji="0" sz="1600" b="0" i="0" u="none" strike="noStrike" kern="1200" cap="none" spc="-20" normalizeH="0" baseline="0" noProof="0" dirty="0">
                <a:ln>
                  <a:noFill/>
                </a:ln>
                <a:solidFill>
                  <a:srgbClr val="FFFFFF"/>
                </a:solidFill>
                <a:effectLst/>
                <a:uLnTx/>
                <a:uFillTx/>
                <a:latin typeface="Calibri"/>
                <a:ea typeface="+mn-ea"/>
                <a:cs typeface="Calibri"/>
              </a:rPr>
              <a:t>for</a:t>
            </a:r>
            <a:endParaRPr kumimoji="0" sz="1600" b="0" i="0" u="none" strike="noStrike" kern="1200" cap="none" spc="0" normalizeH="0" baseline="0" noProof="0" dirty="0">
              <a:ln>
                <a:noFill/>
              </a:ln>
              <a:solidFill>
                <a:prstClr val="black"/>
              </a:solidFill>
              <a:effectLst/>
              <a:uLnTx/>
              <a:uFillTx/>
              <a:latin typeface="Calibri"/>
              <a:ea typeface="+mn-ea"/>
              <a:cs typeface="Calibri"/>
            </a:endParaRPr>
          </a:p>
          <a:p>
            <a:pPr marL="0" marR="0" lvl="0" indent="0" algn="ctr" defTabSz="457200" rtl="0" eaLnBrk="1" fontAlgn="auto" latinLnBrk="0" hangingPunct="1">
              <a:lnSpc>
                <a:spcPts val="1835"/>
              </a:lnSpc>
              <a:spcBef>
                <a:spcPts val="0"/>
              </a:spcBef>
              <a:spcAft>
                <a:spcPts val="0"/>
              </a:spcAft>
              <a:buClrTx/>
              <a:buSzTx/>
              <a:buFontTx/>
              <a:buNone/>
              <a:tabLst/>
              <a:defRPr/>
            </a:pPr>
            <a:r>
              <a:rPr kumimoji="0" sz="1600" b="0" i="0" u="none" strike="noStrike" kern="1200" cap="none" spc="-5" normalizeH="0" baseline="0" noProof="0" dirty="0">
                <a:ln>
                  <a:noFill/>
                </a:ln>
                <a:solidFill>
                  <a:srgbClr val="FFFFFF"/>
                </a:solidFill>
                <a:effectLst/>
                <a:uLnTx/>
                <a:uFillTx/>
                <a:latin typeface="Calibri"/>
                <a:ea typeface="+mn-ea"/>
                <a:cs typeface="Calibri"/>
              </a:rPr>
              <a:t>assessment.</a:t>
            </a:r>
            <a:endParaRPr kumimoji="0"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6" name="object 6"/>
          <p:cNvSpPr/>
          <p:nvPr/>
        </p:nvSpPr>
        <p:spPr>
          <a:xfrm>
            <a:off x="2676144" y="1192982"/>
            <a:ext cx="1529080" cy="692150"/>
          </a:xfrm>
          <a:custGeom>
            <a:avLst/>
            <a:gdLst/>
            <a:ahLst/>
            <a:cxnLst/>
            <a:rect l="l" t="t" r="r" b="b"/>
            <a:pathLst>
              <a:path w="1529079" h="692150">
                <a:moveTo>
                  <a:pt x="1459357" y="0"/>
                </a:moveTo>
                <a:lnTo>
                  <a:pt x="69214" y="0"/>
                </a:lnTo>
                <a:lnTo>
                  <a:pt x="42273" y="5439"/>
                </a:lnTo>
                <a:lnTo>
                  <a:pt x="20272" y="20272"/>
                </a:lnTo>
                <a:lnTo>
                  <a:pt x="5439" y="42273"/>
                </a:lnTo>
                <a:lnTo>
                  <a:pt x="0" y="69214"/>
                </a:lnTo>
                <a:lnTo>
                  <a:pt x="0" y="622681"/>
                </a:lnTo>
                <a:lnTo>
                  <a:pt x="5439" y="649622"/>
                </a:lnTo>
                <a:lnTo>
                  <a:pt x="20272" y="671623"/>
                </a:lnTo>
                <a:lnTo>
                  <a:pt x="42273" y="686456"/>
                </a:lnTo>
                <a:lnTo>
                  <a:pt x="69214" y="691896"/>
                </a:lnTo>
                <a:lnTo>
                  <a:pt x="1459357" y="691896"/>
                </a:lnTo>
                <a:lnTo>
                  <a:pt x="1486298" y="686456"/>
                </a:lnTo>
                <a:lnTo>
                  <a:pt x="1508299" y="671623"/>
                </a:lnTo>
                <a:lnTo>
                  <a:pt x="1523132" y="649622"/>
                </a:lnTo>
                <a:lnTo>
                  <a:pt x="1528571" y="622681"/>
                </a:lnTo>
                <a:lnTo>
                  <a:pt x="1528571" y="69214"/>
                </a:lnTo>
                <a:lnTo>
                  <a:pt x="1523132" y="42273"/>
                </a:lnTo>
                <a:lnTo>
                  <a:pt x="1508299" y="20272"/>
                </a:lnTo>
                <a:lnTo>
                  <a:pt x="1486298" y="5439"/>
                </a:lnTo>
                <a:lnTo>
                  <a:pt x="1459357" y="0"/>
                </a:lnTo>
                <a:close/>
              </a:path>
            </a:pathLst>
          </a:custGeom>
          <a:solidFill>
            <a:srgbClr val="5B9BD4"/>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7" name="object 7"/>
          <p:cNvSpPr txBox="1"/>
          <p:nvPr/>
        </p:nvSpPr>
        <p:spPr>
          <a:xfrm>
            <a:off x="2857626" y="1301313"/>
            <a:ext cx="1167130" cy="434975"/>
          </a:xfrm>
          <a:prstGeom prst="rect">
            <a:avLst/>
          </a:prstGeom>
        </p:spPr>
        <p:txBody>
          <a:bodyPr vert="horz" wrap="square" lIns="0" tIns="34290" rIns="0" bIns="0" rtlCol="0">
            <a:spAutoFit/>
          </a:bodyPr>
          <a:lstStyle/>
          <a:p>
            <a:pPr marL="143510" marR="5080" lvl="0" indent="-131445" algn="l" defTabSz="457200" rtl="0" eaLnBrk="1" fontAlgn="auto" latinLnBrk="0" hangingPunct="1">
              <a:lnSpc>
                <a:spcPts val="1540"/>
              </a:lnSpc>
              <a:spcBef>
                <a:spcPts val="270"/>
              </a:spcBef>
              <a:spcAft>
                <a:spcPts val="0"/>
              </a:spcAft>
              <a:buClrTx/>
              <a:buSzTx/>
              <a:buFontTx/>
              <a:buNone/>
              <a:tabLst/>
              <a:defRPr/>
            </a:pPr>
            <a:r>
              <a:rPr kumimoji="0" sz="1400" b="0" i="0" u="none" strike="noStrike" kern="1200" cap="none" spc="-5" normalizeH="0" baseline="0" noProof="0" dirty="0">
                <a:ln>
                  <a:noFill/>
                </a:ln>
                <a:solidFill>
                  <a:srgbClr val="FFFFFF"/>
                </a:solidFill>
                <a:effectLst/>
                <a:uLnTx/>
                <a:uFillTx/>
                <a:latin typeface="Calibri"/>
                <a:ea typeface="+mn-ea"/>
                <a:cs typeface="Calibri"/>
              </a:rPr>
              <a:t>Step</a:t>
            </a:r>
            <a:r>
              <a:rPr kumimoji="0" sz="1400" b="0" i="0" u="none" strike="noStrike" kern="1200" cap="none" spc="-55" normalizeH="0" baseline="0" noProof="0" dirty="0">
                <a:ln>
                  <a:noFill/>
                </a:ln>
                <a:solidFill>
                  <a:srgbClr val="FFFFFF"/>
                </a:solidFill>
                <a:effectLst/>
                <a:uLnTx/>
                <a:uFillTx/>
                <a:latin typeface="Calibri"/>
                <a:ea typeface="+mn-ea"/>
                <a:cs typeface="Calibri"/>
              </a:rPr>
              <a:t> </a:t>
            </a:r>
            <a:r>
              <a:rPr kumimoji="0" sz="1400" b="0" i="0" u="none" strike="noStrike" kern="1200" cap="none" spc="0" normalizeH="0" baseline="0" noProof="0" dirty="0">
                <a:ln>
                  <a:noFill/>
                </a:ln>
                <a:solidFill>
                  <a:srgbClr val="FFFFFF"/>
                </a:solidFill>
                <a:effectLst/>
                <a:uLnTx/>
                <a:uFillTx/>
                <a:latin typeface="Calibri"/>
                <a:ea typeface="+mn-ea"/>
                <a:cs typeface="Calibri"/>
              </a:rPr>
              <a:t>2:</a:t>
            </a:r>
            <a:r>
              <a:rPr kumimoji="0" sz="1400" b="0" i="0" u="none" strike="noStrike" kern="1200" cap="none" spc="-45" normalizeH="0" baseline="0" noProof="0" dirty="0">
                <a:ln>
                  <a:noFill/>
                </a:ln>
                <a:solidFill>
                  <a:srgbClr val="FFFFFF"/>
                </a:solidFill>
                <a:effectLst/>
                <a:uLnTx/>
                <a:uFillTx/>
                <a:latin typeface="Calibri"/>
                <a:ea typeface="+mn-ea"/>
                <a:cs typeface="Calibri"/>
              </a:rPr>
              <a:t> </a:t>
            </a:r>
            <a:r>
              <a:rPr kumimoji="0" sz="1400" b="0" i="0" u="none" strike="noStrike" kern="1200" cap="none" spc="-5" normalizeH="0" baseline="0" noProof="0" dirty="0">
                <a:ln>
                  <a:noFill/>
                </a:ln>
                <a:solidFill>
                  <a:srgbClr val="FFFFFF"/>
                </a:solidFill>
                <a:effectLst/>
                <a:uLnTx/>
                <a:uFillTx/>
                <a:latin typeface="Calibri"/>
                <a:ea typeface="+mn-ea"/>
                <a:cs typeface="Calibri"/>
              </a:rPr>
              <a:t>Conduct </a:t>
            </a:r>
            <a:r>
              <a:rPr kumimoji="0" sz="1400" b="0" i="0" u="none" strike="noStrike" kern="1200" cap="none" spc="-305" normalizeH="0" baseline="0" noProof="0" dirty="0">
                <a:ln>
                  <a:noFill/>
                </a:ln>
                <a:solidFill>
                  <a:srgbClr val="FFFFFF"/>
                </a:solidFill>
                <a:effectLst/>
                <a:uLnTx/>
                <a:uFillTx/>
                <a:latin typeface="Calibri"/>
                <a:ea typeface="+mn-ea"/>
                <a:cs typeface="Calibri"/>
              </a:rPr>
              <a:t> </a:t>
            </a:r>
            <a:r>
              <a:rPr kumimoji="0" sz="1400" b="0" i="0" u="none" strike="noStrike" kern="1200" cap="none" spc="-5" normalizeH="0" baseline="0" noProof="0" dirty="0">
                <a:ln>
                  <a:noFill/>
                </a:ln>
                <a:solidFill>
                  <a:srgbClr val="FFFFFF"/>
                </a:solidFill>
                <a:effectLst/>
                <a:uLnTx/>
                <a:uFillTx/>
                <a:latin typeface="Calibri"/>
                <a:ea typeface="+mn-ea"/>
                <a:cs typeface="Calibri"/>
              </a:rPr>
              <a:t>assessment.</a:t>
            </a:r>
            <a:endParaRPr kumimoji="0" sz="14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8" name="object 8"/>
          <p:cNvGrpSpPr/>
          <p:nvPr/>
        </p:nvGrpSpPr>
        <p:grpSpPr>
          <a:xfrm>
            <a:off x="2823717" y="1878528"/>
            <a:ext cx="2515235" cy="878840"/>
            <a:chOff x="2823717" y="2378710"/>
            <a:chExt cx="2515235" cy="878840"/>
          </a:xfrm>
        </p:grpSpPr>
        <p:sp>
          <p:nvSpPr>
            <p:cNvPr id="9" name="object 9"/>
            <p:cNvSpPr/>
            <p:nvPr/>
          </p:nvSpPr>
          <p:spPr>
            <a:xfrm>
              <a:off x="2830067" y="2385060"/>
              <a:ext cx="153035" cy="519430"/>
            </a:xfrm>
            <a:custGeom>
              <a:avLst/>
              <a:gdLst/>
              <a:ahLst/>
              <a:cxnLst/>
              <a:rect l="l" t="t" r="r" b="b"/>
              <a:pathLst>
                <a:path w="153035" h="519430">
                  <a:moveTo>
                    <a:pt x="0" y="0"/>
                  </a:moveTo>
                  <a:lnTo>
                    <a:pt x="0" y="519175"/>
                  </a:lnTo>
                  <a:lnTo>
                    <a:pt x="152907" y="519175"/>
                  </a:lnTo>
                </a:path>
              </a:pathLst>
            </a:custGeom>
            <a:ln w="12700">
              <a:solidFill>
                <a:srgbClr val="467AA9"/>
              </a:solidFill>
            </a:ln>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10" name="object 10"/>
            <p:cNvSpPr/>
            <p:nvPr/>
          </p:nvSpPr>
          <p:spPr>
            <a:xfrm>
              <a:off x="2982467" y="2558796"/>
              <a:ext cx="2350135" cy="692150"/>
            </a:xfrm>
            <a:custGeom>
              <a:avLst/>
              <a:gdLst/>
              <a:ahLst/>
              <a:cxnLst/>
              <a:rect l="l" t="t" r="r" b="b"/>
              <a:pathLst>
                <a:path w="2350135" h="692150">
                  <a:moveTo>
                    <a:pt x="0" y="69214"/>
                  </a:moveTo>
                  <a:lnTo>
                    <a:pt x="5439" y="42273"/>
                  </a:lnTo>
                  <a:lnTo>
                    <a:pt x="20272" y="20272"/>
                  </a:lnTo>
                  <a:lnTo>
                    <a:pt x="42273" y="5439"/>
                  </a:lnTo>
                  <a:lnTo>
                    <a:pt x="69214" y="0"/>
                  </a:lnTo>
                  <a:lnTo>
                    <a:pt x="2280793" y="0"/>
                  </a:lnTo>
                  <a:lnTo>
                    <a:pt x="2307734" y="5439"/>
                  </a:lnTo>
                  <a:lnTo>
                    <a:pt x="2329735" y="20272"/>
                  </a:lnTo>
                  <a:lnTo>
                    <a:pt x="2344568" y="42273"/>
                  </a:lnTo>
                  <a:lnTo>
                    <a:pt x="2350008" y="69214"/>
                  </a:lnTo>
                  <a:lnTo>
                    <a:pt x="2350008" y="622680"/>
                  </a:lnTo>
                  <a:lnTo>
                    <a:pt x="2344568" y="649622"/>
                  </a:lnTo>
                  <a:lnTo>
                    <a:pt x="2329735" y="671623"/>
                  </a:lnTo>
                  <a:lnTo>
                    <a:pt x="2307734" y="686456"/>
                  </a:lnTo>
                  <a:lnTo>
                    <a:pt x="2280793" y="691895"/>
                  </a:lnTo>
                  <a:lnTo>
                    <a:pt x="69214" y="691895"/>
                  </a:lnTo>
                  <a:lnTo>
                    <a:pt x="42273" y="686456"/>
                  </a:lnTo>
                  <a:lnTo>
                    <a:pt x="20272" y="671623"/>
                  </a:lnTo>
                  <a:lnTo>
                    <a:pt x="5439" y="649622"/>
                  </a:lnTo>
                  <a:lnTo>
                    <a:pt x="0" y="622680"/>
                  </a:lnTo>
                  <a:lnTo>
                    <a:pt x="0" y="69214"/>
                  </a:lnTo>
                  <a:close/>
                </a:path>
              </a:pathLst>
            </a:custGeom>
            <a:ln w="12700">
              <a:solidFill>
                <a:srgbClr val="5B9BD4"/>
              </a:solidFill>
            </a:ln>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grpSp>
      <p:sp>
        <p:nvSpPr>
          <p:cNvPr id="11" name="object 11"/>
          <p:cNvSpPr txBox="1"/>
          <p:nvPr/>
        </p:nvSpPr>
        <p:spPr>
          <a:xfrm>
            <a:off x="3115436" y="2135271"/>
            <a:ext cx="2083435" cy="492125"/>
          </a:xfrm>
          <a:prstGeom prst="rect">
            <a:avLst/>
          </a:prstGeom>
        </p:spPr>
        <p:txBody>
          <a:bodyPr vert="horz" wrap="square" lIns="0" tIns="12065" rIns="0" bIns="0" rtlCol="0">
            <a:spAutoFit/>
          </a:bodyPr>
          <a:lstStyle/>
          <a:p>
            <a:pPr marL="0" marR="0" lvl="0" indent="0" algn="ctr" defTabSz="457200" rtl="0" eaLnBrk="1" fontAlgn="auto" latinLnBrk="0" hangingPunct="1">
              <a:lnSpc>
                <a:spcPts val="1835"/>
              </a:lnSpc>
              <a:spcBef>
                <a:spcPts val="95"/>
              </a:spcBef>
              <a:spcAft>
                <a:spcPts val="0"/>
              </a:spcAft>
              <a:buClrTx/>
              <a:buSzTx/>
              <a:buFontTx/>
              <a:buNone/>
              <a:tabLst/>
              <a:defRPr/>
            </a:pPr>
            <a:r>
              <a:rPr kumimoji="0" sz="1600" b="1" i="0" u="none" strike="noStrike" kern="1200" cap="none" spc="-5" normalizeH="0" baseline="0" noProof="0" dirty="0">
                <a:ln>
                  <a:noFill/>
                </a:ln>
                <a:solidFill>
                  <a:prstClr val="black"/>
                </a:solidFill>
                <a:effectLst/>
                <a:uLnTx/>
                <a:uFillTx/>
                <a:latin typeface="Calibri"/>
                <a:ea typeface="+mn-ea"/>
                <a:cs typeface="Calibri"/>
              </a:rPr>
              <a:t>a.</a:t>
            </a:r>
            <a:r>
              <a:rPr kumimoji="0" sz="1600" b="1" i="0" u="none" strike="noStrike" kern="1200" cap="none" spc="-10" normalizeH="0" baseline="0" noProof="0" dirty="0">
                <a:ln>
                  <a:noFill/>
                </a:ln>
                <a:solidFill>
                  <a:prstClr val="black"/>
                </a:solidFill>
                <a:effectLst/>
                <a:uLnTx/>
                <a:uFillTx/>
                <a:latin typeface="Calibri"/>
                <a:ea typeface="+mn-ea"/>
                <a:cs typeface="Calibri"/>
              </a:rPr>
              <a:t> </a:t>
            </a:r>
            <a:r>
              <a:rPr kumimoji="0" sz="1600" b="0" i="0" u="none" strike="noStrike" kern="1200" cap="none" spc="-5" normalizeH="0" baseline="0" noProof="0" dirty="0">
                <a:ln>
                  <a:noFill/>
                </a:ln>
                <a:solidFill>
                  <a:prstClr val="black"/>
                </a:solidFill>
                <a:effectLst/>
                <a:uLnTx/>
                <a:uFillTx/>
                <a:latin typeface="Calibri"/>
                <a:ea typeface="+mn-ea"/>
                <a:cs typeface="Calibri"/>
              </a:rPr>
              <a:t>Identify</a:t>
            </a:r>
            <a:r>
              <a:rPr kumimoji="0" sz="1600" b="0" i="0" u="none" strike="noStrike" kern="1200" cap="none" spc="-45" normalizeH="0" baseline="0" noProof="0" dirty="0">
                <a:ln>
                  <a:noFill/>
                </a:ln>
                <a:solidFill>
                  <a:prstClr val="black"/>
                </a:solidFill>
                <a:effectLst/>
                <a:uLnTx/>
                <a:uFillTx/>
                <a:latin typeface="Calibri"/>
                <a:ea typeface="+mn-ea"/>
                <a:cs typeface="Calibri"/>
              </a:rPr>
              <a:t> </a:t>
            </a:r>
            <a:r>
              <a:rPr kumimoji="0" sz="1600" b="0" i="0" u="none" strike="noStrike" kern="1200" cap="none" spc="-10" normalizeH="0" baseline="0" noProof="0" dirty="0">
                <a:ln>
                  <a:noFill/>
                </a:ln>
                <a:solidFill>
                  <a:prstClr val="black"/>
                </a:solidFill>
                <a:effectLst/>
                <a:uLnTx/>
                <a:uFillTx/>
                <a:latin typeface="Calibri"/>
                <a:ea typeface="+mn-ea"/>
                <a:cs typeface="Calibri"/>
              </a:rPr>
              <a:t>threat</a:t>
            </a:r>
            <a:r>
              <a:rPr kumimoji="0" sz="1600" b="0" i="0" u="none" strike="noStrike" kern="1200" cap="none" spc="-5" normalizeH="0" baseline="0" noProof="0" dirty="0">
                <a:ln>
                  <a:noFill/>
                </a:ln>
                <a:solidFill>
                  <a:prstClr val="black"/>
                </a:solidFill>
                <a:effectLst/>
                <a:uLnTx/>
                <a:uFillTx/>
                <a:latin typeface="Calibri"/>
                <a:ea typeface="+mn-ea"/>
                <a:cs typeface="Calibri"/>
              </a:rPr>
              <a:t> </a:t>
            </a:r>
            <a:r>
              <a:rPr kumimoji="0" sz="1600" b="0" i="0" u="none" strike="noStrike" kern="1200" cap="none" spc="-10" normalizeH="0" baseline="0" noProof="0" dirty="0">
                <a:ln>
                  <a:noFill/>
                </a:ln>
                <a:solidFill>
                  <a:prstClr val="black"/>
                </a:solidFill>
                <a:effectLst/>
                <a:uLnTx/>
                <a:uFillTx/>
                <a:latin typeface="Calibri"/>
                <a:ea typeface="+mn-ea"/>
                <a:cs typeface="Calibri"/>
              </a:rPr>
              <a:t>sources</a:t>
            </a:r>
            <a:endParaRPr kumimoji="0" sz="1600" b="0" i="0" u="none" strike="noStrike" kern="1200" cap="none" spc="0" normalizeH="0" baseline="0" noProof="0">
              <a:ln>
                <a:noFill/>
              </a:ln>
              <a:solidFill>
                <a:prstClr val="black"/>
              </a:solidFill>
              <a:effectLst/>
              <a:uLnTx/>
              <a:uFillTx/>
              <a:latin typeface="Calibri"/>
              <a:ea typeface="+mn-ea"/>
              <a:cs typeface="Calibri"/>
            </a:endParaRPr>
          </a:p>
          <a:p>
            <a:pPr marL="0" marR="0" lvl="0" indent="0" algn="ctr" defTabSz="457200" rtl="0" eaLnBrk="1" fontAlgn="auto" latinLnBrk="0" hangingPunct="1">
              <a:lnSpc>
                <a:spcPts val="1835"/>
              </a:lnSpc>
              <a:spcBef>
                <a:spcPts val="0"/>
              </a:spcBef>
              <a:spcAft>
                <a:spcPts val="0"/>
              </a:spcAft>
              <a:buClrTx/>
              <a:buSzTx/>
              <a:buFontTx/>
              <a:buNone/>
              <a:tabLst/>
              <a:defRPr/>
            </a:pPr>
            <a:r>
              <a:rPr kumimoji="0" sz="1600" b="0" i="0" u="none" strike="noStrike" kern="1200" cap="none" spc="-5" normalizeH="0" baseline="0" noProof="0" dirty="0">
                <a:ln>
                  <a:noFill/>
                </a:ln>
                <a:solidFill>
                  <a:prstClr val="black"/>
                </a:solidFill>
                <a:effectLst/>
                <a:uLnTx/>
                <a:uFillTx/>
                <a:latin typeface="Calibri"/>
                <a:ea typeface="+mn-ea"/>
                <a:cs typeface="Calibri"/>
              </a:rPr>
              <a:t>and</a:t>
            </a:r>
            <a:r>
              <a:rPr kumimoji="0" sz="1600" b="0" i="0" u="none" strike="noStrike" kern="1200" cap="none" spc="-45" normalizeH="0" baseline="0" noProof="0" dirty="0">
                <a:ln>
                  <a:noFill/>
                </a:ln>
                <a:solidFill>
                  <a:prstClr val="black"/>
                </a:solidFill>
                <a:effectLst/>
                <a:uLnTx/>
                <a:uFillTx/>
                <a:latin typeface="Calibri"/>
                <a:ea typeface="+mn-ea"/>
                <a:cs typeface="Calibri"/>
              </a:rPr>
              <a:t> </a:t>
            </a:r>
            <a:r>
              <a:rPr kumimoji="0" sz="1600" b="0" i="0" u="none" strike="noStrike" kern="1200" cap="none" spc="-10" normalizeH="0" baseline="0" noProof="0" dirty="0">
                <a:ln>
                  <a:noFill/>
                </a:ln>
                <a:solidFill>
                  <a:prstClr val="black"/>
                </a:solidFill>
                <a:effectLst/>
                <a:uLnTx/>
                <a:uFillTx/>
                <a:latin typeface="Calibri"/>
                <a:ea typeface="+mn-ea"/>
                <a:cs typeface="Calibri"/>
              </a:rPr>
              <a:t>events.</a:t>
            </a:r>
            <a:endParaRPr kumimoji="0" sz="1600" b="0" i="0" u="none" strike="noStrike" kern="1200" cap="none" spc="0" normalizeH="0" baseline="0" noProof="0">
              <a:ln>
                <a:noFill/>
              </a:ln>
              <a:solidFill>
                <a:prstClr val="black"/>
              </a:solidFill>
              <a:effectLst/>
              <a:uLnTx/>
              <a:uFillTx/>
              <a:latin typeface="Calibri"/>
              <a:ea typeface="+mn-ea"/>
              <a:cs typeface="Calibri"/>
            </a:endParaRPr>
          </a:p>
        </p:txBody>
      </p:sp>
      <p:grpSp>
        <p:nvGrpSpPr>
          <p:cNvPr id="12" name="object 12"/>
          <p:cNvGrpSpPr/>
          <p:nvPr/>
        </p:nvGrpSpPr>
        <p:grpSpPr>
          <a:xfrm>
            <a:off x="2823717" y="1878528"/>
            <a:ext cx="2552065" cy="1744345"/>
            <a:chOff x="2823717" y="2378710"/>
            <a:chExt cx="2552065" cy="1744345"/>
          </a:xfrm>
        </p:grpSpPr>
        <p:sp>
          <p:nvSpPr>
            <p:cNvPr id="13" name="object 13"/>
            <p:cNvSpPr/>
            <p:nvPr/>
          </p:nvSpPr>
          <p:spPr>
            <a:xfrm>
              <a:off x="2830067" y="2385060"/>
              <a:ext cx="153035" cy="1384300"/>
            </a:xfrm>
            <a:custGeom>
              <a:avLst/>
              <a:gdLst/>
              <a:ahLst/>
              <a:cxnLst/>
              <a:rect l="l" t="t" r="r" b="b"/>
              <a:pathLst>
                <a:path w="153035" h="1384300">
                  <a:moveTo>
                    <a:pt x="0" y="0"/>
                  </a:moveTo>
                  <a:lnTo>
                    <a:pt x="0" y="1384300"/>
                  </a:lnTo>
                  <a:lnTo>
                    <a:pt x="152907" y="1384300"/>
                  </a:lnTo>
                </a:path>
              </a:pathLst>
            </a:custGeom>
            <a:ln w="12699">
              <a:solidFill>
                <a:srgbClr val="467AA9"/>
              </a:solidFill>
            </a:ln>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14" name="object 14"/>
            <p:cNvSpPr/>
            <p:nvPr/>
          </p:nvSpPr>
          <p:spPr>
            <a:xfrm>
              <a:off x="2982467" y="3424427"/>
              <a:ext cx="2386965" cy="692150"/>
            </a:xfrm>
            <a:custGeom>
              <a:avLst/>
              <a:gdLst/>
              <a:ahLst/>
              <a:cxnLst/>
              <a:rect l="l" t="t" r="r" b="b"/>
              <a:pathLst>
                <a:path w="2386965" h="692150">
                  <a:moveTo>
                    <a:pt x="0" y="69214"/>
                  </a:moveTo>
                  <a:lnTo>
                    <a:pt x="5439" y="42273"/>
                  </a:lnTo>
                  <a:lnTo>
                    <a:pt x="20272" y="20272"/>
                  </a:lnTo>
                  <a:lnTo>
                    <a:pt x="42273" y="5439"/>
                  </a:lnTo>
                  <a:lnTo>
                    <a:pt x="69214" y="0"/>
                  </a:lnTo>
                  <a:lnTo>
                    <a:pt x="2317369" y="0"/>
                  </a:lnTo>
                  <a:lnTo>
                    <a:pt x="2344310" y="5439"/>
                  </a:lnTo>
                  <a:lnTo>
                    <a:pt x="2366311" y="20272"/>
                  </a:lnTo>
                  <a:lnTo>
                    <a:pt x="2381144" y="42273"/>
                  </a:lnTo>
                  <a:lnTo>
                    <a:pt x="2386584" y="69214"/>
                  </a:lnTo>
                  <a:lnTo>
                    <a:pt x="2386584" y="622681"/>
                  </a:lnTo>
                  <a:lnTo>
                    <a:pt x="2381144" y="649622"/>
                  </a:lnTo>
                  <a:lnTo>
                    <a:pt x="2366311" y="671623"/>
                  </a:lnTo>
                  <a:lnTo>
                    <a:pt x="2344310" y="686456"/>
                  </a:lnTo>
                  <a:lnTo>
                    <a:pt x="2317369" y="691896"/>
                  </a:lnTo>
                  <a:lnTo>
                    <a:pt x="69214" y="691896"/>
                  </a:lnTo>
                  <a:lnTo>
                    <a:pt x="42273" y="686456"/>
                  </a:lnTo>
                  <a:lnTo>
                    <a:pt x="20272" y="671623"/>
                  </a:lnTo>
                  <a:lnTo>
                    <a:pt x="5439" y="649622"/>
                  </a:lnTo>
                  <a:lnTo>
                    <a:pt x="0" y="622681"/>
                  </a:lnTo>
                  <a:lnTo>
                    <a:pt x="0" y="69214"/>
                  </a:lnTo>
                  <a:close/>
                </a:path>
              </a:pathLst>
            </a:custGeom>
            <a:ln w="12700">
              <a:solidFill>
                <a:srgbClr val="5B9BD4"/>
              </a:solidFill>
            </a:ln>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grpSp>
      <p:sp>
        <p:nvSpPr>
          <p:cNvPr id="15" name="object 15"/>
          <p:cNvSpPr txBox="1"/>
          <p:nvPr/>
        </p:nvSpPr>
        <p:spPr>
          <a:xfrm>
            <a:off x="3138297" y="2889016"/>
            <a:ext cx="2073275" cy="716280"/>
          </a:xfrm>
          <a:prstGeom prst="rect">
            <a:avLst/>
          </a:prstGeom>
        </p:spPr>
        <p:txBody>
          <a:bodyPr vert="horz" wrap="square" lIns="0" tIns="12065" rIns="0" bIns="0" rtlCol="0">
            <a:spAutoFit/>
          </a:bodyPr>
          <a:lstStyle/>
          <a:p>
            <a:pPr marL="0" marR="0" lvl="0" indent="0" algn="ctr" defTabSz="457200" rtl="0" eaLnBrk="1" fontAlgn="auto" latinLnBrk="0" hangingPunct="1">
              <a:lnSpc>
                <a:spcPts val="1835"/>
              </a:lnSpc>
              <a:spcBef>
                <a:spcPts val="95"/>
              </a:spcBef>
              <a:spcAft>
                <a:spcPts val="0"/>
              </a:spcAft>
              <a:buClrTx/>
              <a:buSzTx/>
              <a:buFontTx/>
              <a:buNone/>
              <a:tabLst/>
              <a:defRPr/>
            </a:pPr>
            <a:r>
              <a:rPr kumimoji="0" sz="1600" b="1" i="0" u="none" strike="noStrike" kern="1200" cap="none" spc="-10" normalizeH="0" baseline="0" noProof="0" dirty="0">
                <a:ln>
                  <a:noFill/>
                </a:ln>
                <a:solidFill>
                  <a:prstClr val="black"/>
                </a:solidFill>
                <a:effectLst/>
                <a:uLnTx/>
                <a:uFillTx/>
                <a:latin typeface="Calibri"/>
                <a:ea typeface="+mn-ea"/>
                <a:cs typeface="Calibri"/>
              </a:rPr>
              <a:t>b.</a:t>
            </a:r>
            <a:r>
              <a:rPr kumimoji="0" sz="1600" b="1" i="0" u="none" strike="noStrike" kern="1200" cap="none" spc="-15" normalizeH="0" baseline="0" noProof="0" dirty="0">
                <a:ln>
                  <a:noFill/>
                </a:ln>
                <a:solidFill>
                  <a:prstClr val="black"/>
                </a:solidFill>
                <a:effectLst/>
                <a:uLnTx/>
                <a:uFillTx/>
                <a:latin typeface="Calibri"/>
                <a:ea typeface="+mn-ea"/>
                <a:cs typeface="Calibri"/>
              </a:rPr>
              <a:t> </a:t>
            </a:r>
            <a:r>
              <a:rPr kumimoji="0" sz="1600" b="0" i="0" u="none" strike="noStrike" kern="1200" cap="none" spc="-5" normalizeH="0" baseline="0" noProof="0" dirty="0">
                <a:ln>
                  <a:noFill/>
                </a:ln>
                <a:solidFill>
                  <a:prstClr val="black"/>
                </a:solidFill>
                <a:effectLst/>
                <a:uLnTx/>
                <a:uFillTx/>
                <a:latin typeface="Calibri"/>
                <a:ea typeface="+mn-ea"/>
                <a:cs typeface="Calibri"/>
              </a:rPr>
              <a:t>Identify</a:t>
            </a:r>
            <a:r>
              <a:rPr kumimoji="0" sz="1600" b="0" i="0" u="none" strike="noStrike" kern="1200" cap="none" spc="-30" normalizeH="0" baseline="0" noProof="0" dirty="0">
                <a:ln>
                  <a:noFill/>
                </a:ln>
                <a:solidFill>
                  <a:prstClr val="black"/>
                </a:solidFill>
                <a:effectLst/>
                <a:uLnTx/>
                <a:uFillTx/>
                <a:latin typeface="Calibri"/>
                <a:ea typeface="+mn-ea"/>
                <a:cs typeface="Calibri"/>
              </a:rPr>
              <a:t> </a:t>
            </a:r>
            <a:r>
              <a:rPr kumimoji="0" sz="1600" b="0" i="0" u="none" strike="noStrike" kern="1200" cap="none" spc="-5" normalizeH="0" baseline="0" noProof="0" dirty="0">
                <a:ln>
                  <a:noFill/>
                </a:ln>
                <a:solidFill>
                  <a:prstClr val="black"/>
                </a:solidFill>
                <a:effectLst/>
                <a:uLnTx/>
                <a:uFillTx/>
                <a:latin typeface="Calibri"/>
                <a:ea typeface="+mn-ea"/>
                <a:cs typeface="Calibri"/>
              </a:rPr>
              <a:t>vulnerabilities</a:t>
            </a:r>
            <a:endParaRPr kumimoji="0" sz="1600" b="0" i="0" u="none" strike="noStrike" kern="1200" cap="none" spc="0" normalizeH="0" baseline="0" noProof="0" dirty="0">
              <a:ln>
                <a:noFill/>
              </a:ln>
              <a:solidFill>
                <a:prstClr val="black"/>
              </a:solidFill>
              <a:effectLst/>
              <a:uLnTx/>
              <a:uFillTx/>
              <a:latin typeface="Calibri"/>
              <a:ea typeface="+mn-ea"/>
              <a:cs typeface="Calibri"/>
            </a:endParaRPr>
          </a:p>
          <a:p>
            <a:pPr marL="334010" marR="325120" lvl="0" indent="0" algn="ctr" defTabSz="457200" rtl="0" eaLnBrk="1" fontAlgn="auto" latinLnBrk="0" hangingPunct="1">
              <a:lnSpc>
                <a:spcPts val="1760"/>
              </a:lnSpc>
              <a:spcBef>
                <a:spcPts val="110"/>
              </a:spcBef>
              <a:spcAft>
                <a:spcPts val="0"/>
              </a:spcAft>
              <a:buClrTx/>
              <a:buSzTx/>
              <a:buFontTx/>
              <a:buNone/>
              <a:tabLst/>
              <a:defRPr/>
            </a:pPr>
            <a:r>
              <a:rPr kumimoji="0" sz="1600" b="0" i="0" u="none" strike="noStrike" kern="1200" cap="none" spc="-5" normalizeH="0" baseline="0" noProof="0" dirty="0">
                <a:ln>
                  <a:noFill/>
                </a:ln>
                <a:solidFill>
                  <a:prstClr val="black"/>
                </a:solidFill>
                <a:effectLst/>
                <a:uLnTx/>
                <a:uFillTx/>
                <a:latin typeface="Calibri"/>
                <a:ea typeface="+mn-ea"/>
                <a:cs typeface="Calibri"/>
              </a:rPr>
              <a:t>and </a:t>
            </a:r>
            <a:r>
              <a:rPr kumimoji="0" sz="1600" b="0" i="0" u="none" strike="noStrike" kern="1200" cap="none" spc="-10" normalizeH="0" baseline="0" noProof="0" dirty="0">
                <a:ln>
                  <a:noFill/>
                </a:ln>
                <a:solidFill>
                  <a:prstClr val="black"/>
                </a:solidFill>
                <a:effectLst/>
                <a:uLnTx/>
                <a:uFillTx/>
                <a:latin typeface="Calibri"/>
                <a:ea typeface="+mn-ea"/>
                <a:cs typeface="Calibri"/>
              </a:rPr>
              <a:t>predisposing </a:t>
            </a:r>
            <a:r>
              <a:rPr kumimoji="0" sz="1600" b="0" i="0" u="none" strike="noStrike" kern="1200" cap="none" spc="-350" normalizeH="0" baseline="0" noProof="0" dirty="0">
                <a:ln>
                  <a:noFill/>
                </a:ln>
                <a:solidFill>
                  <a:prstClr val="black"/>
                </a:solidFill>
                <a:effectLst/>
                <a:uLnTx/>
                <a:uFillTx/>
                <a:latin typeface="Calibri"/>
                <a:ea typeface="+mn-ea"/>
                <a:cs typeface="Calibri"/>
              </a:rPr>
              <a:t> </a:t>
            </a:r>
            <a:r>
              <a:rPr kumimoji="0" sz="1600" b="0" i="0" u="none" strike="noStrike" kern="1200" cap="none" spc="-10" normalizeH="0" baseline="0" noProof="0" dirty="0">
                <a:ln>
                  <a:noFill/>
                </a:ln>
                <a:solidFill>
                  <a:prstClr val="black"/>
                </a:solidFill>
                <a:effectLst/>
                <a:uLnTx/>
                <a:uFillTx/>
                <a:latin typeface="Calibri"/>
                <a:ea typeface="+mn-ea"/>
                <a:cs typeface="Calibri"/>
              </a:rPr>
              <a:t>conditions.</a:t>
            </a:r>
            <a:endParaRPr kumimoji="0" sz="16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16" name="object 16"/>
          <p:cNvGrpSpPr/>
          <p:nvPr/>
        </p:nvGrpSpPr>
        <p:grpSpPr>
          <a:xfrm>
            <a:off x="2823717" y="1878528"/>
            <a:ext cx="2644775" cy="2608580"/>
            <a:chOff x="2823717" y="2378710"/>
            <a:chExt cx="2644775" cy="2608580"/>
          </a:xfrm>
        </p:grpSpPr>
        <p:sp>
          <p:nvSpPr>
            <p:cNvPr id="17" name="object 17"/>
            <p:cNvSpPr/>
            <p:nvPr/>
          </p:nvSpPr>
          <p:spPr>
            <a:xfrm>
              <a:off x="2830067" y="2385060"/>
              <a:ext cx="153035" cy="2249805"/>
            </a:xfrm>
            <a:custGeom>
              <a:avLst/>
              <a:gdLst/>
              <a:ahLst/>
              <a:cxnLst/>
              <a:rect l="l" t="t" r="r" b="b"/>
              <a:pathLst>
                <a:path w="153035" h="2249804">
                  <a:moveTo>
                    <a:pt x="0" y="0"/>
                  </a:moveTo>
                  <a:lnTo>
                    <a:pt x="0" y="2249551"/>
                  </a:lnTo>
                  <a:lnTo>
                    <a:pt x="152907" y="2249551"/>
                  </a:lnTo>
                </a:path>
              </a:pathLst>
            </a:custGeom>
            <a:ln w="12700">
              <a:solidFill>
                <a:srgbClr val="467AA9"/>
              </a:solidFill>
            </a:ln>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18" name="object 18"/>
            <p:cNvSpPr/>
            <p:nvPr/>
          </p:nvSpPr>
          <p:spPr>
            <a:xfrm>
              <a:off x="2982467" y="4288536"/>
              <a:ext cx="2479675" cy="692150"/>
            </a:xfrm>
            <a:custGeom>
              <a:avLst/>
              <a:gdLst/>
              <a:ahLst/>
              <a:cxnLst/>
              <a:rect l="l" t="t" r="r" b="b"/>
              <a:pathLst>
                <a:path w="2479675" h="692150">
                  <a:moveTo>
                    <a:pt x="0" y="69214"/>
                  </a:moveTo>
                  <a:lnTo>
                    <a:pt x="5439" y="42273"/>
                  </a:lnTo>
                  <a:lnTo>
                    <a:pt x="20272" y="20272"/>
                  </a:lnTo>
                  <a:lnTo>
                    <a:pt x="42273" y="5439"/>
                  </a:lnTo>
                  <a:lnTo>
                    <a:pt x="69214" y="0"/>
                  </a:lnTo>
                  <a:lnTo>
                    <a:pt x="2410333" y="0"/>
                  </a:lnTo>
                  <a:lnTo>
                    <a:pt x="2437274" y="5439"/>
                  </a:lnTo>
                  <a:lnTo>
                    <a:pt x="2459275" y="20272"/>
                  </a:lnTo>
                  <a:lnTo>
                    <a:pt x="2474108" y="42273"/>
                  </a:lnTo>
                  <a:lnTo>
                    <a:pt x="2479547" y="69214"/>
                  </a:lnTo>
                  <a:lnTo>
                    <a:pt x="2479547" y="622681"/>
                  </a:lnTo>
                  <a:lnTo>
                    <a:pt x="2474108" y="649622"/>
                  </a:lnTo>
                  <a:lnTo>
                    <a:pt x="2459275" y="671623"/>
                  </a:lnTo>
                  <a:lnTo>
                    <a:pt x="2437274" y="686456"/>
                  </a:lnTo>
                  <a:lnTo>
                    <a:pt x="2410333" y="691895"/>
                  </a:lnTo>
                  <a:lnTo>
                    <a:pt x="69214" y="691895"/>
                  </a:lnTo>
                  <a:lnTo>
                    <a:pt x="42273" y="686456"/>
                  </a:lnTo>
                  <a:lnTo>
                    <a:pt x="20272" y="671623"/>
                  </a:lnTo>
                  <a:lnTo>
                    <a:pt x="5439" y="649622"/>
                  </a:lnTo>
                  <a:lnTo>
                    <a:pt x="0" y="622681"/>
                  </a:lnTo>
                  <a:lnTo>
                    <a:pt x="0" y="69214"/>
                  </a:lnTo>
                  <a:close/>
                </a:path>
              </a:pathLst>
            </a:custGeom>
            <a:ln w="12700">
              <a:solidFill>
                <a:srgbClr val="5B9BD4"/>
              </a:solidFill>
            </a:ln>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grpSp>
      <p:sp>
        <p:nvSpPr>
          <p:cNvPr id="19" name="object 19"/>
          <p:cNvSpPr txBox="1"/>
          <p:nvPr/>
        </p:nvSpPr>
        <p:spPr>
          <a:xfrm>
            <a:off x="3145663" y="3866458"/>
            <a:ext cx="2151380" cy="491490"/>
          </a:xfrm>
          <a:prstGeom prst="rect">
            <a:avLst/>
          </a:prstGeom>
        </p:spPr>
        <p:txBody>
          <a:bodyPr vert="horz" wrap="square" lIns="0" tIns="37465" rIns="0" bIns="0" rtlCol="0">
            <a:spAutoFit/>
          </a:bodyPr>
          <a:lstStyle/>
          <a:p>
            <a:pPr marL="593090" marR="5080" lvl="0" indent="-581025" algn="l" defTabSz="457200" rtl="0" eaLnBrk="1" fontAlgn="auto" latinLnBrk="0" hangingPunct="1">
              <a:lnSpc>
                <a:spcPts val="1750"/>
              </a:lnSpc>
              <a:spcBef>
                <a:spcPts val="295"/>
              </a:spcBef>
              <a:spcAft>
                <a:spcPts val="0"/>
              </a:spcAft>
              <a:buClrTx/>
              <a:buSzTx/>
              <a:buFontTx/>
              <a:buNone/>
              <a:tabLst/>
              <a:defRPr/>
            </a:pPr>
            <a:r>
              <a:rPr kumimoji="0" sz="1600" b="1" i="0" u="none" strike="noStrike" kern="1200" cap="none" spc="-5" normalizeH="0" baseline="0" noProof="0" dirty="0">
                <a:ln>
                  <a:noFill/>
                </a:ln>
                <a:solidFill>
                  <a:prstClr val="black"/>
                </a:solidFill>
                <a:effectLst/>
                <a:uLnTx/>
                <a:uFillTx/>
                <a:latin typeface="Calibri"/>
                <a:ea typeface="+mn-ea"/>
                <a:cs typeface="Calibri"/>
              </a:rPr>
              <a:t>c. </a:t>
            </a:r>
            <a:r>
              <a:rPr kumimoji="0" sz="1600" b="0" i="0" u="none" strike="noStrike" kern="1200" cap="none" spc="-10" normalizeH="0" baseline="0" noProof="0" dirty="0">
                <a:ln>
                  <a:noFill/>
                </a:ln>
                <a:solidFill>
                  <a:prstClr val="black"/>
                </a:solidFill>
                <a:effectLst/>
                <a:uLnTx/>
                <a:uFillTx/>
                <a:latin typeface="Calibri"/>
                <a:ea typeface="+mn-ea"/>
                <a:cs typeface="Calibri"/>
              </a:rPr>
              <a:t>Determine likelihood of </a:t>
            </a:r>
            <a:r>
              <a:rPr kumimoji="0" sz="1600" b="0" i="0" u="none" strike="noStrike" kern="1200" cap="none" spc="-350" normalizeH="0" baseline="0" noProof="0" dirty="0">
                <a:ln>
                  <a:noFill/>
                </a:ln>
                <a:solidFill>
                  <a:prstClr val="black"/>
                </a:solidFill>
                <a:effectLst/>
                <a:uLnTx/>
                <a:uFillTx/>
                <a:latin typeface="Calibri"/>
                <a:ea typeface="+mn-ea"/>
                <a:cs typeface="Calibri"/>
              </a:rPr>
              <a:t> </a:t>
            </a:r>
            <a:r>
              <a:rPr kumimoji="0" sz="1600" b="0" i="0" u="none" strike="noStrike" kern="1200" cap="none" spc="-10" normalizeH="0" baseline="0" noProof="0" dirty="0">
                <a:ln>
                  <a:noFill/>
                </a:ln>
                <a:solidFill>
                  <a:prstClr val="black"/>
                </a:solidFill>
                <a:effectLst/>
                <a:uLnTx/>
                <a:uFillTx/>
                <a:latin typeface="Calibri"/>
                <a:ea typeface="+mn-ea"/>
                <a:cs typeface="Calibri"/>
              </a:rPr>
              <a:t>occurrence.</a:t>
            </a:r>
            <a:endParaRPr kumimoji="0" sz="16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20" name="object 20"/>
          <p:cNvGrpSpPr/>
          <p:nvPr/>
        </p:nvGrpSpPr>
        <p:grpSpPr>
          <a:xfrm>
            <a:off x="2823717" y="1878528"/>
            <a:ext cx="2644775" cy="4339590"/>
            <a:chOff x="2823717" y="2378710"/>
            <a:chExt cx="2644775" cy="4339590"/>
          </a:xfrm>
        </p:grpSpPr>
        <p:sp>
          <p:nvSpPr>
            <p:cNvPr id="21" name="object 21"/>
            <p:cNvSpPr/>
            <p:nvPr/>
          </p:nvSpPr>
          <p:spPr>
            <a:xfrm>
              <a:off x="2830067" y="2385060"/>
              <a:ext cx="153035" cy="3114675"/>
            </a:xfrm>
            <a:custGeom>
              <a:avLst/>
              <a:gdLst/>
              <a:ahLst/>
              <a:cxnLst/>
              <a:rect l="l" t="t" r="r" b="b"/>
              <a:pathLst>
                <a:path w="153035" h="3114675">
                  <a:moveTo>
                    <a:pt x="0" y="0"/>
                  </a:moveTo>
                  <a:lnTo>
                    <a:pt x="0" y="3114675"/>
                  </a:lnTo>
                  <a:lnTo>
                    <a:pt x="152907" y="3114675"/>
                  </a:lnTo>
                </a:path>
              </a:pathLst>
            </a:custGeom>
            <a:ln w="12700">
              <a:solidFill>
                <a:srgbClr val="467AA9"/>
              </a:solidFill>
            </a:ln>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22" name="object 22"/>
            <p:cNvSpPr/>
            <p:nvPr/>
          </p:nvSpPr>
          <p:spPr>
            <a:xfrm>
              <a:off x="2982467" y="5154167"/>
              <a:ext cx="2479675" cy="692150"/>
            </a:xfrm>
            <a:custGeom>
              <a:avLst/>
              <a:gdLst/>
              <a:ahLst/>
              <a:cxnLst/>
              <a:rect l="l" t="t" r="r" b="b"/>
              <a:pathLst>
                <a:path w="2479675" h="692150">
                  <a:moveTo>
                    <a:pt x="0" y="69214"/>
                  </a:moveTo>
                  <a:lnTo>
                    <a:pt x="5439" y="42273"/>
                  </a:lnTo>
                  <a:lnTo>
                    <a:pt x="20272" y="20272"/>
                  </a:lnTo>
                  <a:lnTo>
                    <a:pt x="42273" y="5439"/>
                  </a:lnTo>
                  <a:lnTo>
                    <a:pt x="69214" y="0"/>
                  </a:lnTo>
                  <a:lnTo>
                    <a:pt x="2410333" y="0"/>
                  </a:lnTo>
                  <a:lnTo>
                    <a:pt x="2437274" y="5439"/>
                  </a:lnTo>
                  <a:lnTo>
                    <a:pt x="2459275" y="20272"/>
                  </a:lnTo>
                  <a:lnTo>
                    <a:pt x="2474108" y="42273"/>
                  </a:lnTo>
                  <a:lnTo>
                    <a:pt x="2479547" y="69214"/>
                  </a:lnTo>
                  <a:lnTo>
                    <a:pt x="2479547" y="622706"/>
                  </a:lnTo>
                  <a:lnTo>
                    <a:pt x="2474108" y="649638"/>
                  </a:lnTo>
                  <a:lnTo>
                    <a:pt x="2459275" y="671631"/>
                  </a:lnTo>
                  <a:lnTo>
                    <a:pt x="2437274" y="686459"/>
                  </a:lnTo>
                  <a:lnTo>
                    <a:pt x="2410333" y="691895"/>
                  </a:lnTo>
                  <a:lnTo>
                    <a:pt x="69214" y="691895"/>
                  </a:lnTo>
                  <a:lnTo>
                    <a:pt x="42273" y="686459"/>
                  </a:lnTo>
                  <a:lnTo>
                    <a:pt x="20272" y="671631"/>
                  </a:lnTo>
                  <a:lnTo>
                    <a:pt x="5439" y="649638"/>
                  </a:lnTo>
                  <a:lnTo>
                    <a:pt x="0" y="622706"/>
                  </a:lnTo>
                  <a:lnTo>
                    <a:pt x="0" y="69214"/>
                  </a:lnTo>
                  <a:close/>
                </a:path>
              </a:pathLst>
            </a:custGeom>
            <a:ln w="12700">
              <a:solidFill>
                <a:srgbClr val="5B9BD4"/>
              </a:solidFill>
            </a:ln>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23" name="object 23"/>
            <p:cNvSpPr/>
            <p:nvPr/>
          </p:nvSpPr>
          <p:spPr>
            <a:xfrm>
              <a:off x="2830067" y="2385060"/>
              <a:ext cx="153035" cy="3980179"/>
            </a:xfrm>
            <a:custGeom>
              <a:avLst/>
              <a:gdLst/>
              <a:ahLst/>
              <a:cxnLst/>
              <a:rect l="l" t="t" r="r" b="b"/>
              <a:pathLst>
                <a:path w="153035" h="3980179">
                  <a:moveTo>
                    <a:pt x="0" y="0"/>
                  </a:moveTo>
                  <a:lnTo>
                    <a:pt x="0" y="3979938"/>
                  </a:lnTo>
                  <a:lnTo>
                    <a:pt x="152907" y="3979938"/>
                  </a:lnTo>
                </a:path>
              </a:pathLst>
            </a:custGeom>
            <a:ln w="12700">
              <a:solidFill>
                <a:srgbClr val="467AA9"/>
              </a:solidFill>
            </a:ln>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24" name="object 24"/>
            <p:cNvSpPr/>
            <p:nvPr/>
          </p:nvSpPr>
          <p:spPr>
            <a:xfrm>
              <a:off x="2982467" y="6019800"/>
              <a:ext cx="2270760" cy="692150"/>
            </a:xfrm>
            <a:custGeom>
              <a:avLst/>
              <a:gdLst/>
              <a:ahLst/>
              <a:cxnLst/>
              <a:rect l="l" t="t" r="r" b="b"/>
              <a:pathLst>
                <a:path w="2270760" h="692150">
                  <a:moveTo>
                    <a:pt x="0" y="69189"/>
                  </a:moveTo>
                  <a:lnTo>
                    <a:pt x="5439" y="42257"/>
                  </a:lnTo>
                  <a:lnTo>
                    <a:pt x="20272" y="20264"/>
                  </a:lnTo>
                  <a:lnTo>
                    <a:pt x="42273" y="5436"/>
                  </a:lnTo>
                  <a:lnTo>
                    <a:pt x="69214" y="0"/>
                  </a:lnTo>
                  <a:lnTo>
                    <a:pt x="2201545" y="0"/>
                  </a:lnTo>
                  <a:lnTo>
                    <a:pt x="2228486" y="5436"/>
                  </a:lnTo>
                  <a:lnTo>
                    <a:pt x="2250487" y="20264"/>
                  </a:lnTo>
                  <a:lnTo>
                    <a:pt x="2265320" y="42257"/>
                  </a:lnTo>
                  <a:lnTo>
                    <a:pt x="2270760" y="69189"/>
                  </a:lnTo>
                  <a:lnTo>
                    <a:pt x="2270760" y="622706"/>
                  </a:lnTo>
                  <a:lnTo>
                    <a:pt x="2265320" y="649638"/>
                  </a:lnTo>
                  <a:lnTo>
                    <a:pt x="2250487" y="671631"/>
                  </a:lnTo>
                  <a:lnTo>
                    <a:pt x="2228486" y="686459"/>
                  </a:lnTo>
                  <a:lnTo>
                    <a:pt x="2201545" y="691896"/>
                  </a:lnTo>
                  <a:lnTo>
                    <a:pt x="69214" y="691896"/>
                  </a:lnTo>
                  <a:lnTo>
                    <a:pt x="42273" y="686459"/>
                  </a:lnTo>
                  <a:lnTo>
                    <a:pt x="20272" y="671631"/>
                  </a:lnTo>
                  <a:lnTo>
                    <a:pt x="5439" y="649638"/>
                  </a:lnTo>
                  <a:lnTo>
                    <a:pt x="0" y="622706"/>
                  </a:lnTo>
                  <a:lnTo>
                    <a:pt x="0" y="69189"/>
                  </a:lnTo>
                  <a:close/>
                </a:path>
              </a:pathLst>
            </a:custGeom>
            <a:ln w="12699">
              <a:solidFill>
                <a:srgbClr val="5B9BD4"/>
              </a:solidFill>
            </a:ln>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grpSp>
      <p:sp>
        <p:nvSpPr>
          <p:cNvPr id="25" name="object 25"/>
          <p:cNvSpPr txBox="1"/>
          <p:nvPr/>
        </p:nvSpPr>
        <p:spPr>
          <a:xfrm>
            <a:off x="3089529" y="4731837"/>
            <a:ext cx="2265680" cy="1245870"/>
          </a:xfrm>
          <a:prstGeom prst="rect">
            <a:avLst/>
          </a:prstGeom>
        </p:spPr>
        <p:txBody>
          <a:bodyPr vert="horz" wrap="square" lIns="0" tIns="37465" rIns="0" bIns="0" rtlCol="0">
            <a:spAutoFit/>
          </a:bodyPr>
          <a:lstStyle/>
          <a:p>
            <a:pPr marL="822960" marR="5080" lvl="0" indent="-810895" algn="l" defTabSz="457200" rtl="0" eaLnBrk="1" fontAlgn="auto" latinLnBrk="0" hangingPunct="1">
              <a:lnSpc>
                <a:spcPts val="1750"/>
              </a:lnSpc>
              <a:spcBef>
                <a:spcPts val="295"/>
              </a:spcBef>
              <a:spcAft>
                <a:spcPts val="0"/>
              </a:spcAft>
              <a:buClrTx/>
              <a:buSzTx/>
              <a:buFontTx/>
              <a:buNone/>
              <a:tabLst/>
              <a:defRPr/>
            </a:pPr>
            <a:r>
              <a:rPr kumimoji="0" sz="1600" b="1" i="0" u="none" strike="noStrike" kern="1200" cap="none" spc="-5" normalizeH="0" baseline="0" noProof="0" dirty="0">
                <a:ln>
                  <a:noFill/>
                </a:ln>
                <a:solidFill>
                  <a:prstClr val="black"/>
                </a:solidFill>
                <a:effectLst/>
                <a:uLnTx/>
                <a:uFillTx/>
                <a:latin typeface="Calibri"/>
                <a:ea typeface="+mn-ea"/>
                <a:cs typeface="Calibri"/>
              </a:rPr>
              <a:t>d.</a:t>
            </a:r>
            <a:r>
              <a:rPr kumimoji="0" sz="1600" b="1" i="0" u="none" strike="noStrike" kern="1200" cap="none" spc="-15" normalizeH="0" baseline="0" noProof="0" dirty="0">
                <a:ln>
                  <a:noFill/>
                </a:ln>
                <a:solidFill>
                  <a:prstClr val="black"/>
                </a:solidFill>
                <a:effectLst/>
                <a:uLnTx/>
                <a:uFillTx/>
                <a:latin typeface="Calibri"/>
                <a:ea typeface="+mn-ea"/>
                <a:cs typeface="Calibri"/>
              </a:rPr>
              <a:t> </a:t>
            </a:r>
            <a:r>
              <a:rPr kumimoji="0" sz="1600" b="0" i="0" u="none" strike="noStrike" kern="1200" cap="none" spc="-10" normalizeH="0" baseline="0" noProof="0" dirty="0">
                <a:ln>
                  <a:noFill/>
                </a:ln>
                <a:solidFill>
                  <a:prstClr val="black"/>
                </a:solidFill>
                <a:effectLst/>
                <a:uLnTx/>
                <a:uFillTx/>
                <a:latin typeface="Calibri"/>
                <a:ea typeface="+mn-ea"/>
                <a:cs typeface="Calibri"/>
              </a:rPr>
              <a:t>Determine</a:t>
            </a:r>
            <a:r>
              <a:rPr kumimoji="0" sz="1600" b="0" i="0" u="none" strike="noStrike" kern="1200" cap="none" spc="10" normalizeH="0" baseline="0" noProof="0" dirty="0">
                <a:ln>
                  <a:noFill/>
                </a:ln>
                <a:solidFill>
                  <a:prstClr val="black"/>
                </a:solidFill>
                <a:effectLst/>
                <a:uLnTx/>
                <a:uFillTx/>
                <a:latin typeface="Calibri"/>
                <a:ea typeface="+mn-ea"/>
                <a:cs typeface="Calibri"/>
              </a:rPr>
              <a:t> </a:t>
            </a:r>
            <a:r>
              <a:rPr kumimoji="0" sz="1600" b="0" i="0" u="none" strike="noStrike" kern="1200" cap="none" spc="-5" normalizeH="0" baseline="0" noProof="0" dirty="0">
                <a:ln>
                  <a:noFill/>
                </a:ln>
                <a:solidFill>
                  <a:prstClr val="black"/>
                </a:solidFill>
                <a:effectLst/>
                <a:uLnTx/>
                <a:uFillTx/>
                <a:latin typeface="Calibri"/>
                <a:ea typeface="+mn-ea"/>
                <a:cs typeface="Calibri"/>
              </a:rPr>
              <a:t>magnitude</a:t>
            </a:r>
            <a:r>
              <a:rPr kumimoji="0" sz="1600" b="0" i="0" u="none" strike="noStrike" kern="1200" cap="none" spc="-15" normalizeH="0" baseline="0" noProof="0" dirty="0">
                <a:ln>
                  <a:noFill/>
                </a:ln>
                <a:solidFill>
                  <a:prstClr val="black"/>
                </a:solidFill>
                <a:effectLst/>
                <a:uLnTx/>
                <a:uFillTx/>
                <a:latin typeface="Calibri"/>
                <a:ea typeface="+mn-ea"/>
                <a:cs typeface="Calibri"/>
              </a:rPr>
              <a:t> </a:t>
            </a:r>
            <a:r>
              <a:rPr kumimoji="0" sz="1600" b="0" i="0" u="none" strike="noStrike" kern="1200" cap="none" spc="-10" normalizeH="0" baseline="0" noProof="0" dirty="0">
                <a:ln>
                  <a:noFill/>
                </a:ln>
                <a:solidFill>
                  <a:prstClr val="black"/>
                </a:solidFill>
                <a:effectLst/>
                <a:uLnTx/>
                <a:uFillTx/>
                <a:latin typeface="Calibri"/>
                <a:ea typeface="+mn-ea"/>
                <a:cs typeface="Calibri"/>
              </a:rPr>
              <a:t>of </a:t>
            </a:r>
            <a:r>
              <a:rPr kumimoji="0" sz="1600" b="0" i="0" u="none" strike="noStrike" kern="1200" cap="none" spc="-350" normalizeH="0" baseline="0" noProof="0" dirty="0">
                <a:ln>
                  <a:noFill/>
                </a:ln>
                <a:solidFill>
                  <a:prstClr val="black"/>
                </a:solidFill>
                <a:effectLst/>
                <a:uLnTx/>
                <a:uFillTx/>
                <a:latin typeface="Calibri"/>
                <a:ea typeface="+mn-ea"/>
                <a:cs typeface="Calibri"/>
              </a:rPr>
              <a:t> </a:t>
            </a:r>
            <a:r>
              <a:rPr kumimoji="0" sz="1600" b="0" i="0" u="none" strike="noStrike" kern="1200" cap="none" spc="-5" normalizeH="0" baseline="0" noProof="0" dirty="0">
                <a:ln>
                  <a:noFill/>
                </a:ln>
                <a:solidFill>
                  <a:prstClr val="black"/>
                </a:solidFill>
                <a:effectLst/>
                <a:uLnTx/>
                <a:uFillTx/>
                <a:latin typeface="Calibri"/>
                <a:ea typeface="+mn-ea"/>
                <a:cs typeface="Calibri"/>
              </a:rPr>
              <a:t>impact.</a:t>
            </a:r>
            <a:endParaRPr kumimoji="0" sz="1600" b="0" i="0" u="none" strike="noStrike" kern="1200" cap="none" spc="0" normalizeH="0" baseline="0" noProof="0" dirty="0">
              <a:ln>
                <a:noFill/>
              </a:ln>
              <a:solidFill>
                <a:prstClr val="black"/>
              </a:solidFill>
              <a:effectLst/>
              <a:uLnTx/>
              <a:uFillTx/>
              <a:latin typeface="Calibri"/>
              <a:ea typeface="+mn-ea"/>
              <a:cs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sz="1600" b="0" i="0" u="none" strike="noStrike" kern="1200" cap="none" spc="0" normalizeH="0" baseline="0" noProof="0" dirty="0">
              <a:ln>
                <a:noFill/>
              </a:ln>
              <a:solidFill>
                <a:prstClr val="black"/>
              </a:solidFill>
              <a:effectLst/>
              <a:uLnTx/>
              <a:uFillTx/>
              <a:latin typeface="Calibri"/>
              <a:ea typeface="+mn-ea"/>
              <a:cs typeface="Calibri"/>
            </a:endParaRPr>
          </a:p>
          <a:p>
            <a:pPr marL="0" marR="0" lvl="0" indent="0" algn="l" defTabSz="457200" rtl="0" eaLnBrk="1" fontAlgn="auto" latinLnBrk="0" hangingPunct="1">
              <a:lnSpc>
                <a:spcPct val="100000"/>
              </a:lnSpc>
              <a:spcBef>
                <a:spcPts val="25"/>
              </a:spcBef>
              <a:spcAft>
                <a:spcPts val="0"/>
              </a:spcAft>
              <a:buClrTx/>
              <a:buSzTx/>
              <a:buFontTx/>
              <a:buNone/>
              <a:tabLst/>
              <a:defRPr/>
            </a:pPr>
            <a:endParaRPr kumimoji="0" sz="1650" b="0" i="0" u="none" strike="noStrike" kern="1200" cap="none" spc="0" normalizeH="0" baseline="0" noProof="0" dirty="0">
              <a:ln>
                <a:noFill/>
              </a:ln>
              <a:solidFill>
                <a:prstClr val="black"/>
              </a:solidFill>
              <a:effectLst/>
              <a:uLnTx/>
              <a:uFillTx/>
              <a:latin typeface="Calibri"/>
              <a:ea typeface="+mn-ea"/>
              <a:cs typeface="Calibri"/>
            </a:endParaRPr>
          </a:p>
          <a:p>
            <a:pPr marL="29464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5" normalizeH="0" baseline="0" noProof="0" dirty="0">
                <a:ln>
                  <a:noFill/>
                </a:ln>
                <a:solidFill>
                  <a:prstClr val="black"/>
                </a:solidFill>
                <a:effectLst/>
                <a:uLnTx/>
                <a:uFillTx/>
                <a:latin typeface="Calibri"/>
                <a:ea typeface="+mn-ea"/>
                <a:cs typeface="Calibri"/>
              </a:rPr>
              <a:t>e.</a:t>
            </a:r>
            <a:r>
              <a:rPr kumimoji="0" sz="1600" b="1" i="0" u="none" strike="noStrike" kern="1200" cap="none" spc="-15" normalizeH="0" baseline="0" noProof="0" dirty="0">
                <a:ln>
                  <a:noFill/>
                </a:ln>
                <a:solidFill>
                  <a:prstClr val="black"/>
                </a:solidFill>
                <a:effectLst/>
                <a:uLnTx/>
                <a:uFillTx/>
                <a:latin typeface="Calibri"/>
                <a:ea typeface="+mn-ea"/>
                <a:cs typeface="Calibri"/>
              </a:rPr>
              <a:t> </a:t>
            </a:r>
            <a:r>
              <a:rPr kumimoji="0" sz="1600" b="0" i="0" u="none" strike="noStrike" kern="1200" cap="none" spc="-10" normalizeH="0" baseline="0" noProof="0" dirty="0">
                <a:ln>
                  <a:noFill/>
                </a:ln>
                <a:solidFill>
                  <a:prstClr val="black"/>
                </a:solidFill>
                <a:effectLst/>
                <a:uLnTx/>
                <a:uFillTx/>
                <a:latin typeface="Calibri"/>
                <a:ea typeface="+mn-ea"/>
                <a:cs typeface="Calibri"/>
              </a:rPr>
              <a:t>Determine </a:t>
            </a:r>
            <a:r>
              <a:rPr kumimoji="0" sz="1600" b="0" i="0" u="none" strike="noStrike" kern="1200" cap="none" spc="-5" normalizeH="0" baseline="0" noProof="0" dirty="0">
                <a:ln>
                  <a:noFill/>
                </a:ln>
                <a:solidFill>
                  <a:prstClr val="black"/>
                </a:solidFill>
                <a:effectLst/>
                <a:uLnTx/>
                <a:uFillTx/>
                <a:latin typeface="Calibri"/>
                <a:ea typeface="+mn-ea"/>
                <a:cs typeface="Calibri"/>
              </a:rPr>
              <a:t>risk.</a:t>
            </a:r>
            <a:endParaRPr kumimoji="0"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6" name="object 26"/>
          <p:cNvSpPr/>
          <p:nvPr/>
        </p:nvSpPr>
        <p:spPr>
          <a:xfrm>
            <a:off x="4608600" y="1179166"/>
            <a:ext cx="1606550" cy="692150"/>
          </a:xfrm>
          <a:custGeom>
            <a:avLst/>
            <a:gdLst/>
            <a:ahLst/>
            <a:cxnLst/>
            <a:rect l="l" t="t" r="r" b="b"/>
            <a:pathLst>
              <a:path w="1606550" h="692150">
                <a:moveTo>
                  <a:pt x="1537081" y="0"/>
                </a:moveTo>
                <a:lnTo>
                  <a:pt x="69214" y="0"/>
                </a:lnTo>
                <a:lnTo>
                  <a:pt x="42273" y="5439"/>
                </a:lnTo>
                <a:lnTo>
                  <a:pt x="20272" y="20272"/>
                </a:lnTo>
                <a:lnTo>
                  <a:pt x="5439" y="42273"/>
                </a:lnTo>
                <a:lnTo>
                  <a:pt x="0" y="69214"/>
                </a:lnTo>
                <a:lnTo>
                  <a:pt x="0" y="622681"/>
                </a:lnTo>
                <a:lnTo>
                  <a:pt x="5439" y="649622"/>
                </a:lnTo>
                <a:lnTo>
                  <a:pt x="20272" y="671623"/>
                </a:lnTo>
                <a:lnTo>
                  <a:pt x="42273" y="686456"/>
                </a:lnTo>
                <a:lnTo>
                  <a:pt x="69214" y="691896"/>
                </a:lnTo>
                <a:lnTo>
                  <a:pt x="1537081" y="691896"/>
                </a:lnTo>
                <a:lnTo>
                  <a:pt x="1564022" y="686456"/>
                </a:lnTo>
                <a:lnTo>
                  <a:pt x="1586023" y="671623"/>
                </a:lnTo>
                <a:lnTo>
                  <a:pt x="1600856" y="649622"/>
                </a:lnTo>
                <a:lnTo>
                  <a:pt x="1606296" y="622681"/>
                </a:lnTo>
                <a:lnTo>
                  <a:pt x="1606296" y="69214"/>
                </a:lnTo>
                <a:lnTo>
                  <a:pt x="1600856" y="42273"/>
                </a:lnTo>
                <a:lnTo>
                  <a:pt x="1586023" y="20272"/>
                </a:lnTo>
                <a:lnTo>
                  <a:pt x="1564022" y="5439"/>
                </a:lnTo>
                <a:lnTo>
                  <a:pt x="1537081" y="0"/>
                </a:lnTo>
                <a:close/>
              </a:path>
            </a:pathLst>
          </a:custGeom>
          <a:solidFill>
            <a:srgbClr val="5B9BD4"/>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27" name="object 27"/>
          <p:cNvSpPr txBox="1"/>
          <p:nvPr/>
        </p:nvSpPr>
        <p:spPr>
          <a:xfrm>
            <a:off x="4840985" y="1203395"/>
            <a:ext cx="1028700" cy="629920"/>
          </a:xfrm>
          <a:prstGeom prst="rect">
            <a:avLst/>
          </a:prstGeom>
        </p:spPr>
        <p:txBody>
          <a:bodyPr vert="horz" wrap="square" lIns="0" tIns="31115" rIns="0" bIns="0" rtlCol="0">
            <a:spAutoFit/>
          </a:bodyPr>
          <a:lstStyle/>
          <a:p>
            <a:pPr marL="12065" marR="5080" lvl="0" indent="1905" algn="ctr" defTabSz="457200" rtl="0" eaLnBrk="1" fontAlgn="auto" latinLnBrk="0" hangingPunct="1">
              <a:lnSpc>
                <a:spcPct val="91500"/>
              </a:lnSpc>
              <a:spcBef>
                <a:spcPts val="245"/>
              </a:spcBef>
              <a:spcAft>
                <a:spcPts val="0"/>
              </a:spcAft>
              <a:buClrTx/>
              <a:buSzTx/>
              <a:buFontTx/>
              <a:buNone/>
              <a:tabLst/>
              <a:defRPr/>
            </a:pPr>
            <a:r>
              <a:rPr kumimoji="0" sz="1400" b="0" i="0" u="none" strike="noStrike" kern="1200" cap="none" spc="-5" normalizeH="0" baseline="0" noProof="0" dirty="0">
                <a:ln>
                  <a:noFill/>
                </a:ln>
                <a:solidFill>
                  <a:srgbClr val="FFFFFF"/>
                </a:solidFill>
                <a:effectLst/>
                <a:uLnTx/>
                <a:uFillTx/>
                <a:latin typeface="Calibri"/>
                <a:ea typeface="+mn-ea"/>
                <a:cs typeface="Calibri"/>
              </a:rPr>
              <a:t>Step </a:t>
            </a:r>
            <a:r>
              <a:rPr kumimoji="0" sz="1400" b="0" i="0" u="none" strike="noStrike" kern="1200" cap="none" spc="0" normalizeH="0" baseline="0" noProof="0" dirty="0">
                <a:ln>
                  <a:noFill/>
                </a:ln>
                <a:solidFill>
                  <a:srgbClr val="FFFFFF"/>
                </a:solidFill>
                <a:effectLst/>
                <a:uLnTx/>
                <a:uFillTx/>
                <a:latin typeface="Calibri"/>
                <a:ea typeface="+mn-ea"/>
                <a:cs typeface="Calibri"/>
              </a:rPr>
              <a:t>3: </a:t>
            </a:r>
            <a:r>
              <a:rPr kumimoji="0" sz="1400" b="0" i="0" u="none" strike="noStrike" kern="1200" cap="none" spc="5" normalizeH="0" baseline="0" noProof="0" dirty="0">
                <a:ln>
                  <a:noFill/>
                </a:ln>
                <a:solidFill>
                  <a:srgbClr val="FFFFFF"/>
                </a:solidFill>
                <a:effectLst/>
                <a:uLnTx/>
                <a:uFillTx/>
                <a:latin typeface="Calibri"/>
                <a:ea typeface="+mn-ea"/>
                <a:cs typeface="Calibri"/>
              </a:rPr>
              <a:t> </a:t>
            </a:r>
            <a:r>
              <a:rPr kumimoji="0" sz="1400" b="0" i="0" u="none" strike="noStrike" kern="1200" cap="none" spc="-5" normalizeH="0" baseline="0" noProof="0" dirty="0">
                <a:ln>
                  <a:noFill/>
                </a:ln>
                <a:solidFill>
                  <a:srgbClr val="FFFFFF"/>
                </a:solidFill>
                <a:effectLst/>
                <a:uLnTx/>
                <a:uFillTx/>
                <a:latin typeface="Calibri"/>
                <a:ea typeface="+mn-ea"/>
                <a:cs typeface="Calibri"/>
              </a:rPr>
              <a:t>Com</a:t>
            </a:r>
            <a:r>
              <a:rPr kumimoji="0" sz="1400" b="0" i="0" u="none" strike="noStrike" kern="1200" cap="none" spc="-10" normalizeH="0" baseline="0" noProof="0" dirty="0">
                <a:ln>
                  <a:noFill/>
                </a:ln>
                <a:solidFill>
                  <a:srgbClr val="FFFFFF"/>
                </a:solidFill>
                <a:effectLst/>
                <a:uLnTx/>
                <a:uFillTx/>
                <a:latin typeface="Calibri"/>
                <a:ea typeface="+mn-ea"/>
                <a:cs typeface="Calibri"/>
              </a:rPr>
              <a:t>mun</a:t>
            </a:r>
            <a:r>
              <a:rPr kumimoji="0" sz="1400" b="0" i="0" u="none" strike="noStrike" kern="1200" cap="none" spc="0" normalizeH="0" baseline="0" noProof="0" dirty="0">
                <a:ln>
                  <a:noFill/>
                </a:ln>
                <a:solidFill>
                  <a:srgbClr val="FFFFFF"/>
                </a:solidFill>
                <a:effectLst/>
                <a:uLnTx/>
                <a:uFillTx/>
                <a:latin typeface="Calibri"/>
                <a:ea typeface="+mn-ea"/>
                <a:cs typeface="Calibri"/>
              </a:rPr>
              <a:t>i</a:t>
            </a:r>
            <a:r>
              <a:rPr kumimoji="0" sz="1400" b="0" i="0" u="none" strike="noStrike" kern="1200" cap="none" spc="-20" normalizeH="0" baseline="0" noProof="0" dirty="0">
                <a:ln>
                  <a:noFill/>
                </a:ln>
                <a:solidFill>
                  <a:srgbClr val="FFFFFF"/>
                </a:solidFill>
                <a:effectLst/>
                <a:uLnTx/>
                <a:uFillTx/>
                <a:latin typeface="Calibri"/>
                <a:ea typeface="+mn-ea"/>
                <a:cs typeface="Calibri"/>
              </a:rPr>
              <a:t>c</a:t>
            </a:r>
            <a:r>
              <a:rPr kumimoji="0" sz="1400" b="0" i="0" u="none" strike="noStrike" kern="1200" cap="none" spc="-15" normalizeH="0" baseline="0" noProof="0" dirty="0">
                <a:ln>
                  <a:noFill/>
                </a:ln>
                <a:solidFill>
                  <a:srgbClr val="FFFFFF"/>
                </a:solidFill>
                <a:effectLst/>
                <a:uLnTx/>
                <a:uFillTx/>
                <a:latin typeface="Calibri"/>
                <a:ea typeface="+mn-ea"/>
                <a:cs typeface="Calibri"/>
              </a:rPr>
              <a:t>at</a:t>
            </a:r>
            <a:r>
              <a:rPr kumimoji="0" sz="1400" b="0" i="0" u="none" strike="noStrike" kern="1200" cap="none" spc="0" normalizeH="0" baseline="0" noProof="0" dirty="0">
                <a:ln>
                  <a:noFill/>
                </a:ln>
                <a:solidFill>
                  <a:srgbClr val="FFFFFF"/>
                </a:solidFill>
                <a:effectLst/>
                <a:uLnTx/>
                <a:uFillTx/>
                <a:latin typeface="Calibri"/>
                <a:ea typeface="+mn-ea"/>
                <a:cs typeface="Calibri"/>
              </a:rPr>
              <a:t>e  </a:t>
            </a:r>
            <a:r>
              <a:rPr kumimoji="0" sz="1400" b="0" i="0" u="none" strike="noStrike" kern="1200" cap="none" spc="-5" normalizeH="0" baseline="0" noProof="0" dirty="0">
                <a:ln>
                  <a:noFill/>
                </a:ln>
                <a:solidFill>
                  <a:srgbClr val="FFFFFF"/>
                </a:solidFill>
                <a:effectLst/>
                <a:uLnTx/>
                <a:uFillTx/>
                <a:latin typeface="Calibri"/>
                <a:ea typeface="+mn-ea"/>
                <a:cs typeface="Calibri"/>
              </a:rPr>
              <a:t>results.</a:t>
            </a:r>
            <a:endParaRPr kumimoji="0" sz="1400" b="0" i="0" u="none" strike="noStrike" kern="1200" cap="none" spc="0" normalizeH="0" baseline="0" noProof="0">
              <a:ln>
                <a:noFill/>
              </a:ln>
              <a:solidFill>
                <a:prstClr val="black"/>
              </a:solidFill>
              <a:effectLst/>
              <a:uLnTx/>
              <a:uFillTx/>
              <a:latin typeface="Calibri"/>
              <a:ea typeface="+mn-ea"/>
              <a:cs typeface="Calibri"/>
            </a:endParaRPr>
          </a:p>
        </p:txBody>
      </p:sp>
      <p:sp>
        <p:nvSpPr>
          <p:cNvPr id="28" name="object 28"/>
          <p:cNvSpPr/>
          <p:nvPr/>
        </p:nvSpPr>
        <p:spPr>
          <a:xfrm>
            <a:off x="6504431" y="1192982"/>
            <a:ext cx="1739264" cy="692150"/>
          </a:xfrm>
          <a:custGeom>
            <a:avLst/>
            <a:gdLst/>
            <a:ahLst/>
            <a:cxnLst/>
            <a:rect l="l" t="t" r="r" b="b"/>
            <a:pathLst>
              <a:path w="1739265" h="692150">
                <a:moveTo>
                  <a:pt x="1669669" y="0"/>
                </a:moveTo>
                <a:lnTo>
                  <a:pt x="69215" y="0"/>
                </a:lnTo>
                <a:lnTo>
                  <a:pt x="42273" y="5439"/>
                </a:lnTo>
                <a:lnTo>
                  <a:pt x="20272" y="20272"/>
                </a:lnTo>
                <a:lnTo>
                  <a:pt x="5439" y="42273"/>
                </a:lnTo>
                <a:lnTo>
                  <a:pt x="0" y="69214"/>
                </a:lnTo>
                <a:lnTo>
                  <a:pt x="0" y="622681"/>
                </a:lnTo>
                <a:lnTo>
                  <a:pt x="5439" y="649622"/>
                </a:lnTo>
                <a:lnTo>
                  <a:pt x="20272" y="671623"/>
                </a:lnTo>
                <a:lnTo>
                  <a:pt x="42273" y="686456"/>
                </a:lnTo>
                <a:lnTo>
                  <a:pt x="69215" y="691896"/>
                </a:lnTo>
                <a:lnTo>
                  <a:pt x="1669669" y="691896"/>
                </a:lnTo>
                <a:lnTo>
                  <a:pt x="1696610" y="686456"/>
                </a:lnTo>
                <a:lnTo>
                  <a:pt x="1718611" y="671623"/>
                </a:lnTo>
                <a:lnTo>
                  <a:pt x="1733444" y="649622"/>
                </a:lnTo>
                <a:lnTo>
                  <a:pt x="1738884" y="622681"/>
                </a:lnTo>
                <a:lnTo>
                  <a:pt x="1738884" y="69214"/>
                </a:lnTo>
                <a:lnTo>
                  <a:pt x="1733444" y="42273"/>
                </a:lnTo>
                <a:lnTo>
                  <a:pt x="1718611" y="20272"/>
                </a:lnTo>
                <a:lnTo>
                  <a:pt x="1696610" y="5439"/>
                </a:lnTo>
                <a:lnTo>
                  <a:pt x="1669669" y="0"/>
                </a:lnTo>
                <a:close/>
              </a:path>
            </a:pathLst>
          </a:custGeom>
          <a:solidFill>
            <a:srgbClr val="5B9BD4"/>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29" name="object 29"/>
          <p:cNvSpPr txBox="1"/>
          <p:nvPr/>
        </p:nvSpPr>
        <p:spPr>
          <a:xfrm>
            <a:off x="6768465" y="1301313"/>
            <a:ext cx="1213485" cy="434975"/>
          </a:xfrm>
          <a:prstGeom prst="rect">
            <a:avLst/>
          </a:prstGeom>
        </p:spPr>
        <p:txBody>
          <a:bodyPr vert="horz" wrap="square" lIns="0" tIns="34290" rIns="0" bIns="0" rtlCol="0">
            <a:spAutoFit/>
          </a:bodyPr>
          <a:lstStyle/>
          <a:p>
            <a:pPr marL="165100" marR="5080" lvl="0" indent="-152400" algn="l" defTabSz="457200" rtl="0" eaLnBrk="1" fontAlgn="auto" latinLnBrk="0" hangingPunct="1">
              <a:lnSpc>
                <a:spcPts val="1540"/>
              </a:lnSpc>
              <a:spcBef>
                <a:spcPts val="270"/>
              </a:spcBef>
              <a:spcAft>
                <a:spcPts val="0"/>
              </a:spcAft>
              <a:buClrTx/>
              <a:buSzTx/>
              <a:buFontTx/>
              <a:buNone/>
              <a:tabLst/>
              <a:defRPr/>
            </a:pPr>
            <a:r>
              <a:rPr kumimoji="0" sz="1400" b="0" i="0" u="none" strike="noStrike" kern="1200" cap="none" spc="-5" normalizeH="0" baseline="0" noProof="0" dirty="0">
                <a:ln>
                  <a:noFill/>
                </a:ln>
                <a:solidFill>
                  <a:srgbClr val="FFFFFF"/>
                </a:solidFill>
                <a:effectLst/>
                <a:uLnTx/>
                <a:uFillTx/>
                <a:latin typeface="Calibri"/>
                <a:ea typeface="+mn-ea"/>
                <a:cs typeface="Calibri"/>
              </a:rPr>
              <a:t>Step</a:t>
            </a:r>
            <a:r>
              <a:rPr kumimoji="0" sz="1400" b="0" i="0" u="none" strike="noStrike" kern="1200" cap="none" spc="-50" normalizeH="0" baseline="0" noProof="0" dirty="0">
                <a:ln>
                  <a:noFill/>
                </a:ln>
                <a:solidFill>
                  <a:srgbClr val="FFFFFF"/>
                </a:solidFill>
                <a:effectLst/>
                <a:uLnTx/>
                <a:uFillTx/>
                <a:latin typeface="Calibri"/>
                <a:ea typeface="+mn-ea"/>
                <a:cs typeface="Calibri"/>
              </a:rPr>
              <a:t> </a:t>
            </a:r>
            <a:r>
              <a:rPr kumimoji="0" sz="1400" b="0" i="0" u="none" strike="noStrike" kern="1200" cap="none" spc="0" normalizeH="0" baseline="0" noProof="0" dirty="0">
                <a:ln>
                  <a:noFill/>
                </a:ln>
                <a:solidFill>
                  <a:srgbClr val="FFFFFF"/>
                </a:solidFill>
                <a:effectLst/>
                <a:uLnTx/>
                <a:uFillTx/>
                <a:latin typeface="Calibri"/>
                <a:ea typeface="+mn-ea"/>
                <a:cs typeface="Calibri"/>
              </a:rPr>
              <a:t>4:</a:t>
            </a:r>
            <a:r>
              <a:rPr kumimoji="0" sz="1400" b="0" i="0" u="none" strike="noStrike" kern="1200" cap="none" spc="-40" normalizeH="0" baseline="0" noProof="0" dirty="0">
                <a:ln>
                  <a:noFill/>
                </a:ln>
                <a:solidFill>
                  <a:srgbClr val="FFFFFF"/>
                </a:solidFill>
                <a:effectLst/>
                <a:uLnTx/>
                <a:uFillTx/>
                <a:latin typeface="Calibri"/>
                <a:ea typeface="+mn-ea"/>
                <a:cs typeface="Calibri"/>
              </a:rPr>
              <a:t> </a:t>
            </a:r>
            <a:r>
              <a:rPr kumimoji="0" sz="1400" b="0" i="0" u="none" strike="noStrike" kern="1200" cap="none" spc="-5" normalizeH="0" baseline="0" noProof="0" dirty="0">
                <a:ln>
                  <a:noFill/>
                </a:ln>
                <a:solidFill>
                  <a:srgbClr val="FFFFFF"/>
                </a:solidFill>
                <a:effectLst/>
                <a:uLnTx/>
                <a:uFillTx/>
                <a:latin typeface="Calibri"/>
                <a:ea typeface="+mn-ea"/>
                <a:cs typeface="Calibri"/>
              </a:rPr>
              <a:t>Maintain </a:t>
            </a:r>
            <a:r>
              <a:rPr kumimoji="0" sz="1400" b="0" i="0" u="none" strike="noStrike" kern="1200" cap="none" spc="-300" normalizeH="0" baseline="0" noProof="0" dirty="0">
                <a:ln>
                  <a:noFill/>
                </a:ln>
                <a:solidFill>
                  <a:srgbClr val="FFFFFF"/>
                </a:solidFill>
                <a:effectLst/>
                <a:uLnTx/>
                <a:uFillTx/>
                <a:latin typeface="Calibri"/>
                <a:ea typeface="+mn-ea"/>
                <a:cs typeface="Calibri"/>
              </a:rPr>
              <a:t> </a:t>
            </a:r>
            <a:r>
              <a:rPr kumimoji="0" sz="1400" b="0" i="0" u="none" strike="noStrike" kern="1200" cap="none" spc="-5" normalizeH="0" baseline="0" noProof="0" dirty="0">
                <a:ln>
                  <a:noFill/>
                </a:ln>
                <a:solidFill>
                  <a:srgbClr val="FFFFFF"/>
                </a:solidFill>
                <a:effectLst/>
                <a:uLnTx/>
                <a:uFillTx/>
                <a:latin typeface="Calibri"/>
                <a:ea typeface="+mn-ea"/>
                <a:cs typeface="Calibri"/>
              </a:rPr>
              <a:t>assessment.</a:t>
            </a:r>
            <a:endParaRPr kumimoji="0" sz="1400" b="0" i="0" u="none" strike="noStrike" kern="1200" cap="none" spc="0" normalizeH="0" baseline="0" noProof="0">
              <a:ln>
                <a:noFill/>
              </a:ln>
              <a:solidFill>
                <a:prstClr val="black"/>
              </a:solidFill>
              <a:effectLst/>
              <a:uLnTx/>
              <a:uFillTx/>
              <a:latin typeface="Calibri"/>
              <a:ea typeface="+mn-ea"/>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12432" y="2979821"/>
            <a:ext cx="6444916" cy="3077766"/>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One of the most widely used risk management frameworks was developed by the National Institute of Standards and Technology, a US federal government agency.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NIST process is mandatory for many government computer systems, but private organizations have also widely adopted it because they find it a helpful approach.</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framework is found in NIST Special Publication 800-37.</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 overview of the six steps in the process will be more than enough to prepare for the  exam.</a:t>
            </a:r>
          </a:p>
          <a:p>
            <a:pPr marL="342900" marR="0" lvl="0" indent="-34290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US" sz="1800" b="0" i="0" u="none" strike="noStrike" kern="1200" cap="none" spc="0" normalizeH="0" baseline="0" noProof="0" dirty="0">
              <a:ln>
                <a:noFill/>
              </a:ln>
              <a:solidFill>
                <a:srgbClr val="002060"/>
              </a:solidFill>
              <a:effectLst/>
              <a:uLnTx/>
              <a:uFillTx/>
              <a:latin typeface="Calibri Light"/>
              <a:ea typeface="+mn-ea"/>
              <a:cs typeface="+mn-cs"/>
            </a:endParaRPr>
          </a:p>
        </p:txBody>
      </p:sp>
      <p:pic>
        <p:nvPicPr>
          <p:cNvPr id="4" name="Picture 3">
            <a:extLst>
              <a:ext uri="{FF2B5EF4-FFF2-40B4-BE49-F238E27FC236}">
                <a16:creationId xmlns:a16="http://schemas.microsoft.com/office/drawing/2014/main" id="{7273960F-CE52-4BA9-99E0-ABFA88ED6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17" y="0"/>
            <a:ext cx="12144375" cy="2828925"/>
          </a:xfrm>
          <a:prstGeom prst="rect">
            <a:avLst/>
          </a:prstGeom>
        </p:spPr>
      </p:pic>
    </p:spTree>
    <p:extLst>
      <p:ext uri="{BB962C8B-B14F-4D97-AF65-F5344CB8AC3E}">
        <p14:creationId xmlns:p14="http://schemas.microsoft.com/office/powerpoint/2010/main" val="8025007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7E9BA2-2D53-48F1-9581-B5E9D0C61A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4677" y="-2515"/>
            <a:ext cx="8275515" cy="6355936"/>
          </a:xfrm>
          <a:prstGeom prst="rect">
            <a:avLst/>
          </a:prstGeom>
        </p:spPr>
      </p:pic>
    </p:spTree>
    <p:extLst>
      <p:ext uri="{BB962C8B-B14F-4D97-AF65-F5344CB8AC3E}">
        <p14:creationId xmlns:p14="http://schemas.microsoft.com/office/powerpoint/2010/main" val="4023525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B423CD-C33E-C49E-5495-8A2DD5F3CF8E}"/>
              </a:ext>
            </a:extLst>
          </p:cNvPr>
          <p:cNvSpPr txBox="1"/>
          <p:nvPr/>
        </p:nvSpPr>
        <p:spPr>
          <a:xfrm>
            <a:off x="1267324" y="946862"/>
            <a:ext cx="7940844" cy="3954929"/>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GB"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 cases where good risk management practices are not currently in place, the risk practitioner may wish to formally adopt or</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informally use one or more standard or framework to guide his/her risk management program.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Risk management includes several components, </a:t>
            </a:r>
            <a:r>
              <a:rPr kumimoji="0" lang="en-US" sz="16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Berlin Sans FB" panose="020E0602020502020306" pitchFamily="34" charset="0"/>
                <a:ea typeface="+mn-ea"/>
                <a:cs typeface="+mn-cs"/>
              </a:rPr>
              <a:t>first</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identify areas of risk and analyze them,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then</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use the results of these analyses to choose</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appropriate ways of </a:t>
            </a: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responding</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to them, after which the organization </a:t>
            </a: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monitors</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the effectiveness of its implemented choices and reports</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progress to senior management.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Figure 1.20 illustrates one such program based on ISO/IEC 27005:2011.</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Note: The following is provided as an example of a risk-management process. </a:t>
            </a:r>
            <a:endPar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practitioner may find that they will need to adopt one or</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more well-established standards or frameworks to ensure that the risk management program in their organization is complete and authoritative.</a:t>
            </a:r>
          </a:p>
        </p:txBody>
      </p:sp>
      <p:sp>
        <p:nvSpPr>
          <p:cNvPr id="6" name="TextBox 5">
            <a:extLst>
              <a:ext uri="{FF2B5EF4-FFF2-40B4-BE49-F238E27FC236}">
                <a16:creationId xmlns:a16="http://schemas.microsoft.com/office/drawing/2014/main" id="{16DBEAFB-AF8B-B0BE-57ED-7D9DD544EB33}"/>
              </a:ext>
            </a:extLst>
          </p:cNvPr>
          <p:cNvSpPr txBox="1"/>
          <p:nvPr/>
        </p:nvSpPr>
        <p:spPr>
          <a:xfrm>
            <a:off x="521368" y="422702"/>
            <a:ext cx="975360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Example of a Risk Management Program Based on ISO/IEC 27005</a:t>
            </a:r>
          </a:p>
        </p:txBody>
      </p:sp>
    </p:spTree>
    <p:extLst>
      <p:ext uri="{BB962C8B-B14F-4D97-AF65-F5344CB8AC3E}">
        <p14:creationId xmlns:p14="http://schemas.microsoft.com/office/powerpoint/2010/main" val="41202133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0BA1C3-1C18-4A0B-A168-C4DFA26898E2}"/>
              </a:ext>
            </a:extLst>
          </p:cNvPr>
          <p:cNvPicPr>
            <a:picLocks noChangeAspect="1"/>
          </p:cNvPicPr>
          <p:nvPr/>
        </p:nvPicPr>
        <p:blipFill rotWithShape="1">
          <a:blip r:embed="rId2"/>
          <a:srcRect b="6730"/>
          <a:stretch/>
        </p:blipFill>
        <p:spPr>
          <a:xfrm>
            <a:off x="1043028" y="241685"/>
            <a:ext cx="9698951" cy="5860351"/>
          </a:xfrm>
          <a:prstGeom prst="rect">
            <a:avLst/>
          </a:prstGeom>
        </p:spPr>
      </p:pic>
    </p:spTree>
    <p:extLst>
      <p:ext uri="{BB962C8B-B14F-4D97-AF65-F5344CB8AC3E}">
        <p14:creationId xmlns:p14="http://schemas.microsoft.com/office/powerpoint/2010/main" val="5730035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DC72942-6F6C-4CDC-A671-04329FACFB5E}"/>
              </a:ext>
            </a:extLst>
          </p:cNvPr>
          <p:cNvPicPr>
            <a:picLocks noChangeAspect="1"/>
          </p:cNvPicPr>
          <p:nvPr/>
        </p:nvPicPr>
        <p:blipFill>
          <a:blip r:embed="rId2"/>
          <a:stretch>
            <a:fillRect/>
          </a:stretch>
        </p:blipFill>
        <p:spPr>
          <a:xfrm>
            <a:off x="1210491" y="0"/>
            <a:ext cx="9451703" cy="6117712"/>
          </a:xfrm>
          <a:prstGeom prst="rect">
            <a:avLst/>
          </a:prstGeom>
        </p:spPr>
      </p:pic>
    </p:spTree>
    <p:extLst>
      <p:ext uri="{BB962C8B-B14F-4D97-AF65-F5344CB8AC3E}">
        <p14:creationId xmlns:p14="http://schemas.microsoft.com/office/powerpoint/2010/main" val="786102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5C8841-C087-427D-AE1D-7E2141398A12}"/>
              </a:ext>
            </a:extLst>
          </p:cNvPr>
          <p:cNvPicPr>
            <a:picLocks noChangeAspect="1"/>
          </p:cNvPicPr>
          <p:nvPr/>
        </p:nvPicPr>
        <p:blipFill>
          <a:blip r:embed="rId2"/>
          <a:stretch>
            <a:fillRect/>
          </a:stretch>
        </p:blipFill>
        <p:spPr>
          <a:xfrm>
            <a:off x="707027" y="447947"/>
            <a:ext cx="11322333" cy="5325836"/>
          </a:xfrm>
          <a:prstGeom prst="rect">
            <a:avLst/>
          </a:prstGeom>
        </p:spPr>
      </p:pic>
    </p:spTree>
    <p:extLst>
      <p:ext uri="{BB962C8B-B14F-4D97-AF65-F5344CB8AC3E}">
        <p14:creationId xmlns:p14="http://schemas.microsoft.com/office/powerpoint/2010/main" val="26049616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E74922-3BE5-1F89-EB2B-66DB67BD0503}"/>
              </a:ext>
            </a:extLst>
          </p:cNvPr>
          <p:cNvPicPr>
            <a:picLocks noChangeAspect="1"/>
          </p:cNvPicPr>
          <p:nvPr/>
        </p:nvPicPr>
        <p:blipFill>
          <a:blip r:embed="rId2"/>
          <a:stretch>
            <a:fillRect/>
          </a:stretch>
        </p:blipFill>
        <p:spPr>
          <a:xfrm>
            <a:off x="1048512" y="1479550"/>
            <a:ext cx="10094976" cy="3898900"/>
          </a:xfrm>
          <a:prstGeom prst="rect">
            <a:avLst/>
          </a:prstGeom>
        </p:spPr>
      </p:pic>
    </p:spTree>
    <p:extLst>
      <p:ext uri="{BB962C8B-B14F-4D97-AF65-F5344CB8AC3E}">
        <p14:creationId xmlns:p14="http://schemas.microsoft.com/office/powerpoint/2010/main" val="139532651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2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2172</TotalTime>
  <Words>4622</Words>
  <Application>Microsoft Office PowerPoint</Application>
  <PresentationFormat>Widescreen</PresentationFormat>
  <Paragraphs>354</Paragraphs>
  <Slides>48</Slides>
  <Notes>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48</vt:i4>
      </vt:variant>
    </vt:vector>
  </HeadingPairs>
  <TitlesOfParts>
    <vt:vector size="59" baseType="lpstr">
      <vt:lpstr>Arial MT</vt:lpstr>
      <vt:lpstr>Bell MT</vt:lpstr>
      <vt:lpstr>Berlin Sans FB</vt:lpstr>
      <vt:lpstr>Berlin Sans FB Demi</vt:lpstr>
      <vt:lpstr>Calibri</vt:lpstr>
      <vt:lpstr>Calibri Light</vt:lpstr>
      <vt:lpstr>Century Gothic</vt:lpstr>
      <vt:lpstr>Courier New</vt:lpstr>
      <vt:lpstr>Wingdings</vt:lpstr>
      <vt:lpstr>Retrospect</vt:lpstr>
      <vt:lpstr>2_Retrospect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OCTAVE and OCTAVE-S</vt:lpstr>
      <vt:lpstr>PowerPoint Presentation</vt:lpstr>
      <vt:lpstr>PowerPoint Presentation</vt:lpstr>
      <vt:lpstr>PowerPoint Presentation</vt:lpstr>
      <vt:lpstr>PowerPoint Presentation</vt:lpstr>
      <vt:lpstr>PowerPoint Presentation</vt:lpstr>
      <vt:lpstr>NIST RMF</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YOUSSRY KHATTAB</dc:creator>
  <cp:lastModifiedBy>YOUSSRY KHATTAB</cp:lastModifiedBy>
  <cp:revision>15</cp:revision>
  <dcterms:created xsi:type="dcterms:W3CDTF">2022-11-05T18:11:55Z</dcterms:created>
  <dcterms:modified xsi:type="dcterms:W3CDTF">2023-06-18T23:24:18Z</dcterms:modified>
</cp:coreProperties>
</file>
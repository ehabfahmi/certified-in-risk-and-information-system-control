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57"/>
  </p:notesMasterIdLst>
  <p:sldIdLst>
    <p:sldId id="2063" r:id="rId3"/>
    <p:sldId id="1519" r:id="rId4"/>
    <p:sldId id="1955" r:id="rId5"/>
    <p:sldId id="1144" r:id="rId6"/>
    <p:sldId id="1143" r:id="rId7"/>
    <p:sldId id="1142" r:id="rId8"/>
    <p:sldId id="1956" r:id="rId9"/>
    <p:sldId id="1520" r:id="rId10"/>
    <p:sldId id="1957" r:id="rId11"/>
    <p:sldId id="1521" r:id="rId12"/>
    <p:sldId id="1524" r:id="rId13"/>
    <p:sldId id="1522" r:id="rId14"/>
    <p:sldId id="1958" r:id="rId15"/>
    <p:sldId id="1959" r:id="rId16"/>
    <p:sldId id="1960" r:id="rId17"/>
    <p:sldId id="2064" r:id="rId18"/>
    <p:sldId id="2069" r:id="rId19"/>
    <p:sldId id="2065" r:id="rId20"/>
    <p:sldId id="2066" r:id="rId21"/>
    <p:sldId id="2067" r:id="rId22"/>
    <p:sldId id="2068" r:id="rId23"/>
    <p:sldId id="1160" r:id="rId24"/>
    <p:sldId id="1162" r:id="rId25"/>
    <p:sldId id="417" r:id="rId26"/>
    <p:sldId id="264" r:id="rId27"/>
    <p:sldId id="265" r:id="rId28"/>
    <p:sldId id="260" r:id="rId29"/>
    <p:sldId id="1961" r:id="rId30"/>
    <p:sldId id="263" r:id="rId31"/>
    <p:sldId id="262" r:id="rId32"/>
    <p:sldId id="2062" r:id="rId33"/>
    <p:sldId id="268" r:id="rId34"/>
    <p:sldId id="516" r:id="rId35"/>
    <p:sldId id="517" r:id="rId36"/>
    <p:sldId id="524" r:id="rId37"/>
    <p:sldId id="269" r:id="rId38"/>
    <p:sldId id="271" r:id="rId39"/>
    <p:sldId id="272" r:id="rId40"/>
    <p:sldId id="273" r:id="rId41"/>
    <p:sldId id="274" r:id="rId42"/>
    <p:sldId id="275" r:id="rId43"/>
    <p:sldId id="277" r:id="rId44"/>
    <p:sldId id="278" r:id="rId45"/>
    <p:sldId id="279" r:id="rId46"/>
    <p:sldId id="280" r:id="rId47"/>
    <p:sldId id="501" r:id="rId48"/>
    <p:sldId id="281" r:id="rId49"/>
    <p:sldId id="502" r:id="rId50"/>
    <p:sldId id="282" r:id="rId51"/>
    <p:sldId id="509" r:id="rId52"/>
    <p:sldId id="510" r:id="rId53"/>
    <p:sldId id="511" r:id="rId54"/>
    <p:sldId id="512" r:id="rId55"/>
    <p:sldId id="2818"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2" d="100"/>
          <a:sy n="122" d="100"/>
        </p:scale>
        <p:origin x="114"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notesMaster" Target="notesMasters/notesMaster1.xml"/><Relationship Id="rId61"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0681F0-938B-4105-9CBA-034B619DC9C7}" type="datetimeFigureOut">
              <a:rPr lang="en-US" smtClean="0"/>
              <a:t>6/17/2023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2C33AD-3CE8-412C-8144-E961CF6EC350}" type="slidenum">
              <a:rPr lang="en-US" smtClean="0"/>
              <a:t>‹#›</a:t>
            </a:fld>
            <a:endParaRPr lang="en-US"/>
          </a:p>
        </p:txBody>
      </p:sp>
    </p:spTree>
    <p:extLst>
      <p:ext uri="{BB962C8B-B14F-4D97-AF65-F5344CB8AC3E}">
        <p14:creationId xmlns:p14="http://schemas.microsoft.com/office/powerpoint/2010/main" val="3629353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2C33AD-3CE8-412C-8144-E961CF6EC350}" type="slidenum">
              <a:rPr lang="en-US" smtClean="0"/>
              <a:t>2</a:t>
            </a:fld>
            <a:endParaRPr lang="en-US"/>
          </a:p>
        </p:txBody>
      </p:sp>
    </p:spTree>
    <p:extLst>
      <p:ext uri="{BB962C8B-B14F-4D97-AF65-F5344CB8AC3E}">
        <p14:creationId xmlns:p14="http://schemas.microsoft.com/office/powerpoint/2010/main" val="40247966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5B4D97-549F-47C2-922C-BE8260FC4AC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37137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F2C33AD-3CE8-412C-8144-E961CF6EC350}" type="slidenum">
              <a:rPr lang="en-US" smtClean="0"/>
              <a:t>25</a:t>
            </a:fld>
            <a:endParaRPr lang="en-US"/>
          </a:p>
        </p:txBody>
      </p:sp>
    </p:spTree>
    <p:extLst>
      <p:ext uri="{BB962C8B-B14F-4D97-AF65-F5344CB8AC3E}">
        <p14:creationId xmlns:p14="http://schemas.microsoft.com/office/powerpoint/2010/main" val="15617692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6B0ACBF-D8B5-46C5-B1C6-C8348C14E5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2703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F47CA-E2CC-0841-E703-E47B5A84F1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0B680B3-CF58-E291-AB4E-F1A1DB6977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29A8BF8-7AC6-AD8C-E267-5CC74BCED446}"/>
              </a:ext>
            </a:extLst>
          </p:cNvPr>
          <p:cNvSpPr>
            <a:spLocks noGrp="1"/>
          </p:cNvSpPr>
          <p:nvPr>
            <p:ph type="dt" sz="half" idx="10"/>
          </p:nvPr>
        </p:nvSpPr>
        <p:spPr/>
        <p:txBody>
          <a:bodyPr/>
          <a:lstStyle/>
          <a:p>
            <a:fld id="{B7ABB79C-0084-4896-9D30-3D5CC11488E2}" type="datetimeFigureOut">
              <a:rPr lang="en-US" smtClean="0"/>
              <a:t>6/17/2023</a:t>
            </a:fld>
            <a:endParaRPr lang="en-US"/>
          </a:p>
        </p:txBody>
      </p:sp>
      <p:sp>
        <p:nvSpPr>
          <p:cNvPr id="5" name="Footer Placeholder 4">
            <a:extLst>
              <a:ext uri="{FF2B5EF4-FFF2-40B4-BE49-F238E27FC236}">
                <a16:creationId xmlns:a16="http://schemas.microsoft.com/office/drawing/2014/main" id="{11100D23-3B09-318A-208B-B7179BA71E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4B747-B4FA-B085-1E27-D8EB1ECEB8B5}"/>
              </a:ext>
            </a:extLst>
          </p:cNvPr>
          <p:cNvSpPr>
            <a:spLocks noGrp="1"/>
          </p:cNvSpPr>
          <p:nvPr>
            <p:ph type="sldNum" sz="quarter" idx="12"/>
          </p:nvPr>
        </p:nvSpPr>
        <p:spPr/>
        <p:txBody>
          <a:bodyPr/>
          <a:lstStyle/>
          <a:p>
            <a:fld id="{23C0F08A-B977-40C7-8954-EEE5533F607B}" type="slidenum">
              <a:rPr lang="en-US" smtClean="0"/>
              <a:t>‹#›</a:t>
            </a:fld>
            <a:endParaRPr lang="en-US"/>
          </a:p>
        </p:txBody>
      </p:sp>
    </p:spTree>
    <p:extLst>
      <p:ext uri="{BB962C8B-B14F-4D97-AF65-F5344CB8AC3E}">
        <p14:creationId xmlns:p14="http://schemas.microsoft.com/office/powerpoint/2010/main" val="1183635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81923-DF4C-D1B3-47AD-B1CE2C53AB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161D51-17FA-31C0-083C-367E221C05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C95519-1214-0996-E89A-A86BB92FEE30}"/>
              </a:ext>
            </a:extLst>
          </p:cNvPr>
          <p:cNvSpPr>
            <a:spLocks noGrp="1"/>
          </p:cNvSpPr>
          <p:nvPr>
            <p:ph type="dt" sz="half" idx="10"/>
          </p:nvPr>
        </p:nvSpPr>
        <p:spPr/>
        <p:txBody>
          <a:bodyPr/>
          <a:lstStyle/>
          <a:p>
            <a:fld id="{B7ABB79C-0084-4896-9D30-3D5CC11488E2}" type="datetimeFigureOut">
              <a:rPr lang="en-US" smtClean="0"/>
              <a:t>6/17/2023</a:t>
            </a:fld>
            <a:endParaRPr lang="en-US"/>
          </a:p>
        </p:txBody>
      </p:sp>
      <p:sp>
        <p:nvSpPr>
          <p:cNvPr id="5" name="Footer Placeholder 4">
            <a:extLst>
              <a:ext uri="{FF2B5EF4-FFF2-40B4-BE49-F238E27FC236}">
                <a16:creationId xmlns:a16="http://schemas.microsoft.com/office/drawing/2014/main" id="{16D21F8D-A5CF-1C42-FB29-D9E448F6E0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9610B6-1D17-18DF-9917-E258A2D97493}"/>
              </a:ext>
            </a:extLst>
          </p:cNvPr>
          <p:cNvSpPr>
            <a:spLocks noGrp="1"/>
          </p:cNvSpPr>
          <p:nvPr>
            <p:ph type="sldNum" sz="quarter" idx="12"/>
          </p:nvPr>
        </p:nvSpPr>
        <p:spPr/>
        <p:txBody>
          <a:bodyPr/>
          <a:lstStyle/>
          <a:p>
            <a:fld id="{23C0F08A-B977-40C7-8954-EEE5533F607B}" type="slidenum">
              <a:rPr lang="en-US" smtClean="0"/>
              <a:t>‹#›</a:t>
            </a:fld>
            <a:endParaRPr lang="en-US"/>
          </a:p>
        </p:txBody>
      </p:sp>
    </p:spTree>
    <p:extLst>
      <p:ext uri="{BB962C8B-B14F-4D97-AF65-F5344CB8AC3E}">
        <p14:creationId xmlns:p14="http://schemas.microsoft.com/office/powerpoint/2010/main" val="2391120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C4F0B-8E3D-5DD2-3938-6A32B9DE4F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87F8645-4C8A-7AF9-04B6-7E71128B47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58E27E-1702-4A1B-8108-4B12E847B3B0}"/>
              </a:ext>
            </a:extLst>
          </p:cNvPr>
          <p:cNvSpPr>
            <a:spLocks noGrp="1"/>
          </p:cNvSpPr>
          <p:nvPr>
            <p:ph type="dt" sz="half" idx="10"/>
          </p:nvPr>
        </p:nvSpPr>
        <p:spPr/>
        <p:txBody>
          <a:bodyPr/>
          <a:lstStyle/>
          <a:p>
            <a:fld id="{B7ABB79C-0084-4896-9D30-3D5CC11488E2}" type="datetimeFigureOut">
              <a:rPr lang="en-US" smtClean="0"/>
              <a:t>6/17/2023</a:t>
            </a:fld>
            <a:endParaRPr lang="en-US"/>
          </a:p>
        </p:txBody>
      </p:sp>
      <p:sp>
        <p:nvSpPr>
          <p:cNvPr id="5" name="Footer Placeholder 4">
            <a:extLst>
              <a:ext uri="{FF2B5EF4-FFF2-40B4-BE49-F238E27FC236}">
                <a16:creationId xmlns:a16="http://schemas.microsoft.com/office/drawing/2014/main" id="{97F92379-436D-6EA7-E586-E25F2FF8A1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1F79CC-C184-41E6-27E9-12268FBD1FFF}"/>
              </a:ext>
            </a:extLst>
          </p:cNvPr>
          <p:cNvSpPr>
            <a:spLocks noGrp="1"/>
          </p:cNvSpPr>
          <p:nvPr>
            <p:ph type="sldNum" sz="quarter" idx="12"/>
          </p:nvPr>
        </p:nvSpPr>
        <p:spPr/>
        <p:txBody>
          <a:bodyPr/>
          <a:lstStyle/>
          <a:p>
            <a:fld id="{23C0F08A-B977-40C7-8954-EEE5533F607B}" type="slidenum">
              <a:rPr lang="en-US" smtClean="0"/>
              <a:t>‹#›</a:t>
            </a:fld>
            <a:endParaRPr lang="en-US"/>
          </a:p>
        </p:txBody>
      </p:sp>
    </p:spTree>
    <p:extLst>
      <p:ext uri="{BB962C8B-B14F-4D97-AF65-F5344CB8AC3E}">
        <p14:creationId xmlns:p14="http://schemas.microsoft.com/office/powerpoint/2010/main" val="2691678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E59BE-6690-34DE-A25D-977364F78B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6E26E9D-CB14-D65E-627A-BE91FFC4059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A9DABC-6DDE-E5F4-A01D-CB98A67862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509704-BC21-27DE-DA90-857CEDED2D70}"/>
              </a:ext>
            </a:extLst>
          </p:cNvPr>
          <p:cNvSpPr>
            <a:spLocks noGrp="1"/>
          </p:cNvSpPr>
          <p:nvPr>
            <p:ph type="dt" sz="half" idx="10"/>
          </p:nvPr>
        </p:nvSpPr>
        <p:spPr/>
        <p:txBody>
          <a:bodyPr/>
          <a:lstStyle/>
          <a:p>
            <a:fld id="{B7ABB79C-0084-4896-9D30-3D5CC11488E2}" type="datetimeFigureOut">
              <a:rPr lang="en-US" smtClean="0"/>
              <a:t>6/17/2023</a:t>
            </a:fld>
            <a:endParaRPr lang="en-US"/>
          </a:p>
        </p:txBody>
      </p:sp>
      <p:sp>
        <p:nvSpPr>
          <p:cNvPr id="6" name="Footer Placeholder 5">
            <a:extLst>
              <a:ext uri="{FF2B5EF4-FFF2-40B4-BE49-F238E27FC236}">
                <a16:creationId xmlns:a16="http://schemas.microsoft.com/office/drawing/2014/main" id="{C9621CB9-B130-1FF4-7BB2-D202070EC7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03024D-3F90-187A-A5A4-A72F003B5544}"/>
              </a:ext>
            </a:extLst>
          </p:cNvPr>
          <p:cNvSpPr>
            <a:spLocks noGrp="1"/>
          </p:cNvSpPr>
          <p:nvPr>
            <p:ph type="sldNum" sz="quarter" idx="12"/>
          </p:nvPr>
        </p:nvSpPr>
        <p:spPr/>
        <p:txBody>
          <a:bodyPr/>
          <a:lstStyle/>
          <a:p>
            <a:fld id="{23C0F08A-B977-40C7-8954-EEE5533F607B}" type="slidenum">
              <a:rPr lang="en-US" smtClean="0"/>
              <a:t>‹#›</a:t>
            </a:fld>
            <a:endParaRPr lang="en-US"/>
          </a:p>
        </p:txBody>
      </p:sp>
    </p:spTree>
    <p:extLst>
      <p:ext uri="{BB962C8B-B14F-4D97-AF65-F5344CB8AC3E}">
        <p14:creationId xmlns:p14="http://schemas.microsoft.com/office/powerpoint/2010/main" val="164102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0F32A-D25B-CFF4-1E42-019B3A5A367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A33B369-30BC-1053-5551-5C5EDAD780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8A5F28-C121-176A-5155-B4C4213E4FE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780C32E-24D6-BD93-7F95-68333A1FC2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9D3BCAF-7E5A-9E5A-203C-A7118DA38DB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CD2D3EB-D09D-C358-5624-1F606D41D5FA}"/>
              </a:ext>
            </a:extLst>
          </p:cNvPr>
          <p:cNvSpPr>
            <a:spLocks noGrp="1"/>
          </p:cNvSpPr>
          <p:nvPr>
            <p:ph type="dt" sz="half" idx="10"/>
          </p:nvPr>
        </p:nvSpPr>
        <p:spPr/>
        <p:txBody>
          <a:bodyPr/>
          <a:lstStyle/>
          <a:p>
            <a:fld id="{B7ABB79C-0084-4896-9D30-3D5CC11488E2}" type="datetimeFigureOut">
              <a:rPr lang="en-US" smtClean="0"/>
              <a:t>6/17/2023</a:t>
            </a:fld>
            <a:endParaRPr lang="en-US"/>
          </a:p>
        </p:txBody>
      </p:sp>
      <p:sp>
        <p:nvSpPr>
          <p:cNvPr id="8" name="Footer Placeholder 7">
            <a:extLst>
              <a:ext uri="{FF2B5EF4-FFF2-40B4-BE49-F238E27FC236}">
                <a16:creationId xmlns:a16="http://schemas.microsoft.com/office/drawing/2014/main" id="{FF5503FA-EC31-8A44-4D56-AD60C8C2F3D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0097070-5756-4547-4619-41958B8D33AA}"/>
              </a:ext>
            </a:extLst>
          </p:cNvPr>
          <p:cNvSpPr>
            <a:spLocks noGrp="1"/>
          </p:cNvSpPr>
          <p:nvPr>
            <p:ph type="sldNum" sz="quarter" idx="12"/>
          </p:nvPr>
        </p:nvSpPr>
        <p:spPr/>
        <p:txBody>
          <a:bodyPr/>
          <a:lstStyle/>
          <a:p>
            <a:fld id="{23C0F08A-B977-40C7-8954-EEE5533F607B}" type="slidenum">
              <a:rPr lang="en-US" smtClean="0"/>
              <a:t>‹#›</a:t>
            </a:fld>
            <a:endParaRPr lang="en-US"/>
          </a:p>
        </p:txBody>
      </p:sp>
    </p:spTree>
    <p:extLst>
      <p:ext uri="{BB962C8B-B14F-4D97-AF65-F5344CB8AC3E}">
        <p14:creationId xmlns:p14="http://schemas.microsoft.com/office/powerpoint/2010/main" val="3162071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21DBE-50FF-FC45-912E-CC442DB0495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6B8EF14-4837-64B8-D16A-4505BB7B5778}"/>
              </a:ext>
            </a:extLst>
          </p:cNvPr>
          <p:cNvSpPr>
            <a:spLocks noGrp="1"/>
          </p:cNvSpPr>
          <p:nvPr>
            <p:ph type="dt" sz="half" idx="10"/>
          </p:nvPr>
        </p:nvSpPr>
        <p:spPr/>
        <p:txBody>
          <a:bodyPr/>
          <a:lstStyle/>
          <a:p>
            <a:fld id="{B7ABB79C-0084-4896-9D30-3D5CC11488E2}" type="datetimeFigureOut">
              <a:rPr lang="en-US" smtClean="0"/>
              <a:t>6/17/2023</a:t>
            </a:fld>
            <a:endParaRPr lang="en-US"/>
          </a:p>
        </p:txBody>
      </p:sp>
      <p:sp>
        <p:nvSpPr>
          <p:cNvPr id="4" name="Footer Placeholder 3">
            <a:extLst>
              <a:ext uri="{FF2B5EF4-FFF2-40B4-BE49-F238E27FC236}">
                <a16:creationId xmlns:a16="http://schemas.microsoft.com/office/drawing/2014/main" id="{89912BC2-686E-4A13-26B7-B930666CF81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2F76DAB-6941-14D1-31EE-69C35F284C49}"/>
              </a:ext>
            </a:extLst>
          </p:cNvPr>
          <p:cNvSpPr>
            <a:spLocks noGrp="1"/>
          </p:cNvSpPr>
          <p:nvPr>
            <p:ph type="sldNum" sz="quarter" idx="12"/>
          </p:nvPr>
        </p:nvSpPr>
        <p:spPr/>
        <p:txBody>
          <a:bodyPr/>
          <a:lstStyle/>
          <a:p>
            <a:fld id="{23C0F08A-B977-40C7-8954-EEE5533F607B}" type="slidenum">
              <a:rPr lang="en-US" smtClean="0"/>
              <a:t>‹#›</a:t>
            </a:fld>
            <a:endParaRPr lang="en-US"/>
          </a:p>
        </p:txBody>
      </p:sp>
    </p:spTree>
    <p:extLst>
      <p:ext uri="{BB962C8B-B14F-4D97-AF65-F5344CB8AC3E}">
        <p14:creationId xmlns:p14="http://schemas.microsoft.com/office/powerpoint/2010/main" val="828948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AC20A8-B987-7A8D-C1F9-14D9D76D704D}"/>
              </a:ext>
            </a:extLst>
          </p:cNvPr>
          <p:cNvSpPr>
            <a:spLocks noGrp="1"/>
          </p:cNvSpPr>
          <p:nvPr>
            <p:ph type="dt" sz="half" idx="10"/>
          </p:nvPr>
        </p:nvSpPr>
        <p:spPr/>
        <p:txBody>
          <a:bodyPr/>
          <a:lstStyle/>
          <a:p>
            <a:fld id="{B7ABB79C-0084-4896-9D30-3D5CC11488E2}" type="datetimeFigureOut">
              <a:rPr lang="en-US" smtClean="0"/>
              <a:t>6/17/2023</a:t>
            </a:fld>
            <a:endParaRPr lang="en-US"/>
          </a:p>
        </p:txBody>
      </p:sp>
      <p:sp>
        <p:nvSpPr>
          <p:cNvPr id="3" name="Footer Placeholder 2">
            <a:extLst>
              <a:ext uri="{FF2B5EF4-FFF2-40B4-BE49-F238E27FC236}">
                <a16:creationId xmlns:a16="http://schemas.microsoft.com/office/drawing/2014/main" id="{C7D5AFA9-7D00-F82C-5DA3-67326AE302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B4F0A17-C705-BA11-9A47-F52B42AD7138}"/>
              </a:ext>
            </a:extLst>
          </p:cNvPr>
          <p:cNvSpPr>
            <a:spLocks noGrp="1"/>
          </p:cNvSpPr>
          <p:nvPr>
            <p:ph type="sldNum" sz="quarter" idx="12"/>
          </p:nvPr>
        </p:nvSpPr>
        <p:spPr/>
        <p:txBody>
          <a:bodyPr/>
          <a:lstStyle/>
          <a:p>
            <a:fld id="{23C0F08A-B977-40C7-8954-EEE5533F607B}" type="slidenum">
              <a:rPr lang="en-US" smtClean="0"/>
              <a:t>‹#›</a:t>
            </a:fld>
            <a:endParaRPr lang="en-US"/>
          </a:p>
        </p:txBody>
      </p:sp>
    </p:spTree>
    <p:extLst>
      <p:ext uri="{BB962C8B-B14F-4D97-AF65-F5344CB8AC3E}">
        <p14:creationId xmlns:p14="http://schemas.microsoft.com/office/powerpoint/2010/main" val="2326235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5FC73-1513-7DE4-3701-69630869E3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B659598-ED48-E015-68BC-D86B3486EC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23AFF0D-FB62-AF79-AE0D-377B269E5E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5E5FA7-736A-14C2-B353-2F874A3854B1}"/>
              </a:ext>
            </a:extLst>
          </p:cNvPr>
          <p:cNvSpPr>
            <a:spLocks noGrp="1"/>
          </p:cNvSpPr>
          <p:nvPr>
            <p:ph type="dt" sz="half" idx="10"/>
          </p:nvPr>
        </p:nvSpPr>
        <p:spPr/>
        <p:txBody>
          <a:bodyPr/>
          <a:lstStyle/>
          <a:p>
            <a:fld id="{B7ABB79C-0084-4896-9D30-3D5CC11488E2}" type="datetimeFigureOut">
              <a:rPr lang="en-US" smtClean="0"/>
              <a:t>6/17/2023</a:t>
            </a:fld>
            <a:endParaRPr lang="en-US"/>
          </a:p>
        </p:txBody>
      </p:sp>
      <p:sp>
        <p:nvSpPr>
          <p:cNvPr id="6" name="Footer Placeholder 5">
            <a:extLst>
              <a:ext uri="{FF2B5EF4-FFF2-40B4-BE49-F238E27FC236}">
                <a16:creationId xmlns:a16="http://schemas.microsoft.com/office/drawing/2014/main" id="{A4187D33-806B-00C4-7D5E-3B71F3BE2C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FD1C1A-B448-D42D-8526-7D61D9EFBCC7}"/>
              </a:ext>
            </a:extLst>
          </p:cNvPr>
          <p:cNvSpPr>
            <a:spLocks noGrp="1"/>
          </p:cNvSpPr>
          <p:nvPr>
            <p:ph type="sldNum" sz="quarter" idx="12"/>
          </p:nvPr>
        </p:nvSpPr>
        <p:spPr/>
        <p:txBody>
          <a:bodyPr/>
          <a:lstStyle/>
          <a:p>
            <a:fld id="{23C0F08A-B977-40C7-8954-EEE5533F607B}" type="slidenum">
              <a:rPr lang="en-US" smtClean="0"/>
              <a:t>‹#›</a:t>
            </a:fld>
            <a:endParaRPr lang="en-US"/>
          </a:p>
        </p:txBody>
      </p:sp>
    </p:spTree>
    <p:extLst>
      <p:ext uri="{BB962C8B-B14F-4D97-AF65-F5344CB8AC3E}">
        <p14:creationId xmlns:p14="http://schemas.microsoft.com/office/powerpoint/2010/main" val="497336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2BF6E-3556-83A7-F323-58844D49E0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2262E43-FADF-6C19-F67F-6BDD121CF7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775D4E1-08E6-A892-4FDF-B4D50A401F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614F34-8483-C35F-07F9-B10A5CD12BEB}"/>
              </a:ext>
            </a:extLst>
          </p:cNvPr>
          <p:cNvSpPr>
            <a:spLocks noGrp="1"/>
          </p:cNvSpPr>
          <p:nvPr>
            <p:ph type="dt" sz="half" idx="10"/>
          </p:nvPr>
        </p:nvSpPr>
        <p:spPr/>
        <p:txBody>
          <a:bodyPr/>
          <a:lstStyle/>
          <a:p>
            <a:fld id="{B7ABB79C-0084-4896-9D30-3D5CC11488E2}" type="datetimeFigureOut">
              <a:rPr lang="en-US" smtClean="0"/>
              <a:t>6/17/2023</a:t>
            </a:fld>
            <a:endParaRPr lang="en-US"/>
          </a:p>
        </p:txBody>
      </p:sp>
      <p:sp>
        <p:nvSpPr>
          <p:cNvPr id="6" name="Footer Placeholder 5">
            <a:extLst>
              <a:ext uri="{FF2B5EF4-FFF2-40B4-BE49-F238E27FC236}">
                <a16:creationId xmlns:a16="http://schemas.microsoft.com/office/drawing/2014/main" id="{43592DDD-3CC3-4842-CA0F-0FCFED0F00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75BACF-4DEB-7FBC-8E93-7BD4FEDE44AE}"/>
              </a:ext>
            </a:extLst>
          </p:cNvPr>
          <p:cNvSpPr>
            <a:spLocks noGrp="1"/>
          </p:cNvSpPr>
          <p:nvPr>
            <p:ph type="sldNum" sz="quarter" idx="12"/>
          </p:nvPr>
        </p:nvSpPr>
        <p:spPr/>
        <p:txBody>
          <a:bodyPr/>
          <a:lstStyle/>
          <a:p>
            <a:fld id="{23C0F08A-B977-40C7-8954-EEE5533F607B}" type="slidenum">
              <a:rPr lang="en-US" smtClean="0"/>
              <a:t>‹#›</a:t>
            </a:fld>
            <a:endParaRPr lang="en-US"/>
          </a:p>
        </p:txBody>
      </p:sp>
    </p:spTree>
    <p:extLst>
      <p:ext uri="{BB962C8B-B14F-4D97-AF65-F5344CB8AC3E}">
        <p14:creationId xmlns:p14="http://schemas.microsoft.com/office/powerpoint/2010/main" val="1968240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F7449-5835-B38B-9923-424E800D3BE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F8F879A-BDCA-E86D-C739-841B7F7234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E78EBD-F4BF-6554-FC29-CA50C68A444E}"/>
              </a:ext>
            </a:extLst>
          </p:cNvPr>
          <p:cNvSpPr>
            <a:spLocks noGrp="1"/>
          </p:cNvSpPr>
          <p:nvPr>
            <p:ph type="dt" sz="half" idx="10"/>
          </p:nvPr>
        </p:nvSpPr>
        <p:spPr/>
        <p:txBody>
          <a:bodyPr/>
          <a:lstStyle/>
          <a:p>
            <a:fld id="{B7ABB79C-0084-4896-9D30-3D5CC11488E2}" type="datetimeFigureOut">
              <a:rPr lang="en-US" smtClean="0"/>
              <a:t>6/17/2023</a:t>
            </a:fld>
            <a:endParaRPr lang="en-US"/>
          </a:p>
        </p:txBody>
      </p:sp>
      <p:sp>
        <p:nvSpPr>
          <p:cNvPr id="5" name="Footer Placeholder 4">
            <a:extLst>
              <a:ext uri="{FF2B5EF4-FFF2-40B4-BE49-F238E27FC236}">
                <a16:creationId xmlns:a16="http://schemas.microsoft.com/office/drawing/2014/main" id="{5A79D222-5F65-DE37-B3D3-748D003784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D6D88F-1C24-6DBB-9E15-ACF451A7E787}"/>
              </a:ext>
            </a:extLst>
          </p:cNvPr>
          <p:cNvSpPr>
            <a:spLocks noGrp="1"/>
          </p:cNvSpPr>
          <p:nvPr>
            <p:ph type="sldNum" sz="quarter" idx="12"/>
          </p:nvPr>
        </p:nvSpPr>
        <p:spPr/>
        <p:txBody>
          <a:bodyPr/>
          <a:lstStyle/>
          <a:p>
            <a:fld id="{23C0F08A-B977-40C7-8954-EEE5533F607B}" type="slidenum">
              <a:rPr lang="en-US" smtClean="0"/>
              <a:t>‹#›</a:t>
            </a:fld>
            <a:endParaRPr lang="en-US"/>
          </a:p>
        </p:txBody>
      </p:sp>
    </p:spTree>
    <p:extLst>
      <p:ext uri="{BB962C8B-B14F-4D97-AF65-F5344CB8AC3E}">
        <p14:creationId xmlns:p14="http://schemas.microsoft.com/office/powerpoint/2010/main" val="2634997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2BB6FC-F9A0-1CA8-B907-566B778A47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4FAA019-003B-D378-0135-D9A891A28D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762E33-7EF5-4B2A-A6F5-76D1A1788C73}"/>
              </a:ext>
            </a:extLst>
          </p:cNvPr>
          <p:cNvSpPr>
            <a:spLocks noGrp="1"/>
          </p:cNvSpPr>
          <p:nvPr>
            <p:ph type="dt" sz="half" idx="10"/>
          </p:nvPr>
        </p:nvSpPr>
        <p:spPr/>
        <p:txBody>
          <a:bodyPr/>
          <a:lstStyle/>
          <a:p>
            <a:fld id="{B7ABB79C-0084-4896-9D30-3D5CC11488E2}" type="datetimeFigureOut">
              <a:rPr lang="en-US" smtClean="0"/>
              <a:t>6/17/2023</a:t>
            </a:fld>
            <a:endParaRPr lang="en-US"/>
          </a:p>
        </p:txBody>
      </p:sp>
      <p:sp>
        <p:nvSpPr>
          <p:cNvPr id="5" name="Footer Placeholder 4">
            <a:extLst>
              <a:ext uri="{FF2B5EF4-FFF2-40B4-BE49-F238E27FC236}">
                <a16:creationId xmlns:a16="http://schemas.microsoft.com/office/drawing/2014/main" id="{7EA28519-4CFD-5EB7-6825-6632F0EB94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A50007-1D59-FF07-97D0-DF4E33981F58}"/>
              </a:ext>
            </a:extLst>
          </p:cNvPr>
          <p:cNvSpPr>
            <a:spLocks noGrp="1"/>
          </p:cNvSpPr>
          <p:nvPr>
            <p:ph type="sldNum" sz="quarter" idx="12"/>
          </p:nvPr>
        </p:nvSpPr>
        <p:spPr/>
        <p:txBody>
          <a:bodyPr/>
          <a:lstStyle/>
          <a:p>
            <a:fld id="{23C0F08A-B977-40C7-8954-EEE5533F607B}" type="slidenum">
              <a:rPr lang="en-US" smtClean="0"/>
              <a:t>‹#›</a:t>
            </a:fld>
            <a:endParaRPr lang="en-US"/>
          </a:p>
        </p:txBody>
      </p:sp>
    </p:spTree>
    <p:extLst>
      <p:ext uri="{BB962C8B-B14F-4D97-AF65-F5344CB8AC3E}">
        <p14:creationId xmlns:p14="http://schemas.microsoft.com/office/powerpoint/2010/main" val="18300349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63655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7518265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E2CFA0-53A8-433A-A47F-F7ECCA5249C8}" type="datetimeFigureOut">
              <a:rPr lang="en-US" smtClean="0"/>
              <a:t>6/17/2023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14744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FE2CFA0-53A8-433A-A47F-F7ECCA5249C8}" type="datetimeFigureOut">
              <a:rPr lang="en-US" smtClean="0"/>
              <a:t>6/17/2023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24032139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FE2CFA0-53A8-433A-A47F-F7ECCA5249C8}" type="datetimeFigureOut">
              <a:rPr lang="en-US" smtClean="0"/>
              <a:t>6/17/2023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39635637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FE2CFA0-53A8-433A-A47F-F7ECCA5249C8}" type="datetimeFigureOut">
              <a:rPr lang="en-US" smtClean="0"/>
              <a:t>6/17/2023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20583532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FE2CFA0-53A8-433A-A47F-F7ECCA5249C8}" type="datetimeFigureOut">
              <a:rPr lang="en-US" smtClean="0"/>
              <a:t>6/17/2023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12344779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FE2CFA0-53A8-433A-A47F-F7ECCA5249C8}" type="datetimeFigureOut">
              <a:rPr lang="en-US" smtClean="0"/>
              <a:t>6/17/2023</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BA44C02-18DE-41FE-9E60-4563A10FB45B}" type="slidenum">
              <a:rPr lang="en-US" smtClean="0"/>
              <a:t>‹#›</a:t>
            </a:fld>
            <a:endParaRPr lang="en-US"/>
          </a:p>
        </p:txBody>
      </p:sp>
    </p:spTree>
    <p:extLst>
      <p:ext uri="{BB962C8B-B14F-4D97-AF65-F5344CB8AC3E}">
        <p14:creationId xmlns:p14="http://schemas.microsoft.com/office/powerpoint/2010/main" val="17574659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E2CFA0-53A8-433A-A47F-F7ECCA5249C8}" type="datetimeFigureOut">
              <a:rPr lang="en-US" smtClean="0"/>
              <a:t>6/17/2023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116040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33233825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FE2CFA0-53A8-433A-A47F-F7ECCA5249C8}" type="datetimeFigureOut">
              <a:rPr lang="en-US" smtClean="0"/>
              <a:t>6/17/2023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A44C02-18DE-41FE-9E60-4563A10FB45B}" type="slidenum">
              <a:rPr lang="en-US" smtClean="0"/>
              <a:t>‹#›</a:t>
            </a:fld>
            <a:endParaRPr lang="en-US"/>
          </a:p>
        </p:txBody>
      </p:sp>
    </p:spTree>
    <p:extLst>
      <p:ext uri="{BB962C8B-B14F-4D97-AF65-F5344CB8AC3E}">
        <p14:creationId xmlns:p14="http://schemas.microsoft.com/office/powerpoint/2010/main" val="32938251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65E73D-9C36-134E-3030-9246DF5B13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53D5623-4F9A-9B78-8B18-14A24CFB05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DBC2BB-DF18-3D72-3948-C81F0CFE39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ABB79C-0084-4896-9D30-3D5CC11488E2}" type="datetimeFigureOut">
              <a:rPr lang="en-US" smtClean="0"/>
              <a:t>6/17/2023</a:t>
            </a:fld>
            <a:endParaRPr lang="en-US"/>
          </a:p>
        </p:txBody>
      </p:sp>
      <p:sp>
        <p:nvSpPr>
          <p:cNvPr id="5" name="Footer Placeholder 4">
            <a:extLst>
              <a:ext uri="{FF2B5EF4-FFF2-40B4-BE49-F238E27FC236}">
                <a16:creationId xmlns:a16="http://schemas.microsoft.com/office/drawing/2014/main" id="{D504F564-474B-24AE-2785-7FB619CA68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8254BE0-8238-C9E3-F437-B693B7C9CD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C0F08A-B977-40C7-8954-EEE5533F607B}" type="slidenum">
              <a:rPr lang="en-US" smtClean="0"/>
              <a:t>‹#›</a:t>
            </a:fld>
            <a:endParaRPr lang="en-US"/>
          </a:p>
        </p:txBody>
      </p:sp>
    </p:spTree>
    <p:extLst>
      <p:ext uri="{BB962C8B-B14F-4D97-AF65-F5344CB8AC3E}">
        <p14:creationId xmlns:p14="http://schemas.microsoft.com/office/powerpoint/2010/main" val="28645141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FE2CFA0-53A8-433A-A47F-F7ECCA5249C8}" type="datetimeFigureOut">
              <a:rPr lang="en-US" smtClean="0"/>
              <a:t>6/17/2023</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BA44C02-18DE-41FE-9E60-4563A10FB45B}"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38119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7" Type="http://schemas.openxmlformats.org/officeDocument/2006/relationships/image" Target="../media/image8.webp"/><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7.jpg"/><Relationship Id="rId5" Type="http://schemas.openxmlformats.org/officeDocument/2006/relationships/image" Target="../media/image6.pn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hyperlink" Target="https://whatis.techtarget.com/definition/business-process-governance" TargetMode="External"/><Relationship Id="rId2" Type="http://schemas.openxmlformats.org/officeDocument/2006/relationships/hyperlink" Target="https://searchhrsoftware.techtarget.com/definition/human-resource-management-HRM" TargetMode="External"/><Relationship Id="rId1" Type="http://schemas.openxmlformats.org/officeDocument/2006/relationships/slideLayout" Target="../slideLayouts/slideLayout18.xml"/><Relationship Id="rId4" Type="http://schemas.openxmlformats.org/officeDocument/2006/relationships/hyperlink" Target="https://searchcio.techtarget.com/definition/strategic-planning"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xml"/><Relationship Id="rId1" Type="http://schemas.openxmlformats.org/officeDocument/2006/relationships/slideLayout" Target="../slideLayouts/slideLayout18.xml"/><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hyperlink" Target="https://www.indeed.com/career-advice/career-development/shareholder" TargetMode="External"/><Relationship Id="rId2" Type="http://schemas.openxmlformats.org/officeDocument/2006/relationships/image" Target="../media/image18.jpe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hyperlink" Target="https://www.hierarchystructure.com/category/corporate-hierachy/" TargetMode="External"/><Relationship Id="rId2" Type="http://schemas.openxmlformats.org/officeDocument/2006/relationships/hyperlink" Target="https://www.hierarchystructure.com/business-title-hierarchy/" TargetMode="External"/><Relationship Id="rId1" Type="http://schemas.openxmlformats.org/officeDocument/2006/relationships/slideLayout" Target="../slideLayouts/slideLayout18.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8.xml"/></Relationships>
</file>

<file path=ppt/slides/_rels/slide5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0CEAC78-79B4-90AC-74D0-A0097E800F2E}"/>
              </a:ext>
            </a:extLst>
          </p:cNvPr>
          <p:cNvPicPr>
            <a:picLocks noChangeAspect="1"/>
          </p:cNvPicPr>
          <p:nvPr/>
        </p:nvPicPr>
        <p:blipFill rotWithShape="1">
          <a:blip r:embed="rId2"/>
          <a:srcRect t="41377"/>
          <a:stretch/>
        </p:blipFill>
        <p:spPr>
          <a:xfrm>
            <a:off x="1049816" y="2115349"/>
            <a:ext cx="10617160" cy="3529177"/>
          </a:xfrm>
          <a:prstGeom prst="rect">
            <a:avLst/>
          </a:prstGeom>
        </p:spPr>
      </p:pic>
      <p:pic>
        <p:nvPicPr>
          <p:cNvPr id="3" name="Picture 2">
            <a:extLst>
              <a:ext uri="{FF2B5EF4-FFF2-40B4-BE49-F238E27FC236}">
                <a16:creationId xmlns:a16="http://schemas.microsoft.com/office/drawing/2014/main" id="{521AC5B1-C556-D8CE-2CED-11C94EE17A04}"/>
              </a:ext>
            </a:extLst>
          </p:cNvPr>
          <p:cNvPicPr>
            <a:picLocks noChangeAspect="1"/>
          </p:cNvPicPr>
          <p:nvPr/>
        </p:nvPicPr>
        <p:blipFill rotWithShape="1">
          <a:blip r:embed="rId3"/>
          <a:srcRect b="85335"/>
          <a:stretch/>
        </p:blipFill>
        <p:spPr>
          <a:xfrm>
            <a:off x="320841" y="921812"/>
            <a:ext cx="10620152" cy="883340"/>
          </a:xfrm>
          <a:prstGeom prst="rect">
            <a:avLst/>
          </a:prstGeom>
        </p:spPr>
      </p:pic>
    </p:spTree>
    <p:extLst>
      <p:ext uri="{BB962C8B-B14F-4D97-AF65-F5344CB8AC3E}">
        <p14:creationId xmlns:p14="http://schemas.microsoft.com/office/powerpoint/2010/main" val="3382642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7FE806-2DDE-4637-8A40-D9D8099DBD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7353" y="-5011"/>
            <a:ext cx="8598445" cy="1117513"/>
          </a:xfrm>
          <a:prstGeom prst="rect">
            <a:avLst/>
          </a:prstGeom>
        </p:spPr>
      </p:pic>
      <p:pic>
        <p:nvPicPr>
          <p:cNvPr id="7" name="Picture 6">
            <a:extLst>
              <a:ext uri="{FF2B5EF4-FFF2-40B4-BE49-F238E27FC236}">
                <a16:creationId xmlns:a16="http://schemas.microsoft.com/office/drawing/2014/main" id="{B7289C10-3D19-41A3-AE50-78BEB0C1B8C5}"/>
              </a:ext>
            </a:extLst>
          </p:cNvPr>
          <p:cNvPicPr>
            <a:picLocks noChangeAspect="1"/>
          </p:cNvPicPr>
          <p:nvPr/>
        </p:nvPicPr>
        <p:blipFill rotWithShape="1">
          <a:blip r:embed="rId4">
            <a:extLst>
              <a:ext uri="{28A0092B-C50C-407E-A947-70E740481C1C}">
                <a14:useLocalDpi xmlns:a14="http://schemas.microsoft.com/office/drawing/2010/main" val="0"/>
              </a:ext>
            </a:extLst>
          </a:blip>
          <a:srcRect l="3645" t="22826" r="3860" b="7903"/>
          <a:stretch/>
        </p:blipFill>
        <p:spPr>
          <a:xfrm>
            <a:off x="78153" y="3978031"/>
            <a:ext cx="6932611" cy="2141415"/>
          </a:xfrm>
          <a:prstGeom prst="rect">
            <a:avLst/>
          </a:prstGeom>
        </p:spPr>
      </p:pic>
      <p:pic>
        <p:nvPicPr>
          <p:cNvPr id="2" name="Picture 1">
            <a:extLst>
              <a:ext uri="{FF2B5EF4-FFF2-40B4-BE49-F238E27FC236}">
                <a16:creationId xmlns:a16="http://schemas.microsoft.com/office/drawing/2014/main" id="{D7FEF927-7732-6BD0-67CA-269BDD6990FF}"/>
              </a:ext>
            </a:extLst>
          </p:cNvPr>
          <p:cNvPicPr>
            <a:picLocks noChangeAspect="1"/>
          </p:cNvPicPr>
          <p:nvPr/>
        </p:nvPicPr>
        <p:blipFill>
          <a:blip r:embed="rId5"/>
          <a:stretch>
            <a:fillRect/>
          </a:stretch>
        </p:blipFill>
        <p:spPr>
          <a:xfrm>
            <a:off x="414397" y="1092315"/>
            <a:ext cx="6260122" cy="2885716"/>
          </a:xfrm>
          <a:prstGeom prst="rect">
            <a:avLst/>
          </a:prstGeom>
        </p:spPr>
      </p:pic>
      <p:pic>
        <p:nvPicPr>
          <p:cNvPr id="8" name="Picture 7">
            <a:extLst>
              <a:ext uri="{FF2B5EF4-FFF2-40B4-BE49-F238E27FC236}">
                <a16:creationId xmlns:a16="http://schemas.microsoft.com/office/drawing/2014/main" id="{1D8169F0-8528-7975-E991-0B02B36BFA83}"/>
              </a:ext>
            </a:extLst>
          </p:cNvPr>
          <p:cNvPicPr>
            <a:picLocks noChangeAspect="1"/>
          </p:cNvPicPr>
          <p:nvPr/>
        </p:nvPicPr>
        <p:blipFill rotWithShape="1">
          <a:blip r:embed="rId6">
            <a:extLst>
              <a:ext uri="{28A0092B-C50C-407E-A947-70E740481C1C}">
                <a14:useLocalDpi xmlns:a14="http://schemas.microsoft.com/office/drawing/2010/main" val="0"/>
              </a:ext>
            </a:extLst>
          </a:blip>
          <a:srcRect b="15940"/>
          <a:stretch/>
        </p:blipFill>
        <p:spPr>
          <a:xfrm>
            <a:off x="7383322" y="1191058"/>
            <a:ext cx="4535504" cy="3065206"/>
          </a:xfrm>
          <a:prstGeom prst="rect">
            <a:avLst/>
          </a:prstGeom>
        </p:spPr>
      </p:pic>
      <p:pic>
        <p:nvPicPr>
          <p:cNvPr id="10" name="Picture 9">
            <a:extLst>
              <a:ext uri="{FF2B5EF4-FFF2-40B4-BE49-F238E27FC236}">
                <a16:creationId xmlns:a16="http://schemas.microsoft.com/office/drawing/2014/main" id="{0416CD8A-B697-AF02-98C3-1D967299DA5D}"/>
              </a:ext>
            </a:extLst>
          </p:cNvPr>
          <p:cNvPicPr>
            <a:picLocks noChangeAspect="1"/>
          </p:cNvPicPr>
          <p:nvPr/>
        </p:nvPicPr>
        <p:blipFill rotWithShape="1">
          <a:blip r:embed="rId7">
            <a:extLst>
              <a:ext uri="{28A0092B-C50C-407E-A947-70E740481C1C}">
                <a14:useLocalDpi xmlns:a14="http://schemas.microsoft.com/office/drawing/2010/main" val="0"/>
              </a:ext>
            </a:extLst>
          </a:blip>
          <a:srcRect l="6795" t="41823" r="6538" b="20912"/>
          <a:stretch/>
        </p:blipFill>
        <p:spPr>
          <a:xfrm>
            <a:off x="6674519" y="4627813"/>
            <a:ext cx="5517481" cy="1296718"/>
          </a:xfrm>
          <a:prstGeom prst="rect">
            <a:avLst/>
          </a:prstGeom>
        </p:spPr>
      </p:pic>
      <p:sp>
        <p:nvSpPr>
          <p:cNvPr id="12" name="TextBox 11">
            <a:extLst>
              <a:ext uri="{FF2B5EF4-FFF2-40B4-BE49-F238E27FC236}">
                <a16:creationId xmlns:a16="http://schemas.microsoft.com/office/drawing/2014/main" id="{217347F8-92D1-4ED3-E8BF-CF27BA602FAA}"/>
              </a:ext>
            </a:extLst>
          </p:cNvPr>
          <p:cNvSpPr txBox="1"/>
          <p:nvPr/>
        </p:nvSpPr>
        <p:spPr>
          <a:xfrm>
            <a:off x="6096000" y="5765685"/>
            <a:ext cx="6096000" cy="646331"/>
          </a:xfrm>
          <a:prstGeom prst="rect">
            <a:avLst/>
          </a:prstGeom>
          <a:noFill/>
        </p:spPr>
        <p:txBody>
          <a:bodyPr wrap="square">
            <a:spAutoFit/>
          </a:bodyPr>
          <a:lstStyle/>
          <a:p>
            <a:pPr marL="285750" indent="-285750">
              <a:buFont typeface="Wingdings" panose="05000000000000000000" pitchFamily="2" charset="2"/>
              <a:buChar char="§"/>
            </a:pPr>
            <a:r>
              <a:rPr lang="en-US" sz="1200" dirty="0">
                <a:solidFill>
                  <a:srgbClr val="0070C0"/>
                </a:solidFill>
              </a:rPr>
              <a:t>We define Strategic Vision as “What the organization hopes to become — the business you will be in tomorrow.”</a:t>
            </a:r>
          </a:p>
          <a:p>
            <a:pPr marL="285750" indent="-285750">
              <a:buFont typeface="Wingdings" panose="05000000000000000000" pitchFamily="2" charset="2"/>
              <a:buChar char="§"/>
            </a:pPr>
            <a:r>
              <a:rPr lang="en-US" sz="1200" dirty="0">
                <a:solidFill>
                  <a:srgbClr val="0070C0"/>
                </a:solidFill>
              </a:rPr>
              <a:t>is a long-term, comprehensive picture of an organization's goals and the Objectives </a:t>
            </a:r>
          </a:p>
        </p:txBody>
      </p:sp>
    </p:spTree>
    <p:extLst>
      <p:ext uri="{BB962C8B-B14F-4D97-AF65-F5344CB8AC3E}">
        <p14:creationId xmlns:p14="http://schemas.microsoft.com/office/powerpoint/2010/main" val="19706723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CF7CA0D-D754-4015-A0BA-B0AD21B47EC9}"/>
              </a:ext>
            </a:extLst>
          </p:cNvPr>
          <p:cNvSpPr/>
          <p:nvPr/>
        </p:nvSpPr>
        <p:spPr>
          <a:xfrm>
            <a:off x="302606" y="611524"/>
            <a:ext cx="6395179" cy="532453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Goals, Mission, and Objectives </a:t>
            </a:r>
            <a:endParaRPr kumimoji="0" lang="en-US" sz="20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94A088">
                    <a:lumMod val="50000"/>
                  </a:srgbClr>
                </a:solidFill>
                <a:effectLst/>
                <a:uLnTx/>
                <a:uFillTx/>
                <a:latin typeface="Berlin Sans FB" panose="020E0602020502020306" pitchFamily="34" charset="0"/>
                <a:ea typeface="+mn-ea"/>
                <a:cs typeface="+mn-cs"/>
              </a:rPr>
              <a:t>Goals—statements describing what your organization wishes to accomplish. Goals are the ends toward which your efforts will be directed and often change from term to term or year to year.</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Organizations cannot survive for a very long time without some basic goals. Goals give an organization a purpose and direction to move towards the entire year.</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Examples of strategic goals for finance:</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1257300" marR="0" lvl="2"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Create and launch new product(s)</a:t>
            </a:r>
          </a:p>
          <a:p>
            <a:pPr marL="1257300" marR="0" lvl="2"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Become market leader</a:t>
            </a:r>
          </a:p>
          <a:p>
            <a:pPr marL="1257300" marR="0" lvl="2"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Customer satisfaction </a:t>
            </a:r>
          </a:p>
          <a:p>
            <a:pPr marL="1257300" marR="0" lvl="2"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Gain market position</a:t>
            </a:r>
          </a:p>
          <a:p>
            <a:pPr marL="1257300" marR="0" lvl="2"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Explore new customer segments</a:t>
            </a:r>
          </a:p>
          <a:p>
            <a:pPr marL="1257300" marR="0" lvl="2"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Increase revenues</a:t>
            </a:r>
          </a:p>
          <a:p>
            <a:pPr marL="1257300" marR="0" lvl="2"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Attract investment</a:t>
            </a:r>
          </a:p>
          <a:p>
            <a:pPr marL="1257300" marR="0" lvl="2"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Return on Assets</a:t>
            </a:r>
          </a:p>
          <a:p>
            <a:pPr marL="1257300" marR="0" lvl="2" indent="-342900" algn="l" defTabSz="914400" rtl="0" eaLnBrk="1" fontAlgn="auto" latinLnBrk="0" hangingPunct="1">
              <a:lnSpc>
                <a:spcPct val="100000"/>
              </a:lnSpc>
              <a:spcBef>
                <a:spcPts val="0"/>
              </a:spcBef>
              <a:spcAft>
                <a:spcPts val="0"/>
              </a:spcAft>
              <a:buClrTx/>
              <a:buSzTx/>
              <a:buFont typeface="+mj-lt"/>
              <a:buAutoNum type="alphaL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Number of products in portfolio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pic>
        <p:nvPicPr>
          <p:cNvPr id="2" name="Picture 1">
            <a:extLst>
              <a:ext uri="{FF2B5EF4-FFF2-40B4-BE49-F238E27FC236}">
                <a16:creationId xmlns:a16="http://schemas.microsoft.com/office/drawing/2014/main" id="{748C1230-657F-104F-049A-158991952C60}"/>
              </a:ext>
            </a:extLst>
          </p:cNvPr>
          <p:cNvPicPr>
            <a:picLocks noChangeAspect="1"/>
          </p:cNvPicPr>
          <p:nvPr/>
        </p:nvPicPr>
        <p:blipFill rotWithShape="1">
          <a:blip r:embed="rId2"/>
          <a:srcRect l="3949" t="2538"/>
          <a:stretch/>
        </p:blipFill>
        <p:spPr>
          <a:xfrm>
            <a:off x="6095999" y="2430584"/>
            <a:ext cx="5931877" cy="3378137"/>
          </a:xfrm>
          <a:prstGeom prst="rect">
            <a:avLst/>
          </a:prstGeom>
        </p:spPr>
      </p:pic>
    </p:spTree>
    <p:extLst>
      <p:ext uri="{BB962C8B-B14F-4D97-AF65-F5344CB8AC3E}">
        <p14:creationId xmlns:p14="http://schemas.microsoft.com/office/powerpoint/2010/main" val="39312033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0221F2-F15A-4073-BA01-2BF99789B3ED}"/>
              </a:ext>
            </a:extLst>
          </p:cNvPr>
          <p:cNvSpPr/>
          <p:nvPr/>
        </p:nvSpPr>
        <p:spPr>
          <a:xfrm>
            <a:off x="2195385" y="161718"/>
            <a:ext cx="6530567" cy="634019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Examples of strategic goals for learning and growth:</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Improve internal communications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Number of Reporting tools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Communication skills training programs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Surveying your teams (monthly survey?)</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Open new locations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Number of locations per city/region/country</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Going international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Examples of strategic goals for customers: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Improve customer satisfaction</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Decrease the number of product returns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Response time to complaints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Improve our service approach for new and existing customers.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Strategic partnerships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Customer Delivery time</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Increase in new customers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Examples of strategic goals for business processes: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Restructure organization</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Grow through acquisition</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Increase value of projects and manage growth</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Lower production costs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Build capacity for the future</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Decrease defects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Improve supplier relationships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spTree>
    <p:extLst>
      <p:ext uri="{BB962C8B-B14F-4D97-AF65-F5344CB8AC3E}">
        <p14:creationId xmlns:p14="http://schemas.microsoft.com/office/powerpoint/2010/main" val="3462867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458B4E5-785B-4592-BEA8-3EC649F17B52}"/>
              </a:ext>
            </a:extLst>
          </p:cNvPr>
          <p:cNvSpPr/>
          <p:nvPr/>
        </p:nvSpPr>
        <p:spPr>
          <a:xfrm>
            <a:off x="1563471" y="735236"/>
            <a:ext cx="6569877" cy="4801314"/>
          </a:xfrm>
          <a:prstGeom prst="rect">
            <a:avLst/>
          </a:prstGeom>
        </p:spPr>
        <p:txBody>
          <a:bodyPr wrap="square">
            <a:spAutoFit/>
          </a:bodyPr>
          <a:lstStyle/>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1" i="0" u="none" strike="noStrike" kern="1200" cap="none" spc="0" normalizeH="0" baseline="0" noProof="0" dirty="0">
                <a:ln>
                  <a:noFill/>
                </a:ln>
                <a:solidFill>
                  <a:srgbClr val="0070C0"/>
                </a:solidFill>
                <a:effectLst/>
                <a:uLnTx/>
                <a:uFillTx/>
                <a:latin typeface="Berlin Sans FB Demi" panose="020E0802020502020306" pitchFamily="34" charset="0"/>
                <a:ea typeface="+mn-ea"/>
                <a:cs typeface="+mn-cs"/>
              </a:rPr>
              <a:t>The organizational mission</a:t>
            </a:r>
            <a:r>
              <a:rPr kumimoji="0" lang="en-US" sz="18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 refers to a statement of its ongoing purpose and reason for existence.</a:t>
            </a:r>
            <a:r>
              <a:rPr kumimoji="0" lang="en-US" sz="18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mission statement should guide the actions of the organization, explain its overall goal, provide a path to achieve this goal, and guide the management in decision-making.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mn-cs"/>
              </a:rPr>
              <a:t>An organization usually publishes its mission statement, so that its employees, customers, suppliers, and partners are aware of the organization’s stated purpose. </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As an example of an organization’s mission statement, let us look at the mission statement of ISC² which is </a:t>
            </a:r>
          </a:p>
          <a:p>
            <a:pPr marL="1828800" marR="0" lvl="4"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“To Support and provide members and constituents with credentials, resources, and leadership to secure information and deliver value to society.” </a:t>
            </a:r>
          </a:p>
        </p:txBody>
      </p:sp>
    </p:spTree>
    <p:extLst>
      <p:ext uri="{BB962C8B-B14F-4D97-AF65-F5344CB8AC3E}">
        <p14:creationId xmlns:p14="http://schemas.microsoft.com/office/powerpoint/2010/main" val="3757227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202B2CA-462A-4CCD-9E32-7AE495157842}"/>
              </a:ext>
            </a:extLst>
          </p:cNvPr>
          <p:cNvSpPr/>
          <p:nvPr/>
        </p:nvSpPr>
        <p:spPr>
          <a:xfrm>
            <a:off x="2021384" y="971739"/>
            <a:ext cx="6705521" cy="4154984"/>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0070C0"/>
                </a:solidFill>
                <a:effectLst/>
                <a:uLnTx/>
                <a:uFillTx/>
                <a:latin typeface="Berlin Sans FB Demi" panose="020E0802020502020306" pitchFamily="34" charset="0"/>
                <a:ea typeface="+mn-ea"/>
                <a:cs typeface="+mn-cs"/>
              </a:rPr>
              <a:t>Mission Statement Examples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Microsoft (at its founding):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 computer on every desk and in every home.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Australia Department of Health: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Better health and wellbeing for all Australians, now and for future generations.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LinkedIn: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Create economic opportunity for every member of the global workforce.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Facebook: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Connect with friends and the world around you on Facebook.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American Express: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We work hard every day to make American Express the world's most respected service brand.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JetBlue: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To inspire humanity – both in the air and on the ground</a:t>
            </a: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t>
            </a:r>
          </a:p>
        </p:txBody>
      </p:sp>
    </p:spTree>
    <p:extLst>
      <p:ext uri="{BB962C8B-B14F-4D97-AF65-F5344CB8AC3E}">
        <p14:creationId xmlns:p14="http://schemas.microsoft.com/office/powerpoint/2010/main" val="2278987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5A5BE38-03AA-452F-A8E7-75B5C55FF21C}"/>
              </a:ext>
            </a:extLst>
          </p:cNvPr>
          <p:cNvSpPr/>
          <p:nvPr/>
        </p:nvSpPr>
        <p:spPr>
          <a:xfrm>
            <a:off x="1907342" y="735955"/>
            <a:ext cx="8080719" cy="5386090"/>
          </a:xfrm>
          <a:prstGeom prst="rect">
            <a:avLst/>
          </a:prstGeom>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0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mn-cs"/>
              </a:rPr>
              <a:t>Objectives</a:t>
            </a: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—descriptions of exactly what is to be done, derived from the goals. </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mn-cs"/>
              </a:rPr>
              <a:t>They are clear, specific statements of measurable tasks that will be accomplished as steps toward reaching your goals. They are short term and have deadlines.</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Objectives are observable and measurable. People can determine whether the organization has met its objectives.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Top 10 Most Important Business Objectives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Getting and Staying Profitable</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Productivity of People and Resources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Excellent Customer Service</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Employee Attraction and Retention</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Mission-driven Core Values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Sustainable Growth</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Maintaining a Healthy Cash Flow</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Dealing with Change</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Reaching the Right Customers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Staying Ahead of the Competition</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20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spTree>
    <p:extLst>
      <p:ext uri="{BB962C8B-B14F-4D97-AF65-F5344CB8AC3E}">
        <p14:creationId xmlns:p14="http://schemas.microsoft.com/office/powerpoint/2010/main" val="14580695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BB0BF3-324A-48A6-A492-02BE061FE7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09056"/>
            <a:ext cx="10002253" cy="1462594"/>
          </a:xfrm>
          <a:prstGeom prst="rect">
            <a:avLst/>
          </a:prstGeom>
        </p:spPr>
      </p:pic>
      <p:pic>
        <p:nvPicPr>
          <p:cNvPr id="5" name="Picture 4">
            <a:extLst>
              <a:ext uri="{FF2B5EF4-FFF2-40B4-BE49-F238E27FC236}">
                <a16:creationId xmlns:a16="http://schemas.microsoft.com/office/drawing/2014/main" id="{106CF4C0-08A0-4A2F-9A86-488DEE4B4C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5962" y="1989221"/>
            <a:ext cx="10387363" cy="4122822"/>
          </a:xfrm>
          <a:prstGeom prst="rect">
            <a:avLst/>
          </a:prstGeom>
        </p:spPr>
      </p:pic>
    </p:spTree>
    <p:extLst>
      <p:ext uri="{BB962C8B-B14F-4D97-AF65-F5344CB8AC3E}">
        <p14:creationId xmlns:p14="http://schemas.microsoft.com/office/powerpoint/2010/main" val="97758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0E566D-3330-4E11-90A6-67016F35A0E1}"/>
              </a:ext>
            </a:extLst>
          </p:cNvPr>
          <p:cNvSpPr/>
          <p:nvPr/>
        </p:nvSpPr>
        <p:spPr>
          <a:xfrm>
            <a:off x="336884" y="1550728"/>
            <a:ext cx="5847348" cy="473975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       Business processes categories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Depending on the organization, industry and nature of work, business processes are often broken up into different categories. These categories include: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1. Operational processes -- or primary processes: </a:t>
            </a:r>
          </a:p>
          <a:p>
            <a:pPr marL="1200150" marR="0" lvl="2"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These processes deliver value to the customer by producing  a product or service. </a:t>
            </a:r>
          </a:p>
          <a:p>
            <a:pPr marL="1200150" marR="0" lvl="2"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2. Supporting processes -- or secondary processes: </a:t>
            </a:r>
          </a:p>
          <a:p>
            <a:pPr marL="1200150" marR="0" lvl="2"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Examples of supporting processes include accounting,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hlinkClick r:id="rId2">
                  <a:extLst>
                    <a:ext uri="{A12FA001-AC4F-418D-AE19-62706E023703}">
                      <ahyp:hlinkClr xmlns:ahyp="http://schemas.microsoft.com/office/drawing/2018/hyperlinkcolor" val="tx"/>
                    </a:ext>
                  </a:extLst>
                </a:hlinkClick>
              </a:rPr>
              <a:t>HR management</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and workplace safety. </a:t>
            </a:r>
          </a:p>
          <a:p>
            <a:pPr marL="1200150" marR="0" lvl="2"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One key differentiator between operational and support processes is that support processes do not provide value or product to customers directly.</a:t>
            </a:r>
          </a:p>
          <a:p>
            <a:pPr marL="914400" marR="0" lvl="2"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sp>
        <p:nvSpPr>
          <p:cNvPr id="3" name="Rectangle 2">
            <a:extLst>
              <a:ext uri="{FF2B5EF4-FFF2-40B4-BE49-F238E27FC236}">
                <a16:creationId xmlns:a16="http://schemas.microsoft.com/office/drawing/2014/main" id="{2F3AFCEA-D6D8-4154-867B-026D6F73E0CD}"/>
              </a:ext>
            </a:extLst>
          </p:cNvPr>
          <p:cNvSpPr/>
          <p:nvPr/>
        </p:nvSpPr>
        <p:spPr>
          <a:xfrm>
            <a:off x="1106112" y="469219"/>
            <a:ext cx="9064583" cy="923330"/>
          </a:xfrm>
          <a:prstGeom prst="rect">
            <a:avLst/>
          </a:prstGeom>
        </p:spPr>
        <p:txBody>
          <a:bodyPr wrap="square">
            <a:spAutoFit/>
          </a:bodyPr>
          <a:lstStyle/>
          <a:p>
            <a:pPr marL="742950" marR="0" lvl="1"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A business process </a:t>
            </a:r>
            <a:r>
              <a:rPr kumimoji="0" lang="en-US" sz="1800" b="0" i="0" u="none" strike="noStrike" kern="1200" cap="none" spc="0" normalizeH="0" baseline="0" noProof="0" dirty="0">
                <a:ln>
                  <a:noFill/>
                </a:ln>
                <a:solidFill>
                  <a:srgbClr val="94A088">
                    <a:lumMod val="50000"/>
                  </a:srgbClr>
                </a:solidFill>
                <a:effectLst/>
                <a:uLnTx/>
                <a:uFillTx/>
                <a:latin typeface="Berlin Sans FB" panose="020E0602020502020306" pitchFamily="34" charset="0"/>
                <a:ea typeface="+mn-ea"/>
                <a:cs typeface="+mn-cs"/>
              </a:rPr>
              <a:t>is a collection of linked tasks which find their end in the delivery of a service or product to a client. A business process has also been defined as a set of activities and tasks that, once completed, will accomplish an organizational goal. </a:t>
            </a:r>
          </a:p>
        </p:txBody>
      </p:sp>
      <p:sp>
        <p:nvSpPr>
          <p:cNvPr id="5" name="TextBox 4">
            <a:extLst>
              <a:ext uri="{FF2B5EF4-FFF2-40B4-BE49-F238E27FC236}">
                <a16:creationId xmlns:a16="http://schemas.microsoft.com/office/drawing/2014/main" id="{FF8DC3E0-1729-476A-B30A-73D4B8EE31E7}"/>
              </a:ext>
            </a:extLst>
          </p:cNvPr>
          <p:cNvSpPr txBox="1"/>
          <p:nvPr/>
        </p:nvSpPr>
        <p:spPr>
          <a:xfrm>
            <a:off x="6288505" y="1550728"/>
            <a:ext cx="5478379" cy="3570208"/>
          </a:xfrm>
          <a:prstGeom prst="rect">
            <a:avLst/>
          </a:prstGeom>
          <a:noFill/>
        </p:spPr>
        <p:txBody>
          <a:bodyPr wrap="square">
            <a:spAutoFit/>
          </a:bodyPr>
          <a:lstStyle/>
          <a:p>
            <a:pPr marL="914400" marR="0" lvl="2"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3. Management processes: </a:t>
            </a:r>
          </a:p>
          <a:p>
            <a:pPr marL="1200150" marR="0" lvl="2"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Management processes measure, monitor and control the activities related to business procedures and systems. </a:t>
            </a:r>
          </a:p>
          <a:p>
            <a:pPr marL="1200150" marR="0" lvl="2"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Examples of management processes include internal communications,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hlinkClick r:id="rId3">
                  <a:extLst>
                    <a:ext uri="{A12FA001-AC4F-418D-AE19-62706E023703}">
                      <ahyp:hlinkClr xmlns:ahyp="http://schemas.microsoft.com/office/drawing/2018/hyperlinkcolor" val="tx"/>
                    </a:ext>
                  </a:extLst>
                </a:hlinkClick>
              </a:rPr>
              <a:t>governance</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hlinkClick r:id="rId4">
                  <a:extLst>
                    <a:ext uri="{A12FA001-AC4F-418D-AE19-62706E023703}">
                      <ahyp:hlinkClr xmlns:ahyp="http://schemas.microsoft.com/office/drawing/2018/hyperlinkcolor" val="tx"/>
                    </a:ext>
                  </a:extLst>
                </a:hlinkClick>
              </a:rPr>
              <a:t>strategic planning</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budgeting, and infrastructure or capacity management. </a:t>
            </a:r>
          </a:p>
          <a:p>
            <a:pPr marL="1200150" marR="0" lvl="2"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1200150" marR="0" lvl="2"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Like supporting processes, management processes do not provide value directly to the customers.</a:t>
            </a: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2681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2D13F4-07D2-4B4D-97ED-EF3863EF9E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660" y="364212"/>
            <a:ext cx="10926679" cy="5557831"/>
          </a:xfrm>
          <a:prstGeom prst="rect">
            <a:avLst/>
          </a:prstGeom>
        </p:spPr>
      </p:pic>
    </p:spTree>
    <p:extLst>
      <p:ext uri="{BB962C8B-B14F-4D97-AF65-F5344CB8AC3E}">
        <p14:creationId xmlns:p14="http://schemas.microsoft.com/office/powerpoint/2010/main" val="1158518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0E8D62-616F-4FDB-AEAF-5383BFC6451E}"/>
              </a:ext>
            </a:extLst>
          </p:cNvPr>
          <p:cNvPicPr>
            <a:picLocks noChangeAspect="1"/>
          </p:cNvPicPr>
          <p:nvPr/>
        </p:nvPicPr>
        <p:blipFill rotWithShape="1">
          <a:blip r:embed="rId2">
            <a:extLst>
              <a:ext uri="{28A0092B-C50C-407E-A947-70E740481C1C}">
                <a14:useLocalDpi xmlns:a14="http://schemas.microsoft.com/office/drawing/2010/main" val="0"/>
              </a:ext>
            </a:extLst>
          </a:blip>
          <a:srcRect l="33848" b="79950"/>
          <a:stretch/>
        </p:blipFill>
        <p:spPr>
          <a:xfrm>
            <a:off x="2085473" y="0"/>
            <a:ext cx="8021053" cy="1283368"/>
          </a:xfrm>
          <a:prstGeom prst="rect">
            <a:avLst/>
          </a:prstGeom>
        </p:spPr>
      </p:pic>
      <p:pic>
        <p:nvPicPr>
          <p:cNvPr id="2" name="Picture 1">
            <a:extLst>
              <a:ext uri="{FF2B5EF4-FFF2-40B4-BE49-F238E27FC236}">
                <a16:creationId xmlns:a16="http://schemas.microsoft.com/office/drawing/2014/main" id="{CC86BA5E-E5D4-42F9-990E-0A47F8E821A5}"/>
              </a:ext>
            </a:extLst>
          </p:cNvPr>
          <p:cNvPicPr>
            <a:picLocks noChangeAspect="1"/>
          </p:cNvPicPr>
          <p:nvPr/>
        </p:nvPicPr>
        <p:blipFill rotWithShape="1">
          <a:blip r:embed="rId3"/>
          <a:srcRect l="10878"/>
          <a:stretch/>
        </p:blipFill>
        <p:spPr>
          <a:xfrm>
            <a:off x="946485" y="1283368"/>
            <a:ext cx="10812379" cy="4986960"/>
          </a:xfrm>
          <a:prstGeom prst="rect">
            <a:avLst/>
          </a:prstGeom>
        </p:spPr>
      </p:pic>
    </p:spTree>
    <p:extLst>
      <p:ext uri="{BB962C8B-B14F-4D97-AF65-F5344CB8AC3E}">
        <p14:creationId xmlns:p14="http://schemas.microsoft.com/office/powerpoint/2010/main" val="3807273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175145-BC1E-43D9-BFC8-D29033AA925E}"/>
              </a:ext>
            </a:extLst>
          </p:cNvPr>
          <p:cNvPicPr>
            <a:picLocks noChangeAspect="1"/>
          </p:cNvPicPr>
          <p:nvPr/>
        </p:nvPicPr>
        <p:blipFill rotWithShape="1">
          <a:blip r:embed="rId3">
            <a:extLst>
              <a:ext uri="{28A0092B-C50C-407E-A947-70E740481C1C}">
                <a14:useLocalDpi xmlns:a14="http://schemas.microsoft.com/office/drawing/2010/main" val="0"/>
              </a:ext>
            </a:extLst>
          </a:blip>
          <a:srcRect l="2498" t="28750" b="9223"/>
          <a:stretch/>
        </p:blipFill>
        <p:spPr>
          <a:xfrm>
            <a:off x="1900989" y="1080144"/>
            <a:ext cx="8610600" cy="2816387"/>
          </a:xfrm>
          <a:prstGeom prst="rect">
            <a:avLst/>
          </a:prstGeom>
        </p:spPr>
      </p:pic>
      <p:pic>
        <p:nvPicPr>
          <p:cNvPr id="2" name="Picture 1">
            <a:extLst>
              <a:ext uri="{FF2B5EF4-FFF2-40B4-BE49-F238E27FC236}">
                <a16:creationId xmlns:a16="http://schemas.microsoft.com/office/drawing/2014/main" id="{49CBB5BF-F9B4-465C-8DCF-86F0A1300A61}"/>
              </a:ext>
            </a:extLst>
          </p:cNvPr>
          <p:cNvPicPr>
            <a:picLocks noChangeAspect="1"/>
          </p:cNvPicPr>
          <p:nvPr/>
        </p:nvPicPr>
        <p:blipFill rotWithShape="1">
          <a:blip r:embed="rId4"/>
          <a:srcRect l="10754" t="4776" b="13880"/>
          <a:stretch/>
        </p:blipFill>
        <p:spPr>
          <a:xfrm>
            <a:off x="778042" y="4074695"/>
            <a:ext cx="10816433" cy="1804738"/>
          </a:xfrm>
          <a:prstGeom prst="rect">
            <a:avLst/>
          </a:prstGeom>
        </p:spPr>
      </p:pic>
      <p:pic>
        <p:nvPicPr>
          <p:cNvPr id="4" name="Picture 3">
            <a:extLst>
              <a:ext uri="{FF2B5EF4-FFF2-40B4-BE49-F238E27FC236}">
                <a16:creationId xmlns:a16="http://schemas.microsoft.com/office/drawing/2014/main" id="{DC4815F3-0E84-4647-A1E9-4623340865D9}"/>
              </a:ext>
            </a:extLst>
          </p:cNvPr>
          <p:cNvPicPr>
            <a:picLocks noChangeAspect="1"/>
          </p:cNvPicPr>
          <p:nvPr/>
        </p:nvPicPr>
        <p:blipFill rotWithShape="1">
          <a:blip r:embed="rId5"/>
          <a:srcRect l="7139"/>
          <a:stretch/>
        </p:blipFill>
        <p:spPr>
          <a:xfrm>
            <a:off x="1812758" y="144326"/>
            <a:ext cx="9703492" cy="609653"/>
          </a:xfrm>
          <a:prstGeom prst="rect">
            <a:avLst/>
          </a:prstGeom>
        </p:spPr>
      </p:pic>
    </p:spTree>
    <p:extLst>
      <p:ext uri="{BB962C8B-B14F-4D97-AF65-F5344CB8AC3E}">
        <p14:creationId xmlns:p14="http://schemas.microsoft.com/office/powerpoint/2010/main" val="15134822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86B9AF-8214-40A9-8600-895D3C0A1527}"/>
              </a:ext>
            </a:extLst>
          </p:cNvPr>
          <p:cNvSpPr/>
          <p:nvPr/>
        </p:nvSpPr>
        <p:spPr>
          <a:xfrm>
            <a:off x="1672893" y="982176"/>
            <a:ext cx="7479128" cy="4893647"/>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Management Levels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Top-level Management</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High level managers tend to have a substantial amount of experience, ideally across a wide variety of functions. This include Chief Operations Officer (COO),  Chief Marketing Officer (CMO), Chief Technology Officer (CIO or CTO),  Chief Financial Officer (CFO)  or Chief Executive Officer (CEO).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the role of the top management can be summarized as follows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It prepares strategic plans &amp; policies for the enterprise.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It issues necessary instructions for preparation of department budgets, procedures, schedules etc.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It controls &amp; coordinates the activities of all the departments.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It is also responsible for maintaining a contact with the outside world.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It provides guidance and direction.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top management is also responsible towards the shareholders for the performance of the enterprise.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spTree>
    <p:extLst>
      <p:ext uri="{BB962C8B-B14F-4D97-AF65-F5344CB8AC3E}">
        <p14:creationId xmlns:p14="http://schemas.microsoft.com/office/powerpoint/2010/main" val="848266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3A4BD2-8B2D-4E2C-B05C-E41EFB207DF1}"/>
              </a:ext>
            </a:extLst>
          </p:cNvPr>
          <p:cNvSpPr/>
          <p:nvPr/>
        </p:nvSpPr>
        <p:spPr>
          <a:xfrm>
            <a:off x="1101503" y="623449"/>
            <a:ext cx="8331255" cy="452431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Middle Level of Management</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Middle-level managers can include general managers, branch managers, and department managers. They are accountable to the top-level management for their department’s function, and they devote more time to organizational and directional functions than upper management.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Calibri Light" panose="020F03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Their role can be emphasized as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They execute the plans of the organization in accordance with the policies and directives of the top level management.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They make plans for the sub-units of the organization.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They participate in employment &amp; training of lower level management.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They interpret and explain policies from top level management to lower level.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They are responsible for coordinating the activities within the division or department.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It also sends important reports and other important data to top level management.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They evaluate performance of junior managers.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They are also responsible for inspiring lower level managers towards better performance.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Calibri Light" panose="020F0302020204030204"/>
              <a:ea typeface="+mn-ea"/>
              <a:cs typeface="+mn-cs"/>
            </a:endParaRPr>
          </a:p>
        </p:txBody>
      </p:sp>
    </p:spTree>
    <p:extLst>
      <p:ext uri="{BB962C8B-B14F-4D97-AF65-F5344CB8AC3E}">
        <p14:creationId xmlns:p14="http://schemas.microsoft.com/office/powerpoint/2010/main" val="2961351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CFF057-DEE4-4923-A4FB-532B33AF4634}"/>
              </a:ext>
            </a:extLst>
          </p:cNvPr>
          <p:cNvSpPr/>
          <p:nvPr/>
        </p:nvSpPr>
        <p:spPr>
          <a:xfrm>
            <a:off x="1646699" y="1057740"/>
            <a:ext cx="7577512" cy="452431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Front Line Management</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At the front line, managers are often highly skilled and even functional specialists like supervisors, foreman, section officers, superintendent</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First-line managers are responsible for the daily management of line workers which is the employees who actually produce the product or offer the service. </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These are the managers that most employees interact with on a daily basis, and if the managers perform poorly, employees may also perform poorly, may lack motivation, or may leave the company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 Their activities include -</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Assigning of jobs and tasks to various workers.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They guide and instruct workers for day to day activities.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They are responsible for the quality as well as quantity of production.</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They communicate workers problems, suggestions, and recommendatory appeals </a:t>
            </a:r>
            <a:r>
              <a:rPr kumimoji="0" lang="en-US" sz="1600" b="0" i="0" u="none" strike="noStrike" kern="1200" cap="none" spc="0" normalizeH="0" baseline="0" noProof="0" dirty="0" err="1">
                <a:ln>
                  <a:noFill/>
                </a:ln>
                <a:solidFill>
                  <a:srgbClr val="002060"/>
                </a:solidFill>
                <a:effectLst/>
                <a:uLnTx/>
                <a:uFillTx/>
                <a:latin typeface="Berlin Sans FB" panose="020E0602020502020306" pitchFamily="34" charset="0"/>
                <a:ea typeface="+mn-ea"/>
                <a:cs typeface="+mn-cs"/>
              </a:rPr>
              <a:t>etc</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to the higher level and higher level goals and objectives to the workers.</a:t>
            </a:r>
          </a:p>
          <a:p>
            <a:pPr marL="800100" marR="0" lvl="1"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They are responsible for providing training to the workers.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Calibri Light" panose="020F0302020204030204"/>
                <a:ea typeface="+mn-ea"/>
                <a:cs typeface="+mn-cs"/>
              </a:rPr>
              <a:t>    </a:t>
            </a:r>
          </a:p>
        </p:txBody>
      </p:sp>
    </p:spTree>
    <p:extLst>
      <p:ext uri="{BB962C8B-B14F-4D97-AF65-F5344CB8AC3E}">
        <p14:creationId xmlns:p14="http://schemas.microsoft.com/office/powerpoint/2010/main" val="2234959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mpany Management Structure - Roles &amp; Responsibilities">
            <a:extLst>
              <a:ext uri="{FF2B5EF4-FFF2-40B4-BE49-F238E27FC236}">
                <a16:creationId xmlns:a16="http://schemas.microsoft.com/office/drawing/2014/main" id="{D5066EF8-3264-8ACA-1459-F4E238DC26DF}"/>
              </a:ext>
            </a:extLst>
          </p:cNvPr>
          <p:cNvPicPr>
            <a:picLocks noChangeAspect="1"/>
          </p:cNvPicPr>
          <p:nvPr/>
        </p:nvPicPr>
        <p:blipFill rotWithShape="1">
          <a:blip r:embed="rId2">
            <a:extLst>
              <a:ext uri="{28A0092B-C50C-407E-A947-70E740481C1C}">
                <a14:useLocalDpi xmlns:a14="http://schemas.microsoft.com/office/drawing/2010/main" val="0"/>
              </a:ext>
            </a:extLst>
          </a:blip>
          <a:srcRect b="8629"/>
          <a:stretch/>
        </p:blipFill>
        <p:spPr bwMode="auto">
          <a:xfrm>
            <a:off x="6363412" y="1461477"/>
            <a:ext cx="5613030" cy="4230614"/>
          </a:xfrm>
          <a:prstGeom prst="rect">
            <a:avLst/>
          </a:prstGeom>
          <a:ln>
            <a:noFill/>
          </a:ln>
          <a:effectLst>
            <a:outerShdw blurRad="190500" algn="tl" rotWithShape="0">
              <a:srgbClr val="000000">
                <a:alpha val="70000"/>
              </a:srgbClr>
            </a:outerShdw>
          </a:effectLst>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F1BB0EF4-A9F6-FB55-2E57-99687ECBCE2D}"/>
              </a:ext>
            </a:extLst>
          </p:cNvPr>
          <p:cNvSpPr txBox="1"/>
          <p:nvPr/>
        </p:nvSpPr>
        <p:spPr>
          <a:xfrm>
            <a:off x="310396" y="420535"/>
            <a:ext cx="4730527" cy="934679"/>
          </a:xfrm>
          <a:prstGeom prst="rect">
            <a:avLst/>
          </a:prstGeom>
          <a:noFill/>
        </p:spPr>
        <p:txBody>
          <a:bodyPr wrap="square">
            <a:spAutoFit/>
          </a:bodyPr>
          <a:lstStyle/>
          <a:p>
            <a:pPr marL="0" marR="0">
              <a:lnSpc>
                <a:spcPct val="107000"/>
              </a:lnSpc>
              <a:spcBef>
                <a:spcPts val="0"/>
              </a:spcBef>
              <a:spcAft>
                <a:spcPts val="800"/>
              </a:spcAft>
            </a:pPr>
            <a:r>
              <a:rPr lang="en-US" sz="1800" b="1" kern="0" dirty="0">
                <a:solidFill>
                  <a:srgbClr val="C00000"/>
                </a:solidFill>
                <a:effectLst/>
                <a:latin typeface="Times New Roman" panose="02020603050405020304" pitchFamily="18" charset="0"/>
                <a:ea typeface="Times New Roman" panose="02020603050405020304" pitchFamily="18" charset="0"/>
                <a:cs typeface="Arial" panose="020B0604020202020204" pitchFamily="34" charset="0"/>
              </a:rPr>
              <a:t>What is a shareholder?</a:t>
            </a:r>
            <a:endParaRPr lang="en-US" sz="1100" kern="100" dirty="0">
              <a:solidFill>
                <a:srgbClr val="C00000"/>
              </a:solidFill>
              <a:effectLst/>
              <a:latin typeface="Calibri" panose="020F0502020204030204" pitchFamily="34" charset="0"/>
              <a:ea typeface="Calibri" panose="020F0502020204030204" pitchFamily="34" charset="0"/>
              <a:cs typeface="Arial" panose="020B0604020202020204" pitchFamily="34" charset="0"/>
            </a:endParaRP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A </a:t>
            </a:r>
            <a:r>
              <a:rPr lang="en-US" sz="1400" dirty="0">
                <a:solidFill>
                  <a:srgbClr val="002060"/>
                </a:solidFill>
                <a:latin typeface="Berlin Sans FB" panose="020E0602020502020306" pitchFamily="34" charset="0"/>
                <a:hlinkClick r:id="rId3">
                  <a:extLst>
                    <a:ext uri="{A12FA001-AC4F-418D-AE19-62706E023703}">
                      <ahyp:hlinkClr xmlns:ahyp="http://schemas.microsoft.com/office/drawing/2018/hyperlinkcolor" val="tx"/>
                    </a:ext>
                  </a:extLst>
                </a:hlinkClick>
              </a:rPr>
              <a:t>shareholder</a:t>
            </a:r>
            <a:r>
              <a:rPr lang="en-US" sz="1400" dirty="0">
                <a:solidFill>
                  <a:srgbClr val="002060"/>
                </a:solidFill>
                <a:latin typeface="Berlin Sans FB" panose="020E0602020502020306" pitchFamily="34" charset="0"/>
              </a:rPr>
              <a:t> is anyone who owns at least one share of a company's stock.</a:t>
            </a:r>
          </a:p>
        </p:txBody>
      </p:sp>
      <p:sp>
        <p:nvSpPr>
          <p:cNvPr id="6" name="TextBox 5">
            <a:extLst>
              <a:ext uri="{FF2B5EF4-FFF2-40B4-BE49-F238E27FC236}">
                <a16:creationId xmlns:a16="http://schemas.microsoft.com/office/drawing/2014/main" id="{D27AE354-94E1-1F6F-225D-068E314B6531}"/>
              </a:ext>
            </a:extLst>
          </p:cNvPr>
          <p:cNvSpPr txBox="1"/>
          <p:nvPr/>
        </p:nvSpPr>
        <p:spPr>
          <a:xfrm>
            <a:off x="677719" y="1670283"/>
            <a:ext cx="4363204" cy="4210063"/>
          </a:xfrm>
          <a:prstGeom prst="rect">
            <a:avLst/>
          </a:prstGeom>
          <a:noFill/>
        </p:spPr>
        <p:txBody>
          <a:bodyPr wrap="square">
            <a:spAutoFit/>
          </a:bodyPr>
          <a:lstStyle/>
          <a:p>
            <a:pPr>
              <a:lnSpc>
                <a:spcPct val="107000"/>
              </a:lnSpc>
              <a:spcAft>
                <a:spcPts val="800"/>
              </a:spcAft>
            </a:pPr>
            <a:r>
              <a:rPr lang="en-US" b="1" kern="0" dirty="0">
                <a:solidFill>
                  <a:srgbClr val="C00000"/>
                </a:solidFill>
                <a:latin typeface="Times New Roman" panose="02020603050405020304" pitchFamily="18" charset="0"/>
                <a:cs typeface="Arial" panose="020B0604020202020204" pitchFamily="34" charset="0"/>
              </a:rPr>
              <a:t>What is a board of directors?</a:t>
            </a: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A board of directors, is a group of people elected by a company's </a:t>
            </a:r>
            <a:r>
              <a:rPr lang="en-US" sz="1400" dirty="0">
                <a:solidFill>
                  <a:srgbClr val="C00000"/>
                </a:solidFill>
                <a:latin typeface="Berlin Sans FB" panose="020E0602020502020306" pitchFamily="34" charset="0"/>
              </a:rPr>
              <a:t>shareholders</a:t>
            </a:r>
            <a:r>
              <a:rPr lang="en-US" sz="1400" dirty="0">
                <a:solidFill>
                  <a:srgbClr val="002060"/>
                </a:solidFill>
                <a:latin typeface="Berlin Sans FB" panose="020E0602020502020306" pitchFamily="34" charset="0"/>
              </a:rPr>
              <a:t> to represent their interests.</a:t>
            </a: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 The board acts as a governing body for a company or corporation. </a:t>
            </a: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Their primary goal is to protect the assets of the shareholders by ensuring an organization's management acts on their behalf and that they get a good return on their investment (ROI) in the company.</a:t>
            </a:r>
          </a:p>
          <a:p>
            <a:pPr lvl="1">
              <a:lnSpc>
                <a:spcPct val="107000"/>
              </a:lnSpc>
              <a:spcAft>
                <a:spcPts val="800"/>
              </a:spcAft>
            </a:pPr>
            <a:r>
              <a:rPr lang="en-US" sz="1600" dirty="0">
                <a:solidFill>
                  <a:srgbClr val="0070C0"/>
                </a:solidFill>
                <a:latin typeface="Berlin Sans FB" panose="020E0602020502020306" pitchFamily="34" charset="0"/>
              </a:rPr>
              <a:t>All public companies are required to have a board of directors that includes members from inside and outside the organization.</a:t>
            </a:r>
          </a:p>
          <a:p>
            <a:pPr>
              <a:lnSpc>
                <a:spcPct val="107000"/>
              </a:lnSpc>
              <a:spcAft>
                <a:spcPts val="800"/>
              </a:spcAft>
            </a:pPr>
            <a:endParaRPr lang="en-US" sz="1400" dirty="0">
              <a:solidFill>
                <a:srgbClr val="002060"/>
              </a:solidFill>
              <a:latin typeface="Berlin Sans FB" panose="020E0602020502020306" pitchFamily="34" charset="0"/>
            </a:endParaRPr>
          </a:p>
        </p:txBody>
      </p:sp>
    </p:spTree>
    <p:extLst>
      <p:ext uri="{BB962C8B-B14F-4D97-AF65-F5344CB8AC3E}">
        <p14:creationId xmlns:p14="http://schemas.microsoft.com/office/powerpoint/2010/main" val="2163000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CFD254-5EE1-7448-507F-E644E70FF994}"/>
              </a:ext>
            </a:extLst>
          </p:cNvPr>
          <p:cNvSpPr txBox="1"/>
          <p:nvPr/>
        </p:nvSpPr>
        <p:spPr>
          <a:xfrm>
            <a:off x="1953846" y="567834"/>
            <a:ext cx="6096000" cy="4905125"/>
          </a:xfrm>
          <a:prstGeom prst="rect">
            <a:avLst/>
          </a:prstGeom>
          <a:noFill/>
        </p:spPr>
        <p:txBody>
          <a:bodyPr wrap="square">
            <a:spAutoFit/>
          </a:bodyPr>
          <a:lstStyle/>
          <a:p>
            <a:pPr>
              <a:lnSpc>
                <a:spcPct val="107000"/>
              </a:lnSpc>
              <a:spcAft>
                <a:spcPts val="800"/>
              </a:spcAft>
            </a:pPr>
            <a:r>
              <a:rPr lang="en-US" b="1" kern="0" dirty="0">
                <a:solidFill>
                  <a:srgbClr val="C00000"/>
                </a:solidFill>
                <a:latin typeface="Times New Roman" panose="02020603050405020304" pitchFamily="18" charset="0"/>
                <a:cs typeface="Arial" panose="020B0604020202020204" pitchFamily="34" charset="0"/>
              </a:rPr>
              <a:t>What does a board of directors do?</a:t>
            </a:r>
          </a:p>
          <a:p>
            <a:pPr marL="285750" marR="0" indent="-285750">
              <a:lnSpc>
                <a:spcPct val="107000"/>
              </a:lnSpc>
              <a:spcBef>
                <a:spcPts val="0"/>
              </a:spcBef>
              <a:spcAft>
                <a:spcPts val="800"/>
              </a:spcAft>
              <a:buFont typeface="Wingdings" panose="05000000000000000000" pitchFamily="2" charset="2"/>
              <a:buChar char="q"/>
            </a:pPr>
            <a:r>
              <a:rPr lang="en-US" sz="1400" dirty="0">
                <a:solidFill>
                  <a:srgbClr val="002060"/>
                </a:solidFill>
                <a:latin typeface="Berlin Sans FB" panose="020E0602020502020306" pitchFamily="34" charset="0"/>
              </a:rPr>
              <a:t>A board of directors primarily functions as a fiduciary, acting on behalf of the organization's shareholders.</a:t>
            </a:r>
          </a:p>
          <a:p>
            <a:pPr marL="285750" marR="0" indent="-285750">
              <a:lnSpc>
                <a:spcPct val="107000"/>
              </a:lnSpc>
              <a:spcBef>
                <a:spcPts val="0"/>
              </a:spcBef>
              <a:spcAft>
                <a:spcPts val="800"/>
              </a:spcAft>
              <a:buFont typeface="Wingdings" panose="05000000000000000000" pitchFamily="2" charset="2"/>
              <a:buChar char="q"/>
            </a:pPr>
            <a:r>
              <a:rPr lang="en-US" sz="1400" dirty="0">
                <a:solidFill>
                  <a:srgbClr val="002060"/>
                </a:solidFill>
                <a:latin typeface="Berlin Sans FB" panose="020E0602020502020306" pitchFamily="34" charset="0"/>
              </a:rPr>
              <a:t> A fiduciary (</a:t>
            </a:r>
            <a:r>
              <a:rPr lang="ar-SA" sz="1400" dirty="0"/>
              <a:t>مستشار توزيع أصول</a:t>
            </a:r>
            <a:r>
              <a:rPr lang="en-US" sz="1400" dirty="0">
                <a:solidFill>
                  <a:srgbClr val="002060"/>
                </a:solidFill>
                <a:latin typeface="Berlin Sans FB" panose="020E0602020502020306" pitchFamily="34" charset="0"/>
              </a:rPr>
              <a:t>) is bound legally and ethically to act in their best interests of the shareholders. </a:t>
            </a:r>
          </a:p>
          <a:p>
            <a:pPr marL="285750" marR="0" indent="-285750">
              <a:lnSpc>
                <a:spcPct val="107000"/>
              </a:lnSpc>
              <a:spcBef>
                <a:spcPts val="0"/>
              </a:spcBef>
              <a:spcAft>
                <a:spcPts val="800"/>
              </a:spcAft>
              <a:buFont typeface="Wingdings" panose="05000000000000000000" pitchFamily="2" charset="2"/>
              <a:buChar char="q"/>
            </a:pPr>
            <a:r>
              <a:rPr lang="en-US" sz="1400" dirty="0">
                <a:solidFill>
                  <a:srgbClr val="002060"/>
                </a:solidFill>
                <a:latin typeface="Berlin Sans FB" panose="020E0602020502020306" pitchFamily="34" charset="0"/>
              </a:rPr>
              <a:t>“Director” is the general term for those who serve on the board.</a:t>
            </a:r>
          </a:p>
          <a:p>
            <a:pPr marR="0">
              <a:lnSpc>
                <a:spcPct val="107000"/>
              </a:lnSpc>
              <a:spcBef>
                <a:spcPts val="0"/>
              </a:spcBef>
              <a:spcAft>
                <a:spcPts val="800"/>
              </a:spcAft>
            </a:pPr>
            <a:r>
              <a:rPr lang="en-US" sz="1600" dirty="0">
                <a:solidFill>
                  <a:srgbClr val="0070C0"/>
                </a:solidFill>
                <a:effectLst>
                  <a:outerShdw blurRad="38100" dist="38100" dir="2700000" algn="tl">
                    <a:srgbClr val="000000">
                      <a:alpha val="43137"/>
                    </a:srgbClr>
                  </a:outerShdw>
                </a:effectLst>
                <a:latin typeface="Berlin Sans FB" panose="020E0602020502020306" pitchFamily="34" charset="0"/>
              </a:rPr>
              <a:t> </a:t>
            </a:r>
            <a:r>
              <a:rPr lang="en-US" dirty="0">
                <a:solidFill>
                  <a:srgbClr val="0070C0"/>
                </a:solidFill>
                <a:effectLst>
                  <a:outerShdw blurRad="38100" dist="38100" dir="2700000" algn="tl">
                    <a:srgbClr val="000000">
                      <a:alpha val="43137"/>
                    </a:srgbClr>
                  </a:outerShdw>
                </a:effectLst>
                <a:latin typeface="Berlin Sans FB" panose="020E0602020502020306" pitchFamily="34" charset="0"/>
              </a:rPr>
              <a:t>Board members make decisions about issues, such as:</a:t>
            </a:r>
          </a:p>
          <a:p>
            <a:pPr marL="742950" lvl="1" indent="-285750">
              <a:spcBef>
                <a:spcPts val="600"/>
              </a:spcBef>
              <a:buSzPts val="1000"/>
              <a:buFont typeface="Wingdings" panose="05000000000000000000" pitchFamily="2" charset="2"/>
              <a:buChar char="§"/>
              <a:tabLst>
                <a:tab pos="457200" algn="l"/>
              </a:tabLst>
            </a:pPr>
            <a:r>
              <a:rPr lang="en-US" sz="1400" dirty="0">
                <a:solidFill>
                  <a:srgbClr val="002060"/>
                </a:solidFill>
                <a:latin typeface="Berlin Sans FB" panose="020E0602020502020306" pitchFamily="34" charset="0"/>
              </a:rPr>
              <a:t>Hiring and firing senior executives</a:t>
            </a:r>
          </a:p>
          <a:p>
            <a:pPr marL="742950" lvl="1" indent="-285750">
              <a:spcBef>
                <a:spcPts val="600"/>
              </a:spcBef>
              <a:buSzPts val="1000"/>
              <a:buFont typeface="Wingdings" panose="05000000000000000000" pitchFamily="2" charset="2"/>
              <a:buChar char="§"/>
              <a:tabLst>
                <a:tab pos="457200" algn="l"/>
              </a:tabLst>
            </a:pPr>
            <a:r>
              <a:rPr lang="en-US" sz="1400" dirty="0">
                <a:solidFill>
                  <a:srgbClr val="002060"/>
                </a:solidFill>
                <a:latin typeface="Berlin Sans FB" panose="020E0602020502020306" pitchFamily="34" charset="0"/>
              </a:rPr>
              <a:t>Creating share policies and payouts </a:t>
            </a:r>
            <a:r>
              <a:rPr lang="en-US" sz="1400" dirty="0">
                <a:solidFill>
                  <a:srgbClr val="0070C0"/>
                </a:solidFill>
                <a:latin typeface="Berlin Sans FB" panose="020E0602020502020306" pitchFamily="34" charset="0"/>
              </a:rPr>
              <a:t>[</a:t>
            </a:r>
            <a:r>
              <a:rPr lang="en-US" sz="1400" dirty="0">
                <a:solidFill>
                  <a:srgbClr val="0070C0"/>
                </a:solidFill>
              </a:rPr>
              <a:t>paid regularly (typically quarterly) by a company to its shareholders out of its profits ]</a:t>
            </a:r>
            <a:endParaRPr lang="en-US" sz="1400" dirty="0">
              <a:solidFill>
                <a:srgbClr val="0070C0"/>
              </a:solidFill>
              <a:latin typeface="Berlin Sans FB" panose="020E0602020502020306" pitchFamily="34" charset="0"/>
            </a:endParaRPr>
          </a:p>
          <a:p>
            <a:pPr marL="742950" lvl="1" indent="-285750">
              <a:spcBef>
                <a:spcPts val="600"/>
              </a:spcBef>
              <a:buSzPts val="1000"/>
              <a:buFont typeface="Wingdings" panose="05000000000000000000" pitchFamily="2" charset="2"/>
              <a:buChar char="§"/>
              <a:tabLst>
                <a:tab pos="457200" algn="l"/>
              </a:tabLst>
            </a:pPr>
            <a:r>
              <a:rPr lang="en-US" sz="1400" dirty="0">
                <a:solidFill>
                  <a:srgbClr val="002060"/>
                </a:solidFill>
                <a:latin typeface="Berlin Sans FB" panose="020E0602020502020306" pitchFamily="34" charset="0"/>
              </a:rPr>
              <a:t>Establishing stock option policies</a:t>
            </a:r>
          </a:p>
          <a:p>
            <a:pPr marL="742950" lvl="1" indent="-285750">
              <a:spcBef>
                <a:spcPts val="600"/>
              </a:spcBef>
              <a:buSzPts val="1000"/>
              <a:buFont typeface="Wingdings" panose="05000000000000000000" pitchFamily="2" charset="2"/>
              <a:buChar char="§"/>
              <a:tabLst>
                <a:tab pos="457200" algn="l"/>
              </a:tabLst>
            </a:pPr>
            <a:r>
              <a:rPr lang="en-US" sz="1400" dirty="0">
                <a:solidFill>
                  <a:srgbClr val="002060"/>
                </a:solidFill>
                <a:latin typeface="Berlin Sans FB" panose="020E0602020502020306" pitchFamily="34" charset="0"/>
              </a:rPr>
              <a:t>Leading acquisitions and mergers</a:t>
            </a:r>
          </a:p>
          <a:p>
            <a:pPr marL="742950" lvl="1" indent="-285750">
              <a:spcBef>
                <a:spcPts val="600"/>
              </a:spcBef>
              <a:buSzPts val="1000"/>
              <a:buFont typeface="Wingdings" panose="05000000000000000000" pitchFamily="2" charset="2"/>
              <a:buChar char="§"/>
              <a:tabLst>
                <a:tab pos="457200" algn="l"/>
              </a:tabLst>
            </a:pPr>
            <a:r>
              <a:rPr lang="en-US" sz="1400" dirty="0">
                <a:solidFill>
                  <a:srgbClr val="002060"/>
                </a:solidFill>
                <a:latin typeface="Berlin Sans FB" panose="020E0602020502020306" pitchFamily="34" charset="0"/>
              </a:rPr>
              <a:t>Responding to crises within the company</a:t>
            </a:r>
          </a:p>
          <a:p>
            <a:pPr marL="742950" lvl="1" indent="-285750">
              <a:spcBef>
                <a:spcPts val="600"/>
              </a:spcBef>
              <a:buSzPts val="1000"/>
              <a:buFont typeface="Wingdings" panose="05000000000000000000" pitchFamily="2" charset="2"/>
              <a:buChar char="§"/>
              <a:tabLst>
                <a:tab pos="457200" algn="l"/>
              </a:tabLst>
            </a:pPr>
            <a:r>
              <a:rPr lang="en-US" sz="1400" dirty="0">
                <a:solidFill>
                  <a:srgbClr val="002060"/>
                </a:solidFill>
                <a:latin typeface="Berlin Sans FB" panose="020E0602020502020306" pitchFamily="34" charset="0"/>
              </a:rPr>
              <a:t>Setting company goals</a:t>
            </a:r>
          </a:p>
          <a:p>
            <a:pPr marL="742950" lvl="1" indent="-285750">
              <a:spcBef>
                <a:spcPts val="600"/>
              </a:spcBef>
              <a:buSzPts val="1000"/>
              <a:buFont typeface="Wingdings" panose="05000000000000000000" pitchFamily="2" charset="2"/>
              <a:buChar char="§"/>
              <a:tabLst>
                <a:tab pos="457200" algn="l"/>
              </a:tabLst>
            </a:pPr>
            <a:r>
              <a:rPr lang="en-US" sz="1400" dirty="0">
                <a:solidFill>
                  <a:srgbClr val="002060"/>
                </a:solidFill>
                <a:latin typeface="Berlin Sans FB" panose="020E0602020502020306" pitchFamily="34" charset="0"/>
              </a:rPr>
              <a:t>Supporting executive duties</a:t>
            </a:r>
          </a:p>
          <a:p>
            <a:pPr marL="742950" lvl="1" indent="-285750">
              <a:spcBef>
                <a:spcPts val="600"/>
              </a:spcBef>
              <a:buSzPts val="1000"/>
              <a:buFont typeface="Wingdings" panose="05000000000000000000" pitchFamily="2" charset="2"/>
              <a:buChar char="§"/>
              <a:tabLst>
                <a:tab pos="457200" algn="l"/>
              </a:tabLst>
            </a:pPr>
            <a:r>
              <a:rPr lang="en-US" sz="1400" dirty="0">
                <a:solidFill>
                  <a:srgbClr val="002060"/>
                </a:solidFill>
                <a:latin typeface="Berlin Sans FB" panose="020E0602020502020306" pitchFamily="34" charset="0"/>
              </a:rPr>
              <a:t>Providing necessary resources</a:t>
            </a:r>
            <a:endParaRPr lang="en-US" dirty="0"/>
          </a:p>
        </p:txBody>
      </p:sp>
    </p:spTree>
    <p:extLst>
      <p:ext uri="{BB962C8B-B14F-4D97-AF65-F5344CB8AC3E}">
        <p14:creationId xmlns:p14="http://schemas.microsoft.com/office/powerpoint/2010/main" val="35004311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A9593C-DCCA-4A0E-F646-E2BD952375D4}"/>
              </a:ext>
            </a:extLst>
          </p:cNvPr>
          <p:cNvSpPr txBox="1"/>
          <p:nvPr/>
        </p:nvSpPr>
        <p:spPr>
          <a:xfrm>
            <a:off x="1359876" y="97672"/>
            <a:ext cx="7674709" cy="6183296"/>
          </a:xfrm>
          <a:prstGeom prst="rect">
            <a:avLst/>
          </a:prstGeom>
          <a:noFill/>
        </p:spPr>
        <p:txBody>
          <a:bodyPr wrap="square">
            <a:spAutoFit/>
          </a:bodyPr>
          <a:lstStyle/>
          <a:p>
            <a:pPr>
              <a:lnSpc>
                <a:spcPct val="107000"/>
              </a:lnSpc>
              <a:spcAft>
                <a:spcPts val="800"/>
              </a:spcAft>
            </a:pPr>
            <a:r>
              <a:rPr lang="en-US" sz="2400" b="1" kern="0" dirty="0">
                <a:solidFill>
                  <a:srgbClr val="C00000"/>
                </a:solidFill>
                <a:latin typeface="Times New Roman" panose="02020603050405020304" pitchFamily="18" charset="0"/>
                <a:cs typeface="Arial" panose="020B0604020202020204" pitchFamily="34" charset="0"/>
              </a:rPr>
              <a:t>Board size</a:t>
            </a: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The size of the board of directors depends on the needs of the company. However An uneven number is recommended to avoid tie votes. </a:t>
            </a: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Many analysts claim that seven is the ideal number of members for a board.</a:t>
            </a: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No matter the number, the directors should represent the interests of both the shareholders and management with external and internal members.</a:t>
            </a:r>
          </a:p>
          <a:p>
            <a:pPr>
              <a:lnSpc>
                <a:spcPct val="107000"/>
              </a:lnSpc>
              <a:spcAft>
                <a:spcPts val="800"/>
              </a:spcAft>
            </a:pPr>
            <a:r>
              <a:rPr lang="en-US" b="1" kern="0" dirty="0">
                <a:solidFill>
                  <a:srgbClr val="C00000"/>
                </a:solidFill>
                <a:latin typeface="Times New Roman" panose="02020603050405020304" pitchFamily="18" charset="0"/>
                <a:cs typeface="Arial" panose="020B0604020202020204" pitchFamily="34" charset="0"/>
              </a:rPr>
              <a:t>Outside vs. inside directors</a:t>
            </a:r>
          </a:p>
          <a:p>
            <a:pPr lvl="1">
              <a:lnSpc>
                <a:spcPct val="107000"/>
              </a:lnSpc>
              <a:spcAft>
                <a:spcPts val="800"/>
              </a:spcAft>
            </a:pPr>
            <a:r>
              <a:rPr lang="en-US" sz="1600" dirty="0">
                <a:solidFill>
                  <a:srgbClr val="0070C0"/>
                </a:solidFill>
                <a:effectLst>
                  <a:outerShdw blurRad="38100" dist="38100" dir="2700000" algn="tl">
                    <a:srgbClr val="000000">
                      <a:alpha val="43137"/>
                    </a:srgbClr>
                  </a:outerShdw>
                </a:effectLst>
                <a:latin typeface="Berlin Sans FB" panose="020E0602020502020306" pitchFamily="34" charset="0"/>
              </a:rPr>
              <a:t>On a board, there are typically two types of directors that each fulfill different roles:</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b="1" kern="0" dirty="0">
                <a:solidFill>
                  <a:srgbClr val="C00000"/>
                </a:solidFill>
                <a:latin typeface="Times New Roman" panose="02020603050405020304" pitchFamily="18" charset="0"/>
                <a:cs typeface="Arial" panose="020B0604020202020204" pitchFamily="34" charset="0"/>
              </a:rPr>
              <a:t>Outside directors</a:t>
            </a: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Outside directors bring an independent view to company issues, as they aren't involved in the company's daily operations.</a:t>
            </a: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 Companies choose outside directors for their expertise in associated business fields. </a:t>
            </a: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Since they are not a company employee, they get pay to attend meetings.</a:t>
            </a:r>
            <a:endParaRPr lang="en-US" sz="1100" kern="1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Aft>
                <a:spcPts val="800"/>
              </a:spcAft>
            </a:pPr>
            <a:r>
              <a:rPr lang="en-US" b="1" kern="0" dirty="0">
                <a:solidFill>
                  <a:srgbClr val="C00000"/>
                </a:solidFill>
                <a:latin typeface="Times New Roman" panose="02020603050405020304" pitchFamily="18" charset="0"/>
                <a:cs typeface="Arial" panose="020B0604020202020204" pitchFamily="34" charset="0"/>
              </a:rPr>
              <a:t>Inside directors</a:t>
            </a: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Inside directors are company employees whose experience brings value to the board. </a:t>
            </a: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Unlike outside directors, these individuals don't receive compensation, as they're already a member of the company and likely receive a regular salary instead.</a:t>
            </a: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 Some popular roles that serve as inside directors on a board include a C-level executive, major shareholder or a union representative.</a:t>
            </a:r>
          </a:p>
        </p:txBody>
      </p:sp>
    </p:spTree>
    <p:extLst>
      <p:ext uri="{BB962C8B-B14F-4D97-AF65-F5344CB8AC3E}">
        <p14:creationId xmlns:p14="http://schemas.microsoft.com/office/powerpoint/2010/main" val="15907031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DEE68C-955D-DE28-C88A-A1AE002EFB36}"/>
              </a:ext>
            </a:extLst>
          </p:cNvPr>
          <p:cNvSpPr txBox="1"/>
          <p:nvPr/>
        </p:nvSpPr>
        <p:spPr>
          <a:xfrm>
            <a:off x="492367" y="620251"/>
            <a:ext cx="5791201" cy="4308872"/>
          </a:xfrm>
          <a:prstGeom prst="rect">
            <a:avLst/>
          </a:prstGeom>
          <a:noFill/>
        </p:spPr>
        <p:txBody>
          <a:bodyPr wrap="square">
            <a:spAutoFit/>
          </a:bodyPr>
          <a:lstStyle/>
          <a:p>
            <a:pPr>
              <a:lnSpc>
                <a:spcPct val="107000"/>
              </a:lnSpc>
              <a:spcAft>
                <a:spcPts val="800"/>
              </a:spcAft>
            </a:pPr>
            <a:r>
              <a:rPr lang="en-US" b="1" kern="0" dirty="0">
                <a:solidFill>
                  <a:srgbClr val="C00000"/>
                </a:solidFill>
                <a:latin typeface="Times New Roman" panose="02020603050405020304" pitchFamily="18" charset="0"/>
                <a:cs typeface="Arial" panose="020B0604020202020204" pitchFamily="34" charset="0"/>
              </a:rPr>
              <a:t>Types of board members</a:t>
            </a:r>
          </a:p>
          <a:p>
            <a:pPr lvl="1">
              <a:lnSpc>
                <a:spcPct val="107000"/>
              </a:lnSpc>
              <a:spcAft>
                <a:spcPts val="800"/>
              </a:spcAft>
            </a:pPr>
            <a:r>
              <a:rPr lang="en-US" dirty="0">
                <a:solidFill>
                  <a:srgbClr val="0070C0"/>
                </a:solidFill>
                <a:effectLst>
                  <a:outerShdw blurRad="38100" dist="38100" dir="2700000" algn="tl">
                    <a:srgbClr val="000000">
                      <a:alpha val="43137"/>
                    </a:srgbClr>
                  </a:outerShdw>
                </a:effectLst>
                <a:latin typeface="Berlin Sans FB" panose="020E0602020502020306" pitchFamily="34" charset="0"/>
              </a:rPr>
              <a:t>They typically include:</a:t>
            </a:r>
          </a:p>
          <a:p>
            <a:pPr lvl="1" indent="-342900">
              <a:lnSpc>
                <a:spcPct val="107000"/>
              </a:lnSpc>
              <a:spcAft>
                <a:spcPts val="800"/>
              </a:spcAft>
              <a:buSzPts val="1000"/>
              <a:buFont typeface="Wingdings" panose="05000000000000000000" pitchFamily="2" charset="2"/>
              <a:buChar char="q"/>
              <a:tabLst>
                <a:tab pos="457200" algn="l"/>
              </a:tabLst>
            </a:pPr>
            <a:r>
              <a:rPr lang="en-US" sz="1600" dirty="0">
                <a:solidFill>
                  <a:srgbClr val="C00000"/>
                </a:solidFill>
                <a:latin typeface="Berlin Sans FB" panose="020E0602020502020306" pitchFamily="34" charset="0"/>
              </a:rPr>
              <a:t>Chairperson: </a:t>
            </a:r>
            <a:r>
              <a:rPr lang="en-US" sz="1400" dirty="0">
                <a:solidFill>
                  <a:srgbClr val="002060"/>
                </a:solidFill>
                <a:latin typeface="Berlin Sans FB" panose="020E0602020502020306" pitchFamily="34" charset="0"/>
              </a:rPr>
              <a:t>Sometimes referred to as a </a:t>
            </a:r>
            <a:r>
              <a:rPr lang="en-US" sz="1400" dirty="0">
                <a:solidFill>
                  <a:srgbClr val="0070C0"/>
                </a:solidFill>
                <a:effectLst>
                  <a:outerShdw blurRad="38100" dist="38100" dir="2700000" algn="tl">
                    <a:srgbClr val="000000">
                      <a:alpha val="43137"/>
                    </a:srgbClr>
                  </a:outerShdw>
                </a:effectLst>
                <a:latin typeface="Berlin Sans FB" panose="020E0602020502020306" pitchFamily="34" charset="0"/>
              </a:rPr>
              <a:t>“chairman” or “president,” </a:t>
            </a:r>
            <a:r>
              <a:rPr lang="en-US" sz="1400" dirty="0">
                <a:solidFill>
                  <a:srgbClr val="002060"/>
                </a:solidFill>
                <a:latin typeface="Berlin Sans FB" panose="020E0602020502020306" pitchFamily="34" charset="0"/>
              </a:rPr>
              <a:t>the chairperson is the acting head of the board of directors. While the chairperson sets the direction for the board, </a:t>
            </a:r>
            <a:r>
              <a:rPr lang="en-US" sz="1400" dirty="0">
                <a:solidFill>
                  <a:srgbClr val="7030A0"/>
                </a:solidFill>
                <a:latin typeface="Berlin Sans FB" panose="020E0602020502020306" pitchFamily="34" charset="0"/>
              </a:rPr>
              <a:t>all board members serve as peers, with many companies choosing CEOs as chairpersons.</a:t>
            </a:r>
          </a:p>
          <a:p>
            <a:pPr lvl="1" indent="-342900">
              <a:lnSpc>
                <a:spcPct val="107000"/>
              </a:lnSpc>
              <a:spcAft>
                <a:spcPts val="800"/>
              </a:spcAft>
              <a:buSzPts val="1000"/>
              <a:buFont typeface="Wingdings" panose="05000000000000000000" pitchFamily="2" charset="2"/>
              <a:buChar char="q"/>
              <a:tabLst>
                <a:tab pos="457200" algn="l"/>
              </a:tabLst>
            </a:pPr>
            <a:r>
              <a:rPr lang="en-US" sz="1600" dirty="0">
                <a:solidFill>
                  <a:srgbClr val="C00000"/>
                </a:solidFill>
                <a:latin typeface="Berlin Sans FB" panose="020E0602020502020306" pitchFamily="34" charset="0"/>
              </a:rPr>
              <a:t>Vice chairperson: </a:t>
            </a:r>
            <a:r>
              <a:rPr lang="en-US" sz="1400" dirty="0">
                <a:solidFill>
                  <a:srgbClr val="002060"/>
                </a:solidFill>
                <a:latin typeface="Berlin Sans FB" panose="020E0602020502020306" pitchFamily="34" charset="0"/>
              </a:rPr>
              <a:t>Sometimes referred to as </a:t>
            </a:r>
            <a:r>
              <a:rPr lang="en-US" sz="1400" dirty="0">
                <a:solidFill>
                  <a:srgbClr val="0070C0"/>
                </a:solidFill>
                <a:latin typeface="Berlin Sans FB" panose="020E0602020502020306" pitchFamily="34" charset="0"/>
              </a:rPr>
              <a:t>“vice president,” </a:t>
            </a:r>
            <a:r>
              <a:rPr lang="en-US" sz="1400" dirty="0">
                <a:solidFill>
                  <a:srgbClr val="002060"/>
                </a:solidFill>
                <a:latin typeface="Berlin Sans FB" panose="020E0602020502020306" pitchFamily="34" charset="0"/>
              </a:rPr>
              <a:t>the vice chairperson serves in the chairperson's absence. </a:t>
            </a:r>
          </a:p>
          <a:p>
            <a:pPr lvl="1" indent="-342900">
              <a:lnSpc>
                <a:spcPct val="107000"/>
              </a:lnSpc>
              <a:spcAft>
                <a:spcPts val="800"/>
              </a:spcAft>
              <a:buSzPts val="1000"/>
              <a:buFont typeface="Wingdings" panose="05000000000000000000" pitchFamily="2" charset="2"/>
              <a:buChar char="q"/>
              <a:tabLst>
                <a:tab pos="457200" algn="l"/>
              </a:tabLst>
            </a:pPr>
            <a:r>
              <a:rPr lang="en-US" sz="1600" dirty="0">
                <a:solidFill>
                  <a:srgbClr val="C00000"/>
                </a:solidFill>
                <a:latin typeface="Berlin Sans FB" panose="020E0602020502020306" pitchFamily="34" charset="0"/>
              </a:rPr>
              <a:t>Treasurer: </a:t>
            </a:r>
            <a:r>
              <a:rPr lang="en-US" sz="1400" dirty="0">
                <a:solidFill>
                  <a:srgbClr val="002060"/>
                </a:solidFill>
                <a:latin typeface="Berlin Sans FB" panose="020E0602020502020306" pitchFamily="34" charset="0"/>
              </a:rPr>
              <a:t>The treasurer handles the company's financial health but does not take responsibility for day-to-day operations. They typically manage the annual budget, financial policies, investments and financial audits.</a:t>
            </a:r>
          </a:p>
          <a:p>
            <a:pPr lvl="1" indent="-342900">
              <a:lnSpc>
                <a:spcPct val="107000"/>
              </a:lnSpc>
              <a:spcAft>
                <a:spcPts val="800"/>
              </a:spcAft>
              <a:buSzPts val="1000"/>
              <a:buFont typeface="Wingdings" panose="05000000000000000000" pitchFamily="2" charset="2"/>
              <a:buChar char="q"/>
              <a:tabLst>
                <a:tab pos="457200" algn="l"/>
              </a:tabLst>
            </a:pPr>
            <a:r>
              <a:rPr lang="en-US" sz="1600" dirty="0">
                <a:solidFill>
                  <a:srgbClr val="C00000"/>
                </a:solidFill>
                <a:latin typeface="Berlin Sans FB" panose="020E0602020502020306" pitchFamily="34" charset="0"/>
              </a:rPr>
              <a:t>The executive director </a:t>
            </a:r>
            <a:r>
              <a:rPr lang="en-US" sz="1400" dirty="0">
                <a:solidFill>
                  <a:srgbClr val="002060"/>
                </a:solidFill>
                <a:latin typeface="Berlin Sans FB" panose="020E0602020502020306" pitchFamily="34" charset="0"/>
              </a:rPr>
              <a:t>is an inside director that holds an executive position within the organization. This may be someone who works as a CEO or in another leading role. </a:t>
            </a:r>
          </a:p>
        </p:txBody>
      </p:sp>
      <p:sp>
        <p:nvSpPr>
          <p:cNvPr id="5" name="TextBox 4">
            <a:extLst>
              <a:ext uri="{FF2B5EF4-FFF2-40B4-BE49-F238E27FC236}">
                <a16:creationId xmlns:a16="http://schemas.microsoft.com/office/drawing/2014/main" id="{8167B037-47FF-EF2A-D903-D287749368B9}"/>
              </a:ext>
            </a:extLst>
          </p:cNvPr>
          <p:cNvSpPr txBox="1"/>
          <p:nvPr/>
        </p:nvSpPr>
        <p:spPr>
          <a:xfrm>
            <a:off x="6744678" y="1609025"/>
            <a:ext cx="5158154" cy="3818674"/>
          </a:xfrm>
          <a:prstGeom prst="rect">
            <a:avLst/>
          </a:prstGeom>
          <a:noFill/>
        </p:spPr>
        <p:txBody>
          <a:bodyPr wrap="square">
            <a:spAutoFit/>
          </a:bodyPr>
          <a:lstStyle/>
          <a:p>
            <a:pPr>
              <a:lnSpc>
                <a:spcPct val="107000"/>
              </a:lnSpc>
              <a:spcAft>
                <a:spcPts val="800"/>
              </a:spcAft>
            </a:pPr>
            <a:r>
              <a:rPr lang="en-US" b="1" kern="0" dirty="0">
                <a:solidFill>
                  <a:srgbClr val="C00000"/>
                </a:solidFill>
                <a:latin typeface="Times New Roman" panose="02020603050405020304" pitchFamily="18" charset="0"/>
                <a:cs typeface="Arial" panose="020B0604020202020204" pitchFamily="34" charset="0"/>
              </a:rPr>
              <a:t>What to look for in a board member</a:t>
            </a:r>
          </a:p>
          <a:p>
            <a:pPr>
              <a:lnSpc>
                <a:spcPct val="107000"/>
              </a:lnSpc>
              <a:spcAft>
                <a:spcPts val="800"/>
              </a:spcAft>
            </a:pPr>
            <a:r>
              <a:rPr lang="en-US" sz="1600" dirty="0">
                <a:solidFill>
                  <a:srgbClr val="0070C0"/>
                </a:solidFill>
                <a:effectLst>
                  <a:outerShdw blurRad="38100" dist="38100" dir="2700000" algn="tl">
                    <a:srgbClr val="000000">
                      <a:alpha val="43137"/>
                    </a:srgbClr>
                  </a:outerShdw>
                </a:effectLst>
                <a:latin typeface="Berlin Sans FB" panose="020E0602020502020306" pitchFamily="34" charset="0"/>
              </a:rPr>
              <a:t>A company can look for the following characteristics when recruiting new board members:</a:t>
            </a:r>
          </a:p>
          <a:p>
            <a:pPr marL="857250" lvl="2" indent="-285750">
              <a:lnSpc>
                <a:spcPct val="107000"/>
              </a:lnSpc>
              <a:spcAft>
                <a:spcPts val="800"/>
              </a:spcAft>
              <a:buSzPts val="1000"/>
              <a:buFont typeface="Wingdings" panose="05000000000000000000" pitchFamily="2" charset="2"/>
              <a:buChar char="§"/>
              <a:tabLst>
                <a:tab pos="457200" algn="l"/>
              </a:tabLst>
            </a:pPr>
            <a:r>
              <a:rPr lang="en-US" sz="1400" dirty="0">
                <a:solidFill>
                  <a:srgbClr val="002060"/>
                </a:solidFill>
                <a:latin typeface="Berlin Sans FB" panose="020E0602020502020306" pitchFamily="34" charset="0"/>
              </a:rPr>
              <a:t>Expertise in a specific area that gives value to the company. For example, many boards include lawyers and financial specialists</a:t>
            </a:r>
          </a:p>
          <a:p>
            <a:pPr marL="857250" lvl="2" indent="-285750">
              <a:lnSpc>
                <a:spcPct val="107000"/>
              </a:lnSpc>
              <a:spcAft>
                <a:spcPts val="800"/>
              </a:spcAft>
              <a:buSzPts val="1000"/>
              <a:buFont typeface="Wingdings" panose="05000000000000000000" pitchFamily="2" charset="2"/>
              <a:buChar char="§"/>
              <a:tabLst>
                <a:tab pos="457200" algn="l"/>
              </a:tabLst>
            </a:pPr>
            <a:r>
              <a:rPr lang="en-US" sz="1400" dirty="0">
                <a:solidFill>
                  <a:srgbClr val="002060"/>
                </a:solidFill>
                <a:latin typeface="Berlin Sans FB" panose="020E0602020502020306" pitchFamily="34" charset="0"/>
              </a:rPr>
              <a:t>Leadership and management experience, especially in related businesses</a:t>
            </a:r>
          </a:p>
          <a:p>
            <a:pPr marL="857250" lvl="2" indent="-285750">
              <a:lnSpc>
                <a:spcPct val="107000"/>
              </a:lnSpc>
              <a:spcAft>
                <a:spcPts val="800"/>
              </a:spcAft>
              <a:buSzPts val="1000"/>
              <a:buFont typeface="Wingdings" panose="05000000000000000000" pitchFamily="2" charset="2"/>
              <a:buChar char="§"/>
              <a:tabLst>
                <a:tab pos="457200" algn="l"/>
              </a:tabLst>
            </a:pPr>
            <a:r>
              <a:rPr lang="en-US" sz="1400" dirty="0">
                <a:solidFill>
                  <a:srgbClr val="002060"/>
                </a:solidFill>
                <a:latin typeface="Berlin Sans FB" panose="020E0602020502020306" pitchFamily="34" charset="0"/>
              </a:rPr>
              <a:t>Commitment to the company and interest in its continued well-being</a:t>
            </a:r>
          </a:p>
          <a:p>
            <a:pPr marL="857250" lvl="2" indent="-285750">
              <a:lnSpc>
                <a:spcPct val="107000"/>
              </a:lnSpc>
              <a:spcAft>
                <a:spcPts val="800"/>
              </a:spcAft>
              <a:buSzPts val="1000"/>
              <a:buFont typeface="Wingdings" panose="05000000000000000000" pitchFamily="2" charset="2"/>
              <a:buChar char="§"/>
              <a:tabLst>
                <a:tab pos="457200" algn="l"/>
              </a:tabLst>
            </a:pPr>
            <a:r>
              <a:rPr lang="en-US" sz="1400" dirty="0">
                <a:solidFill>
                  <a:srgbClr val="002060"/>
                </a:solidFill>
                <a:latin typeface="Berlin Sans FB" panose="020E0602020502020306" pitchFamily="34" charset="0"/>
              </a:rPr>
              <a:t>Commitment to serve by providing the time and energy to devote to their board duties</a:t>
            </a:r>
          </a:p>
          <a:p>
            <a:pPr marL="857250" lvl="2" indent="-285750">
              <a:lnSpc>
                <a:spcPct val="107000"/>
              </a:lnSpc>
              <a:spcAft>
                <a:spcPts val="800"/>
              </a:spcAft>
              <a:buSzPts val="1000"/>
              <a:buFont typeface="Wingdings" panose="05000000000000000000" pitchFamily="2" charset="2"/>
              <a:buChar char="§"/>
              <a:tabLst>
                <a:tab pos="457200" algn="l"/>
              </a:tabLst>
            </a:pPr>
            <a:r>
              <a:rPr lang="en-US" sz="1400" dirty="0">
                <a:solidFill>
                  <a:srgbClr val="002060"/>
                </a:solidFill>
                <a:latin typeface="Berlin Sans FB" panose="020E0602020502020306" pitchFamily="34" charset="0"/>
              </a:rPr>
              <a:t>Integrity and lack of conflict of interest</a:t>
            </a:r>
          </a:p>
        </p:txBody>
      </p:sp>
    </p:spTree>
    <p:extLst>
      <p:ext uri="{BB962C8B-B14F-4D97-AF65-F5344CB8AC3E}">
        <p14:creationId xmlns:p14="http://schemas.microsoft.com/office/powerpoint/2010/main" val="2496705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20DA2B-6F2F-E135-BC0B-B1D48269B6A9}"/>
              </a:ext>
            </a:extLst>
          </p:cNvPr>
          <p:cNvSpPr txBox="1"/>
          <p:nvPr/>
        </p:nvSpPr>
        <p:spPr>
          <a:xfrm>
            <a:off x="265722" y="152254"/>
            <a:ext cx="7455878" cy="6212406"/>
          </a:xfrm>
          <a:prstGeom prst="rect">
            <a:avLst/>
          </a:prstGeom>
          <a:noFill/>
        </p:spPr>
        <p:txBody>
          <a:bodyPr wrap="square">
            <a:spAutoFit/>
          </a:bodyPr>
          <a:lstStyle/>
          <a:p>
            <a:pPr>
              <a:lnSpc>
                <a:spcPct val="107000"/>
              </a:lnSpc>
              <a:spcAft>
                <a:spcPts val="800"/>
              </a:spcAft>
            </a:pPr>
            <a:r>
              <a:rPr lang="en-US" sz="2000" b="1" kern="0" dirty="0">
                <a:solidFill>
                  <a:srgbClr val="C00000"/>
                </a:solidFill>
                <a:latin typeface="Times New Roman" panose="02020603050405020304" pitchFamily="18" charset="0"/>
                <a:cs typeface="Arial" panose="020B0604020202020204" pitchFamily="34" charset="0"/>
              </a:rPr>
              <a:t>Chairman</a:t>
            </a: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The presiding person leading the </a:t>
            </a:r>
            <a:r>
              <a:rPr lang="en-US" sz="1400" dirty="0">
                <a:solidFill>
                  <a:srgbClr val="002060"/>
                </a:solidFill>
                <a:latin typeface="Berlin Sans FB" panose="020E0602020502020306" pitchFamily="34" charset="0"/>
                <a:hlinkClick r:id="rId2">
                  <a:extLst>
                    <a:ext uri="{A12FA001-AC4F-418D-AE19-62706E023703}">
                      <ahyp:hlinkClr xmlns:ahyp="http://schemas.microsoft.com/office/drawing/2018/hyperlinkcolor" val="tx"/>
                    </a:ext>
                  </a:extLst>
                </a:hlinkClick>
              </a:rPr>
              <a:t>business</a:t>
            </a:r>
            <a:r>
              <a:rPr lang="en-US" sz="1400" dirty="0">
                <a:solidFill>
                  <a:srgbClr val="002060"/>
                </a:solidFill>
                <a:latin typeface="Berlin Sans FB" panose="020E0602020502020306" pitchFamily="34" charset="0"/>
              </a:rPr>
              <a:t> and possessing the highest authority in the company is chairman. </a:t>
            </a: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The chairman leads and influences the board of the directors and chief officers to manage the financial, human, technical and environmental working of a corporation.</a:t>
            </a:r>
          </a:p>
          <a:p>
            <a:pPr>
              <a:lnSpc>
                <a:spcPct val="107000"/>
              </a:lnSpc>
              <a:spcAft>
                <a:spcPts val="800"/>
              </a:spcAft>
            </a:pPr>
            <a:r>
              <a:rPr lang="en-US" b="1" kern="0" dirty="0">
                <a:solidFill>
                  <a:srgbClr val="C00000"/>
                </a:solidFill>
                <a:latin typeface="Times New Roman" panose="02020603050405020304" pitchFamily="18" charset="0"/>
                <a:cs typeface="Arial" panose="020B0604020202020204" pitchFamily="34" charset="0"/>
              </a:rPr>
              <a:t>Chief Executive Officer (CEO)</a:t>
            </a: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The CEO is also referred as an executive chairman and takes the command in hand in absence of the chairman. </a:t>
            </a:r>
            <a:r>
              <a:rPr lang="en-US" sz="1400" dirty="0">
                <a:solidFill>
                  <a:srgbClr val="0070C0"/>
                </a:solidFill>
                <a:effectLst>
                  <a:outerShdw blurRad="38100" dist="38100" dir="2700000" algn="tl">
                    <a:srgbClr val="000000">
                      <a:alpha val="43137"/>
                    </a:srgbClr>
                  </a:outerShdw>
                </a:effectLst>
                <a:latin typeface="Berlin Sans FB" panose="020E0602020502020306" pitchFamily="34" charset="0"/>
              </a:rPr>
              <a:t>CEO is the top ranking in the executive officers rank.</a:t>
            </a:r>
          </a:p>
          <a:p>
            <a:pPr>
              <a:lnSpc>
                <a:spcPct val="107000"/>
              </a:lnSpc>
              <a:spcAft>
                <a:spcPts val="800"/>
              </a:spcAft>
            </a:pPr>
            <a:r>
              <a:rPr lang="en-US" b="1" kern="0" dirty="0">
                <a:solidFill>
                  <a:srgbClr val="C00000"/>
                </a:solidFill>
                <a:latin typeface="Times New Roman" panose="02020603050405020304" pitchFamily="18" charset="0"/>
                <a:cs typeface="Arial" panose="020B0604020202020204" pitchFamily="34" charset="0"/>
              </a:rPr>
              <a:t>Chief Operations Officer (COO)</a:t>
            </a: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The chief operation officer is normally following CEO rank. </a:t>
            </a: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A COO can be explained as a director of operations in the corporate sector with a responsibility of handling and managing the daily operations of the organization. </a:t>
            </a: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The professionals at this level focus on the organizational strategy, objectives and plan of actions to be followed. </a:t>
            </a: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The day today management of organization is also carried out at this level.</a:t>
            </a:r>
          </a:p>
          <a:p>
            <a:pPr>
              <a:lnSpc>
                <a:spcPct val="107000"/>
              </a:lnSpc>
              <a:spcAft>
                <a:spcPts val="800"/>
              </a:spcAft>
            </a:pPr>
            <a:r>
              <a:rPr lang="en-US" b="1" kern="0" dirty="0">
                <a:solidFill>
                  <a:srgbClr val="C00000"/>
                </a:solidFill>
                <a:latin typeface="Times New Roman" panose="02020603050405020304" pitchFamily="18" charset="0"/>
                <a:cs typeface="Arial" panose="020B0604020202020204" pitchFamily="34" charset="0"/>
              </a:rPr>
              <a:t>Chief Financial Officer (CFO)</a:t>
            </a: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A chief financial officer is a corporate officer designated at a high level in the </a:t>
            </a:r>
            <a:r>
              <a:rPr lang="en-US" sz="1400" dirty="0">
                <a:solidFill>
                  <a:srgbClr val="002060"/>
                </a:solidFill>
                <a:latin typeface="Berlin Sans FB" panose="020E0602020502020306" pitchFamily="34" charset="0"/>
                <a:hlinkClick r:id="rId3">
                  <a:extLst>
                    <a:ext uri="{A12FA001-AC4F-418D-AE19-62706E023703}">
                      <ahyp:hlinkClr xmlns:ahyp="http://schemas.microsoft.com/office/drawing/2018/hyperlinkcolor" val="tx"/>
                    </a:ext>
                  </a:extLst>
                </a:hlinkClick>
              </a:rPr>
              <a:t>corporate hierarchy</a:t>
            </a:r>
            <a:r>
              <a:rPr lang="en-US" sz="1400" dirty="0">
                <a:solidFill>
                  <a:srgbClr val="002060"/>
                </a:solidFill>
                <a:latin typeface="Berlin Sans FB" panose="020E0602020502020306" pitchFamily="34" charset="0"/>
              </a:rPr>
              <a:t> for the purpose of managing finances for the organization. </a:t>
            </a: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A CFO is directed to report to the CEO. In some organizations the term Treasures is used to define the CFO.</a:t>
            </a:r>
          </a:p>
        </p:txBody>
      </p:sp>
      <p:pic>
        <p:nvPicPr>
          <p:cNvPr id="4" name="Picture 3">
            <a:extLst>
              <a:ext uri="{FF2B5EF4-FFF2-40B4-BE49-F238E27FC236}">
                <a16:creationId xmlns:a16="http://schemas.microsoft.com/office/drawing/2014/main" id="{D6C735D6-A133-E518-7E53-2B16BAC9DA9B}"/>
              </a:ext>
            </a:extLst>
          </p:cNvPr>
          <p:cNvPicPr>
            <a:picLocks noChangeAspect="1"/>
          </p:cNvPicPr>
          <p:nvPr/>
        </p:nvPicPr>
        <p:blipFill>
          <a:blip r:embed="rId4"/>
          <a:stretch>
            <a:fillRect/>
          </a:stretch>
        </p:blipFill>
        <p:spPr>
          <a:xfrm>
            <a:off x="8129949" y="524031"/>
            <a:ext cx="3700593" cy="5200339"/>
          </a:xfrm>
          <a:prstGeom prst="rect">
            <a:avLst/>
          </a:prstGeom>
        </p:spPr>
      </p:pic>
    </p:spTree>
    <p:extLst>
      <p:ext uri="{BB962C8B-B14F-4D97-AF65-F5344CB8AC3E}">
        <p14:creationId xmlns:p14="http://schemas.microsoft.com/office/powerpoint/2010/main" val="13048604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AE4B5C-02CE-7C26-7A0E-465B49593986}"/>
              </a:ext>
            </a:extLst>
          </p:cNvPr>
          <p:cNvSpPr txBox="1"/>
          <p:nvPr/>
        </p:nvSpPr>
        <p:spPr>
          <a:xfrm>
            <a:off x="867507" y="194128"/>
            <a:ext cx="7377724" cy="6142707"/>
          </a:xfrm>
          <a:prstGeom prst="rect">
            <a:avLst/>
          </a:prstGeom>
          <a:noFill/>
        </p:spPr>
        <p:txBody>
          <a:bodyPr wrap="square">
            <a:spAutoFit/>
          </a:bodyPr>
          <a:lstStyle/>
          <a:p>
            <a:pPr>
              <a:lnSpc>
                <a:spcPct val="107000"/>
              </a:lnSpc>
              <a:spcAft>
                <a:spcPts val="800"/>
              </a:spcAft>
            </a:pPr>
            <a:r>
              <a:rPr lang="en-US" b="1" kern="0" dirty="0">
                <a:solidFill>
                  <a:srgbClr val="C00000"/>
                </a:solidFill>
                <a:latin typeface="Times New Roman" panose="02020603050405020304" pitchFamily="18" charset="0"/>
                <a:cs typeface="Arial" panose="020B0604020202020204" pitchFamily="34" charset="0"/>
              </a:rPr>
              <a:t>Chief Administrative Officer (CAO)</a:t>
            </a: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As the designation implies, a CAO is basically responsible for handling and organizing administrative management of the corporations. </a:t>
            </a: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CAO rank is considered one of the highest level ranks in the corporate rank hierarchy.</a:t>
            </a:r>
          </a:p>
          <a:p>
            <a:pPr>
              <a:lnSpc>
                <a:spcPct val="107000"/>
              </a:lnSpc>
              <a:spcAft>
                <a:spcPts val="800"/>
              </a:spcAft>
            </a:pPr>
            <a:r>
              <a:rPr lang="en-US" b="1" kern="0" dirty="0">
                <a:solidFill>
                  <a:srgbClr val="C00000"/>
                </a:solidFill>
                <a:latin typeface="Times New Roman" panose="02020603050405020304" pitchFamily="18" charset="0"/>
                <a:cs typeface="Arial" panose="020B0604020202020204" pitchFamily="34" charset="0"/>
              </a:rPr>
              <a:t>Chief Information Officer (CIO)</a:t>
            </a: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A CIO is a senior level in the corporate rank hierarchy responsible for the maintenance and establishment of the organization’s strategy to ensure that the company’s information and data assets are protected adequately.</a:t>
            </a:r>
          </a:p>
          <a:p>
            <a:pPr>
              <a:lnSpc>
                <a:spcPct val="107000"/>
              </a:lnSpc>
              <a:spcAft>
                <a:spcPts val="800"/>
              </a:spcAft>
            </a:pPr>
            <a:r>
              <a:rPr lang="en-US" b="1" kern="0" dirty="0">
                <a:solidFill>
                  <a:srgbClr val="C00000"/>
                </a:solidFill>
                <a:latin typeface="Times New Roman" panose="02020603050405020304" pitchFamily="18" charset="0"/>
                <a:cs typeface="Arial" panose="020B0604020202020204" pitchFamily="34" charset="0"/>
              </a:rPr>
              <a:t>Chief Technology Officer (CTO)</a:t>
            </a: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CTO is sometimes also termed as a chief technical officer. This is among the high level ranks in hierarchy mainly responsible for managing company’s technology department along with research and development process.</a:t>
            </a:r>
          </a:p>
          <a:p>
            <a:pPr>
              <a:lnSpc>
                <a:spcPct val="107000"/>
              </a:lnSpc>
              <a:spcAft>
                <a:spcPts val="800"/>
              </a:spcAft>
            </a:pPr>
            <a:r>
              <a:rPr lang="en-US" b="1" kern="0" dirty="0">
                <a:solidFill>
                  <a:srgbClr val="C00000"/>
                </a:solidFill>
                <a:latin typeface="Times New Roman" panose="02020603050405020304" pitchFamily="18" charset="0"/>
                <a:cs typeface="Arial" panose="020B0604020202020204" pitchFamily="34" charset="0"/>
              </a:rPr>
              <a:t>Chief Marketing Officer (CMO)</a:t>
            </a: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CMO is a title designated to a professional whose responsibility is to manage different marketing activities in the corporation. </a:t>
            </a:r>
          </a:p>
          <a:p>
            <a:pPr marL="742950" lvl="1" indent="-28575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CMO reports directly to a chief executive officer. This is a </a:t>
            </a:r>
            <a:r>
              <a:rPr lang="en-US" sz="1400" dirty="0">
                <a:solidFill>
                  <a:srgbClr val="0070C0"/>
                </a:solidFill>
                <a:latin typeface="Berlin Sans FB" panose="020E0602020502020306" pitchFamily="34" charset="0"/>
              </a:rPr>
              <a:t>mid-level rank </a:t>
            </a:r>
            <a:r>
              <a:rPr lang="en-US" sz="1400" dirty="0">
                <a:solidFill>
                  <a:srgbClr val="002060"/>
                </a:solidFill>
                <a:latin typeface="Berlin Sans FB" panose="020E0602020502020306" pitchFamily="34" charset="0"/>
              </a:rPr>
              <a:t>in the hierarchy.</a:t>
            </a:r>
          </a:p>
          <a:p>
            <a:pPr>
              <a:lnSpc>
                <a:spcPct val="107000"/>
              </a:lnSpc>
              <a:spcAft>
                <a:spcPts val="800"/>
              </a:spcAft>
            </a:pPr>
            <a:r>
              <a:rPr lang="en-US" b="1" kern="0" dirty="0">
                <a:solidFill>
                  <a:srgbClr val="C00000"/>
                </a:solidFill>
                <a:latin typeface="Times New Roman" panose="02020603050405020304" pitchFamily="18" charset="0"/>
                <a:cs typeface="Arial" panose="020B0604020202020204" pitchFamily="34" charset="0"/>
              </a:rPr>
              <a:t>Chief Human Resources Officer (CHRO)</a:t>
            </a:r>
          </a:p>
          <a:p>
            <a:pPr marL="800100" lvl="1" indent="-342900">
              <a:lnSpc>
                <a:spcPct val="107000"/>
              </a:lnSpc>
              <a:spcAft>
                <a:spcPts val="800"/>
              </a:spcAft>
              <a:buFont typeface="Wingdings" panose="05000000000000000000" pitchFamily="2" charset="2"/>
              <a:buChar char="§"/>
            </a:pPr>
            <a:r>
              <a:rPr lang="en-US" sz="1400" dirty="0">
                <a:solidFill>
                  <a:srgbClr val="002060"/>
                </a:solidFill>
                <a:latin typeface="Berlin Sans FB" panose="020E0602020502020306" pitchFamily="34" charset="0"/>
              </a:rPr>
              <a:t>CHRO is a </a:t>
            </a:r>
            <a:r>
              <a:rPr lang="en-US" sz="1400" dirty="0">
                <a:solidFill>
                  <a:srgbClr val="0070C0"/>
                </a:solidFill>
                <a:latin typeface="Berlin Sans FB" panose="020E0602020502020306" pitchFamily="34" charset="0"/>
              </a:rPr>
              <a:t>mid-level rank </a:t>
            </a:r>
            <a:r>
              <a:rPr lang="en-US" sz="1400" dirty="0">
                <a:solidFill>
                  <a:srgbClr val="002060"/>
                </a:solidFill>
                <a:latin typeface="Berlin Sans FB" panose="020E0602020502020306" pitchFamily="34" charset="0"/>
              </a:rPr>
              <a:t>in the hierarchy taking care of the human resources department for the corporation. CHRO reports to the chief executive officer only.</a:t>
            </a:r>
          </a:p>
        </p:txBody>
      </p:sp>
    </p:spTree>
    <p:extLst>
      <p:ext uri="{BB962C8B-B14F-4D97-AF65-F5344CB8AC3E}">
        <p14:creationId xmlns:p14="http://schemas.microsoft.com/office/powerpoint/2010/main" val="22664421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2F3C3E-3214-4975-A6A5-49A444F9D1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7093" y="733331"/>
            <a:ext cx="4774947" cy="4122596"/>
          </a:xfrm>
          <a:prstGeom prst="rect">
            <a:avLst/>
          </a:prstGeom>
        </p:spPr>
      </p:pic>
      <p:sp>
        <p:nvSpPr>
          <p:cNvPr id="4" name="Rectangle 3">
            <a:extLst>
              <a:ext uri="{FF2B5EF4-FFF2-40B4-BE49-F238E27FC236}">
                <a16:creationId xmlns:a16="http://schemas.microsoft.com/office/drawing/2014/main" id="{4F057A63-EDBF-44CA-87EF-A74F41DD9A75}"/>
              </a:ext>
            </a:extLst>
          </p:cNvPr>
          <p:cNvSpPr/>
          <p:nvPr/>
        </p:nvSpPr>
        <p:spPr>
          <a:xfrm>
            <a:off x="462224" y="733331"/>
            <a:ext cx="6102699" cy="443198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00000"/>
                </a:solidFill>
                <a:effectLst/>
                <a:uLnTx/>
                <a:uFillTx/>
                <a:latin typeface="Berlin Sans FB Demi" panose="020E0802020502020306" pitchFamily="34" charset="0"/>
              </a:rPr>
              <a:t> Types of Board Committees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ndParaRPr>
          </a:p>
          <a:p>
            <a:pPr lvl="1">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rPr>
              <a:t>1</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 Establish committees when it's apparent that issues are too complex and/or numerous to be handled by the entire board.</a:t>
            </a:r>
          </a:p>
          <a:p>
            <a:pPr lvl="1">
              <a:defRPr/>
            </a:pPr>
            <a:b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b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2. For ongoing, major activities establish standing committees; </a:t>
            </a:r>
            <a:r>
              <a:rPr kumimoji="0" lang="en-US" sz="1400" b="0" i="0" u="none" strike="noStrike" kern="1200" cap="none" spc="0" normalizeH="0" baseline="0" noProof="0" dirty="0">
                <a:ln>
                  <a:noFill/>
                </a:ln>
                <a:solidFill>
                  <a:srgbClr val="7030A0"/>
                </a:solidFill>
                <a:effectLst/>
                <a:uLnTx/>
                <a:uFillTx/>
                <a:latin typeface="Berlin Sans FB" panose="020E0602020502020306" pitchFamily="34" charset="0"/>
              </a:rPr>
              <a:t>for short-term activities, establish ad hoc committees that cease when the activities are completed. </a:t>
            </a:r>
          </a:p>
          <a:p>
            <a:pPr lvl="1">
              <a:defRPr/>
            </a:pPr>
            <a:b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b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3. Committees recommend policy for approval by the entire board.</a:t>
            </a:r>
            <a:b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b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4. Committees make full use of board members' expertise, time and commitment, and ensure diversity of opinions on the board.</a:t>
            </a:r>
          </a:p>
          <a:p>
            <a:pPr lvl="1">
              <a:defRPr/>
            </a:pPr>
            <a:b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b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5. Committees may meet monthly (this is typical to new organizations, with working boards), every two months, or every three months.</a:t>
            </a:r>
          </a:p>
          <a:p>
            <a:pPr lvl="1">
              <a:defRPr/>
            </a:pPr>
            <a:b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b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ndParaRPr>
          </a:p>
          <a:p>
            <a:pPr lvl="1">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7. Have at least two board members on each committee, preferably three</a:t>
            </a:r>
          </a:p>
          <a:p>
            <a:pPr lvl="1">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8. Don't have a member on more than two committees</a:t>
            </a:r>
          </a:p>
        </p:txBody>
      </p:sp>
    </p:spTree>
    <p:extLst>
      <p:ext uri="{BB962C8B-B14F-4D97-AF65-F5344CB8AC3E}">
        <p14:creationId xmlns:p14="http://schemas.microsoft.com/office/powerpoint/2010/main" val="23303654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2556296-9D87-4750-AF25-70EC0C6E35FC}"/>
              </a:ext>
            </a:extLst>
          </p:cNvPr>
          <p:cNvSpPr/>
          <p:nvPr/>
        </p:nvSpPr>
        <p:spPr>
          <a:xfrm>
            <a:off x="932041" y="614392"/>
            <a:ext cx="7844636" cy="38164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Berlin Sans FB" panose="020E0602020502020306" pitchFamily="34" charset="0"/>
              </a:rPr>
              <a:t>Audit Committee</a:t>
            </a:r>
            <a:endParaRPr kumimoji="0" lang="en-US" sz="1400" b="0" i="0" u="none" strike="noStrike" kern="1200" cap="none" spc="0" normalizeH="0" baseline="0" noProof="0" dirty="0">
              <a:ln>
                <a:noFill/>
              </a:ln>
              <a:solidFill>
                <a:srgbClr val="C00000"/>
              </a:solidFill>
              <a:effectLst/>
              <a:uLnTx/>
              <a:uFillTx/>
              <a:latin typeface="Berlin Sans FB" panose="020E0602020502020306" pitchFamily="34" charset="0"/>
            </a:endParaRP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the Audit Committee is quickly becoming a standing committee at many organizations. </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It is usually a small committee of three to five members. Its work is often seasonal, tied to the end of the organization’s financial year. </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The Audit Committee selects the outside auditor, meets with the auditor to receive the audit report and management letter.</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ndParaRP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Members of the Audit Committee should be financially literate and at least one (and preferably more) should be financial professionals. </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ndParaRP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While there may be some overlap in membership with the Finance Committee, </a:t>
            </a:r>
            <a:r>
              <a:rPr kumimoji="0" lang="en-US" sz="1400" b="0" i="0" u="none" strike="noStrike" kern="1200" cap="none" spc="0" normalizeH="0" baseline="0" noProof="0" dirty="0">
                <a:ln>
                  <a:noFill/>
                </a:ln>
                <a:solidFill>
                  <a:srgbClr val="7030A0"/>
                </a:solidFill>
                <a:effectLst/>
                <a:uLnTx/>
                <a:uFillTx/>
                <a:latin typeface="Berlin Sans FB" panose="020E0602020502020306" pitchFamily="34" charset="0"/>
              </a:rPr>
              <a:t>the chair of the Finance Committee should not be on the Audit Committee. Likewise, the chair of the board and the CEO should not be on the Audit Committee.</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rPr>
              <a:t>Public Relations committee</a:t>
            </a:r>
          </a:p>
          <a:p>
            <a:pPr marL="742950" marR="0" lvl="1"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rPr>
              <a:t>Represents the organization to the community; enhances the organization's image, including communications with the press </a:t>
            </a:r>
          </a:p>
        </p:txBody>
      </p:sp>
      <p:sp>
        <p:nvSpPr>
          <p:cNvPr id="5" name="TextBox 4">
            <a:extLst>
              <a:ext uri="{FF2B5EF4-FFF2-40B4-BE49-F238E27FC236}">
                <a16:creationId xmlns:a16="http://schemas.microsoft.com/office/drawing/2014/main" id="{A242A178-698C-4157-234B-F8021CA2B5D4}"/>
              </a:ext>
            </a:extLst>
          </p:cNvPr>
          <p:cNvSpPr txBox="1"/>
          <p:nvPr/>
        </p:nvSpPr>
        <p:spPr>
          <a:xfrm>
            <a:off x="932041" y="4553000"/>
            <a:ext cx="2284047" cy="338554"/>
          </a:xfrm>
          <a:prstGeom prst="rect">
            <a:avLst/>
          </a:prstGeom>
          <a:noFill/>
        </p:spPr>
        <p:txBody>
          <a:bodyPr wrap="square">
            <a:spAutoFit/>
          </a:bodyPr>
          <a:lstStyle/>
          <a:p>
            <a:pPr marL="0" algn="l" defTabSz="914400" rtl="0" eaLnBrk="1" latinLnBrk="0" hangingPunct="1"/>
            <a:r>
              <a:rPr lang="en-US" sz="1600" b="1" kern="1200" dirty="0">
                <a:solidFill>
                  <a:srgbClr val="C00000"/>
                </a:solidFill>
                <a:latin typeface="Berlin Sans FB Demi" panose="020E0802020502020306" pitchFamily="34" charset="0"/>
                <a:ea typeface="+mn-ea"/>
                <a:cs typeface="+mn-cs"/>
              </a:rPr>
              <a:t>Finance Committee </a:t>
            </a:r>
          </a:p>
        </p:txBody>
      </p:sp>
      <p:sp>
        <p:nvSpPr>
          <p:cNvPr id="7" name="TextBox 6">
            <a:extLst>
              <a:ext uri="{FF2B5EF4-FFF2-40B4-BE49-F238E27FC236}">
                <a16:creationId xmlns:a16="http://schemas.microsoft.com/office/drawing/2014/main" id="{2B20AFD5-181A-DF41-E04E-FAF0DD759135}"/>
              </a:ext>
            </a:extLst>
          </p:cNvPr>
          <p:cNvSpPr txBox="1"/>
          <p:nvPr/>
        </p:nvSpPr>
        <p:spPr>
          <a:xfrm>
            <a:off x="1391138" y="5013734"/>
            <a:ext cx="8002954" cy="738664"/>
          </a:xfrm>
          <a:prstGeom prst="rect">
            <a:avLst/>
          </a:prstGeom>
          <a:noFill/>
        </p:spPr>
        <p:txBody>
          <a:bodyPr wrap="square">
            <a:spAutoFit/>
          </a:bodyPr>
          <a:lstStyle/>
          <a:p>
            <a:pPr marL="285750" indent="-285750">
              <a:buFont typeface="Courier New" panose="02070309020205020404" pitchFamily="49" charset="0"/>
              <a:buChar char="o"/>
            </a:pPr>
            <a:r>
              <a:rPr lang="en-US" sz="1400" dirty="0">
                <a:solidFill>
                  <a:srgbClr val="002060"/>
                </a:solidFill>
                <a:latin typeface="Berlin Sans FB" panose="020E0602020502020306" pitchFamily="34" charset="0"/>
              </a:rPr>
              <a:t>Oversees development of the budget; ensures accurate tracking/monitoring/accountability for funds.</a:t>
            </a:r>
          </a:p>
          <a:p>
            <a:pPr marL="285750" indent="-285750">
              <a:buFont typeface="Courier New" panose="02070309020205020404" pitchFamily="49" charset="0"/>
              <a:buChar char="o"/>
            </a:pPr>
            <a:r>
              <a:rPr lang="en-US" sz="1400" dirty="0">
                <a:solidFill>
                  <a:srgbClr val="002060"/>
                </a:solidFill>
                <a:latin typeface="Berlin Sans FB" panose="020E0602020502020306" pitchFamily="34" charset="0"/>
              </a:rPr>
              <a:t> ensures adequate financial controls; often led by the board treasurer.</a:t>
            </a:r>
          </a:p>
          <a:p>
            <a:pPr marL="285750" indent="-285750">
              <a:buFont typeface="Courier New" panose="02070309020205020404" pitchFamily="49" charset="0"/>
              <a:buChar char="o"/>
            </a:pPr>
            <a:r>
              <a:rPr lang="en-US" sz="1400" dirty="0">
                <a:solidFill>
                  <a:srgbClr val="002060"/>
                </a:solidFill>
                <a:latin typeface="Berlin Sans FB" panose="020E0602020502020306" pitchFamily="34" charset="0"/>
              </a:rPr>
              <a:t>reviews </a:t>
            </a:r>
            <a:r>
              <a:rPr lang="en-US" sz="1200" dirty="0">
                <a:solidFill>
                  <a:srgbClr val="002060"/>
                </a:solidFill>
                <a:latin typeface="Berlin Sans FB" panose="020E0602020502020306" pitchFamily="34" charset="0"/>
              </a:rPr>
              <a:t>major grants </a:t>
            </a:r>
            <a:r>
              <a:rPr lang="en-US" sz="1400" dirty="0">
                <a:solidFill>
                  <a:srgbClr val="002060"/>
                </a:solidFill>
                <a:latin typeface="Berlin Sans FB" panose="020E0602020502020306" pitchFamily="34" charset="0"/>
              </a:rPr>
              <a:t>and associated terms </a:t>
            </a:r>
            <a:endParaRPr lang="en-US" sz="1600" dirty="0">
              <a:solidFill>
                <a:srgbClr val="002060"/>
              </a:solidFill>
              <a:latin typeface="Berlin Sans FB" panose="020E0602020502020306" pitchFamily="34" charset="0"/>
            </a:endParaRPr>
          </a:p>
        </p:txBody>
      </p:sp>
    </p:spTree>
    <p:extLst>
      <p:ext uri="{BB962C8B-B14F-4D97-AF65-F5344CB8AC3E}">
        <p14:creationId xmlns:p14="http://schemas.microsoft.com/office/powerpoint/2010/main" val="12773089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54544A-0577-4549-AEAC-A5BDDA35DBAD}"/>
              </a:ext>
            </a:extLst>
          </p:cNvPr>
          <p:cNvSpPr/>
          <p:nvPr/>
        </p:nvSpPr>
        <p:spPr>
          <a:xfrm>
            <a:off x="1536768" y="587691"/>
            <a:ext cx="6810063" cy="5078313"/>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C00000"/>
                </a:solidFill>
                <a:effectLst/>
                <a:uLnTx/>
                <a:uFillTx/>
                <a:latin typeface="Berlin Sans FB Demi" panose="020E0802020502020306" pitchFamily="34" charset="0"/>
              </a:rPr>
              <a:t>Security Steering Committee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rPr>
              <a:t>Many organizations form a security steering committee, consisting of stakeholders from many (if not all) of the organization’s business units, departments, functions, and principal locations.</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400" b="0" i="0" u="none" strike="noStrike" kern="1200" cap="none" spc="0" normalizeH="0" baseline="0" noProof="0" dirty="0">
              <a:ln>
                <a:noFill/>
              </a:ln>
              <a:solidFill>
                <a:srgbClr val="C00000"/>
              </a:solidFill>
              <a:effectLst/>
              <a:uLnTx/>
              <a:uFillTx/>
              <a:latin typeface="Berlin Sans FB" panose="020E0602020502020306" pitchFamily="34" charset="0"/>
            </a:endParaRPr>
          </a:p>
          <a:p>
            <a:pPr marR="0" lvl="0" algn="l" defTabSz="914400" rtl="0" eaLnBrk="1" fontAlgn="auto" latinLnBrk="0" hangingPunct="1">
              <a:lnSpc>
                <a:spcPct val="100000"/>
              </a:lnSpc>
              <a:spcBef>
                <a:spcPts val="0"/>
              </a:spcBef>
              <a:spcAft>
                <a:spcPts val="0"/>
              </a:spcAft>
              <a:buClrTx/>
              <a:buSzTx/>
              <a:tabLst/>
              <a:defRPr/>
            </a:pPr>
            <a:r>
              <a:rPr kumimoji="0" lang="en-US" sz="14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rPr>
              <a:t>A steering committee may have a variety of responsibilities, including the following:</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1" i="0" u="none" strike="noStrike" kern="1200" cap="none" spc="0" normalizeH="0" baseline="0" noProof="0" dirty="0">
                <a:ln>
                  <a:noFill/>
                </a:ln>
                <a:solidFill>
                  <a:srgbClr val="C00000"/>
                </a:solidFill>
                <a:effectLst/>
                <a:uLnTx/>
                <a:uFillTx/>
                <a:latin typeface="Berlin Sans FB Demi" panose="020E0802020502020306" pitchFamily="34" charset="0"/>
              </a:rPr>
              <a:t>Risk treatment and recommendation </a:t>
            </a:r>
          </a:p>
          <a:p>
            <a:pPr marR="0" lvl="2" algn="l" defTabSz="914400" rtl="0" eaLnBrk="1" fontAlgn="auto" latinLnBrk="0" hangingPunct="1">
              <a:lnSpc>
                <a:spcPct val="100000"/>
              </a:lnSpc>
              <a:spcBef>
                <a:spcPts val="0"/>
              </a:spcBef>
              <a:spcAft>
                <a:spcPts val="0"/>
              </a:spcAft>
              <a:buClrTx/>
              <a:buSzTx/>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rPr>
              <a:t>The security steering committee may discuss relevant risks, discuss potential avenues of risk treatment</a:t>
            </a:r>
          </a:p>
          <a:p>
            <a:pPr marL="742950" lvl="1" indent="-285750">
              <a:buFont typeface="Wingdings" panose="05000000000000000000" pitchFamily="2" charset="2"/>
              <a:buChar char="§"/>
              <a:defRPr/>
            </a:pPr>
            <a:r>
              <a:rPr lang="en-US" sz="1600" b="1" dirty="0">
                <a:solidFill>
                  <a:srgbClr val="C00000"/>
                </a:solidFill>
                <a:latin typeface="Berlin Sans FB Demi" panose="020E0802020502020306" pitchFamily="34" charset="0"/>
              </a:rPr>
              <a:t> Discussion and coordination of IT and security projects</a:t>
            </a:r>
          </a:p>
          <a:p>
            <a:pPr marR="0" lvl="2" algn="l" defTabSz="914400" rtl="0" eaLnBrk="1" fontAlgn="auto" latinLnBrk="0" hangingPunct="1">
              <a:lnSpc>
                <a:spcPct val="100000"/>
              </a:lnSpc>
              <a:spcBef>
                <a:spcPts val="0"/>
              </a:spcBef>
              <a:spcAft>
                <a:spcPts val="0"/>
              </a:spcAft>
              <a:buClrTx/>
              <a:buSzTx/>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rPr>
              <a:t>The security steering members may discuss various IT and security projects to resolve any resource or scheduling conflicts. </a:t>
            </a:r>
          </a:p>
          <a:p>
            <a:pPr marL="742950" lvl="1" indent="-285750">
              <a:buFont typeface="Wingdings" panose="05000000000000000000" pitchFamily="2" charset="2"/>
              <a:buChar char="§"/>
              <a:defRPr/>
            </a:pPr>
            <a:r>
              <a:rPr lang="en-US" sz="1600" b="1" dirty="0">
                <a:solidFill>
                  <a:srgbClr val="C00000"/>
                </a:solidFill>
                <a:latin typeface="Berlin Sans FB Demi" panose="020E0802020502020306" pitchFamily="34" charset="0"/>
              </a:rPr>
              <a:t>Review of recent risk assessments</a:t>
            </a:r>
          </a:p>
          <a:p>
            <a:pPr marR="0" lvl="2" algn="l" defTabSz="914400" rtl="0" eaLnBrk="1" fontAlgn="auto" latinLnBrk="0" hangingPunct="1">
              <a:lnSpc>
                <a:spcPct val="100000"/>
              </a:lnSpc>
              <a:spcBef>
                <a:spcPts val="0"/>
              </a:spcBef>
              <a:spcAft>
                <a:spcPts val="0"/>
              </a:spcAft>
              <a:buClrTx/>
              <a:buSzTx/>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rPr>
              <a:t>The security steering committee may discuss recent risk assessments in order to develop a common understanding of their results, as well as discuss remediation of findings.</a:t>
            </a:r>
          </a:p>
          <a:p>
            <a:pPr marL="742950" lvl="1" indent="-285750">
              <a:buFont typeface="Wingdings" panose="05000000000000000000" pitchFamily="2" charset="2"/>
              <a:buChar char="§"/>
              <a:defRPr/>
            </a:pPr>
            <a:r>
              <a:rPr lang="en-US" sz="1600" b="1" dirty="0">
                <a:solidFill>
                  <a:srgbClr val="C00000"/>
                </a:solidFill>
                <a:latin typeface="Berlin Sans FB Demi" panose="020E0802020502020306" pitchFamily="34" charset="0"/>
              </a:rPr>
              <a:t> Discussion of new laws, regulations, and requirements </a:t>
            </a:r>
          </a:p>
          <a:p>
            <a:pPr marR="0" lvl="2" algn="l" defTabSz="914400" rtl="0" eaLnBrk="1" fontAlgn="auto" latinLnBrk="0" hangingPunct="1">
              <a:lnSpc>
                <a:spcPct val="100000"/>
              </a:lnSpc>
              <a:spcBef>
                <a:spcPts val="0"/>
              </a:spcBef>
              <a:spcAft>
                <a:spcPts val="0"/>
              </a:spcAft>
              <a:buClrTx/>
              <a:buSzTx/>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rPr>
              <a:t>Committee members can develop high-level strategies that their respective business units or departments can further build out.</a:t>
            </a:r>
            <a:endParaRPr kumimoji="0" lang="en-US" sz="2000" b="0" i="0" u="none" strike="noStrike" kern="1200" cap="none" spc="0" normalizeH="0" baseline="0" noProof="0" dirty="0">
              <a:ln>
                <a:noFill/>
              </a:ln>
              <a:solidFill>
                <a:srgbClr val="002060"/>
              </a:solidFill>
              <a:effectLst/>
              <a:uLnTx/>
              <a:uFillTx/>
              <a:latin typeface="Berlin Sans FB" panose="020E0602020502020306" pitchFamily="34" charset="0"/>
            </a:endParaRPr>
          </a:p>
        </p:txBody>
      </p:sp>
    </p:spTree>
    <p:extLst>
      <p:ext uri="{BB962C8B-B14F-4D97-AF65-F5344CB8AC3E}">
        <p14:creationId xmlns:p14="http://schemas.microsoft.com/office/powerpoint/2010/main" val="7427196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8F4358-6191-5411-DE07-293D133BC138}"/>
              </a:ext>
            </a:extLst>
          </p:cNvPr>
          <p:cNvSpPr txBox="1"/>
          <p:nvPr/>
        </p:nvSpPr>
        <p:spPr>
          <a:xfrm>
            <a:off x="473241" y="240683"/>
            <a:ext cx="8903369" cy="1538883"/>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Organizational Strategy</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So how does an enterprise identify its strategy? COBIT proposes the four strategic archetypes to help describe strategies (figure 1.2).</a:t>
            </a:r>
          </a:p>
        </p:txBody>
      </p:sp>
      <p:pic>
        <p:nvPicPr>
          <p:cNvPr id="4" name="Picture 3">
            <a:extLst>
              <a:ext uri="{FF2B5EF4-FFF2-40B4-BE49-F238E27FC236}">
                <a16:creationId xmlns:a16="http://schemas.microsoft.com/office/drawing/2014/main" id="{B40588F5-25B0-4970-67F0-0F71DF52C26D}"/>
              </a:ext>
            </a:extLst>
          </p:cNvPr>
          <p:cNvPicPr>
            <a:picLocks noChangeAspect="1"/>
          </p:cNvPicPr>
          <p:nvPr/>
        </p:nvPicPr>
        <p:blipFill rotWithShape="1">
          <a:blip r:embed="rId3"/>
          <a:srcRect t="19201" b="51237"/>
          <a:stretch/>
        </p:blipFill>
        <p:spPr>
          <a:xfrm>
            <a:off x="248278" y="2029673"/>
            <a:ext cx="11695444" cy="2125578"/>
          </a:xfrm>
          <a:prstGeom prst="rect">
            <a:avLst/>
          </a:prstGeom>
        </p:spPr>
      </p:pic>
      <p:sp>
        <p:nvSpPr>
          <p:cNvPr id="6" name="TextBox 5">
            <a:extLst>
              <a:ext uri="{FF2B5EF4-FFF2-40B4-BE49-F238E27FC236}">
                <a16:creationId xmlns:a16="http://schemas.microsoft.com/office/drawing/2014/main" id="{65F89B03-CEC4-1553-5D5E-59594A5B57B5}"/>
              </a:ext>
            </a:extLst>
          </p:cNvPr>
          <p:cNvSpPr txBox="1"/>
          <p:nvPr/>
        </p:nvSpPr>
        <p:spPr>
          <a:xfrm>
            <a:off x="1661179" y="4210912"/>
            <a:ext cx="8631682" cy="1800493"/>
          </a:xfrm>
          <a:prstGeom prst="rect">
            <a:avLst/>
          </a:prstGeom>
          <a:noFill/>
        </p:spPr>
        <p:txBody>
          <a:bodyPr wrap="square">
            <a:spAutoFit/>
          </a:bodyPr>
          <a:lstStyle/>
          <a:p>
            <a:pPr marL="285750" marR="0" lvl="0"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Understanding the strategy archetype allows the enterprise to align risk governance processes and ensure that risk efforts are evaluated, directed and monitored in the proper context. </a:t>
            </a:r>
            <a:endParaRPr kumimoji="0" lang="en-US" sz="1800" b="0" i="0" u="none" strike="noStrike" kern="1200" cap="none" spc="0" normalizeH="0" baseline="0" noProof="0" dirty="0">
              <a:ln>
                <a:noFill/>
              </a:ln>
              <a:solidFill>
                <a:srgbClr val="7030A0"/>
              </a:solidFill>
              <a:effectLst/>
              <a:uLnTx/>
              <a:uFillTx/>
              <a:latin typeface="Courier New" panose="02070309020205020404" pitchFamily="49" charset="0"/>
              <a:ea typeface="+mn-ea"/>
              <a:cs typeface="+mn-cs"/>
            </a:endParaRPr>
          </a:p>
          <a:p>
            <a:pPr marL="285750" marR="0" lvl="0"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mn-cs"/>
              </a:rPr>
              <a:t>This requires the enterprise governing body to ensure that the risk appetite and risk tolerance are understood and that they are communicated throughout the enterprise.</a:t>
            </a:r>
          </a:p>
          <a:p>
            <a:pPr marL="285750" indent="-285750" defTabSz="457200">
              <a:spcAft>
                <a:spcPts val="600"/>
              </a:spcAft>
              <a:buFont typeface="Wingdings" panose="05000000000000000000" pitchFamily="2" charset="2"/>
              <a:buChar char="§"/>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This, in turn, establishes the goals of </a:t>
            </a:r>
            <a:r>
              <a:rPr kumimoji="0" lang="en-US" sz="16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risk management capabilities. </a:t>
            </a:r>
          </a:p>
          <a:p>
            <a:pPr marL="285750" marR="0" lvl="0"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spTree>
    <p:extLst>
      <p:ext uri="{BB962C8B-B14F-4D97-AF65-F5344CB8AC3E}">
        <p14:creationId xmlns:p14="http://schemas.microsoft.com/office/powerpoint/2010/main" val="4255122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375A28-39B6-894B-0F07-26E7B5D3324A}"/>
              </a:ext>
            </a:extLst>
          </p:cNvPr>
          <p:cNvSpPr txBox="1"/>
          <p:nvPr/>
        </p:nvSpPr>
        <p:spPr>
          <a:xfrm>
            <a:off x="1267327" y="945952"/>
            <a:ext cx="7988968" cy="34163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ar-SA"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At a high-level, the goals for risk practitioners is to:</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70C0"/>
                </a:solidFill>
                <a:effectLst/>
                <a:uLnTx/>
                <a:uFillTx/>
                <a:latin typeface="Berlin Sans FB" panose="020E0602020502020306" pitchFamily="34" charset="0"/>
                <a:ea typeface="+mn-ea"/>
                <a:cs typeface="+mn-cs"/>
              </a:rPr>
              <a:t>Provide accurate, complete and timely information required to make the best, most well-informed decision possible by senior management.</a:t>
            </a: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Identify, assess and advise, with the appropriate response, the risk that has the highest likelihood of occurrence and/or ability to impact the enterprise ability to successfully achieve its goals and objectives.</a:t>
            </a: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Allow for the ability to balance performance and conformance requirements that best suit the enterprise through the activities previously described.</a:t>
            </a:r>
          </a:p>
        </p:txBody>
      </p:sp>
    </p:spTree>
    <p:extLst>
      <p:ext uri="{BB962C8B-B14F-4D97-AF65-F5344CB8AC3E}">
        <p14:creationId xmlns:p14="http://schemas.microsoft.com/office/powerpoint/2010/main" val="20677409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D0EBE69-4AC1-B2C8-9E7F-EB5C11653B29}"/>
              </a:ext>
            </a:extLst>
          </p:cNvPr>
          <p:cNvSpPr txBox="1"/>
          <p:nvPr/>
        </p:nvSpPr>
        <p:spPr>
          <a:xfrm>
            <a:off x="720511" y="372394"/>
            <a:ext cx="6200551" cy="575894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Organizational Governance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457200" rtl="0" eaLnBrk="1" fontAlgn="auto" latinLnBrk="0" hangingPunct="1">
              <a:lnSpc>
                <a:spcPct val="100000"/>
              </a:lnSpc>
              <a:spcBef>
                <a:spcPts val="60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At its core, governance is the ability to meet stakeholder needs by providing value.</a:t>
            </a:r>
          </a:p>
          <a:p>
            <a:pPr marL="800100" marR="0" lvl="1" indent="-342900" algn="l" defTabSz="457200" rtl="0" eaLnBrk="1" fontAlgn="auto" latinLnBrk="0" hangingPunct="1">
              <a:lnSpc>
                <a:spcPct val="100000"/>
              </a:lnSpc>
              <a:spcBef>
                <a:spcPts val="60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This is achieved through the proper balancing of both performance and conformance requirements defined by the enterprise and only accomplished by ensuring that a proper risk-management capability is in place. </a:t>
            </a:r>
          </a:p>
          <a:p>
            <a:pPr marL="800100" marR="0" lvl="1" indent="-342900" algn="l" defTabSz="457200" rtl="0" eaLnBrk="1" fontAlgn="auto" latinLnBrk="0" hangingPunct="1">
              <a:lnSpc>
                <a:spcPct val="100000"/>
              </a:lnSpc>
              <a:spcBef>
                <a:spcPts val="60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Having a well-defined risk-management program ensures that enterprises are able to identify, analyze, evaluate, assess and respond to those threats that pose the greatest risk.</a:t>
            </a:r>
          </a:p>
          <a:p>
            <a:pPr marL="457200" marR="0" lvl="1" indent="0" algn="l" defTabSz="457200" rtl="0" eaLnBrk="1" fontAlgn="auto" latinLnBrk="0" hangingPunct="1">
              <a:lnSpc>
                <a:spcPct val="100000"/>
              </a:lnSpc>
              <a:spcBef>
                <a:spcPts val="600"/>
              </a:spcBef>
              <a:spcAft>
                <a:spcPts val="600"/>
              </a:spcAft>
              <a:buClrTx/>
              <a:buSzTx/>
              <a:buFontTx/>
              <a:buNone/>
              <a:tabLst/>
              <a:defRPr/>
            </a:pPr>
            <a:endPar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285750" marR="0" lvl="0" indent="-285750" algn="l" defTabSz="457200" rtl="0" eaLnBrk="1" fontAlgn="auto" latinLnBrk="0" hangingPunct="1">
              <a:lnSpc>
                <a:spcPct val="107000"/>
              </a:lnSpc>
              <a:spcBef>
                <a:spcPts val="0"/>
              </a:spcBef>
              <a:spcAft>
                <a:spcPts val="800"/>
              </a:spcAft>
              <a:buClrTx/>
              <a:buSzTx/>
              <a:buFont typeface="Wingdings" panose="05000000000000000000" pitchFamily="2" charset="2"/>
              <a:buChar char="q"/>
              <a:tabLst/>
              <a:defRPr/>
            </a:pPr>
            <a:r>
              <a:rPr kumimoji="0" lang="en-US" sz="1400" b="0" i="0" u="none" strike="noStrike" kern="100" cap="none" spc="0" normalizeH="0" baseline="0" noProof="0" dirty="0">
                <a:ln>
                  <a:noFill/>
                </a:ln>
                <a:solidFill>
                  <a:srgbClr val="C00000"/>
                </a:solidFill>
                <a:effectLst>
                  <a:outerShdw blurRad="38100" dist="38100" dir="2700000" algn="tl">
                    <a:srgbClr val="000000">
                      <a:alpha val="43137"/>
                    </a:srgbClr>
                  </a:outerShdw>
                </a:effectLst>
                <a:uLnTx/>
                <a:uFillTx/>
                <a:latin typeface="Calibri" panose="020F0502020204030204" pitchFamily="34" charset="0"/>
                <a:ea typeface="Calibri" panose="020F0502020204030204" pitchFamily="34" charset="0"/>
                <a:cs typeface="Arial" panose="020B0604020202020204" pitchFamily="34" charset="0"/>
              </a:rPr>
              <a:t>Conformance is about achieving good governance by acting within the laws, regulations, rules and codes. </a:t>
            </a:r>
          </a:p>
          <a:p>
            <a:pPr marL="285750" marR="0" lvl="0" indent="-285750" algn="l" defTabSz="457200" rtl="0" eaLnBrk="1" fontAlgn="auto" latinLnBrk="0" hangingPunct="1">
              <a:lnSpc>
                <a:spcPct val="107000"/>
              </a:lnSpc>
              <a:spcBef>
                <a:spcPts val="0"/>
              </a:spcBef>
              <a:spcAft>
                <a:spcPts val="800"/>
              </a:spcAft>
              <a:buClrTx/>
              <a:buSzTx/>
              <a:buFont typeface="Wingdings" panose="05000000000000000000" pitchFamily="2" charset="2"/>
              <a:buChar char="q"/>
              <a:tabLst/>
              <a:defRPr/>
            </a:pPr>
            <a:r>
              <a:rPr kumimoji="0" lang="en-US" sz="1400" b="0" i="0" u="none" strike="noStrike" kern="100" cap="none" spc="0" normalizeH="0" baseline="0" noProof="0" dirty="0">
                <a:ln>
                  <a:noFill/>
                </a:ln>
                <a:solidFill>
                  <a:srgbClr val="C00000"/>
                </a:solidFill>
                <a:effectLst>
                  <a:outerShdw blurRad="38100" dist="38100" dir="2700000" algn="tl">
                    <a:srgbClr val="000000">
                      <a:alpha val="43137"/>
                    </a:srgbClr>
                  </a:outerShdw>
                </a:effectLst>
                <a:uLnTx/>
                <a:uFillTx/>
                <a:latin typeface="Calibri" panose="020F0502020204030204" pitchFamily="34" charset="0"/>
                <a:ea typeface="Calibri" panose="020F0502020204030204" pitchFamily="34" charset="0"/>
                <a:cs typeface="Arial" panose="020B0604020202020204" pitchFamily="34" charset="0"/>
              </a:rPr>
              <a:t>Performance responsibilities focus on strategy, value creation and resource utilization, enhance business activities to affect revenue, shareholder and stakeholder value.</a:t>
            </a:r>
          </a:p>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2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p:txBody>
      </p:sp>
      <p:pic>
        <p:nvPicPr>
          <p:cNvPr id="2" name="Picture 1">
            <a:extLst>
              <a:ext uri="{FF2B5EF4-FFF2-40B4-BE49-F238E27FC236}">
                <a16:creationId xmlns:a16="http://schemas.microsoft.com/office/drawing/2014/main" id="{4DB43389-68A0-2478-38FC-713C30A10FA1}"/>
              </a:ext>
            </a:extLst>
          </p:cNvPr>
          <p:cNvPicPr>
            <a:picLocks noChangeAspect="1"/>
          </p:cNvPicPr>
          <p:nvPr/>
        </p:nvPicPr>
        <p:blipFill>
          <a:blip r:embed="rId2"/>
          <a:stretch>
            <a:fillRect/>
          </a:stretch>
        </p:blipFill>
        <p:spPr>
          <a:xfrm>
            <a:off x="7236374" y="1958941"/>
            <a:ext cx="4547254" cy="2259005"/>
          </a:xfrm>
          <a:prstGeom prst="rect">
            <a:avLst/>
          </a:prstGeom>
        </p:spPr>
      </p:pic>
    </p:spTree>
    <p:extLst>
      <p:ext uri="{BB962C8B-B14F-4D97-AF65-F5344CB8AC3E}">
        <p14:creationId xmlns:p14="http://schemas.microsoft.com/office/powerpoint/2010/main" val="27067427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BC6C9A-B45A-0D89-19CF-102A154D1522}"/>
              </a:ext>
            </a:extLst>
          </p:cNvPr>
          <p:cNvSpPr txBox="1"/>
          <p:nvPr/>
        </p:nvSpPr>
        <p:spPr>
          <a:xfrm>
            <a:off x="1617059" y="95101"/>
            <a:ext cx="7290458" cy="5834611"/>
          </a:xfrm>
          <a:prstGeom prst="rect">
            <a:avLst/>
          </a:prstGeom>
          <a:noFill/>
        </p:spPr>
        <p:txBody>
          <a:bodyPr wrap="square">
            <a:spAutoFit/>
          </a:bodyPr>
          <a:lstStyle/>
          <a:p>
            <a:pPr marL="0" marR="0" lvl="0" indent="0" algn="l" defTabSz="457200" rtl="0" eaLnBrk="1" fontAlgn="auto" latinLnBrk="0" hangingPunct="1">
              <a:lnSpc>
                <a:spcPct val="107000"/>
              </a:lnSpc>
              <a:spcBef>
                <a:spcPts val="0"/>
              </a:spcBef>
              <a:spcAft>
                <a:spcPts val="800"/>
              </a:spcAft>
              <a:buClrTx/>
              <a:buSzTx/>
              <a:buFontTx/>
              <a:buNone/>
              <a:tabLst/>
              <a:defRPr/>
            </a:pPr>
            <a:r>
              <a:rPr kumimoji="0" lang="en-US" sz="16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Arial" panose="020B0604020202020204" pitchFamily="34" charset="0"/>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70C0"/>
                </a:solidFill>
                <a:effectLst/>
                <a:uLnTx/>
                <a:uFillTx/>
                <a:latin typeface="Times New Roman" panose="02020603050405020304" pitchFamily="18" charset="0"/>
                <a:ea typeface="Times New Roman" panose="02020603050405020304" pitchFamily="18" charset="0"/>
                <a:cs typeface="+mn-cs"/>
              </a:rPr>
              <a:t>Avoid paying too much attention on compliance:</a:t>
            </a:r>
            <a:r>
              <a:rPr kumimoji="0" lang="en-US" sz="2000" b="0" i="0" u="none" strike="noStrike" kern="1200" cap="none" spc="0" normalizeH="0" baseline="0" noProof="0" dirty="0">
                <a:ln>
                  <a:noFill/>
                </a:ln>
                <a:solidFill>
                  <a:srgbClr val="0070C0"/>
                </a:solidFill>
                <a:effectLst/>
                <a:uLnTx/>
                <a:uFillTx/>
                <a:latin typeface="Times New Roman" panose="02020603050405020304" pitchFamily="18" charset="0"/>
                <a:ea typeface="Times New Roman" panose="02020603050405020304" pitchFamily="18" charset="0"/>
                <a:cs typeface="+mn-cs"/>
              </a:rPr>
              <a:t>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Most organizations are wasting valuable time and resources focusing more on compliance at the expense of strategic planning and execution, performance improvement and growing their enterprises.</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Compliance alone is not sufficient to ensure long-term organizational success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hence the need to spend enough time and resources on strategy and performance.</a:t>
            </a:r>
          </a:p>
          <a:p>
            <a:pPr marL="742950" marR="0" lvl="1"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endParaRPr kumimoji="0" lang="en-US" sz="18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0070C0"/>
                </a:solidFill>
                <a:effectLst/>
                <a:uLnTx/>
                <a:uFillTx/>
                <a:latin typeface="Times New Roman" panose="02020603050405020304" pitchFamily="18" charset="0"/>
                <a:ea typeface="Times New Roman" panose="02020603050405020304" pitchFamily="18" charset="0"/>
                <a:cs typeface="+mn-cs"/>
              </a:rPr>
              <a:t>Fully integrate good governance into the organization:</a:t>
            </a:r>
            <a:r>
              <a:rPr kumimoji="0" lang="en-US" sz="2000" b="0" i="0" u="none" strike="noStrike" kern="1200" cap="none" spc="0" normalizeH="0" baseline="0" noProof="0" dirty="0">
                <a:ln>
                  <a:noFill/>
                </a:ln>
                <a:solidFill>
                  <a:srgbClr val="0070C0"/>
                </a:solidFill>
                <a:effectLst/>
                <a:uLnTx/>
                <a:uFillTx/>
                <a:latin typeface="Times New Roman" panose="02020603050405020304" pitchFamily="18" charset="0"/>
                <a:ea typeface="Times New Roman" panose="02020603050405020304" pitchFamily="18" charset="0"/>
                <a:cs typeface="+mn-cs"/>
              </a:rPr>
              <a:t>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mn-cs"/>
              </a:rPr>
              <a:t>This is more than a compliance exercise. Governance should form part of the organization’s DNA and spread through all facets of the organization.</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mn-cs"/>
              </a:rPr>
              <a:t>Thus, governance principles should be taken into account when planning, implementing and reviewing the organization’s objectives.</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Times New Roman" panose="02020603050405020304" pitchFamily="18" charset="0"/>
                <a:cs typeface="+mn-cs"/>
              </a:rPr>
              <a:t>The organization as a whole and every individual within the organization is responsible for good governance and helping the organization achieve its objectives.</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mn-cs"/>
              </a:rPr>
              <a:t>How else can an organization successfully create a balance between performance and conformance and achieve positive enterprise results?</a:t>
            </a:r>
          </a:p>
          <a:p>
            <a:pPr marL="800100" marR="0" lvl="1" indent="-342900" algn="l" defTabSz="457200" rtl="0" eaLnBrk="1" fontAlgn="auto" latinLnBrk="0" hangingPunct="1">
              <a:lnSpc>
                <a:spcPct val="107000"/>
              </a:lnSpc>
              <a:spcBef>
                <a:spcPts val="0"/>
              </a:spcBef>
              <a:spcAft>
                <a:spcPts val="800"/>
              </a:spcAft>
              <a:buClrTx/>
              <a:buSzTx/>
              <a:buFont typeface="+mj-lt"/>
              <a:buAutoNum type="arabicPeriod"/>
              <a:tabLst/>
              <a:defRPr/>
            </a:pPr>
            <a:endParaRPr kumimoji="0" lang="en-US" sz="1600" b="0" i="0" u="none" strike="noStrike" kern="1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2478732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8CCC5A-BA47-B2BD-3294-B23E615D3F64}"/>
              </a:ext>
            </a:extLst>
          </p:cNvPr>
          <p:cNvSpPr txBox="1"/>
          <p:nvPr/>
        </p:nvSpPr>
        <p:spPr>
          <a:xfrm>
            <a:off x="697253" y="450364"/>
            <a:ext cx="4546869" cy="6370975"/>
          </a:xfrm>
          <a:prstGeom prst="rect">
            <a:avLst/>
          </a:prstGeom>
          <a:noFill/>
        </p:spPr>
        <p:txBody>
          <a:bodyPr wrap="square">
            <a:spAutoFit/>
          </a:bodyPr>
          <a:lstStyle/>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 a corporate structure, the directors of an enterprise(frequently organized as a board) are accountable for governance and entrust the senior management team with the responsibility to manage the day-to-day operations in alignment with the strategic direction that the directors approve.</a:t>
            </a:r>
          </a:p>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Risk management functions-- the processes, practices and activities which fall within Risk management  need to be sufficiently </a:t>
            </a:r>
            <a:r>
              <a:rPr kumimoji="0" lang="en-US" sz="1600" b="0" i="0" u="none" strike="noStrike" kern="1200" cap="none" spc="0" normalizeH="0" baseline="0" noProof="0" dirty="0">
                <a:ln>
                  <a:noFill/>
                </a:ln>
                <a:solidFill>
                  <a:srgbClr val="00B0F0"/>
                </a:solidFill>
                <a:effectLst/>
                <a:uLnTx/>
                <a:uFillTx/>
                <a:latin typeface="Berlin Sans FB" panose="020E0602020502020306" pitchFamily="34" charset="0"/>
                <a:ea typeface="+mn-ea"/>
                <a:cs typeface="+mn-cs"/>
              </a:rPr>
              <a:t>governed to ensure continued alignment with the enterprise goals and objectives.</a:t>
            </a:r>
          </a:p>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mn-cs"/>
              </a:rPr>
              <a:t>governing body sets the enterprise strategy and direction relating to risk management capabilities including Risk management policy and Risk appetite </a:t>
            </a:r>
          </a:p>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endParaRPr>
          </a:p>
          <a:p>
            <a:pPr marL="342900" marR="0" lvl="0"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Risk governance applies the principles of </a:t>
            </a:r>
            <a:r>
              <a:rPr kumimoji="0" lang="en-US" sz="18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mn-cs"/>
              </a:rPr>
              <a:t>good governance</a:t>
            </a: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 to the identification, assessment, management and communication of risks. </a:t>
            </a:r>
          </a:p>
          <a:p>
            <a:pPr marL="342900" marR="0" lvl="0" indent="-342900" algn="l" defTabSz="457200" rtl="0" eaLnBrk="1" fontAlgn="auto" latinLnBrk="0" hangingPunct="1">
              <a:lnSpc>
                <a:spcPct val="100000"/>
              </a:lnSpc>
              <a:spcBef>
                <a:spcPts val="0"/>
              </a:spcBef>
              <a:spcAft>
                <a:spcPts val="1200"/>
              </a:spcAft>
              <a:buClrTx/>
              <a:buSzTx/>
              <a:buFont typeface="+mj-lt"/>
              <a:buAutoNum type="arabicPeriod"/>
              <a:tabLst/>
              <a:defRPr/>
            </a:pPr>
            <a:endPar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342900" marR="0" lvl="0" indent="-342900" algn="l" defTabSz="457200" rtl="0" eaLnBrk="1" fontAlgn="auto" latinLnBrk="0" hangingPunct="1">
              <a:lnSpc>
                <a:spcPct val="100000"/>
              </a:lnSpc>
              <a:spcBef>
                <a:spcPts val="0"/>
              </a:spcBef>
              <a:spcAft>
                <a:spcPts val="1200"/>
              </a:spcAft>
              <a:buClrTx/>
              <a:buSzTx/>
              <a:buFont typeface="+mj-lt"/>
              <a:buAutoNum type="arabicPeriod" startAt="10"/>
              <a:tabLst/>
              <a:defRPr/>
            </a:pPr>
            <a:endPar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p:txBody>
      </p:sp>
      <p:pic>
        <p:nvPicPr>
          <p:cNvPr id="2" name="Picture 1">
            <a:extLst>
              <a:ext uri="{FF2B5EF4-FFF2-40B4-BE49-F238E27FC236}">
                <a16:creationId xmlns:a16="http://schemas.microsoft.com/office/drawing/2014/main" id="{A744D037-083D-0D77-AB31-CC1F23BA3DF5}"/>
              </a:ext>
            </a:extLst>
          </p:cNvPr>
          <p:cNvPicPr>
            <a:picLocks noChangeAspect="1"/>
          </p:cNvPicPr>
          <p:nvPr/>
        </p:nvPicPr>
        <p:blipFill>
          <a:blip r:embed="rId2"/>
          <a:stretch>
            <a:fillRect/>
          </a:stretch>
        </p:blipFill>
        <p:spPr>
          <a:xfrm>
            <a:off x="6096000" y="531034"/>
            <a:ext cx="5681964" cy="3651821"/>
          </a:xfrm>
          <a:prstGeom prst="rect">
            <a:avLst/>
          </a:prstGeom>
        </p:spPr>
      </p:pic>
      <p:sp>
        <p:nvSpPr>
          <p:cNvPr id="5" name="TextBox 4">
            <a:extLst>
              <a:ext uri="{FF2B5EF4-FFF2-40B4-BE49-F238E27FC236}">
                <a16:creationId xmlns:a16="http://schemas.microsoft.com/office/drawing/2014/main" id="{DD3F9194-C0DF-6740-2098-7A18F4652305}"/>
              </a:ext>
            </a:extLst>
          </p:cNvPr>
          <p:cNvSpPr txBox="1"/>
          <p:nvPr/>
        </p:nvSpPr>
        <p:spPr>
          <a:xfrm>
            <a:off x="7095510" y="4527018"/>
            <a:ext cx="4682454" cy="132343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1200"/>
              </a:spcAft>
              <a:buClrTx/>
              <a:buSzTx/>
              <a:buFontTx/>
              <a:buNone/>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This communication ensures that risk-management processes, practices and activities are properly aligned and become part of business processes and are embedded within the normal routine and operations within the enterprise.</a:t>
            </a:r>
          </a:p>
        </p:txBody>
      </p:sp>
      <p:sp>
        <p:nvSpPr>
          <p:cNvPr id="7" name="TextBox 6">
            <a:extLst>
              <a:ext uri="{FF2B5EF4-FFF2-40B4-BE49-F238E27FC236}">
                <a16:creationId xmlns:a16="http://schemas.microsoft.com/office/drawing/2014/main" id="{9C6CEA46-65A3-DB08-2FB0-89DED303CC6C}"/>
              </a:ext>
            </a:extLst>
          </p:cNvPr>
          <p:cNvSpPr txBox="1"/>
          <p:nvPr/>
        </p:nvSpPr>
        <p:spPr>
          <a:xfrm>
            <a:off x="6867758" y="81032"/>
            <a:ext cx="413844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Calibri" panose="020F0502020204030204"/>
                <a:ea typeface="+mn-ea"/>
                <a:cs typeface="+mn-cs"/>
              </a:rPr>
              <a:t>overview of the risk governance structure.</a:t>
            </a:r>
          </a:p>
        </p:txBody>
      </p:sp>
    </p:spTree>
    <p:extLst>
      <p:ext uri="{BB962C8B-B14F-4D97-AF65-F5344CB8AC3E}">
        <p14:creationId xmlns:p14="http://schemas.microsoft.com/office/powerpoint/2010/main" val="18337599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403F15-3865-F053-1396-F0411958ED68}"/>
              </a:ext>
            </a:extLst>
          </p:cNvPr>
          <p:cNvSpPr txBox="1"/>
          <p:nvPr/>
        </p:nvSpPr>
        <p:spPr>
          <a:xfrm>
            <a:off x="389985" y="268254"/>
            <a:ext cx="6418221" cy="615553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Risk management is the keystone of governance. </a:t>
            </a:r>
          </a:p>
          <a:p>
            <a:pPr marL="342900" marR="0" lvl="0"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Corporate governance is the system by which organizations evaluate, direct, monitor and ultimately control an enterprise.</a:t>
            </a:r>
          </a:p>
          <a:p>
            <a:pPr marL="342900" marR="0" lvl="0"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objective of any governance system is to enable enterprises to create value for their stakeholders or to promote the creation of value.</a:t>
            </a:r>
          </a:p>
          <a:p>
            <a:pPr marL="342900" marR="0" lvl="0"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risk optimization is essential for the success of any governance system and cannot be isolated, as an enterprise will not be able to properly plan and optimize resources, nor realize benefits, without proper governance and risk management.</a:t>
            </a:r>
          </a:p>
          <a:p>
            <a:pPr marL="342900" marR="0" lvl="0" indent="-342900" algn="l" defTabSz="457200" rtl="0" eaLnBrk="1" fontAlgn="auto" latinLnBrk="0" hangingPunct="1">
              <a:lnSpc>
                <a:spcPct val="100000"/>
              </a:lnSpc>
              <a:spcBef>
                <a:spcPts val="0"/>
              </a:spcBef>
              <a:spcAft>
                <a:spcPts val="1200"/>
              </a:spcAft>
              <a:buClrTx/>
              <a:buSzTx/>
              <a:buFont typeface="+mj-lt"/>
              <a:buAutoNum type="arabicPeriod" startAt="10"/>
              <a:tabLst/>
              <a:defRPr/>
            </a:pPr>
            <a:r>
              <a:rPr kumimoji="0" lang="en-US" sz="14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Governance answers four questions:</a:t>
            </a:r>
          </a:p>
          <a:p>
            <a:pPr marL="1257300" marR="0" lvl="2" indent="-34290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Are we doing the right things?</a:t>
            </a:r>
          </a:p>
          <a:p>
            <a:pPr marL="1257300" marR="0" lvl="2" indent="-34290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Are we doing them the right way?</a:t>
            </a:r>
          </a:p>
          <a:p>
            <a:pPr marL="1257300" marR="0" lvl="2" indent="-34290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Are we getting them done well?</a:t>
            </a:r>
          </a:p>
          <a:p>
            <a:pPr marL="1257300" marR="0" lvl="2" indent="-34290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Are we seeing expected benefits?</a:t>
            </a:r>
          </a:p>
          <a:p>
            <a:pPr marL="342900" marR="0" lvl="0" indent="-342900" algn="l" defTabSz="457200" rtl="0" eaLnBrk="1" fontAlgn="auto" latinLnBrk="0" hangingPunct="1">
              <a:lnSpc>
                <a:spcPct val="100000"/>
              </a:lnSpc>
              <a:spcBef>
                <a:spcPts val="0"/>
              </a:spcBef>
              <a:spcAft>
                <a:spcPts val="1200"/>
              </a:spcAft>
              <a:buClrTx/>
              <a:buSzTx/>
              <a:buFont typeface="+mj-lt"/>
              <a:buAutoNum type="arabicPeriod" startAt="10"/>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There is a distinction between the governance and management functions. </a:t>
            </a:r>
            <a:r>
              <a:rPr kumimoji="0" lang="en-US" sz="1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Management activities focus on planning, building, running and monitoring to ensure proper and continued alignment with the defined goals and objectives established by the governing body. </a:t>
            </a:r>
          </a:p>
          <a:p>
            <a:pPr marL="342900" marR="0" lvl="0" indent="-342900" algn="l" defTabSz="457200" rtl="0" eaLnBrk="1" fontAlgn="auto" latinLnBrk="0" hangingPunct="1">
              <a:lnSpc>
                <a:spcPct val="100000"/>
              </a:lnSpc>
              <a:spcBef>
                <a:spcPts val="0"/>
              </a:spcBef>
              <a:spcAft>
                <a:spcPts val="1200"/>
              </a:spcAft>
              <a:buClrTx/>
              <a:buSzTx/>
              <a:buFont typeface="+mj-lt"/>
              <a:buAutoNum type="arabicPeriod"/>
              <a:tabLst/>
              <a:defRPr/>
            </a:pP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342900" marR="0" lvl="0" indent="-342900" algn="l" defTabSz="457200" rtl="0" eaLnBrk="1" fontAlgn="auto" latinLnBrk="0" hangingPunct="1">
              <a:lnSpc>
                <a:spcPct val="100000"/>
              </a:lnSpc>
              <a:spcBef>
                <a:spcPts val="0"/>
              </a:spcBef>
              <a:spcAft>
                <a:spcPts val="1200"/>
              </a:spcAft>
              <a:buClrTx/>
              <a:buSzTx/>
              <a:buFont typeface="+mj-lt"/>
              <a:buAutoNum type="arabicPeriod"/>
              <a:tabLst/>
              <a:defRPr/>
            </a:pP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0" marR="0" lvl="0" indent="0" algn="l" defTabSz="457200" rtl="0" eaLnBrk="1" fontAlgn="auto" latinLnBrk="0" hangingPunct="1">
              <a:lnSpc>
                <a:spcPct val="100000"/>
              </a:lnSpc>
              <a:spcBef>
                <a:spcPts val="0"/>
              </a:spcBef>
              <a:spcAft>
                <a:spcPts val="120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p:txBody>
      </p:sp>
      <p:pic>
        <p:nvPicPr>
          <p:cNvPr id="4" name="Picture 3">
            <a:extLst>
              <a:ext uri="{FF2B5EF4-FFF2-40B4-BE49-F238E27FC236}">
                <a16:creationId xmlns:a16="http://schemas.microsoft.com/office/drawing/2014/main" id="{CF930371-EEFE-84EF-C992-17591A0EA696}"/>
              </a:ext>
            </a:extLst>
          </p:cNvPr>
          <p:cNvPicPr>
            <a:picLocks noChangeAspect="1"/>
          </p:cNvPicPr>
          <p:nvPr/>
        </p:nvPicPr>
        <p:blipFill>
          <a:blip r:embed="rId2"/>
          <a:stretch>
            <a:fillRect/>
          </a:stretch>
        </p:blipFill>
        <p:spPr>
          <a:xfrm>
            <a:off x="6808206" y="1563461"/>
            <a:ext cx="5189977" cy="3557325"/>
          </a:xfrm>
          <a:prstGeom prst="rect">
            <a:avLst/>
          </a:prstGeom>
        </p:spPr>
      </p:pic>
    </p:spTree>
    <p:extLst>
      <p:ext uri="{BB962C8B-B14F-4D97-AF65-F5344CB8AC3E}">
        <p14:creationId xmlns:p14="http://schemas.microsoft.com/office/powerpoint/2010/main" val="28470996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4DEC68-7741-CCEB-F9E8-043F4849ADD4}"/>
              </a:ext>
            </a:extLst>
          </p:cNvPr>
          <p:cNvSpPr txBox="1"/>
          <p:nvPr/>
        </p:nvSpPr>
        <p:spPr>
          <a:xfrm>
            <a:off x="515054" y="0"/>
            <a:ext cx="9452811" cy="6321474"/>
          </a:xfrm>
          <a:prstGeom prst="rect">
            <a:avLst/>
          </a:prstGeom>
          <a:noFill/>
        </p:spPr>
        <p:txBody>
          <a:bodyPr wrap="square">
            <a:spAutoFit/>
          </a:bodyPr>
          <a:lstStyle/>
          <a:p>
            <a:pPr marL="742950" marR="0" lvl="0" indent="-285750" algn="l" defTabSz="914400" rtl="0" eaLnBrk="1" fontAlgn="auto" latinLnBrk="0" hangingPunct="1">
              <a:lnSpc>
                <a:spcPct val="107000"/>
              </a:lnSpc>
              <a:spcBef>
                <a:spcPts val="0"/>
              </a:spcBef>
              <a:spcAft>
                <a:spcPts val="8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Times New Roman" panose="02020603050405020304" pitchFamily="18" charset="0"/>
                <a:cs typeface="Times New Roman" panose="02020603050405020304" pitchFamily="18" charset="0"/>
              </a:rPr>
              <a:t>Risk governance applies the principles of good governance to the identification, assessment, management and communication of risks </a:t>
            </a:r>
            <a:r>
              <a:rPr kumimoji="0" lang="en-US" sz="1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Times New Roman" panose="02020603050405020304" pitchFamily="18" charset="0"/>
                <a:cs typeface="Times New Roman" panose="02020603050405020304" pitchFamily="18" charset="0"/>
              </a:rPr>
              <a:t>(</a:t>
            </a:r>
            <a:r>
              <a:rPr lang="en-US" sz="1400" dirty="0">
                <a:solidFill>
                  <a:srgbClr val="C00000"/>
                </a:solidFill>
                <a:effectLst>
                  <a:outerShdw blurRad="38100" dist="38100" dir="2700000" algn="tl">
                    <a:srgbClr val="000000">
                      <a:alpha val="43137"/>
                    </a:srgbClr>
                  </a:outerShdw>
                </a:effectLst>
                <a:latin typeface="Berlin Sans FB" panose="020E0602020502020306" pitchFamily="34" charset="0"/>
                <a:ea typeface="Times New Roman" panose="02020603050405020304" pitchFamily="18" charset="0"/>
                <a:cs typeface="Times New Roman" panose="02020603050405020304" pitchFamily="18" charset="0"/>
              </a:rPr>
              <a:t> what is a good governance ….</a:t>
            </a:r>
            <a:r>
              <a:rPr kumimoji="0" lang="en-US" sz="1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Times New Roman" panose="02020603050405020304" pitchFamily="18" charset="0"/>
                <a:cs typeface="Times New Roman" panose="02020603050405020304" pitchFamily="18" charset="0"/>
              </a:rPr>
              <a:t>The board of directors must act following the four principles of governance — accountability, transparency, fairness and responsibility — for the best interest of stakeholders, shareholders and the business as a whole.)</a:t>
            </a:r>
            <a:endParaRPr kumimoji="0" lang="en-US" sz="16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Times New Roman" panose="02020603050405020304" pitchFamily="18" charset="0"/>
              <a:cs typeface="Times New Roman" panose="02020603050405020304" pitchFamily="18" charset="0"/>
            </a:endParaRPr>
          </a:p>
          <a:p>
            <a:pPr marL="742950" marR="0" lvl="0" indent="-285750" algn="l" defTabSz="914400" rtl="0" eaLnBrk="1" fontAlgn="auto" latinLnBrk="0" hangingPunct="1">
              <a:lnSpc>
                <a:spcPct val="107000"/>
              </a:lnSpc>
              <a:spcBef>
                <a:spcPts val="0"/>
              </a:spcBef>
              <a:spcAft>
                <a:spcPts val="80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Times New Roman" panose="02020603050405020304" pitchFamily="18" charset="0"/>
                <a:cs typeface="Times New Roman" panose="02020603050405020304" pitchFamily="18" charset="0"/>
              </a:rPr>
              <a:t>Risk Governance objectives: Ensure that risk management practices are embedded in the enterprise</a:t>
            </a:r>
          </a:p>
          <a:p>
            <a:pPr marL="457200" marR="0" lvl="0" algn="l" defTabSz="914400" rtl="0" eaLnBrk="1" fontAlgn="auto" latinLnBrk="0" hangingPunct="1">
              <a:lnSpc>
                <a:spcPct val="107000"/>
              </a:lnSpc>
              <a:spcBef>
                <a:spcPts val="0"/>
              </a:spcBef>
              <a:spcAft>
                <a:spcPts val="800"/>
              </a:spcAft>
              <a:buClrTx/>
              <a:buSzTx/>
              <a:tabLst/>
              <a:defRPr/>
            </a:pPr>
            <a:r>
              <a:rPr kumimoji="0" lang="en-US" sz="1800" b="0" i="0" u="none" strike="noStrike" kern="1200" cap="none" spc="0" normalizeH="0" baseline="0" noProof="0" dirty="0">
                <a:ln>
                  <a:noFill/>
                </a:ln>
                <a:solidFill>
                  <a:srgbClr val="0070C0"/>
                </a:solidFill>
                <a:effectLst>
                  <a:outerShdw blurRad="38100" dist="38100" dir="2700000" algn="tl">
                    <a:srgbClr val="000000">
                      <a:alpha val="43137"/>
                    </a:srgbClr>
                  </a:outerShdw>
                </a:effectLst>
                <a:uLnTx/>
                <a:uFillTx/>
                <a:latin typeface="Berlin Sans FB" panose="020E0602020502020306" pitchFamily="34" charset="0"/>
                <a:ea typeface="+mn-ea"/>
                <a:cs typeface="Times New Roman" panose="02020603050405020304" pitchFamily="18" charset="0"/>
              </a:rPr>
              <a:t>The four core objectives of Risk Governance are </a:t>
            </a:r>
            <a:r>
              <a:rPr kumimoji="0" lang="en-US" sz="1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Times New Roman" panose="02020603050405020304" pitchFamily="18" charset="0"/>
              </a:rPr>
              <a:t>:</a:t>
            </a:r>
          </a:p>
          <a:p>
            <a:pPr marL="1257300" lvl="2" indent="-342900">
              <a:lnSpc>
                <a:spcPct val="107000"/>
              </a:lnSpc>
              <a:spcAft>
                <a:spcPts val="800"/>
              </a:spcAft>
              <a:buSzPts val="1000"/>
              <a:buFont typeface="Symbol" panose="05050102010706020507" pitchFamily="18" charset="2"/>
              <a:buChar char=""/>
              <a:tabLst>
                <a:tab pos="457200" algn="l"/>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Times New Roman" panose="02020603050405020304" pitchFamily="18" charset="0"/>
              </a:rPr>
              <a:t>RG1 Establish and Maintain a Common Risk View</a:t>
            </a:r>
            <a:endParaRPr kumimoji="0" lang="en-US" sz="1200" b="0"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Arial" panose="020B0604020202020204" pitchFamily="34" charset="0"/>
            </a:endParaRPr>
          </a:p>
          <a:p>
            <a:pPr marL="1657350" lvl="3" indent="-285750">
              <a:lnSpc>
                <a:spcPct val="107000"/>
              </a:lnSpc>
              <a:buSzPts val="1000"/>
              <a:buFont typeface="Courier New" panose="02070309020205020404" pitchFamily="49" charset="0"/>
              <a:buChar char="o"/>
              <a:tabLst>
                <a:tab pos="914400" algn="l"/>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Times New Roman" panose="02020603050405020304" pitchFamily="18" charset="0"/>
              </a:rPr>
              <a:t>Perform enterprise risk assessment</a:t>
            </a:r>
            <a:endParaRPr kumimoji="0" lang="en-US" sz="1200" b="0"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657350" lvl="3" indent="-285750">
              <a:lnSpc>
                <a:spcPct val="107000"/>
              </a:lnSpc>
              <a:buSzPts val="1000"/>
              <a:buFont typeface="Courier New" panose="02070309020205020404" pitchFamily="49" charset="0"/>
              <a:buChar char="o"/>
              <a:tabLst>
                <a:tab pos="914400" algn="l"/>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Times New Roman" panose="02020603050405020304" pitchFamily="18" charset="0"/>
              </a:rPr>
              <a:t>Propose risk tolerance and </a:t>
            </a:r>
            <a:r>
              <a:rPr lang="en-US" sz="1400" dirty="0">
                <a:solidFill>
                  <a:srgbClr val="C00000"/>
                </a:solidFill>
                <a:effectLst>
                  <a:outerShdw blurRad="38100" dist="38100" dir="2700000" algn="tl">
                    <a:srgbClr val="000000">
                      <a:alpha val="43137"/>
                    </a:srgbClr>
                  </a:outerShdw>
                </a:effectLst>
                <a:latin typeface="Berlin Sans FB" panose="020E0602020502020306" pitchFamily="34" charset="0"/>
                <a:cs typeface="Arial" panose="020B0604020202020204" pitchFamily="34" charset="0"/>
              </a:rPr>
              <a:t>Appetite</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Times New Roman" panose="02020603050405020304" pitchFamily="18" charset="0"/>
              </a:rPr>
              <a:t> thresholds</a:t>
            </a:r>
            <a:endParaRPr kumimoji="0" lang="en-US" sz="1200" b="0"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657350" lvl="3" indent="-285750">
              <a:lnSpc>
                <a:spcPct val="107000"/>
              </a:lnSpc>
              <a:buSzPts val="1000"/>
              <a:buFont typeface="Courier New" panose="02070309020205020404" pitchFamily="49" charset="0"/>
              <a:buChar char="o"/>
              <a:tabLst>
                <a:tab pos="914400" algn="l"/>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Times New Roman" panose="02020603050405020304" pitchFamily="18" charset="0"/>
              </a:rPr>
              <a:t>Approve risk tolerance and Appetite</a:t>
            </a:r>
            <a:endParaRPr kumimoji="0" lang="en-US" sz="1200" b="0"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657350" lvl="3" indent="-285750">
              <a:lnSpc>
                <a:spcPct val="107000"/>
              </a:lnSpc>
              <a:buSzPts val="1000"/>
              <a:buFont typeface="Courier New" panose="02070309020205020404" pitchFamily="49" charset="0"/>
              <a:buChar char="o"/>
              <a:tabLst>
                <a:tab pos="914400" algn="l"/>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Times New Roman" panose="02020603050405020304" pitchFamily="18" charset="0"/>
              </a:rPr>
              <a:t>Promote risk-aware culture</a:t>
            </a:r>
            <a:endParaRPr kumimoji="0" lang="en-US" sz="1200" b="0"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657350" lvl="3" indent="-285750">
              <a:lnSpc>
                <a:spcPct val="107000"/>
              </a:lnSpc>
              <a:buSzPts val="1000"/>
              <a:buFont typeface="Courier New" panose="02070309020205020404" pitchFamily="49" charset="0"/>
              <a:buChar char="o"/>
              <a:tabLst>
                <a:tab pos="914400" algn="l"/>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Times New Roman" panose="02020603050405020304" pitchFamily="18" charset="0"/>
              </a:rPr>
              <a:t>Encourage effective communication of risk</a:t>
            </a:r>
          </a:p>
          <a:p>
            <a:pPr marL="1657350" lvl="3" indent="-285750">
              <a:lnSpc>
                <a:spcPct val="107000"/>
              </a:lnSpc>
              <a:buSzPts val="1000"/>
              <a:buFont typeface="Courier New" panose="02070309020205020404" pitchFamily="49" charset="0"/>
              <a:buChar char="o"/>
              <a:tabLst>
                <a:tab pos="914400" algn="l"/>
              </a:tabLst>
              <a:defRPr/>
            </a:pPr>
            <a:endParaRPr kumimoji="0" lang="en-US" sz="1200" b="0"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257300" lvl="2" indent="-342900">
              <a:lnSpc>
                <a:spcPct val="107000"/>
              </a:lnSpc>
              <a:spcAft>
                <a:spcPts val="800"/>
              </a:spcAft>
              <a:buSzPts val="1000"/>
              <a:buFont typeface="Symbol" panose="05050102010706020507" pitchFamily="18" charset="2"/>
              <a:buChar char=""/>
              <a:tabLst>
                <a:tab pos="457200" algn="l"/>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Times New Roman" panose="02020603050405020304" pitchFamily="18" charset="0"/>
              </a:rPr>
              <a:t>RG2 Integrate With ERM</a:t>
            </a:r>
            <a:endParaRPr kumimoji="0" lang="en-US" sz="1200" b="0"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Arial" panose="020B0604020202020204" pitchFamily="34" charset="0"/>
            </a:endParaRPr>
          </a:p>
          <a:p>
            <a:pPr marL="1657350" lvl="3" indent="-285750">
              <a:lnSpc>
                <a:spcPct val="107000"/>
              </a:lnSpc>
              <a:buSzPts val="1000"/>
              <a:buFont typeface="Courier New" panose="02070309020205020404" pitchFamily="49" charset="0"/>
              <a:buChar char="o"/>
              <a:tabLst>
                <a:tab pos="914400" algn="l"/>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Times New Roman" panose="02020603050405020304" pitchFamily="18" charset="0"/>
              </a:rPr>
              <a:t>Establish and maintain accountability for risk management</a:t>
            </a:r>
            <a:endParaRPr kumimoji="0" lang="en-US" sz="1200" b="0"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657350" lvl="3" indent="-285750">
              <a:lnSpc>
                <a:spcPct val="107000"/>
              </a:lnSpc>
              <a:buSzPts val="1000"/>
              <a:buFont typeface="Courier New" panose="02070309020205020404" pitchFamily="49" charset="0"/>
              <a:buChar char="o"/>
              <a:tabLst>
                <a:tab pos="914400" algn="l"/>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Times New Roman" panose="02020603050405020304" pitchFamily="18" charset="0"/>
              </a:rPr>
              <a:t>Coordinate risk strategy and business strategy</a:t>
            </a:r>
            <a:endParaRPr kumimoji="0" lang="en-US" sz="1200" b="0"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657350" lvl="3" indent="-285750">
              <a:lnSpc>
                <a:spcPct val="107000"/>
              </a:lnSpc>
              <a:buSzPts val="1000"/>
              <a:buFont typeface="Courier New" panose="02070309020205020404" pitchFamily="49" charset="0"/>
              <a:buChar char="o"/>
              <a:tabLst>
                <a:tab pos="914400" algn="l"/>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Times New Roman" panose="02020603050405020304" pitchFamily="18" charset="0"/>
              </a:rPr>
              <a:t>Provide adequate resources for risk management</a:t>
            </a:r>
            <a:endParaRPr kumimoji="0" lang="en-US" sz="1200" b="0"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657350" lvl="3" indent="-285750">
              <a:lnSpc>
                <a:spcPct val="107000"/>
              </a:lnSpc>
              <a:buSzPts val="1000"/>
              <a:buFont typeface="Courier New" panose="02070309020205020404" pitchFamily="49" charset="0"/>
              <a:buChar char="o"/>
              <a:tabLst>
                <a:tab pos="914400" algn="l"/>
              </a:tabLst>
              <a:defRPr/>
            </a:pPr>
            <a:endParaRPr kumimoji="0" lang="en-US" sz="1200" b="0"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257300" lvl="2" indent="-342900">
              <a:lnSpc>
                <a:spcPct val="107000"/>
              </a:lnSpc>
              <a:spcAft>
                <a:spcPts val="800"/>
              </a:spcAft>
              <a:buSzPts val="1000"/>
              <a:buFont typeface="Symbol" panose="05050102010706020507" pitchFamily="18" charset="2"/>
              <a:buChar char=""/>
              <a:tabLst>
                <a:tab pos="457200" algn="l"/>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Times New Roman" panose="02020603050405020304" pitchFamily="18" charset="0"/>
              </a:rPr>
              <a:t>RG3 Make Risk-aware Business Decisions</a:t>
            </a:r>
            <a:endParaRPr kumimoji="0" lang="en-US" sz="1200" b="0"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Arial" panose="020B0604020202020204" pitchFamily="34" charset="0"/>
            </a:endParaRPr>
          </a:p>
          <a:p>
            <a:pPr marL="1657350" lvl="3" indent="-285750">
              <a:lnSpc>
                <a:spcPct val="107000"/>
              </a:lnSpc>
              <a:buSzPts val="1000"/>
              <a:buFont typeface="Courier New" panose="02070309020205020404" pitchFamily="49" charset="0"/>
              <a:buChar char="o"/>
              <a:tabLst>
                <a:tab pos="914400" algn="l"/>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Times New Roman" panose="02020603050405020304" pitchFamily="18" charset="0"/>
              </a:rPr>
              <a:t>Gain management buy-in for the risk analysis approach</a:t>
            </a:r>
            <a:endParaRPr kumimoji="0" lang="en-US" sz="1200" b="0"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657350" lvl="3" indent="-285750">
              <a:lnSpc>
                <a:spcPct val="107000"/>
              </a:lnSpc>
              <a:buSzPts val="1000"/>
              <a:buFont typeface="Courier New" panose="02070309020205020404" pitchFamily="49" charset="0"/>
              <a:buChar char="o"/>
              <a:tabLst>
                <a:tab pos="914400" algn="l"/>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Times New Roman" panose="02020603050405020304" pitchFamily="18" charset="0"/>
              </a:rPr>
              <a:t>Approve risk analysis</a:t>
            </a:r>
            <a:endParaRPr kumimoji="0" lang="en-US" sz="1200" b="0" i="0" u="none" strike="noStrike" kern="1200" cap="none" spc="0" normalizeH="0" baseline="0" noProof="0" dirty="0">
              <a:ln>
                <a:noFill/>
              </a:ln>
              <a:solidFill>
                <a:srgbClr val="002060"/>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1657350" lvl="3" indent="-285750">
              <a:lnSpc>
                <a:spcPct val="107000"/>
              </a:lnSpc>
              <a:buSzPts val="1000"/>
              <a:buFont typeface="Courier New" panose="02070309020205020404" pitchFamily="49" charset="0"/>
              <a:buChar char="o"/>
              <a:tabLst>
                <a:tab pos="914400" algn="l"/>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Times New Roman" panose="02020603050405020304" pitchFamily="18" charset="0"/>
              </a:rPr>
              <a:t>Embed risk consideration in strategic business decision making</a:t>
            </a:r>
          </a:p>
          <a:p>
            <a:pPr marL="1657350" lvl="3" indent="-285750">
              <a:lnSpc>
                <a:spcPct val="107000"/>
              </a:lnSpc>
              <a:buSzPts val="1000"/>
              <a:buFont typeface="Courier New" panose="02070309020205020404" pitchFamily="49" charset="0"/>
              <a:buChar char="o"/>
              <a:tabLst>
                <a:tab pos="914400" algn="l"/>
              </a:tabLst>
              <a:defRPr/>
            </a:pP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Times New Roman" panose="02020603050405020304" pitchFamily="18" charset="0"/>
              <a:cs typeface="Times New Roman" panose="02020603050405020304" pitchFamily="18" charset="0"/>
            </a:endParaRPr>
          </a:p>
          <a:p>
            <a:pPr marL="1257300" lvl="2" indent="-342900">
              <a:lnSpc>
                <a:spcPct val="107000"/>
              </a:lnSpc>
              <a:spcAft>
                <a:spcPts val="800"/>
              </a:spcAft>
              <a:buSzPts val="1000"/>
              <a:buFont typeface="Symbol" panose="05050102010706020507" pitchFamily="18" charset="2"/>
              <a:buChar char=""/>
              <a:tabLst>
                <a:tab pos="457200" algn="l"/>
              </a:tabLst>
              <a:defRPr/>
            </a:pPr>
            <a:r>
              <a:rPr lang="en-US" sz="1400" dirty="0">
                <a:solidFill>
                  <a:srgbClr val="002060"/>
                </a:solidFill>
                <a:latin typeface="Berlin Sans FB" panose="020E0602020502020306" pitchFamily="34" charset="0"/>
                <a:cs typeface="Times New Roman" panose="02020603050405020304" pitchFamily="18" charset="0"/>
              </a:rPr>
              <a:t>RG4  Ensure that Risk Management Control are implement and operating Correctly </a:t>
            </a:r>
          </a:p>
        </p:txBody>
      </p:sp>
    </p:spTree>
    <p:extLst>
      <p:ext uri="{BB962C8B-B14F-4D97-AF65-F5344CB8AC3E}">
        <p14:creationId xmlns:p14="http://schemas.microsoft.com/office/powerpoint/2010/main" val="8217296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766705B-24F7-492D-ADC3-74759A3976DB}"/>
              </a:ext>
            </a:extLst>
          </p:cNvPr>
          <p:cNvSpPr/>
          <p:nvPr/>
        </p:nvSpPr>
        <p:spPr>
          <a:xfrm>
            <a:off x="1841559" y="919309"/>
            <a:ext cx="7085157" cy="4231928"/>
          </a:xfrm>
          <a:prstGeom prst="rect">
            <a:avLst/>
          </a:prstGeom>
        </p:spPr>
        <p:txBody>
          <a:bodyPr wrap="square">
            <a:spAutoFit/>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Risk management starts with understanding the enterprise, but the risk practitioner should bear in mind that the enterprise is heavily influenced by the environment (internal and external) and/or context in which it operates.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when Assessing an enterprise's context the  factors to consider include: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Dependency of the enterprise on third parties</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Vulnerability to changes in economic or political conditions</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Changes to market trends and patterns</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Emergence of new competition</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Emergence of new, disruptive technologies</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Impact of new legislation</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Existence of potential natural disaster</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Constraints caused by legacy systems and outdated technology</a:t>
            </a:r>
          </a:p>
        </p:txBody>
      </p:sp>
    </p:spTree>
    <p:extLst>
      <p:ext uri="{BB962C8B-B14F-4D97-AF65-F5344CB8AC3E}">
        <p14:creationId xmlns:p14="http://schemas.microsoft.com/office/powerpoint/2010/main" val="12436380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BBBA8F-885D-8958-0DE4-FB3F07D037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14883" y="1811354"/>
            <a:ext cx="5300654" cy="1474546"/>
          </a:xfrm>
          <a:prstGeom prst="rect">
            <a:avLst/>
          </a:prstGeom>
        </p:spPr>
      </p:pic>
      <p:sp>
        <p:nvSpPr>
          <p:cNvPr id="5" name="TextBox 4">
            <a:extLst>
              <a:ext uri="{FF2B5EF4-FFF2-40B4-BE49-F238E27FC236}">
                <a16:creationId xmlns:a16="http://schemas.microsoft.com/office/drawing/2014/main" id="{6724A226-0290-24D1-7EED-D18E4B75FE09}"/>
              </a:ext>
            </a:extLst>
          </p:cNvPr>
          <p:cNvSpPr txBox="1"/>
          <p:nvPr/>
        </p:nvSpPr>
        <p:spPr>
          <a:xfrm>
            <a:off x="465221" y="0"/>
            <a:ext cx="6096000" cy="518091"/>
          </a:xfrm>
          <a:prstGeom prst="rect">
            <a:avLst/>
          </a:prstGeom>
          <a:noFill/>
        </p:spPr>
        <p:txBody>
          <a:bodyPr wrap="square">
            <a:spAutoFit/>
          </a:bodyPr>
          <a:lstStyle/>
          <a:p>
            <a:pPr marL="914400" marR="0" lvl="0" indent="0" algn="l" defTabSz="914400" rtl="0" eaLnBrk="1" fontAlgn="auto" latinLnBrk="0" hangingPunct="1">
              <a:lnSpc>
                <a:spcPct val="107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Arial" panose="020B0604020202020204" pitchFamily="34" charset="0"/>
              </a:rPr>
              <a:t>Main Types of Business Risks </a:t>
            </a:r>
          </a:p>
        </p:txBody>
      </p:sp>
      <p:sp>
        <p:nvSpPr>
          <p:cNvPr id="9" name="TextBox 8">
            <a:extLst>
              <a:ext uri="{FF2B5EF4-FFF2-40B4-BE49-F238E27FC236}">
                <a16:creationId xmlns:a16="http://schemas.microsoft.com/office/drawing/2014/main" id="{3ED88132-3A29-8FD7-9265-BAA1888ADE6E}"/>
              </a:ext>
            </a:extLst>
          </p:cNvPr>
          <p:cNvSpPr txBox="1"/>
          <p:nvPr/>
        </p:nvSpPr>
        <p:spPr>
          <a:xfrm>
            <a:off x="176463" y="468831"/>
            <a:ext cx="6673516" cy="5970865"/>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Strategy risks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Risks arising from identifying and pursuing a strategy, which is poorly defined, is based on inaccurate data or fails to support the delivery of commitments, plans or objectives due to a changing environment (e.g. political, economic, social, technological, environment and legislative change).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Governance risks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Risks arising from unclear plans, priorities, authorities and accountabilities, and/or ineffective or disproportionate oversight of decision-making and/or performance.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Operations risks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Risks arising from inadequate, poorly designed or ineffective/inefficient internal processes resulting in fraud, error, impaired customer service (quality and/or quantity of service), non-compliance and/or poor value for money. </a:t>
            </a:r>
            <a:endPar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Legal risk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threatens a company should the company face lawsuit or penalty for contractual, dispute, or regulatory issues. An example of legal risk is a billing dispute with a major customer.</a:t>
            </a:r>
          </a:p>
          <a:p>
            <a:pPr marL="342900" marR="0" lvl="0" indent="-34290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Compliance risk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threatens a company due to a violation of external law or requirement. An example of compliance risk is a company's inability to produce timely financial statements in accordance with applicable accounting rules such as GAAP </a:t>
            </a:r>
            <a:r>
              <a:rPr kumimoji="0" lang="en-US" sz="11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(Generally accepted accounting principles).</a:t>
            </a:r>
            <a:endPar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60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p:txBody>
      </p:sp>
    </p:spTree>
    <p:extLst>
      <p:ext uri="{BB962C8B-B14F-4D97-AF65-F5344CB8AC3E}">
        <p14:creationId xmlns:p14="http://schemas.microsoft.com/office/powerpoint/2010/main" val="16602757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3E717E4-7016-2FE3-F3C5-02F6EEA813AF}"/>
              </a:ext>
            </a:extLst>
          </p:cNvPr>
          <p:cNvSpPr txBox="1"/>
          <p:nvPr/>
        </p:nvSpPr>
        <p:spPr>
          <a:xfrm>
            <a:off x="1058779" y="348656"/>
            <a:ext cx="7764379" cy="501675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Property risks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Risks arising from property deficiencies or poorly designed or ineffective/ inefficient safety management resulting in non-compliance and/or harm and suffering to employees, contractors, service users or the public.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Financial risks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Risks arising from not managing finances in accordance with requirements and financial constraints resulting in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poor returns from investments, failure to manage assets/liabilities or to obtain value for money from the resources deployed, and/or non-compliant financial reporting.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Commercial risks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Risks arising from weaknesses in the management of commercial partnerships, supply chains and contractual requirements, resulting in poor performance, inefficiency, poor value for money, fraud, and /or failure to meet business requirements/objectives.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People risks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Risks arising from ineffective leadership and engagement, suboptimal culture, inappropriate behaviors, the unavailability of sufficient capacity and capability, non-compliance with relevant employment legislation/HR policies resulting in negative impact on performance. </a:t>
            </a:r>
          </a:p>
        </p:txBody>
      </p:sp>
    </p:spTree>
    <p:extLst>
      <p:ext uri="{BB962C8B-B14F-4D97-AF65-F5344CB8AC3E}">
        <p14:creationId xmlns:p14="http://schemas.microsoft.com/office/powerpoint/2010/main" val="16220415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D2EDD0-1A90-91A1-3201-3A5FEC42065A}"/>
              </a:ext>
            </a:extLst>
          </p:cNvPr>
          <p:cNvSpPr txBox="1"/>
          <p:nvPr/>
        </p:nvSpPr>
        <p:spPr>
          <a:xfrm>
            <a:off x="1296791" y="525969"/>
            <a:ext cx="8245642" cy="5078313"/>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Technology risks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Risks arising from technology not delivering the expected services due to inadequate or deficient system/process development and performance or inadequate resilience. </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Information risks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Risks arising from a failure to produce robust, suitable and appropriate data/information and to exploit data/information to its full potential. </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Security risks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Risks arising from a failure to prevent unauthorized and/or inappropriate access to key government systems and assets, including people, platforms, information and resources. This encompasses the subset of cyber security. </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Project/</a:t>
            </a:r>
            <a:r>
              <a:rPr kumimoji="0" lang="en-US" sz="2000" b="0" i="0" u="none" strike="noStrike" kern="1200" cap="none" spc="0" normalizeH="0" baseline="0" noProof="0" dirty="0" err="1">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Programme</a:t>
            </a: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 risks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Risks that change </a:t>
            </a:r>
            <a:r>
              <a:rPr kumimoji="0" lang="en-US" sz="1600" b="0" i="0" u="none" strike="noStrike" kern="1200" cap="none" spc="0" normalizeH="0" baseline="0" noProof="0" dirty="0" err="1">
                <a:ln>
                  <a:noFill/>
                </a:ln>
                <a:solidFill>
                  <a:srgbClr val="002060"/>
                </a:solidFill>
                <a:effectLst/>
                <a:uLnTx/>
                <a:uFillTx/>
                <a:latin typeface="Berlin Sans FB" panose="020E0602020502020306" pitchFamily="34" charset="0"/>
                <a:ea typeface="+mn-ea"/>
                <a:cs typeface="Arial" panose="020B0604020202020204" pitchFamily="34" charset="0"/>
              </a:rPr>
              <a:t>programmes</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and projects are not aligned with strategic priorities and do not successfully and safely deliver requirements and intended benefits to time, cost and quality. </a:t>
            </a: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20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Arial" panose="020B0604020202020204" pitchFamily="34" charset="0"/>
              </a:rPr>
              <a:t>Reputational risks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Arial" panose="020B0604020202020204" pitchFamily="34" charset="0"/>
              </a:rPr>
              <a:t>– Risks arising from adverse events, including ethical violations, a lack of sustainability, systemic or repeated failures or poor quality or a lack of innovation, leading to damages to reputation and or destruction of trust and relations. </a:t>
            </a:r>
          </a:p>
        </p:txBody>
      </p:sp>
    </p:spTree>
    <p:extLst>
      <p:ext uri="{BB962C8B-B14F-4D97-AF65-F5344CB8AC3E}">
        <p14:creationId xmlns:p14="http://schemas.microsoft.com/office/powerpoint/2010/main" val="12919136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7F4532D-77C6-43D9-966D-FC7E83EF04E3}"/>
              </a:ext>
            </a:extLst>
          </p:cNvPr>
          <p:cNvPicPr>
            <a:picLocks noChangeAspect="1"/>
          </p:cNvPicPr>
          <p:nvPr/>
        </p:nvPicPr>
        <p:blipFill rotWithShape="1">
          <a:blip r:embed="rId2"/>
          <a:srcRect t="11509"/>
          <a:stretch/>
        </p:blipFill>
        <p:spPr>
          <a:xfrm>
            <a:off x="686344" y="750366"/>
            <a:ext cx="10991850" cy="5200513"/>
          </a:xfrm>
          <a:prstGeom prst="rect">
            <a:avLst/>
          </a:prstGeom>
        </p:spPr>
      </p:pic>
      <p:sp>
        <p:nvSpPr>
          <p:cNvPr id="3" name="Rectangle 2">
            <a:extLst>
              <a:ext uri="{FF2B5EF4-FFF2-40B4-BE49-F238E27FC236}">
                <a16:creationId xmlns:a16="http://schemas.microsoft.com/office/drawing/2014/main" id="{DE1D7C49-D509-48C6-9776-9957E94ED8ED}"/>
              </a:ext>
            </a:extLst>
          </p:cNvPr>
          <p:cNvSpPr/>
          <p:nvPr/>
        </p:nvSpPr>
        <p:spPr>
          <a:xfrm>
            <a:off x="2320002" y="227112"/>
            <a:ext cx="7252306" cy="369332"/>
          </a:xfrm>
          <a:prstGeom prst="rect">
            <a:avLst/>
          </a:prstGeom>
        </p:spPr>
        <p:txBody>
          <a:bodyPr wrap="none">
            <a:spAutoFit/>
          </a:bodyPr>
          <a:lstStyle/>
          <a:p>
            <a:pPr marL="457200" marR="0" lvl="1" indent="0" algn="l" defTabSz="4572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Berlin Sans FB" panose="020E0602020502020306" pitchFamily="34" charset="0"/>
                <a:ea typeface="+mn-ea"/>
                <a:cs typeface="+mn-cs"/>
              </a:rPr>
              <a:t>Figure 1.4 illustrates how IT risk relates to overall risk of the enterprise.</a:t>
            </a:r>
          </a:p>
        </p:txBody>
      </p:sp>
    </p:spTree>
    <p:extLst>
      <p:ext uri="{BB962C8B-B14F-4D97-AF65-F5344CB8AC3E}">
        <p14:creationId xmlns:p14="http://schemas.microsoft.com/office/powerpoint/2010/main" val="23192838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CAB6E8C-51EA-459F-B34A-E542FFD25A3C}"/>
              </a:ext>
            </a:extLst>
          </p:cNvPr>
          <p:cNvSpPr/>
          <p:nvPr/>
        </p:nvSpPr>
        <p:spPr>
          <a:xfrm>
            <a:off x="1811383" y="1156964"/>
            <a:ext cx="6897189" cy="4062651"/>
          </a:xfrm>
          <a:prstGeom prst="rect">
            <a:avLst/>
          </a:prstGeom>
        </p:spPr>
        <p:txBody>
          <a:bodyPr wrap="square">
            <a:spAutoFit/>
          </a:bodyPr>
          <a:lstStyle/>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Berlin Sans FB" panose="020E0602020502020306" pitchFamily="34" charset="0"/>
                <a:ea typeface="+mn-ea"/>
                <a:cs typeface="+mn-cs"/>
              </a:rPr>
              <a:t>Risk is an influencing factor and must be evaluated at all levels of the enterprise the strategic level, the business unit level and the information systems level.</a:t>
            </a:r>
          </a:p>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Berlin Sans FB" panose="020E0602020502020306" pitchFamily="34" charset="0"/>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 A properly-managed risk program addresses the impact of risk at all levels and describes how risk at one level may affect the other levels.</a:t>
            </a:r>
          </a:p>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Berlin Sans FB" panose="020E0602020502020306" pitchFamily="34" charset="0"/>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Berlin Sans FB" panose="020E0602020502020306" pitchFamily="34" charset="0"/>
                <a:ea typeface="+mn-ea"/>
                <a:cs typeface="+mn-cs"/>
              </a:rPr>
              <a:t>IT risk management is the implementation of a risk strategy that reflects the culture, appetite and tolerance levels of risk from organizational management; considers resources, maturity, technology and budgets; and addresses business requirements stemming from regulatory, statutory and contractual compliance drivers. </a:t>
            </a:r>
          </a:p>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endParaRPr>
          </a:p>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An effective IT risk management strategy is critical to an enterprise ability to execute its overall business strategy effectively and efficiently.</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p:txBody>
      </p:sp>
    </p:spTree>
    <p:extLst>
      <p:ext uri="{BB962C8B-B14F-4D97-AF65-F5344CB8AC3E}">
        <p14:creationId xmlns:p14="http://schemas.microsoft.com/office/powerpoint/2010/main" val="23615052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3B2381-EEA7-44B0-99C4-8938F6294440}"/>
              </a:ext>
            </a:extLst>
          </p:cNvPr>
          <p:cNvSpPr/>
          <p:nvPr/>
        </p:nvSpPr>
        <p:spPr>
          <a:xfrm>
            <a:off x="1176347" y="81481"/>
            <a:ext cx="8384112" cy="6186309"/>
          </a:xfrm>
          <a:prstGeom prst="rect">
            <a:avLst/>
          </a:prstGeom>
        </p:spPr>
        <p:txBody>
          <a:bodyPr wrap="square">
            <a:spAutoFit/>
          </a:bodyPr>
          <a:lstStyle/>
          <a:p>
            <a:pPr marL="742950" marR="0" lvl="1" indent="-285750" algn="l" defTabSz="457200" rtl="0" eaLnBrk="1" fontAlgn="auto" latinLnBrk="0" hangingPunct="1">
              <a:lnSpc>
                <a:spcPct val="100000"/>
              </a:lnSpc>
              <a:spcBef>
                <a:spcPts val="0"/>
              </a:spcBef>
              <a:spcAft>
                <a:spcPts val="120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IT risk management is a cyclical process. The first step in the IT risk-management process is the identification of IT risk, which includes determining the </a:t>
            </a:r>
            <a:r>
              <a:rPr kumimoji="0" lang="en-US" sz="1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risk context and risk framework</a:t>
            </a:r>
            <a:r>
              <a:rPr kumimoji="0" lang="en-US" sz="1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 the </a:t>
            </a:r>
            <a:r>
              <a:rPr kumimoji="0" lang="en-US" sz="1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enterprise risk appetite and tolerance levels and the process of identifying and documenting risk</a:t>
            </a:r>
            <a:r>
              <a:rPr kumimoji="0" lang="en-US" sz="14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 </a:t>
            </a: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1257300" marR="0" lvl="2"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400" b="0" i="0" u="sng"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risk identification </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effort should result in the listing and documentation of the </a:t>
            </a:r>
            <a:r>
              <a:rPr kumimoji="0" lang="en-US" sz="14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threats posed to organizational assets, usefulness of existing controls, any personnel, processes and technology that may be vulnerable or have a perceived weakness and the potential harm introduced should the threat be realized, which serves as the input for the next phase of the process, IT risk assessment. </a:t>
            </a:r>
          </a:p>
          <a:p>
            <a:pPr marL="1257300" marR="0" lvl="2" indent="-342900" algn="l" defTabSz="457200" rtl="0" eaLnBrk="1" fontAlgn="auto" latinLnBrk="0" hangingPunct="1">
              <a:lnSpc>
                <a:spcPct val="100000"/>
              </a:lnSpc>
              <a:spcBef>
                <a:spcPts val="0"/>
              </a:spcBef>
              <a:spcAft>
                <a:spcPts val="1200"/>
              </a:spcAft>
              <a:buClrTx/>
              <a:buSzTx/>
              <a:buFont typeface="+mj-lt"/>
              <a:buAutoNum type="arabicPeriod"/>
              <a:tabLst/>
              <a:defRPr/>
            </a:pPr>
            <a:r>
              <a:rPr lang="en-US" sz="1400" u="sng" dirty="0">
                <a:solidFill>
                  <a:srgbClr val="C00000"/>
                </a:solidFill>
                <a:effectLst>
                  <a:outerShdw blurRad="38100" dist="38100" dir="2700000" algn="tl">
                    <a:srgbClr val="000000">
                      <a:alpha val="43137"/>
                    </a:srgbClr>
                  </a:outerShdw>
                </a:effectLst>
                <a:latin typeface="Berlin Sans FB" panose="020E0602020502020306" pitchFamily="34" charset="0"/>
              </a:rPr>
              <a:t>The Risk assessment </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effort requires the </a:t>
            </a:r>
            <a:r>
              <a:rPr kumimoji="0" lang="en-US" sz="14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analysis and evaluation of threats </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 order to then assess and prioritize risk in context of the enterprise defined risk appetite and criteria for deviations where risk tolerances would be increased.</a:t>
            </a:r>
          </a:p>
          <a:p>
            <a:pPr marL="1257300" marR="0" lvl="2"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This provides management with the information needed for the </a:t>
            </a:r>
            <a:r>
              <a:rPr lang="en-US" sz="1400" u="sng" dirty="0">
                <a:solidFill>
                  <a:srgbClr val="C00000"/>
                </a:solidFill>
                <a:effectLst>
                  <a:outerShdw blurRad="38100" dist="38100" dir="2700000" algn="tl">
                    <a:srgbClr val="000000">
                      <a:alpha val="43137"/>
                    </a:srgbClr>
                  </a:outerShdw>
                </a:effectLst>
                <a:latin typeface="Berlin Sans FB" panose="020E0602020502020306" pitchFamily="34" charset="0"/>
              </a:rPr>
              <a:t>R</a:t>
            </a:r>
            <a:r>
              <a:rPr lang="en-US" sz="1400" u="sng" dirty="0" err="1">
                <a:solidFill>
                  <a:srgbClr val="C00000"/>
                </a:solidFill>
                <a:effectLst>
                  <a:outerShdw blurRad="38100" dist="38100" dir="2700000" algn="tl">
                    <a:srgbClr val="000000">
                      <a:alpha val="43137"/>
                    </a:srgbClr>
                  </a:outerShdw>
                </a:effectLst>
                <a:latin typeface="Berlin Sans FB" panose="020E0602020502020306" pitchFamily="34" charset="0"/>
              </a:rPr>
              <a:t>isk</a:t>
            </a:r>
            <a:r>
              <a:rPr lang="en-US" sz="1400" u="sng" dirty="0">
                <a:solidFill>
                  <a:srgbClr val="C00000"/>
                </a:solidFill>
                <a:effectLst>
                  <a:outerShdw blurRad="38100" dist="38100" dir="2700000" algn="tl">
                    <a:srgbClr val="000000">
                      <a:alpha val="43137"/>
                    </a:srgbClr>
                  </a:outerShdw>
                </a:effectLst>
                <a:latin typeface="Berlin Sans FB" panose="020E0602020502020306" pitchFamily="34" charset="0"/>
              </a:rPr>
              <a:t> response and mitigation</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the third phase of the cycle, which seeks and implements cost-effective ways to address the risk that has been identified and assessed. </a:t>
            </a:r>
          </a:p>
          <a:p>
            <a:pPr marL="1257300" marR="0" lvl="2"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final phase is the</a:t>
            </a:r>
            <a:r>
              <a:rPr lang="en-US" sz="1400" dirty="0">
                <a:solidFill>
                  <a:srgbClr val="C00000"/>
                </a:solidFill>
                <a:effectLst>
                  <a:outerShdw blurRad="38100" dist="38100" dir="2700000" algn="tl">
                    <a:srgbClr val="000000">
                      <a:alpha val="43137"/>
                    </a:srgbClr>
                  </a:outerShdw>
                </a:effectLst>
                <a:latin typeface="Berlin Sans FB" panose="020E0602020502020306" pitchFamily="34" charset="0"/>
              </a:rPr>
              <a:t> </a:t>
            </a:r>
            <a:r>
              <a:rPr lang="en-US" sz="1400" u="sng" dirty="0">
                <a:solidFill>
                  <a:srgbClr val="C00000"/>
                </a:solidFill>
                <a:effectLst>
                  <a:outerShdw blurRad="38100" dist="38100" dir="2700000" algn="tl">
                    <a:srgbClr val="000000">
                      <a:alpha val="43137"/>
                    </a:srgbClr>
                  </a:outerShdw>
                </a:effectLst>
                <a:latin typeface="Berlin Sans FB" panose="020E0602020502020306" pitchFamily="34" charset="0"/>
              </a:rPr>
              <a:t>R</a:t>
            </a:r>
            <a:r>
              <a:rPr lang="en-US" sz="1400" u="sng" dirty="0" err="1">
                <a:solidFill>
                  <a:srgbClr val="C00000"/>
                </a:solidFill>
                <a:effectLst>
                  <a:outerShdw blurRad="38100" dist="38100" dir="2700000" algn="tl">
                    <a:srgbClr val="000000">
                      <a:alpha val="43137"/>
                    </a:srgbClr>
                  </a:outerShdw>
                </a:effectLst>
                <a:latin typeface="Berlin Sans FB" panose="020E0602020502020306" pitchFamily="34" charset="0"/>
              </a:rPr>
              <a:t>isk</a:t>
            </a:r>
            <a:r>
              <a:rPr lang="en-US" sz="1400" u="sng" dirty="0">
                <a:solidFill>
                  <a:srgbClr val="C00000"/>
                </a:solidFill>
                <a:effectLst>
                  <a:outerShdw blurRad="38100" dist="38100" dir="2700000" algn="tl">
                    <a:srgbClr val="000000">
                      <a:alpha val="43137"/>
                    </a:srgbClr>
                  </a:outerShdw>
                </a:effectLst>
                <a:latin typeface="Berlin Sans FB" panose="020E0602020502020306" pitchFamily="34" charset="0"/>
              </a:rPr>
              <a:t> and control monitoring and reporting</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in which controls, risk management efforts and the current risk state are monitored, and the results reported back to senior management. </a:t>
            </a:r>
          </a:p>
          <a:p>
            <a:pPr marL="800100" marR="0" lvl="1" indent="-342900" algn="l" defTabSz="457200" rtl="0" eaLnBrk="1" fontAlgn="auto" latinLnBrk="0" hangingPunct="1">
              <a:lnSpc>
                <a:spcPct val="100000"/>
              </a:lnSpc>
              <a:spcBef>
                <a:spcPts val="0"/>
              </a:spcBef>
              <a:spcAft>
                <a:spcPts val="120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IT risk-management process is based on the complete cycle of all the elements. A failure to perform any one of the phases in a complete and thorough manner may result in deficiencies being carried forward that cause the overall process to be ineffective. </a:t>
            </a:r>
          </a:p>
          <a:p>
            <a:pPr marL="800100" marR="0" lvl="1" indent="-342900" algn="l" defTabSz="457200" rtl="0" eaLnBrk="1" fontAlgn="auto" latinLnBrk="0" hangingPunct="1">
              <a:lnSpc>
                <a:spcPct val="100000"/>
              </a:lnSpc>
              <a:spcBef>
                <a:spcPts val="0"/>
              </a:spcBef>
              <a:spcAft>
                <a:spcPts val="120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process repeats as the risk environment changes, which may occur as a result of internal or external factors.</a:t>
            </a:r>
          </a:p>
          <a:p>
            <a:pPr marL="457200" marR="0" lvl="1" indent="0" algn="l" defTabSz="457200" rtl="0" eaLnBrk="1" fontAlgn="auto" latinLnBrk="0" hangingPunct="1">
              <a:lnSpc>
                <a:spcPct val="100000"/>
              </a:lnSpc>
              <a:spcBef>
                <a:spcPts val="0"/>
              </a:spcBef>
              <a:spcAft>
                <a:spcPts val="1200"/>
              </a:spcAft>
              <a:buClrTx/>
              <a:buSzTx/>
              <a:buFontTx/>
              <a:buNone/>
              <a:tabLst/>
              <a:defRPr/>
            </a:pP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Figure 1.5 illustrates the cyclical IT risk-management process.</a:t>
            </a:r>
          </a:p>
        </p:txBody>
      </p:sp>
    </p:spTree>
    <p:extLst>
      <p:ext uri="{BB962C8B-B14F-4D97-AF65-F5344CB8AC3E}">
        <p14:creationId xmlns:p14="http://schemas.microsoft.com/office/powerpoint/2010/main" val="21802368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F1A8EF8-030B-44E7-8D22-36F6FDCAB32D}"/>
              </a:ext>
            </a:extLst>
          </p:cNvPr>
          <p:cNvPicPr>
            <a:picLocks noChangeAspect="1"/>
          </p:cNvPicPr>
          <p:nvPr/>
        </p:nvPicPr>
        <p:blipFill rotWithShape="1">
          <a:blip r:embed="rId2"/>
          <a:srcRect b="14286"/>
          <a:stretch/>
        </p:blipFill>
        <p:spPr>
          <a:xfrm>
            <a:off x="820419" y="78378"/>
            <a:ext cx="9993814" cy="5878286"/>
          </a:xfrm>
          <a:prstGeom prst="rect">
            <a:avLst/>
          </a:prstGeom>
        </p:spPr>
      </p:pic>
    </p:spTree>
    <p:extLst>
      <p:ext uri="{BB962C8B-B14F-4D97-AF65-F5344CB8AC3E}">
        <p14:creationId xmlns:p14="http://schemas.microsoft.com/office/powerpoint/2010/main" val="27036991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7AB2B0-3A4D-4A8D-8D19-620A0055D3B3}"/>
              </a:ext>
            </a:extLst>
          </p:cNvPr>
          <p:cNvSpPr/>
          <p:nvPr/>
        </p:nvSpPr>
        <p:spPr>
          <a:xfrm>
            <a:off x="391884" y="385933"/>
            <a:ext cx="10572207" cy="5663089"/>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Key Concepts of Risk</a:t>
            </a:r>
            <a:endPar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342900" marR="0" lvl="0"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fundamental nature of risk is that it addresses the probability that some event will happen (likelihood) and what it would mean for the enterprise if that event did happen (impact/consequence).</a:t>
            </a:r>
          </a:p>
          <a:p>
            <a:pPr marL="342900" marR="0" lvl="0"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Early attempts to define risk observed that the probability of something happening was a combination of two things: whether something was attempted (threat) and whether the target of the attempt was susceptible to what was tried (vulnerability).</a:t>
            </a:r>
          </a:p>
          <a:p>
            <a:pPr marL="342900" marR="0" lvl="0"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It is now common to distinguish between different types of threats, evaluating them on the basis of organizational assets that they may be directed towards, but also unique threat actors that may attempt to exploit any perceived weaknesses or discovered vulnerabilities associated with the asset.</a:t>
            </a:r>
          </a:p>
          <a:p>
            <a:pPr marL="342900" marR="0" lvl="0"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This results in the ability to speak about specific threat scenarios in context.</a:t>
            </a:r>
          </a:p>
          <a:p>
            <a:pPr marL="342900" marR="0" lvl="0"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When viewed from the perspective of how these assets are used within the enterprise, it becomes possible to quantify impact in terms of:</a:t>
            </a: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Productivity cost</a:t>
            </a: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Response costs</a:t>
            </a: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Legal cost (fines/penalties/summary judgements)</a:t>
            </a: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Competitive advantage</a:t>
            </a: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Damaged reputation/brand impact cost</a:t>
            </a:r>
          </a:p>
          <a:p>
            <a:pPr marL="1257300" marR="0" lvl="2"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Health, safety, security and environment concerns</a:t>
            </a:r>
          </a:p>
          <a:p>
            <a:pPr marL="342900" marR="0" lvl="0" indent="-342900" algn="l" defTabSz="457200" rtl="0" eaLnBrk="1" fontAlgn="auto" latinLnBrk="0" hangingPunct="1">
              <a:lnSpc>
                <a:spcPct val="100000"/>
              </a:lnSpc>
              <a:spcBef>
                <a:spcPts val="0"/>
              </a:spcBef>
              <a:spcAft>
                <a:spcPts val="600"/>
              </a:spcAft>
              <a:buClrTx/>
              <a:buSzTx/>
              <a:buFont typeface="+mj-lt"/>
              <a:buAutoNum type="arabicPeriod"/>
              <a:tabLst/>
              <a:defRPr/>
            </a:pP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342900" marR="0" lvl="0"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This is useful, and of added benefit, for two reasons:</a:t>
            </a:r>
          </a:p>
          <a:p>
            <a:pPr marL="742950" marR="0" lvl="1"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It is easier for managers to set a monetary value of total losses that they are willing to incur (risk appetite) than it is to define what consequences are or are not acceptable in a dozen or more different areas of operations.</a:t>
            </a:r>
          </a:p>
          <a:p>
            <a:pPr marL="742950" marR="0" lvl="1"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Knowing the potential losses associated with risk provides a basis for deciding how to respond to risk that is beyond acceptable levels because it does not make sense to spend more to respond to a risk than the cost the risk itself presents.</a:t>
            </a:r>
          </a:p>
        </p:txBody>
      </p:sp>
    </p:spTree>
    <p:extLst>
      <p:ext uri="{BB962C8B-B14F-4D97-AF65-F5344CB8AC3E}">
        <p14:creationId xmlns:p14="http://schemas.microsoft.com/office/powerpoint/2010/main" val="32280356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743CEA9-84CE-4DF2-A076-D4B37D6A4891}"/>
              </a:ext>
            </a:extLst>
          </p:cNvPr>
          <p:cNvSpPr/>
          <p:nvPr/>
        </p:nvSpPr>
        <p:spPr>
          <a:xfrm>
            <a:off x="261257" y="204567"/>
            <a:ext cx="11669486" cy="5755422"/>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Importance and Value of IT Risk Management</a:t>
            </a:r>
            <a:endPar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Courier New" panose="02070309020205020404" pitchFamily="49" charset="0"/>
              <a:ea typeface="+mn-ea"/>
              <a:cs typeface="+mn-cs"/>
            </a:endParaRP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IT risk management is important to the organization because of the benefits that the program delivers, such as the following</a:t>
            </a: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t>
            </a:r>
          </a:p>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endPar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1257300" marR="0" lvl="2"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Better oversight and understanding of organizational assets</a:t>
            </a:r>
          </a:p>
          <a:p>
            <a:pPr marL="1257300" marR="0" lvl="2"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Reduced or minimized losses</a:t>
            </a:r>
          </a:p>
          <a:p>
            <a:pPr marL="1257300" marR="0" lvl="2"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Identification of threats, vulnerabilities and consequences on a proactive basis</a:t>
            </a:r>
          </a:p>
          <a:p>
            <a:pPr marL="1257300" marR="0" lvl="2"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Prioritization of risk response efforts that align with organizational goals and priorities</a:t>
            </a:r>
          </a:p>
          <a:p>
            <a:pPr marL="1257300" marR="0" lvl="2"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more holistic basis for and approach to legal and regulatory compliance</a:t>
            </a:r>
          </a:p>
          <a:p>
            <a:pPr marL="1257300" marR="0" lvl="2"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Increased likelihood of project success</a:t>
            </a:r>
          </a:p>
          <a:p>
            <a:pPr marL="1257300" marR="0" lvl="2"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Improved performance</a:t>
            </a:r>
          </a:p>
          <a:p>
            <a:pPr marL="1257300" marR="0" lvl="2"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Greater stakeholder confidence</a:t>
            </a:r>
          </a:p>
          <a:p>
            <a:pPr marL="1257300" marR="0" lvl="2"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Creation of a risk-aware culture with less reliance on specialists</a:t>
            </a:r>
          </a:p>
          <a:p>
            <a:pPr marL="1257300" marR="0" lvl="2"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Better incident, business continuity management, and overall organizational resiliency</a:t>
            </a:r>
          </a:p>
          <a:p>
            <a:pPr marL="1257300" marR="0" lvl="2"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Improved control selection and implementation</a:t>
            </a:r>
          </a:p>
          <a:p>
            <a:pPr marL="1257300" marR="0" lvl="2"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Monitoring and reporting that is meaningful to the organization</a:t>
            </a:r>
          </a:p>
          <a:p>
            <a:pPr marL="1257300" marR="0" lvl="2"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Improved decision making as a result of expanded </a:t>
            </a:r>
          </a:p>
          <a:p>
            <a:pPr marL="1257300" marR="0" lvl="2"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access to accurate, timely information</a:t>
            </a:r>
          </a:p>
          <a:p>
            <a:pPr marL="1257300" marR="0" lvl="2"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An increased ability to meet business objectives and create value</a:t>
            </a:r>
          </a:p>
        </p:txBody>
      </p:sp>
    </p:spTree>
    <p:extLst>
      <p:ext uri="{BB962C8B-B14F-4D97-AF65-F5344CB8AC3E}">
        <p14:creationId xmlns:p14="http://schemas.microsoft.com/office/powerpoint/2010/main" val="40215141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C0B41D3-4863-47D3-95B0-802BD0C39603}"/>
              </a:ext>
            </a:extLst>
          </p:cNvPr>
          <p:cNvPicPr>
            <a:picLocks noChangeAspect="1"/>
          </p:cNvPicPr>
          <p:nvPr/>
        </p:nvPicPr>
        <p:blipFill>
          <a:blip r:embed="rId2"/>
          <a:stretch>
            <a:fillRect/>
          </a:stretch>
        </p:blipFill>
        <p:spPr>
          <a:xfrm>
            <a:off x="87714" y="670706"/>
            <a:ext cx="11286270" cy="5685863"/>
          </a:xfrm>
          <a:prstGeom prst="rect">
            <a:avLst/>
          </a:prstGeom>
        </p:spPr>
      </p:pic>
      <p:sp>
        <p:nvSpPr>
          <p:cNvPr id="4" name="TextBox 3">
            <a:extLst>
              <a:ext uri="{FF2B5EF4-FFF2-40B4-BE49-F238E27FC236}">
                <a16:creationId xmlns:a16="http://schemas.microsoft.com/office/drawing/2014/main" id="{3BC10405-6D87-E8B6-CCD8-04911AA3F7D8}"/>
              </a:ext>
            </a:extLst>
          </p:cNvPr>
          <p:cNvSpPr txBox="1"/>
          <p:nvPr/>
        </p:nvSpPr>
        <p:spPr>
          <a:xfrm>
            <a:off x="3284145" y="0"/>
            <a:ext cx="6097508" cy="369332"/>
          </a:xfrm>
          <a:prstGeom prst="rect">
            <a:avLst/>
          </a:prstGeom>
          <a:noFill/>
        </p:spPr>
        <p:txBody>
          <a:bodyPr wrap="square">
            <a:spAutoFit/>
          </a:bodyPr>
          <a:lstStyle/>
          <a:p>
            <a:r>
              <a:rPr lang="en-US" dirty="0">
                <a:solidFill>
                  <a:srgbClr val="C00000"/>
                </a:solidFill>
                <a:effectLst>
                  <a:outerShdw blurRad="38100" dist="38100" dir="2700000" algn="tl">
                    <a:srgbClr val="000000">
                      <a:alpha val="43137"/>
                    </a:srgbClr>
                  </a:outerShdw>
                </a:effectLst>
              </a:rPr>
              <a:t>Types of business Related IT Risk</a:t>
            </a:r>
          </a:p>
        </p:txBody>
      </p:sp>
      <p:sp>
        <p:nvSpPr>
          <p:cNvPr id="8" name="TextBox 7">
            <a:extLst>
              <a:ext uri="{FF2B5EF4-FFF2-40B4-BE49-F238E27FC236}">
                <a16:creationId xmlns:a16="http://schemas.microsoft.com/office/drawing/2014/main" id="{6D4736EB-5827-F302-54C3-14886BD4ECDF}"/>
              </a:ext>
            </a:extLst>
          </p:cNvPr>
          <p:cNvSpPr txBox="1"/>
          <p:nvPr/>
        </p:nvSpPr>
        <p:spPr>
          <a:xfrm>
            <a:off x="567547" y="239821"/>
            <a:ext cx="9508959" cy="523220"/>
          </a:xfrm>
          <a:prstGeom prst="rect">
            <a:avLst/>
          </a:prstGeom>
          <a:noFill/>
        </p:spPr>
        <p:txBody>
          <a:bodyPr wrap="square">
            <a:spAutoFit/>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risk practitioner should always recognize that what is critical to IT may or may not be the most critical consideration of the organization in the context of overall risk.</a:t>
            </a:r>
          </a:p>
        </p:txBody>
      </p:sp>
    </p:spTree>
    <p:extLst>
      <p:ext uri="{BB962C8B-B14F-4D97-AF65-F5344CB8AC3E}">
        <p14:creationId xmlns:p14="http://schemas.microsoft.com/office/powerpoint/2010/main" val="14451141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5CC9F6-44E8-4CBA-B915-2550B5F90175}"/>
              </a:ext>
            </a:extLst>
          </p:cNvPr>
          <p:cNvSpPr/>
          <p:nvPr/>
        </p:nvSpPr>
        <p:spPr>
          <a:xfrm>
            <a:off x="1384664" y="751344"/>
            <a:ext cx="7175862" cy="4278094"/>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Senior Management Support</a:t>
            </a:r>
          </a:p>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Senior management support is vitally important throughout the risk-management process. </a:t>
            </a: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With it, the risk-management process is much more likely to have the budget, authority, access to personnel and information</a:t>
            </a:r>
            <a:r>
              <a:rPr lang="en-US" dirty="0">
                <a:solidFill>
                  <a:srgbClr val="002060"/>
                </a:solidFill>
                <a:latin typeface="Berlin Sans FB" panose="020E0602020502020306" pitchFamily="34" charset="0"/>
              </a:rPr>
              <a:t> </a:t>
            </a: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that will provide a successful result. </a:t>
            </a: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8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Without it, risk management is almost always unsuccessful.</a:t>
            </a:r>
          </a:p>
          <a:p>
            <a:pPr marL="800100" marR="0" lvl="1" indent="-342900" algn="l" defTabSz="457200" rtl="0" eaLnBrk="1" fontAlgn="auto" latinLnBrk="0" hangingPunct="1">
              <a:lnSpc>
                <a:spcPct val="100000"/>
              </a:lnSpc>
              <a:spcBef>
                <a:spcPts val="0"/>
              </a:spcBef>
              <a:spcAft>
                <a:spcPts val="1200"/>
              </a:spcAft>
              <a:buClrTx/>
              <a:buSzTx/>
              <a:buFont typeface="+mj-lt"/>
              <a:buAutoNum type="arabicPeriod"/>
              <a:tabLst/>
              <a:defRPr/>
            </a:pPr>
            <a:r>
              <a:rPr kumimoji="0" lang="en-US" sz="18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Senior management support should be visible and active, and executives should be willing to get involved when necessary to communicate the importance of risk identification efforts and the need for everyone to actively contribute to the success of the program.</a:t>
            </a:r>
          </a:p>
        </p:txBody>
      </p:sp>
    </p:spTree>
    <p:extLst>
      <p:ext uri="{BB962C8B-B14F-4D97-AF65-F5344CB8AC3E}">
        <p14:creationId xmlns:p14="http://schemas.microsoft.com/office/powerpoint/2010/main" val="39298195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C026DE7-81B1-40AB-B3F4-A55482C4668D}"/>
              </a:ext>
            </a:extLst>
          </p:cNvPr>
          <p:cNvSpPr/>
          <p:nvPr/>
        </p:nvSpPr>
        <p:spPr>
          <a:xfrm>
            <a:off x="1454563" y="961110"/>
            <a:ext cx="6654722" cy="433965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Effective risk management depends on knowing the enterprise goals and objectives.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risk practitioner must be careful not to focus solely on a risk from the perspective of one department or one process.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The risk practitioner should also consider the risk to other departments, business partners or the overall business goals.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uLnTx/>
                <a:uFillTx/>
                <a:latin typeface="Berlin Sans FB" panose="020E0602020502020306" pitchFamily="34" charset="0"/>
                <a:ea typeface="+mn-ea"/>
                <a:cs typeface="+mn-cs"/>
              </a:rPr>
              <a:t>The risk practitioner should consult with senior management to validate their understanding of the enterprise vision and strategy and how those translate down to the appropriate lines of business, use of technologies.</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Risk considers both the potential gains and possible losses of pursuing new ventures, which may include financial loss, reputational damage, changes in employment agreements and entry into new markets which introduce new regulatory environments. </a:t>
            </a:r>
          </a:p>
        </p:txBody>
      </p:sp>
      <p:sp>
        <p:nvSpPr>
          <p:cNvPr id="4" name="TextBox 3">
            <a:extLst>
              <a:ext uri="{FF2B5EF4-FFF2-40B4-BE49-F238E27FC236}">
                <a16:creationId xmlns:a16="http://schemas.microsoft.com/office/drawing/2014/main" id="{75F6F2BF-145D-2094-ECED-670AE1C3C5D0}"/>
              </a:ext>
            </a:extLst>
          </p:cNvPr>
          <p:cNvSpPr txBox="1"/>
          <p:nvPr/>
        </p:nvSpPr>
        <p:spPr>
          <a:xfrm>
            <a:off x="867649" y="437890"/>
            <a:ext cx="9335129"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Alignment With Business Goals and Objectives</a:t>
            </a:r>
          </a:p>
        </p:txBody>
      </p:sp>
    </p:spTree>
    <p:extLst>
      <p:ext uri="{BB962C8B-B14F-4D97-AF65-F5344CB8AC3E}">
        <p14:creationId xmlns:p14="http://schemas.microsoft.com/office/powerpoint/2010/main" val="41565978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268A90C-0EA4-454B-A9B8-9368DA427221}"/>
              </a:ext>
            </a:extLst>
          </p:cNvPr>
          <p:cNvSpPr/>
          <p:nvPr/>
        </p:nvSpPr>
        <p:spPr>
          <a:xfrm>
            <a:off x="1227909" y="892025"/>
            <a:ext cx="8638903" cy="4062651"/>
          </a:xfrm>
          <a:prstGeom prst="rect">
            <a:avLst/>
          </a:prstGeom>
        </p:spPr>
        <p:txBody>
          <a:bodyPr wrap="square">
            <a:spAutoFit/>
          </a:bodyPr>
          <a:lstStyle/>
          <a:p>
            <a:pPr marL="342900" marR="0" lvl="0"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4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so the risk practitioner should seek to:</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Understand the business in its proper context</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Listen to and understand the defined strategy</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Proactively seek out ways to secure appropriate technologies and business processes</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Build relationships that promote communication, allowing risk management functions to be incorporated into business processes and new projects</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Be aware of changes to ensure the ability to respond accordingly</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Work to create a culture that encourages open and informed discussions of risk</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Advise on the various aspects of risk, but do not make decisions on behalf of the business</a:t>
            </a:r>
          </a:p>
          <a:p>
            <a:pPr marL="457200" marR="0" lvl="1" indent="0" algn="l" defTabSz="457200" rtl="0" eaLnBrk="1" fontAlgn="auto" latinLnBrk="0" hangingPunct="1">
              <a:lnSpc>
                <a:spcPct val="100000"/>
              </a:lnSpc>
              <a:spcBef>
                <a:spcPts val="0"/>
              </a:spcBef>
              <a:spcAft>
                <a:spcPts val="60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457200" rtl="0" eaLnBrk="1" fontAlgn="auto" latinLnBrk="0" hangingPunct="1">
              <a:lnSpc>
                <a:spcPct val="100000"/>
              </a:lnSpc>
              <a:spcBef>
                <a:spcPts val="0"/>
              </a:spcBef>
              <a:spcAft>
                <a:spcPts val="60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History is a critical component of risk management. The events of the past must be considered in the light of the risk management effort.</a:t>
            </a:r>
          </a:p>
        </p:txBody>
      </p:sp>
    </p:spTree>
    <p:extLst>
      <p:ext uri="{BB962C8B-B14F-4D97-AF65-F5344CB8AC3E}">
        <p14:creationId xmlns:p14="http://schemas.microsoft.com/office/powerpoint/2010/main" val="24760109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EB15378-59B1-4544-9309-6564EEE8D1F7}"/>
              </a:ext>
            </a:extLst>
          </p:cNvPr>
          <p:cNvSpPr/>
          <p:nvPr/>
        </p:nvSpPr>
        <p:spPr>
          <a:xfrm>
            <a:off x="1911073" y="743458"/>
            <a:ext cx="6823853" cy="512448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effectiveness of the risk management effort is dependent not only on having senior management support but </a:t>
            </a: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also is influenced by the positioning of the risk management function within the organizational structure.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panose="020E0602020502020306" pitchFamily="34" charset="0"/>
                <a:ea typeface="+mn-ea"/>
                <a:cs typeface="+mn-cs"/>
              </a:rPr>
              <a:t>Ideally, risk management should be a function with enterprise scope, able to reach into all the parts of the organization and provide leadership, advice and direction. </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An effective risk management program provides timely, accurate and complete information, in a consistent manner, that allows senior management to make informed decisions.</a:t>
            </a: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800100" marR="0" lvl="1" indent="-342900" algn="l" defTabSz="457200" rtl="0" eaLnBrk="1" fontAlgn="auto" latinLnBrk="0" hangingPunct="1">
              <a:lnSpc>
                <a:spcPct val="100000"/>
              </a:lnSpc>
              <a:spcBef>
                <a:spcPts val="0"/>
              </a:spcBef>
              <a:spcAft>
                <a:spcPts val="600"/>
              </a:spcAft>
              <a:buClrTx/>
              <a:buSzTx/>
              <a:buFont typeface="+mj-lt"/>
              <a:buAutoNum type="arabicPeriod"/>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 To efficiently manage risk, the IT risk must be integrated in the enterprise risk management (ERM) structure, consistent with other departments and business functions.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p:txBody>
      </p:sp>
      <p:sp>
        <p:nvSpPr>
          <p:cNvPr id="4" name="TextBox 3">
            <a:extLst>
              <a:ext uri="{FF2B5EF4-FFF2-40B4-BE49-F238E27FC236}">
                <a16:creationId xmlns:a16="http://schemas.microsoft.com/office/drawing/2014/main" id="{371A41C7-BC70-B0B7-157C-B00ABB7788C1}"/>
              </a:ext>
            </a:extLst>
          </p:cNvPr>
          <p:cNvSpPr txBox="1"/>
          <p:nvPr/>
        </p:nvSpPr>
        <p:spPr>
          <a:xfrm>
            <a:off x="1010652" y="321427"/>
            <a:ext cx="9647263"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Organizational Structure, Roles and Responsibilities</a:t>
            </a:r>
          </a:p>
        </p:txBody>
      </p:sp>
    </p:spTree>
    <p:extLst>
      <p:ext uri="{BB962C8B-B14F-4D97-AF65-F5344CB8AC3E}">
        <p14:creationId xmlns:p14="http://schemas.microsoft.com/office/powerpoint/2010/main" val="7165849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A6AB43-1B22-46C3-B8E6-3EBA76486600}"/>
              </a:ext>
            </a:extLst>
          </p:cNvPr>
          <p:cNvSpPr/>
          <p:nvPr/>
        </p:nvSpPr>
        <p:spPr>
          <a:xfrm>
            <a:off x="566056" y="112947"/>
            <a:ext cx="10293533" cy="6217087"/>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1.2.1 RACI (Responsible, Accountable, Consulted, Informed)</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There are four main types of roles that are involved in the risk-management process:</a:t>
            </a:r>
          </a:p>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1200150" marR="0" lvl="2"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Responsible: These individuals, often the risk practitioner, are responsible for carrying out risk management efforts. </a:t>
            </a:r>
          </a:p>
          <a:p>
            <a:pPr marL="1200150" marR="0" lvl="2"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1200150" marR="0" lvl="2"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Accountable: These individuals, often senior management, are accountable for ensuring that risk management efforts are properly staffed, budgeted and are being carried out as planned.</a:t>
            </a:r>
          </a:p>
          <a:p>
            <a:pPr marL="1200150" marR="0" lvl="2"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1200150" marR="0" lvl="2"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Consulted: These individuals, often business process owners or executive leadership, provide required support and assistance in ensuring that risk management efforts are able to be carried out, in accordance with the direction of senior management.</a:t>
            </a:r>
          </a:p>
          <a:p>
            <a:pPr marL="1200150" marR="0" lvl="2"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1200150" marR="0" lvl="2"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Informed: These individuals, often senior management or the board of directors, are informed regarding the progress of risk management efforts, as appropriate.</a:t>
            </a:r>
          </a:p>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use of a RACI model can assist in outlining the roles and responsibilities of the various stakeholders.</a:t>
            </a:r>
          </a:p>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purpose of a RACI model is to clearly show the relationships between the various stakeholders, the interaction between the stakeholders and the roles that each stakeholder plays in the successful completion of the risk management effort.</a:t>
            </a:r>
          </a:p>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457200" marR="0" lvl="1"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Figure 1.7 describes the components of the RACI model. A sample RACI chart is shown in figure 1.8</a:t>
            </a:r>
          </a:p>
        </p:txBody>
      </p:sp>
    </p:spTree>
    <p:extLst>
      <p:ext uri="{BB962C8B-B14F-4D97-AF65-F5344CB8AC3E}">
        <p14:creationId xmlns:p14="http://schemas.microsoft.com/office/powerpoint/2010/main" val="806190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F8F71FD-F8F6-4745-9C0C-FE06DF0361AD}"/>
              </a:ext>
            </a:extLst>
          </p:cNvPr>
          <p:cNvPicPr>
            <a:picLocks noChangeAspect="1"/>
          </p:cNvPicPr>
          <p:nvPr/>
        </p:nvPicPr>
        <p:blipFill>
          <a:blip r:embed="rId2"/>
          <a:stretch>
            <a:fillRect/>
          </a:stretch>
        </p:blipFill>
        <p:spPr>
          <a:xfrm>
            <a:off x="450532" y="190635"/>
            <a:ext cx="10925175" cy="5762625"/>
          </a:xfrm>
          <a:prstGeom prst="rect">
            <a:avLst/>
          </a:prstGeom>
        </p:spPr>
      </p:pic>
    </p:spTree>
    <p:extLst>
      <p:ext uri="{BB962C8B-B14F-4D97-AF65-F5344CB8AC3E}">
        <p14:creationId xmlns:p14="http://schemas.microsoft.com/office/powerpoint/2010/main" val="15420468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793D30-8D97-4A60-9CEC-F52DE14A3AC0}"/>
              </a:ext>
            </a:extLst>
          </p:cNvPr>
          <p:cNvSpPr/>
          <p:nvPr/>
        </p:nvSpPr>
        <p:spPr>
          <a:xfrm>
            <a:off x="230777" y="288795"/>
            <a:ext cx="10794274" cy="5524589"/>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1.2.2 Key Roles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Courier New" panose="02070309020205020404" pitchFamily="49" charset="0"/>
              <a:ea typeface="+mn-ea"/>
              <a:cs typeface="+mn-cs"/>
            </a:endParaRPr>
          </a:p>
          <a:p>
            <a:pPr marL="742950" marR="0" lvl="1"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1600" b="0" i="0" u="none" strike="noStrike" kern="1200" cap="none" spc="0" normalizeH="0" baseline="0" noProof="0" dirty="0">
                <a:ln>
                  <a:noFill/>
                </a:ln>
                <a:solidFill>
                  <a:srgbClr val="7030A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Within the business function of risk management there are a number of key roles which should be clearly defined to prevent misunderstandings and miscommunication. </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 typeface="Symbol" panose="05050102010706020507" pitchFamily="18" charset="2"/>
              <a:buChar char="·"/>
              <a:tabLst/>
              <a:defRPr/>
            </a:pPr>
            <a:r>
              <a:rPr kumimoji="0" lang="en-US" sz="1600" b="0"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Berlin Sans FB Demi" panose="020E0802020502020306" pitchFamily="34" charset="0"/>
                <a:ea typeface="+mn-ea"/>
                <a:cs typeface="+mn-cs"/>
              </a:rPr>
              <a:t>The key roles are:</a:t>
            </a:r>
            <a:endPar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endParaRPr>
          </a:p>
          <a:p>
            <a:pPr marL="457200" marR="0" lvl="1" indent="0" algn="l" defTabSz="4572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Risk manager”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Responsible for ensuring that the risk management functions are carried out to support the enterprise's goals and objectives.</a:t>
            </a:r>
          </a:p>
          <a:p>
            <a:pPr marL="457200" marR="0" lvl="1" indent="0" algn="l" defTabSz="4572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Risk analyst”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Responsible for the analysis, evaluation and assessment of identified threats faced by the enterprise.</a:t>
            </a:r>
          </a:p>
          <a:p>
            <a:pPr marL="457200" marR="0" lvl="1" indent="0" algn="l" defTabSz="4572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Risk owner"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individual in whom the enterprise has invested the authority and accountability for making risk-based decisions, and who owns the loss associated with a realized risk scenario.</a:t>
            </a:r>
          </a:p>
          <a:p>
            <a:pPr marL="457200" marR="0" lvl="1" indent="0" algn="l" defTabSz="4572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Control owner”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individual accountable for ensuring controls are designed, implemented and operating as planned to keep risk at an acceptable levels. This may also be the risk owner. This includes budgeting, staffing, design, implementation and monitoring of controls.</a:t>
            </a:r>
          </a:p>
          <a:p>
            <a:pPr marL="457200" marR="0" lvl="1" indent="0" algn="l" defTabSz="4572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Control steward”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 individuals who are responsible for the routine management and maintenance of controls on behalf of the control owner and institute changes at the direction of the control owner.</a:t>
            </a:r>
          </a:p>
          <a:p>
            <a:pPr marL="457200" marR="0" lvl="1" indent="0" algn="l" defTabSz="457200" rtl="0" eaLnBrk="1" fontAlgn="auto" latinLnBrk="0" hangingPunct="1">
              <a:lnSpc>
                <a:spcPct val="100000"/>
              </a:lnSpc>
              <a:spcBef>
                <a:spcPts val="0"/>
              </a:spcBef>
              <a:spcAft>
                <a:spcPts val="60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Berlin Sans FB Demi" panose="020E0802020502020306" pitchFamily="34" charset="0"/>
                <a:ea typeface="+mn-ea"/>
                <a:cs typeface="+mn-cs"/>
              </a:rPr>
              <a:t>Subject matter experts” </a:t>
            </a:r>
            <a:r>
              <a:rPr kumimoji="0" lang="en-US" sz="1600" b="0" i="0" u="none" strike="noStrike" kern="1200" cap="none" spc="0" normalizeH="0" baseline="0" noProof="0" dirty="0">
                <a:ln>
                  <a:noFill/>
                </a:ln>
                <a:solidFill>
                  <a:srgbClr val="002060"/>
                </a:solidFill>
                <a:effectLst/>
                <a:uLnTx/>
                <a:uFillTx/>
                <a:latin typeface="Berlin Sans FB" panose="020E0602020502020306" pitchFamily="34" charset="0"/>
                <a:ea typeface="+mn-ea"/>
                <a:cs typeface="+mn-cs"/>
              </a:rPr>
              <a:t>These are individuals who have an intimate knowledge and can provide valuable insight into specific areas (e.g., financial, IT, call center) within an organization as they relate to identified or perceived threats and risk to the enterprise; based upon their experience, understanding and expertise in their respective domain.</a:t>
            </a:r>
          </a:p>
        </p:txBody>
      </p:sp>
    </p:spTree>
    <p:extLst>
      <p:ext uri="{BB962C8B-B14F-4D97-AF65-F5344CB8AC3E}">
        <p14:creationId xmlns:p14="http://schemas.microsoft.com/office/powerpoint/2010/main" val="4440711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7C03D4-D95C-D3B9-9C09-99E480078AF0}"/>
              </a:ext>
            </a:extLst>
          </p:cNvPr>
          <p:cNvPicPr>
            <a:picLocks noChangeAspect="1"/>
          </p:cNvPicPr>
          <p:nvPr/>
        </p:nvPicPr>
        <p:blipFill rotWithShape="1">
          <a:blip r:embed="rId2"/>
          <a:srcRect t="24097"/>
          <a:stretch/>
        </p:blipFill>
        <p:spPr>
          <a:xfrm>
            <a:off x="280738" y="441157"/>
            <a:ext cx="10978246" cy="5237747"/>
          </a:xfrm>
          <a:prstGeom prst="rect">
            <a:avLst/>
          </a:prstGeom>
        </p:spPr>
      </p:pic>
    </p:spTree>
    <p:extLst>
      <p:ext uri="{BB962C8B-B14F-4D97-AF65-F5344CB8AC3E}">
        <p14:creationId xmlns:p14="http://schemas.microsoft.com/office/powerpoint/2010/main" val="3992897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5322F3C-5B35-6264-7B12-088CF01C63A2}"/>
              </a:ext>
            </a:extLst>
          </p:cNvPr>
          <p:cNvPicPr>
            <a:picLocks noChangeAspect="1"/>
          </p:cNvPicPr>
          <p:nvPr/>
        </p:nvPicPr>
        <p:blipFill rotWithShape="1">
          <a:blip r:embed="rId2"/>
          <a:srcRect l="2516" r="2036"/>
          <a:stretch/>
        </p:blipFill>
        <p:spPr>
          <a:xfrm>
            <a:off x="1748590" y="168443"/>
            <a:ext cx="7571874" cy="6120062"/>
          </a:xfrm>
          <a:prstGeom prst="rect">
            <a:avLst/>
          </a:prstGeom>
        </p:spPr>
      </p:pic>
    </p:spTree>
    <p:extLst>
      <p:ext uri="{BB962C8B-B14F-4D97-AF65-F5344CB8AC3E}">
        <p14:creationId xmlns:p14="http://schemas.microsoft.com/office/powerpoint/2010/main" val="16196396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F65770F-F381-A779-49C3-ACD56AAF086B}"/>
              </a:ext>
            </a:extLst>
          </p:cNvPr>
          <p:cNvPicPr>
            <a:picLocks noChangeAspect="1"/>
          </p:cNvPicPr>
          <p:nvPr/>
        </p:nvPicPr>
        <p:blipFill>
          <a:blip r:embed="rId2"/>
          <a:stretch>
            <a:fillRect/>
          </a:stretch>
        </p:blipFill>
        <p:spPr>
          <a:xfrm>
            <a:off x="1628274" y="102930"/>
            <a:ext cx="8274774" cy="6019864"/>
          </a:xfrm>
          <a:prstGeom prst="rect">
            <a:avLst/>
          </a:prstGeom>
        </p:spPr>
      </p:pic>
    </p:spTree>
    <p:extLst>
      <p:ext uri="{BB962C8B-B14F-4D97-AF65-F5344CB8AC3E}">
        <p14:creationId xmlns:p14="http://schemas.microsoft.com/office/powerpoint/2010/main" val="39975848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6CB23B1-CF21-5F07-07B3-33A94A4E7F16}"/>
              </a:ext>
            </a:extLst>
          </p:cNvPr>
          <p:cNvPicPr>
            <a:picLocks noChangeAspect="1"/>
          </p:cNvPicPr>
          <p:nvPr/>
        </p:nvPicPr>
        <p:blipFill rotWithShape="1">
          <a:blip r:embed="rId2"/>
          <a:srcRect l="2486" b="12869"/>
          <a:stretch/>
        </p:blipFill>
        <p:spPr>
          <a:xfrm>
            <a:off x="312821" y="1486902"/>
            <a:ext cx="11424485" cy="3020929"/>
          </a:xfrm>
          <a:prstGeom prst="rect">
            <a:avLst/>
          </a:prstGeom>
        </p:spPr>
      </p:pic>
    </p:spTree>
    <p:extLst>
      <p:ext uri="{BB962C8B-B14F-4D97-AF65-F5344CB8AC3E}">
        <p14:creationId xmlns:p14="http://schemas.microsoft.com/office/powerpoint/2010/main" val="38195398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E74922-3BE5-1F89-EB2B-66DB67BD0503}"/>
              </a:ext>
            </a:extLst>
          </p:cNvPr>
          <p:cNvPicPr>
            <a:picLocks noChangeAspect="1"/>
          </p:cNvPicPr>
          <p:nvPr/>
        </p:nvPicPr>
        <p:blipFill>
          <a:blip r:embed="rId2"/>
          <a:stretch>
            <a:fillRect/>
          </a:stretch>
        </p:blipFill>
        <p:spPr>
          <a:xfrm>
            <a:off x="1048512" y="1479550"/>
            <a:ext cx="10094976" cy="3898900"/>
          </a:xfrm>
          <a:prstGeom prst="rect">
            <a:avLst/>
          </a:prstGeom>
        </p:spPr>
      </p:pic>
    </p:spTree>
    <p:extLst>
      <p:ext uri="{BB962C8B-B14F-4D97-AF65-F5344CB8AC3E}">
        <p14:creationId xmlns:p14="http://schemas.microsoft.com/office/powerpoint/2010/main" val="13953265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2123</TotalTime>
  <Words>6344</Words>
  <Application>Microsoft Office PowerPoint</Application>
  <PresentationFormat>Widescreen</PresentationFormat>
  <Paragraphs>470</Paragraphs>
  <Slides>54</Slides>
  <Notes>4</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54</vt:i4>
      </vt:variant>
    </vt:vector>
  </HeadingPairs>
  <TitlesOfParts>
    <vt:vector size="65" baseType="lpstr">
      <vt:lpstr>Arial</vt:lpstr>
      <vt:lpstr>Berlin Sans FB</vt:lpstr>
      <vt:lpstr>Berlin Sans FB Demi</vt:lpstr>
      <vt:lpstr>Calibri</vt:lpstr>
      <vt:lpstr>Calibri Light</vt:lpstr>
      <vt:lpstr>Courier New</vt:lpstr>
      <vt:lpstr>Symbol</vt:lpstr>
      <vt:lpstr>Times New Roman</vt:lpstr>
      <vt:lpstr>Wingdings</vt:lpstr>
      <vt:lpstr>Office Theme</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YOUSSRY KHATTAB</dc:creator>
  <cp:lastModifiedBy>YOUSSRY KHATTAB</cp:lastModifiedBy>
  <cp:revision>24</cp:revision>
  <dcterms:created xsi:type="dcterms:W3CDTF">2023-05-08T08:12:28Z</dcterms:created>
  <dcterms:modified xsi:type="dcterms:W3CDTF">2023-06-17T21:19:13Z</dcterms:modified>
</cp:coreProperties>
</file>